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 this use case exists" id="{b2203531-3899-f319-dddf-ab21d285946d}">
          <p14:sldIdLst>
            <p14:sldId id="257"/>
          </p14:sldIdLst>
        </p14:section>
        <p14:section name="Default-1" id="{06f035b0-8b44-e92b-ff7d-48dd9818754b}">
          <p14:sldIdLst>
            <p14:sldId id="258"/>
            <p14:sldId id="259"/>
            <p14:sldId id="260"/>
          </p14:sldIdLst>
        </p14:section>
        <p14:section name="Who the real players are" id="{527e0796-1088-617a-e743-2f157652b0ec}">
          <p14:sldIdLst>
            <p14:sldId id="261"/>
          </p14:sldIdLst>
        </p14:section>
        <p14:section name="Default-2" id="{60c0f35b-aace-b477-d8ed-1d71f097ffea}">
          <p14:sldIdLst>
            <p14:sldId id="262"/>
          </p14:sldIdLst>
        </p14:section>
        <p14:section name="What's actually built today" id="{8f7e93b2-9abf-71f0-d4f5-60f8994cea68}">
          <p14:sldIdLst>
            <p14:sldId id="263"/>
          </p14:sldIdLst>
        </p14:section>
        <p14:section name="Default-3" id="{c8493f8e-0f45-30ac-20d8-1071ab53d765}">
          <p14:sldIdLst>
            <p14:sldId id="264"/>
            <p14:sldId id="265"/>
          </p14:sldIdLst>
        </p14:section>
        <p14:section name="What's still missing" id="{68329802-3da5-c591-ed51-2aab2fbe35e4}">
          <p14:sldIdLst>
            <p14:sldId id="266"/>
          </p14:sldIdLst>
        </p14:section>
        <p14:section name="Default-4" id="{ca6050de-c13c-4f92-430f-588856cb4d88}">
          <p14:sldIdLst>
            <p14:sldId id="267"/>
            <p14:sldId id="268"/>
            <p14:sldId id="269"/>
          </p14:sldIdLst>
        </p14:section>
        <p14:section name="Feasibility — what real adoption takes" id="{36b366b7-d6dc-536f-422c-43e2e651979c}">
          <p14:sldIdLst>
            <p14:sldId id="270"/>
          </p14:sldIdLst>
        </p14:section>
        <p14:section name="Default-5" id="{ac50d4f0-4d3d-a221-b174-3a12145984d1}">
          <p14:sldIdLst>
            <p14:sldId id="271"/>
            <p14:sldId id="272"/>
          </p14:sldIdLst>
        </p14:section>
        <p14:section name="Open questions for this team" id="{c436077c-3a49-83f3-1cc9-b867f0ad350c}">
          <p14:sldIdLst>
            <p14:sldId id="273"/>
          </p14:sldIdLst>
        </p14:section>
        <p14:section name="Default-6" id="{117786a8-9cad-6785-1e06-a11377c60c7b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middle ground: promising idea, real but unfinished code, earlier regulatory stage than the other four use cases. Invite the open questions from the previous slide into discussion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STUDY &amp; TEAM REVIEW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51460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P2P Energy Trading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6576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what's real today, and whether it's ready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206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walkthrough of the India Energy Stack / Beckn use case — the idea, the actual live code, the gaps we found, and what real adoption would take.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Team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Exists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mechanics — what problem is this actually trying to solve?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EXISTS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is trying to close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 consumer with solar can only sell back to their own DISCOM — once a month, at one fixed rate, with no choice of buyer.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271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net metering only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8328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fixed, regulator-set rate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once a month, in bulk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choice of buyer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price signal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2514600"/>
            <a:ext cx="52271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C07F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— direct P2P trade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38328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directly to a chosen buyer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agreed per trade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measured by the DISCOM's own real meters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trusted grid, new choice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Why This Exists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EXISTS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trade actually happens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UPI: a shared protocol for discovery and agreement, not a new power 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13048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lists surplus energy, a price, and a delivery window.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9178" y="251460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3498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349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813048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discovers the offer, and both sides confirm the trade.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2557" y="251460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6877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6877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86877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86877" y="3813048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DISCOMs' real meters report what happened, and money moves.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physical changes. The electrons still flow through the same shared grid, exactly as today — only the financial bookkeeping is new.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Why This Exists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EXISTS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trading app like Binance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is physical. Money on a blockchain is not.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27168" cy="2743200"/>
          </a:xfrm>
          <a:prstGeom prst="roundRect">
            <a:avLst>
              <a:gd name="adj" fmla="val 2667"/>
            </a:avLst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3C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crypto exchange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83280"/>
            <a:ext cx="458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delivery needed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consensus are the trust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self-custody the asset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2514600"/>
            <a:ext cx="5227168" cy="2743200"/>
          </a:xfrm>
          <a:prstGeom prst="roundRect">
            <a:avLst>
              <a:gd name="adj" fmla="val 2667"/>
            </a:avLst>
          </a:prstGeom>
          <a:solidFill>
            <a:srgbClr val="2A3242"/>
          </a:solidFill>
          <a:ln w="25400">
            <a:solidFill>
              <a:srgbClr val="C07F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P2P energy trade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383280"/>
            <a:ext cx="458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electrons, real grid physics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DISCOM's real meter is the trust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bypass the utility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5321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doesn't try to remove the DISCOM — it standardizes the paperwork layer on top of it.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Why This Exists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Real Players Are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not two — and probably not you, directly.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WHO THE REAL PLAYERS 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roles in every trade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38706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they really 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(BAP)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buyer's trading app/platform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Discovers an offer and agrees to buy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(BPP)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seller's trading app/platform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surplus energy and agrees to 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Buyer's DISCOM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buyer-side utility's regulated record-keeper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buyer's own real meter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Seller's DISCOM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seller-side utility's regulated record-keeper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real reading, computes settlement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6634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4663440"/>
            <a:ext cx="73152" cy="960120"/>
          </a:xfrm>
          <a:prstGeom prst="rect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46634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homeowner never runs any of this directly — exactly like nobody runs their own UPI switch. A DISCOM or a licensed aggregator app does it on their behalf.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Who The Real Players 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Built Today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pulled the live repository fresh and read the real code — not a summary of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WHAT'S ACTUALLY BUILT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infrastructure already exists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whitepaper-only idea — there's real, working code behind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108200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97480"/>
            <a:ext cx="256032" cy="256032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514600"/>
            <a:ext cx="9814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reference implementation with real message schemas, not just a spec document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136392"/>
            <a:ext cx="108200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319272"/>
            <a:ext cx="256032" cy="256032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136392"/>
            <a:ext cx="9814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rules written as real, executable policy code — enforced automatically, not just documented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758184"/>
            <a:ext cx="108200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941064"/>
            <a:ext cx="256032" cy="256032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758184"/>
            <a:ext cx="9814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registry (DeDi) distributing each DISCOM's rules with cryptographic verification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200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562856"/>
            <a:ext cx="256032" cy="256032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4379976"/>
            <a:ext cx="9814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Python reporting tool for a DISCOM to query its own signed trade ledger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001768"/>
            <a:ext cx="108200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184648"/>
            <a:ext cx="256032" cy="256032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5001768"/>
            <a:ext cx="98142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1,600 lines of automated tests checking the rules behave as written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What's Actually Built Today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WHAT'S ACTUALLY BUILT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safeguards already in the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protections verified by reading the current policy files ourselves — not just documentation claims.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500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70632"/>
            <a:ext cx="384048" cy="384048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4701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trade with yourself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57600"/>
            <a:ext cx="4701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seller meter IDs must differ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514600"/>
            <a:ext cx="52500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0188" y="2770632"/>
            <a:ext cx="384048" cy="384048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018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291840"/>
            <a:ext cx="4701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grid-power resold as "generation"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0188" y="3657600"/>
            <a:ext cx="4701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seller's source can't be ordinary grid supply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572000"/>
            <a:ext cx="52500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828032"/>
            <a:ext cx="384048" cy="384048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49240"/>
            <a:ext cx="4701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figure capped by both meters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715000"/>
            <a:ext cx="4701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never exceed either side's own independent reading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5868" y="4572000"/>
            <a:ext cx="52500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0188" y="4828032"/>
            <a:ext cx="384048" cy="384048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0188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30188" y="5349240"/>
            <a:ext cx="4701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and production kept separate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30188" y="5715000"/>
            <a:ext cx="4701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environment segregation, enforced in code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What's Actually Built Today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Still Missing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depth of review, pointed at the open risks.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WHAT'S STILL MISSING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real risk still sits (1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4144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penalty for breaking a promise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7063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rate for under-delivery is hardcoded to zero in the live policy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134295" y="25374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34295" y="25374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0156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grid-capacity check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3075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can be agreed on paper even if the real wires can't carry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134295" y="34975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34295" y="34975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36168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price sanity check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69087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 at ₹0.01 or ₹10,000 per kWh is accepted without question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34295" y="44577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34295" y="44577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32180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dispute process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65099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two DISCOMs' readings disagree, there's no formal resolution — only a conservative cap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134295" y="54178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34295" y="54178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What's Still Missing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WHAT'S STILL MISSING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real risk still sits (2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4144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ledger today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7063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supports one per DISCOM, but production currently points every DISCOM at the same single ledger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134295" y="25374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34295" y="25374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0156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fault-vs-fraud distinction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3075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equipment failure is penalized exactly the same as simply not delivering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134295" y="34975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34295" y="34975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36168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firm-vs-forecast distinction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69087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Unstored solar's weather-driven guess is judged by the same rule as a battery's firm, known promise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34295" y="44577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34295" y="44577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32180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lost connection looks like a lost delivery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650992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meter reading blocks settlement outright, with no fallback at all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134295" y="54178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34295" y="54178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What's Still Missing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WHAT'S STILL MISSING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program's own status page says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assessment — quoted directly from the live, official repository.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4864" cy="896112"/>
          </a:xfrm>
          <a:prstGeom prst="rect">
            <a:avLst/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2468880"/>
            <a:ext cx="10765231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542032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“...demonstrating a first set of use cases (DER Visibility, Consumer Energy Passport, Consumer Meter Digest, Smart Meter Data Exchange)...”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44952"/>
            <a:ext cx="10225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STATUS.md — note P2P Energy Transaction is not named in that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474720"/>
            <a:ext cx="54864" cy="896112"/>
          </a:xfrm>
          <a:prstGeom prst="rect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3474720"/>
            <a:ext cx="10765231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547872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production allow-list is governance-pending.”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050792"/>
            <a:ext cx="10225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P2P Energy Transaction use-case document, “Points for Confirmation”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54864" cy="896112"/>
          </a:xfrm>
          <a:prstGeom prst="rect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" y="4480560"/>
            <a:ext cx="10765231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553712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“...production-grade network policy bundle awaits CERC sign-off post-sandbox.”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56632"/>
            <a:ext cx="10225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document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486400"/>
            <a:ext cx="54864" cy="896112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" y="5486400"/>
            <a:ext cx="10765231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559552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“...the starting configuration connects all trading platforms to a single Ledger Provider...”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6062472"/>
            <a:ext cx="10225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document, labeled “Initial topology”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What's Still Missing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What Real Adoption Takes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code and the official status together into one honest picture.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would look like, day to 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like a trading app. Closer to a smart thermostat.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933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13048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homeowner sets preferences once — minimum reserve, price floor.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9178" y="2514600"/>
            <a:ext cx="33933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3498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349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AUTOMATICALLY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813048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 telemetry lists and matches offers in the background.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2557" y="2514600"/>
            <a:ext cx="33933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6877" y="2788920"/>
            <a:ext cx="502920" cy="502920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6877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86877" y="34290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SETTLES DAILY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86877" y="3813048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DISCOMs reconcile actuals once a day, folded into the regular bill.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0749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book. No manual accept/reject button. No real-time trading screen for an ordinary consumer.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Feasibility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feasibility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3687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5FC98A"/>
          </a:solidFill>
          <a:ln w="12700">
            <a:solidFill>
              <a:srgbClr val="5FC9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368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· SOUND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286000"/>
            <a:ext cx="7208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proven pattern as UPI/ONDC — solves a real, recognized integration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27832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378708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3787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· SANDBOX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227832"/>
            <a:ext cx="7208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improved since our first review — but penalty, price-sanity, dispute and grid-capacity rules are still placeholders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169664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320540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205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· PRE-APPROVAL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4169664"/>
            <a:ext cx="7208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inside the CERC Innovation Sandbox; no production DISCOM allow-list exists yet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312664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312664"/>
            <a:ext cx="73152" cy="731520"/>
          </a:xfrm>
          <a:prstGeom prst="rect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5312664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promising — not yet something a real DISCOM could safely turn on for real money.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Feasibility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This Team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nobody outside this room can make for 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OPEN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worth making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73452"/>
            <a:ext cx="493776" cy="493776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734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3172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prioritize this use case, or the more mature demand-flex / aggregation use case first?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433572"/>
            <a:ext cx="493776" cy="493776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335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9184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bear the risk when a seller's equipment genuinely fails — the seller, or the aggregator?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393692"/>
            <a:ext cx="493776" cy="493776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936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25196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comfortable building against a devkit that is still pre-CERC-approval?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5353812"/>
            <a:ext cx="493776" cy="493776"/>
          </a:xfrm>
          <a:prstGeom prst="ellipse">
            <a:avLst/>
          </a:prstGeom>
          <a:solidFill>
            <a:srgbClr val="C07F2A"/>
          </a:solidFill>
          <a:ln w="12700">
            <a:solidFill>
              <a:srgbClr val="C07F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3538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21208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real timeline expectation, given the production allow-list is officially “governance-pending”?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Open Questions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technical evaluation — but calibrate the timeline to the real regulatory stage, not the folder it sits in.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06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is technically sound and partly built. It is not yet CERC-approved, has no production DISCOM allow-list, and its money-safety rules are still placeholders — all three are true at once.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2P Energy Trading">
  <a:themeElements>
    <a:clrScheme name="P2P Energy Trading">
      <a:dk1>
        <a:srgbClr val="171B24"/>
      </a:dk1>
      <a:lt1>
        <a:srgbClr val="FFFFFF"/>
      </a:lt1>
      <a:dk2>
        <a:srgbClr val="10151F"/>
      </a:dk2>
      <a:lt2>
        <a:srgbClr val="F4F5F7"/>
      </a:lt2>
      <a:accent1>
        <a:srgbClr val="C07F2A"/>
      </a:accent1>
      <a:accent2>
        <a:srgbClr val="B23B2E"/>
      </a:accent2>
      <a:accent3>
        <a:srgbClr val="8A94A6"/>
      </a:accent3>
      <a:accent4>
        <a:srgbClr val="2F7A4F"/>
      </a:accent4>
      <a:accent5>
        <a:srgbClr val="5FC98A"/>
      </a:accent5>
      <a:accent6>
        <a:srgbClr val="2A3242"/>
      </a:accent6>
      <a:hlink>
        <a:srgbClr val="C07F2A"/>
      </a:hlink>
      <a:folHlink>
        <a:srgbClr val="C07F2A"/>
      </a:folHlink>
    </a:clrScheme>
    <a:fontScheme name="P2P Energy Trad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2026-10-08T17:15:14Z</dcterms:created>
  <dcterms:modified xsi:type="dcterms:W3CDTF">2026-10-08T17:15:14Z</dcterms:modified>
</cp:coreProperties>
</file>