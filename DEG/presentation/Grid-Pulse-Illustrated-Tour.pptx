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Relationship Id="rId3" Type="http://schemas.openxmlformats.org/officeDocument/2006/relationships/slide" Target="slide5.xml"/><Relationship Id="rId4" Type="http://schemas.openxmlformats.org/officeDocument/2006/relationships/slide" Target="slide6.xml"/><Relationship Id="rId5" Type="http://schemas.openxmlformats.org/officeDocument/2006/relationships/slide" Target="slide7.xml"/><Relationship Id="rId6" Type="http://schemas.openxmlformats.org/officeDocument/2006/relationships/slide" Target="slide8.xml"/><Relationship Id="rId7" Type="http://schemas.openxmlformats.org/officeDocument/2006/relationships/slide" Target="slide9.xml"/><Relationship Id="rId8" Type="http://schemas.openxmlformats.org/officeDocument/2006/relationships/slide" Target="slide10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25535" y="-1097280"/>
            <a:ext cx="4389120" cy="4389120"/>
          </a:xfrm>
          <a:prstGeom prst="ellipse">
            <a:avLst/>
          </a:prstGeom>
          <a:gradFill rotWithShape="1">
            <a:gsLst>
              <a:gs pos="0">
                <a:srgbClr val="1E2C40"/>
              </a:gs>
              <a:gs pos="100000">
                <a:srgbClr val="0B141F"/>
              </a:gs>
            </a:gsLst>
            <a:lin scaled="0" ang="14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9509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C87C1C"/>
                </a:solidFill>
                <a:latin typeface="Poppins"/>
              </a:rPr>
              <a:t>GRID PULSE  ·  AN ILLUSTRATED TOUR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95097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Poppins"/>
              </a:rPr>
              <a:t>The Real P2P Energy Trade,</a:t>
            </a:r>
          </a:p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Poppins"/>
              </a:rPr>
              <a:t>in Six Moments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91840"/>
            <a:ext cx="93268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D6DEE6"/>
                </a:solidFill>
                <a:latin typeface="Poppins"/>
              </a:rPr>
              <a:t>Every fact below is real — illustrated for clarity, not staged for effect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5321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391A2"/>
                </a:solidFill>
                <a:latin typeface="Poppins"/>
              </a:rPr>
              <a:t>No live demo required — click through this at your own pace, in any order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20040"/>
            <a:ext cx="1094811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87C1C"/>
                </a:solidFill>
                <a:latin typeface="Poppins"/>
              </a:rPr>
              <a:t>HOW TO USE THIS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76072"/>
            <a:ext cx="10948111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121B27"/>
                </a:solidFill>
                <a:latin typeface="Poppins"/>
              </a:rPr>
              <a:t>Read it straight through, or jump around — both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728216"/>
            <a:ext cx="82296" cy="82296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824" y="1645920"/>
            <a:ext cx="1069207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48576A"/>
                </a:solidFill>
                <a:latin typeface="Poppins"/>
              </a:rPr>
              <a:t>The next slide is a clickable map — click any moment to jump straight to it, in any order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2414016"/>
            <a:ext cx="82296" cy="82296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2331720"/>
            <a:ext cx="1069207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48576A"/>
                </a:solidFill>
                <a:latin typeface="Poppins"/>
              </a:rPr>
              <a:t>Every moment-slide has a ◀ Map link back, and a Next ▶ link if you'd rather read start to finish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" y="3099816"/>
            <a:ext cx="82296" cy="82296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3017520"/>
            <a:ext cx="1069207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48576A"/>
                </a:solidFill>
                <a:latin typeface="Poppins"/>
              </a:rPr>
              <a:t>Each diagram is illustrated, but every label, address, and number on it is real — pulled from an actual run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" y="3785616"/>
            <a:ext cx="82296" cy="82296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3703320"/>
            <a:ext cx="1069207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48576A"/>
                </a:solidFill>
                <a:latin typeface="Poppins"/>
              </a:rPr>
              <a:t>This covers 6 of the real 31 hops in a full trade — the ones that teach the most, not all of them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20040"/>
            <a:ext cx="1094811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87C1C"/>
                </a:solidFill>
                <a:latin typeface="Poppins"/>
              </a:rPr>
              <a:t>JUMP TO ANY MOMENT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76072"/>
            <a:ext cx="10948111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121B27"/>
                </a:solidFill>
                <a:latin typeface="Poppins"/>
              </a:rPr>
              <a:t>The trade,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05840"/>
            <a:ext cx="10948111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8576A"/>
                </a:solidFill>
                <a:latin typeface="Poppins"/>
              </a:rPr>
              <a:t>Click a tile — or follow the numbers in order</a:t>
            </a:r>
          </a:p>
        </p:txBody>
      </p:sp>
      <p:sp>
        <p:nvSpPr>
          <p:cNvPr id="5" name="Rounded Rectangle 4">
            <a:hlinkClick action="ppaction://hlinksldjump" r:id="rId2"/>
          </p:cNvPr>
          <p:cNvSpPr/>
          <p:nvPr/>
        </p:nvSpPr>
        <p:spPr>
          <a:xfrm>
            <a:off x="621792" y="1737360"/>
            <a:ext cx="2531287" cy="160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857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874520"/>
            <a:ext cx="216552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48576A"/>
                </a:solidFill>
                <a:latin typeface="Poppins"/>
              </a:rPr>
              <a:t>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331720"/>
            <a:ext cx="216552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21B27"/>
                </a:solidFill>
                <a:latin typeface="Poppins"/>
              </a:rPr>
              <a:t>The Network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697480"/>
            <a:ext cx="2165527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48576A"/>
                </a:solidFill>
                <a:latin typeface="Poppins"/>
              </a:rPr>
              <a:t>What's real, at a glance</a:t>
            </a:r>
          </a:p>
        </p:txBody>
      </p:sp>
      <p:sp>
        <p:nvSpPr>
          <p:cNvPr id="9" name="Rounded Rectangle 8">
            <a:hlinkClick action="ppaction://hlinksldjump" r:id="rId3"/>
          </p:cNvPr>
          <p:cNvSpPr/>
          <p:nvPr/>
        </p:nvSpPr>
        <p:spPr>
          <a:xfrm>
            <a:off x="3427399" y="1737360"/>
            <a:ext cx="2531287" cy="160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0279" y="1874520"/>
            <a:ext cx="216552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2C5F8A"/>
                </a:solidFill>
                <a:latin typeface="Poppin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0279" y="2331720"/>
            <a:ext cx="216552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21B27"/>
                </a:solidFill>
                <a:latin typeface="Poppins"/>
              </a:rPr>
              <a:t>Publish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0279" y="2697480"/>
            <a:ext cx="2165527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48576A"/>
                </a:solidFill>
                <a:latin typeface="Poppins"/>
              </a:rPr>
              <a:t>Leaves our machines entirely</a:t>
            </a:r>
          </a:p>
        </p:txBody>
      </p:sp>
      <p:sp>
        <p:nvSpPr>
          <p:cNvPr id="13" name="Rounded Rectangle 12">
            <a:hlinkClick action="ppaction://hlinksldjump" r:id="rId4"/>
          </p:cNvPr>
          <p:cNvSpPr/>
          <p:nvPr/>
        </p:nvSpPr>
        <p:spPr>
          <a:xfrm>
            <a:off x="6233007" y="1737360"/>
            <a:ext cx="2531287" cy="160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5887" y="1874520"/>
            <a:ext cx="216552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2A9D8F"/>
                </a:solidFill>
                <a:latin typeface="Poppi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5887" y="2331720"/>
            <a:ext cx="216552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21B27"/>
                </a:solidFill>
                <a:latin typeface="Poppins"/>
              </a:rPr>
              <a:t>Discover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5887" y="2697480"/>
            <a:ext cx="2165527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48576A"/>
                </a:solidFill>
                <a:latin typeface="Poppins"/>
              </a:rPr>
              <a:t>A different real address</a:t>
            </a:r>
          </a:p>
        </p:txBody>
      </p:sp>
      <p:sp>
        <p:nvSpPr>
          <p:cNvPr id="17" name="Rounded Rectangle 16">
            <a:hlinkClick action="ppaction://hlinksldjump" r:id="rId5"/>
          </p:cNvPr>
          <p:cNvSpPr/>
          <p:nvPr/>
        </p:nvSpPr>
        <p:spPr>
          <a:xfrm>
            <a:off x="9038615" y="1737360"/>
            <a:ext cx="2531287" cy="160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7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21495" y="1874520"/>
            <a:ext cx="216552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C87C1C"/>
                </a:solidFill>
                <a:latin typeface="Poppi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21495" y="2331720"/>
            <a:ext cx="216552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21B27"/>
                </a:solidFill>
                <a:latin typeface="Poppins"/>
              </a:rPr>
              <a:t>Init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21495" y="2697480"/>
            <a:ext cx="2165527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48576A"/>
                </a:solidFill>
                <a:latin typeface="Poppins"/>
              </a:rPr>
              <a:t>Nothing committed yet</a:t>
            </a:r>
          </a:p>
        </p:txBody>
      </p:sp>
      <p:sp>
        <p:nvSpPr>
          <p:cNvPr id="21" name="Rounded Rectangle 20">
            <a:hlinkClick action="ppaction://hlinksldjump" r:id="rId6"/>
          </p:cNvPr>
          <p:cNvSpPr/>
          <p:nvPr/>
        </p:nvSpPr>
        <p:spPr>
          <a:xfrm>
            <a:off x="621792" y="3611880"/>
            <a:ext cx="2531287" cy="160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7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3749040"/>
            <a:ext cx="216552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C87C1C"/>
                </a:solidFill>
                <a:latin typeface="Poppin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" y="4206240"/>
            <a:ext cx="216552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21B27"/>
                </a:solidFill>
                <a:latin typeface="Poppins"/>
              </a:rPr>
              <a:t>Confirm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4572000"/>
            <a:ext cx="2165527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48576A"/>
                </a:solidFill>
                <a:latin typeface="Poppins"/>
              </a:rPr>
              <a:t>Lands on a real ledger</a:t>
            </a:r>
          </a:p>
        </p:txBody>
      </p:sp>
      <p:sp>
        <p:nvSpPr>
          <p:cNvPr id="25" name="Rounded Rectangle 24">
            <a:hlinkClick action="ppaction://hlinksldjump" r:id="rId7"/>
          </p:cNvPr>
          <p:cNvSpPr/>
          <p:nvPr/>
        </p:nvSpPr>
        <p:spPr>
          <a:xfrm>
            <a:off x="3427399" y="3611880"/>
            <a:ext cx="2531287" cy="160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10279" y="3749040"/>
            <a:ext cx="216552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2E7D4F"/>
                </a:solidFill>
                <a:latin typeface="Poppins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10279" y="4206240"/>
            <a:ext cx="216552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21B27"/>
                </a:solidFill>
                <a:latin typeface="Poppins"/>
              </a:rPr>
              <a:t>Settle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10279" y="4572000"/>
            <a:ext cx="2165527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48576A"/>
                </a:solidFill>
                <a:latin typeface="Poppins"/>
              </a:rPr>
              <a:t>The real payoff — ₹437.15</a:t>
            </a:r>
          </a:p>
        </p:txBody>
      </p:sp>
      <p:sp>
        <p:nvSpPr>
          <p:cNvPr id="29" name="Rounded Rectangle 28">
            <a:hlinkClick action="ppaction://hlinksldjump" r:id="rId8"/>
          </p:cNvPr>
          <p:cNvSpPr/>
          <p:nvPr/>
        </p:nvSpPr>
        <p:spPr>
          <a:xfrm>
            <a:off x="6233007" y="3611880"/>
            <a:ext cx="2531287" cy="160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648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15887" y="3749040"/>
            <a:ext cx="216552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A6483B"/>
                </a:solidFill>
                <a:latin typeface="Poppins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15887" y="4206240"/>
            <a:ext cx="216552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21B27"/>
                </a:solidFill>
                <a:latin typeface="Poppins"/>
              </a:rPr>
              <a:t>Rejected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15887" y="4572000"/>
            <a:ext cx="2165527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48576A"/>
                </a:solidFill>
                <a:latin typeface="Poppins"/>
              </a:rPr>
              <a:t>Proof the rules are real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20040"/>
            <a:ext cx="1094811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87C1C"/>
                </a:solidFill>
                <a:latin typeface="Poppins"/>
              </a:rPr>
              <a:t>THE NETWORK,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76072"/>
            <a:ext cx="10948111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121B27"/>
                </a:solidFill>
                <a:latin typeface="Poppins"/>
              </a:rPr>
              <a:t>Two companies' real software, one shared rulebook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05840"/>
            <a:ext cx="10948111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8576A"/>
                </a:solidFill>
                <a:latin typeface="Poppins"/>
              </a:rPr>
              <a:t>A simplified, illustrated version of the real topology — every node below is a real running service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691640"/>
            <a:ext cx="10948111" cy="4160520"/>
          </a:xfrm>
          <a:prstGeom prst="roundRect">
            <a:avLst/>
          </a:prstGeom>
          <a:solidFill>
            <a:srgbClr val="0B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41832" y="1883664"/>
            <a:ext cx="10308031" cy="3776472"/>
          </a:xfrm>
          <a:prstGeom prst="roundRect">
            <a:avLst/>
          </a:prstGeom>
          <a:solidFill>
            <a:srgbClr val="1A2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684367" y="1965960"/>
            <a:ext cx="822960" cy="822960"/>
          </a:xfrm>
          <a:prstGeom prst="ellipse">
            <a:avLst/>
          </a:prstGeom>
          <a:gradFill rotWithShape="1">
            <a:gsLst>
              <a:gs pos="0">
                <a:srgbClr val="E8A33D"/>
              </a:gs>
              <a:gs pos="100000">
                <a:srgbClr val="C87C1C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879820" y="2161413"/>
            <a:ext cx="432054" cy="432054"/>
          </a:xfrm>
          <a:prstGeom prst="ellipse">
            <a:avLst/>
          </a:prstGeom>
          <a:noFill/>
          <a:ln w="28575">
            <a:solidFill>
              <a:srgbClr val="0B14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009436" y="2291029"/>
            <a:ext cx="172821" cy="172821"/>
          </a:xfrm>
          <a:prstGeom prst="ellipse">
            <a:avLst/>
          </a:prstGeom>
          <a:gradFill rotWithShape="1">
            <a:gsLst>
              <a:gs pos="0">
                <a:srgbClr val="0B141F"/>
              </a:gs>
              <a:gs pos="100000">
                <a:srgbClr val="0B141F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90007" y="286207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Poppins"/>
              </a:rPr>
              <a:t>Beckn Router</a:t>
            </a:r>
          </a:p>
        </p:txBody>
      </p:sp>
      <p:sp>
        <p:nvSpPr>
          <p:cNvPr id="11" name="Oval 10"/>
          <p:cNvSpPr/>
          <p:nvPr/>
        </p:nvSpPr>
        <p:spPr>
          <a:xfrm>
            <a:off x="2221992" y="3291840"/>
            <a:ext cx="1005840" cy="1005840"/>
          </a:xfrm>
          <a:prstGeom prst="ellipse">
            <a:avLst/>
          </a:prstGeom>
          <a:gradFill rotWithShape="1">
            <a:gsLst>
              <a:gs pos="0">
                <a:srgbClr val="5AA9FF"/>
              </a:gs>
              <a:gs pos="100000">
                <a:srgbClr val="2C5F8A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460879" y="3591657"/>
            <a:ext cx="528066" cy="411891"/>
          </a:xfrm>
          <a:prstGeom prst="roundRect">
            <a:avLst/>
          </a:prstGeom>
          <a:solidFill>
            <a:srgbClr val="0B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19072" y="437083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Poppins"/>
              </a:rPr>
              <a:t>BuyerApp</a:t>
            </a:r>
          </a:p>
        </p:txBody>
      </p:sp>
      <p:sp>
        <p:nvSpPr>
          <p:cNvPr id="14" name="Oval 13"/>
          <p:cNvSpPr/>
          <p:nvPr/>
        </p:nvSpPr>
        <p:spPr>
          <a:xfrm>
            <a:off x="8963863" y="3291840"/>
            <a:ext cx="1005840" cy="1005840"/>
          </a:xfrm>
          <a:prstGeom prst="ellipse">
            <a:avLst/>
          </a:prstGeom>
          <a:gradFill rotWithShape="1">
            <a:gsLst>
              <a:gs pos="0">
                <a:srgbClr val="5AA9FF"/>
              </a:gs>
              <a:gs pos="100000">
                <a:srgbClr val="2C5F8A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202750" y="3591657"/>
            <a:ext cx="528066" cy="411891"/>
          </a:xfrm>
          <a:prstGeom prst="roundRect">
            <a:avLst/>
          </a:prstGeom>
          <a:solidFill>
            <a:srgbClr val="0B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0943" y="437083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Poppins"/>
              </a:rPr>
              <a:t>SellerApp</a:t>
            </a:r>
          </a:p>
        </p:txBody>
      </p:sp>
      <p:sp>
        <p:nvSpPr>
          <p:cNvPr id="17" name="Oval 16"/>
          <p:cNvSpPr/>
          <p:nvPr/>
        </p:nvSpPr>
        <p:spPr>
          <a:xfrm>
            <a:off x="2359152" y="4754880"/>
            <a:ext cx="731520" cy="731520"/>
          </a:xfrm>
          <a:prstGeom prst="ellipse">
            <a:avLst/>
          </a:prstGeom>
          <a:gradFill rotWithShape="1">
            <a:gsLst>
              <a:gs pos="0">
                <a:srgbClr val="6ED4C8"/>
              </a:gs>
              <a:gs pos="100000">
                <a:srgbClr val="2A9D8F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532888" y="4928616"/>
            <a:ext cx="384048" cy="384048"/>
          </a:xfrm>
          <a:prstGeom prst="ellipse">
            <a:avLst/>
          </a:prstGeom>
          <a:noFill/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648102" y="5043830"/>
            <a:ext cx="153619" cy="153619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FFFFFF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19072" y="555955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Poppins"/>
              </a:rPr>
              <a:t>onix-buyerapp</a:t>
            </a:r>
          </a:p>
        </p:txBody>
      </p:sp>
      <p:sp>
        <p:nvSpPr>
          <p:cNvPr id="21" name="Oval 20"/>
          <p:cNvSpPr/>
          <p:nvPr/>
        </p:nvSpPr>
        <p:spPr>
          <a:xfrm>
            <a:off x="9101023" y="4754880"/>
            <a:ext cx="731520" cy="731520"/>
          </a:xfrm>
          <a:prstGeom prst="ellipse">
            <a:avLst/>
          </a:prstGeom>
          <a:gradFill rotWithShape="1">
            <a:gsLst>
              <a:gs pos="0">
                <a:srgbClr val="6ED4C8"/>
              </a:gs>
              <a:gs pos="100000">
                <a:srgbClr val="2A9D8F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74759" y="4928616"/>
            <a:ext cx="384048" cy="384048"/>
          </a:xfrm>
          <a:prstGeom prst="ellipse">
            <a:avLst/>
          </a:prstGeom>
          <a:noFill/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389973" y="5043830"/>
            <a:ext cx="153619" cy="153619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FFFFFF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60943" y="555955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Poppins"/>
              </a:rPr>
              <a:t>onix-sellerapp</a:t>
            </a:r>
          </a:p>
        </p:txBody>
      </p:sp>
      <p:sp>
        <p:nvSpPr>
          <p:cNvPr id="25" name="Oval 24"/>
          <p:cNvSpPr/>
          <p:nvPr/>
        </p:nvSpPr>
        <p:spPr>
          <a:xfrm>
            <a:off x="5730087" y="4754880"/>
            <a:ext cx="731520" cy="731520"/>
          </a:xfrm>
          <a:prstGeom prst="ellipse">
            <a:avLst/>
          </a:prstGeom>
          <a:gradFill rotWithShape="1">
            <a:gsLst>
              <a:gs pos="0">
                <a:srgbClr val="5BC28A"/>
              </a:gs>
              <a:gs pos="100000">
                <a:srgbClr val="2E7D4F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903823" y="4963180"/>
            <a:ext cx="384048" cy="31491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5972952" y="5051357"/>
            <a:ext cx="245790" cy="0"/>
          </a:xfrm>
          <a:prstGeom prst="line">
            <a:avLst/>
          </a:prstGeom>
          <a:ln w="13970">
            <a:solidFill>
              <a:srgbClr val="0B14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972952" y="5126938"/>
            <a:ext cx="245790" cy="0"/>
          </a:xfrm>
          <a:prstGeom prst="line">
            <a:avLst/>
          </a:prstGeom>
          <a:ln w="13970">
            <a:solidFill>
              <a:srgbClr val="0B14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972952" y="5202519"/>
            <a:ext cx="245790" cy="0"/>
          </a:xfrm>
          <a:prstGeom prst="line">
            <a:avLst/>
          </a:prstGeom>
          <a:ln w="13970">
            <a:solidFill>
              <a:srgbClr val="0B14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090007" y="555955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Poppins"/>
              </a:rPr>
              <a:t>Real Ledgers</a:t>
            </a:r>
          </a:p>
        </p:txBody>
      </p:sp>
      <p:cxnSp>
        <p:nvCxnSpPr>
          <p:cNvPr id="31" name="Connector 30"/>
          <p:cNvCxnSpPr/>
          <p:nvPr/>
        </p:nvCxnSpPr>
        <p:spPr>
          <a:xfrm flipV="1">
            <a:off x="3026664" y="2583180"/>
            <a:ext cx="2781147" cy="909828"/>
          </a:xfrm>
          <a:prstGeom prst="line">
            <a:avLst/>
          </a:prstGeom>
          <a:ln w="25400">
            <a:solidFill>
              <a:srgbClr val="C87C1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4487715" y="2924022"/>
            <a:ext cx="137160" cy="137160"/>
          </a:xfrm>
          <a:prstGeom prst="ellipse">
            <a:avLst/>
          </a:prstGeom>
          <a:gradFill rotWithShape="1">
            <a:gsLst>
              <a:gs pos="0">
                <a:srgbClr val="C87C1C"/>
              </a:gs>
              <a:gs pos="100000">
                <a:srgbClr val="FFFFFF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6383883" y="2583180"/>
            <a:ext cx="2781148" cy="909828"/>
          </a:xfrm>
          <a:prstGeom prst="line">
            <a:avLst/>
          </a:prstGeom>
          <a:ln w="25400">
            <a:solidFill>
              <a:srgbClr val="C87C1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7844934" y="3015005"/>
            <a:ext cx="137160" cy="137160"/>
          </a:xfrm>
          <a:prstGeom prst="ellipse">
            <a:avLst/>
          </a:prstGeom>
          <a:gradFill rotWithShape="1">
            <a:gsLst>
              <a:gs pos="0">
                <a:srgbClr val="C87C1C"/>
              </a:gs>
              <a:gs pos="100000">
                <a:srgbClr val="FFFFFF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2724912" y="4297680"/>
            <a:ext cx="0" cy="457200"/>
          </a:xfrm>
          <a:prstGeom prst="line">
            <a:avLst/>
          </a:prstGeom>
          <a:ln w="19050">
            <a:solidFill>
              <a:srgbClr val="8391A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466783" y="4297680"/>
            <a:ext cx="0" cy="457200"/>
          </a:xfrm>
          <a:prstGeom prst="line">
            <a:avLst/>
          </a:prstGeom>
          <a:ln w="19050">
            <a:solidFill>
              <a:srgbClr val="8391A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017520" y="5120640"/>
            <a:ext cx="2749143" cy="0"/>
          </a:xfrm>
          <a:prstGeom prst="line">
            <a:avLst/>
          </a:prstGeom>
          <a:ln w="19050">
            <a:solidFill>
              <a:srgbClr val="5BC28A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>
            <a:off x="6425031" y="5120640"/>
            <a:ext cx="2749144" cy="0"/>
          </a:xfrm>
          <a:prstGeom prst="line">
            <a:avLst/>
          </a:prstGeom>
          <a:ln w="19050">
            <a:solidFill>
              <a:srgbClr val="5BC28A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>
            <a:hlinkClick action="ppaction://hlinksldjump" r:id="rId2"/>
          </p:cNvPr>
          <p:cNvSpPr/>
          <p:nvPr/>
        </p:nvSpPr>
        <p:spPr>
          <a:xfrm>
            <a:off x="621792" y="6053328"/>
            <a:ext cx="640080" cy="329184"/>
          </a:xfrm>
          <a:prstGeom prst="roundRect">
            <a:avLst/>
          </a:prstGeom>
          <a:solidFill>
            <a:srgbClr val="E4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1792" y="6099048"/>
            <a:ext cx="6400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21B27"/>
                </a:solidFill>
                <a:latin typeface="Poppins"/>
              </a:rPr>
              <a:t>◀ Map</a:t>
            </a:r>
          </a:p>
        </p:txBody>
      </p:sp>
      <p:sp>
        <p:nvSpPr>
          <p:cNvPr id="41" name="Rounded Rectangle 40">
            <a:hlinkClick action="ppaction://hlinksldjump" r:id="rId3"/>
          </p:cNvPr>
          <p:cNvSpPr/>
          <p:nvPr/>
        </p:nvSpPr>
        <p:spPr>
          <a:xfrm>
            <a:off x="10838383" y="6053328"/>
            <a:ext cx="731520" cy="329184"/>
          </a:xfrm>
          <a:prstGeom prst="round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838383" y="6099048"/>
            <a:ext cx="7315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Poppins"/>
              </a:rPr>
              <a:t>Next ▶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20040"/>
            <a:ext cx="1094811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87C1C"/>
                </a:solidFill>
                <a:latin typeface="Poppins"/>
              </a:rPr>
              <a:t>MOMENT 1 · PUBLISH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76072"/>
            <a:ext cx="10948111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121B27"/>
                </a:solidFill>
                <a:latin typeface="Poppins"/>
              </a:rPr>
              <a:t>The offer leaves our own machines entirely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71600"/>
            <a:ext cx="10948111" cy="640080"/>
          </a:xfrm>
          <a:prstGeom prst="rect">
            <a:avLst/>
          </a:prstGeom>
          <a:solidFill>
            <a:srgbClr val="0B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472184"/>
            <a:ext cx="1039947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Poppins"/>
              </a:rPr>
              <a:t>Pure delivery — the reception desk forwards the sealed offer on to the real, shared catalog service, without opening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2148840"/>
            <a:ext cx="10948111" cy="2468880"/>
          </a:xfrm>
          <a:prstGeom prst="roundRect">
            <a:avLst/>
          </a:prstGeom>
          <a:solidFill>
            <a:srgbClr val="0B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41832" y="2340864"/>
            <a:ext cx="10308031" cy="2084832"/>
          </a:xfrm>
          <a:prstGeom prst="roundRect">
            <a:avLst/>
          </a:prstGeom>
          <a:solidFill>
            <a:srgbClr val="1A2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856232" y="2510028"/>
            <a:ext cx="1005840" cy="1005840"/>
          </a:xfrm>
          <a:prstGeom prst="ellipse">
            <a:avLst/>
          </a:prstGeom>
          <a:gradFill rotWithShape="1">
            <a:gsLst>
              <a:gs pos="0">
                <a:srgbClr val="5AA9FF"/>
              </a:gs>
              <a:gs pos="100000">
                <a:srgbClr val="2C5F8A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095119" y="2809845"/>
            <a:ext cx="528066" cy="411891"/>
          </a:xfrm>
          <a:prstGeom prst="roundRect">
            <a:avLst/>
          </a:prstGeom>
          <a:solidFill>
            <a:srgbClr val="0B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53312" y="35890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Poppins"/>
              </a:rPr>
              <a:t>SellerApp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" y="3845052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D6DEE6"/>
                </a:solidFill>
                <a:latin typeface="Poppins"/>
              </a:rPr>
              <a:t>lists a real offer</a:t>
            </a:r>
          </a:p>
        </p:txBody>
      </p:sp>
      <p:sp>
        <p:nvSpPr>
          <p:cNvPr id="12" name="Oval 11"/>
          <p:cNvSpPr/>
          <p:nvPr/>
        </p:nvSpPr>
        <p:spPr>
          <a:xfrm>
            <a:off x="8963863" y="2235708"/>
            <a:ext cx="1554480" cy="1554480"/>
          </a:xfrm>
          <a:prstGeom prst="ellipse">
            <a:avLst/>
          </a:prstGeom>
          <a:noFill/>
          <a:ln w="15875">
            <a:solidFill>
              <a:srgbClr val="3A4A5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101023" y="2372868"/>
            <a:ext cx="1280160" cy="1280160"/>
          </a:xfrm>
          <a:prstGeom prst="ellipse">
            <a:avLst/>
          </a:prstGeom>
          <a:gradFill rotWithShape="1">
            <a:gsLst>
              <a:gs pos="0">
                <a:srgbClr val="F2C05C"/>
              </a:gs>
              <a:gs pos="100000">
                <a:srgbClr val="C87C1C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45091" y="2580894"/>
            <a:ext cx="192024" cy="192024"/>
          </a:xfrm>
          <a:prstGeom prst="ellipse">
            <a:avLst/>
          </a:prstGeom>
          <a:gradFill rotWithShape="1">
            <a:gsLst>
              <a:gs pos="0">
                <a:srgbClr val="0B141F"/>
              </a:gs>
              <a:gs pos="100000">
                <a:srgbClr val="0B141F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54070" y="3084957"/>
            <a:ext cx="192024" cy="192024"/>
          </a:xfrm>
          <a:prstGeom prst="ellipse">
            <a:avLst/>
          </a:prstGeom>
          <a:gradFill rotWithShape="1">
            <a:gsLst>
              <a:gs pos="0">
                <a:srgbClr val="0B141F"/>
              </a:gs>
              <a:gs pos="100000">
                <a:srgbClr val="0B141F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936111" y="3084957"/>
            <a:ext cx="192024" cy="192024"/>
          </a:xfrm>
          <a:prstGeom prst="ellipse">
            <a:avLst/>
          </a:prstGeom>
          <a:gradFill rotWithShape="1">
            <a:gsLst>
              <a:gs pos="0">
                <a:srgbClr val="0B141F"/>
              </a:gs>
              <a:gs pos="100000">
                <a:srgbClr val="0B141F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405061" y="2676906"/>
            <a:ext cx="672084" cy="672084"/>
          </a:xfrm>
          <a:prstGeom prst="ellipse">
            <a:avLst/>
          </a:prstGeom>
          <a:noFill/>
          <a:ln w="15875">
            <a:solidFill>
              <a:srgbClr val="0B141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35263" y="372618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Poppins"/>
              </a:rPr>
              <a:t>fabric.nfh.global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52383" y="3982212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D6DEE6"/>
                </a:solidFill>
                <a:latin typeface="Poppins"/>
              </a:rPr>
              <a:t>real, external, shared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86703" y="2423160"/>
            <a:ext cx="1" cy="0"/>
          </a:xfrm>
          <a:prstGeom prst="line">
            <a:avLst/>
          </a:prstGeom>
          <a:ln w="19050">
            <a:solidFill>
              <a:srgbClr val="3A4A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090007" y="225856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8391A2"/>
                </a:solidFill>
                <a:latin typeface="Poppins"/>
              </a:rPr>
              <a:t>── our network ends here ──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862072" y="3012948"/>
            <a:ext cx="6101791" cy="0"/>
          </a:xfrm>
          <a:prstGeom prst="line">
            <a:avLst/>
          </a:prstGeom>
          <a:ln w="31750">
            <a:solidFill>
              <a:srgbClr val="C87C1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6149477" y="2944368"/>
            <a:ext cx="137160" cy="137160"/>
          </a:xfrm>
          <a:prstGeom prst="ellipse">
            <a:avLst/>
          </a:prstGeom>
          <a:gradFill rotWithShape="1">
            <a:gsLst>
              <a:gs pos="0">
                <a:srgbClr val="C87C1C"/>
              </a:gs>
              <a:gs pos="100000">
                <a:srgbClr val="FFFFFF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21792" y="4727448"/>
            <a:ext cx="10948111" cy="868680"/>
          </a:xfrm>
          <a:prstGeom prst="roundRect">
            <a:avLst/>
          </a:prstGeom>
          <a:solidFill>
            <a:srgbClr val="121B27"/>
          </a:solidFill>
          <a:ln w="15875">
            <a:solidFill>
              <a:srgbClr val="C87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2" y="4855464"/>
            <a:ext cx="10490911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C87C1C"/>
                </a:solidFill>
                <a:latin typeface="Poppins"/>
              </a:rPr>
              <a:t>REAL ADDRESS THIS HOP ACTUALLY WENT 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" y="5111496"/>
            <a:ext cx="10490911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D6DEE6"/>
                </a:solidFill>
                <a:latin typeface="Consolas"/>
              </a:rPr>
              <a:t>POST https://fabric.nfh.global/beckn/catalog/publish</a:t>
            </a:r>
          </a:p>
        </p:txBody>
      </p:sp>
      <p:sp>
        <p:nvSpPr>
          <p:cNvPr id="27" name="Rounded Rectangle 26">
            <a:hlinkClick action="ppaction://hlinksldjump" r:id="rId2"/>
          </p:cNvPr>
          <p:cNvSpPr/>
          <p:nvPr/>
        </p:nvSpPr>
        <p:spPr>
          <a:xfrm>
            <a:off x="621792" y="6053328"/>
            <a:ext cx="640080" cy="329184"/>
          </a:xfrm>
          <a:prstGeom prst="roundRect">
            <a:avLst/>
          </a:prstGeom>
          <a:solidFill>
            <a:srgbClr val="E4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" y="6099048"/>
            <a:ext cx="6400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21B27"/>
                </a:solidFill>
                <a:latin typeface="Poppins"/>
              </a:rPr>
              <a:t>◀ Map</a:t>
            </a:r>
          </a:p>
        </p:txBody>
      </p:sp>
      <p:sp>
        <p:nvSpPr>
          <p:cNvPr id="29" name="Rounded Rectangle 28">
            <a:hlinkClick action="ppaction://hlinksldjump" r:id="rId3"/>
          </p:cNvPr>
          <p:cNvSpPr/>
          <p:nvPr/>
        </p:nvSpPr>
        <p:spPr>
          <a:xfrm>
            <a:off x="10838383" y="6053328"/>
            <a:ext cx="731520" cy="329184"/>
          </a:xfrm>
          <a:prstGeom prst="round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838383" y="6099048"/>
            <a:ext cx="7315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Poppins"/>
              </a:rPr>
              <a:t>Next ▶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20040"/>
            <a:ext cx="1094811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87C1C"/>
                </a:solidFill>
                <a:latin typeface="Poppins"/>
              </a:rPr>
              <a:t>MOMENT 2 · DISCOVER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76072"/>
            <a:ext cx="10948111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121B27"/>
                </a:solidFill>
                <a:latin typeface="Poppins"/>
              </a:rPr>
              <a:t>A completely different real address than Publish used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71600"/>
            <a:ext cx="10948111" cy="640080"/>
          </a:xfrm>
          <a:prstGeom prst="rect">
            <a:avLst/>
          </a:prstGeom>
          <a:solidFill>
            <a:srgbClr val="0B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472184"/>
            <a:ext cx="1039947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Poppins"/>
              </a:rPr>
              <a:t>Pure delivery again — the reception desk forwards the search to the real discovery service, which finds the seller's offer.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2148840"/>
            <a:ext cx="10948111" cy="2468880"/>
          </a:xfrm>
          <a:prstGeom prst="roundRect">
            <a:avLst/>
          </a:prstGeom>
          <a:solidFill>
            <a:srgbClr val="0B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41832" y="2340864"/>
            <a:ext cx="10308031" cy="2084832"/>
          </a:xfrm>
          <a:prstGeom prst="roundRect">
            <a:avLst/>
          </a:prstGeom>
          <a:solidFill>
            <a:srgbClr val="1A2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856232" y="2510028"/>
            <a:ext cx="1005840" cy="1005840"/>
          </a:xfrm>
          <a:prstGeom prst="ellipse">
            <a:avLst/>
          </a:prstGeom>
          <a:gradFill rotWithShape="1">
            <a:gsLst>
              <a:gs pos="0">
                <a:srgbClr val="5AA9FF"/>
              </a:gs>
              <a:gs pos="100000">
                <a:srgbClr val="2C5F8A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095119" y="2809845"/>
            <a:ext cx="528066" cy="411891"/>
          </a:xfrm>
          <a:prstGeom prst="roundRect">
            <a:avLst/>
          </a:prstGeom>
          <a:solidFill>
            <a:srgbClr val="0B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53312" y="35890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Poppins"/>
              </a:rPr>
              <a:t>BuyerApp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" y="3845052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D6DEE6"/>
                </a:solidFill>
                <a:latin typeface="Poppins"/>
              </a:rPr>
              <a:t>searches the network</a:t>
            </a:r>
          </a:p>
        </p:txBody>
      </p:sp>
      <p:sp>
        <p:nvSpPr>
          <p:cNvPr id="12" name="Oval 11"/>
          <p:cNvSpPr/>
          <p:nvPr/>
        </p:nvSpPr>
        <p:spPr>
          <a:xfrm>
            <a:off x="8963863" y="2235708"/>
            <a:ext cx="1554480" cy="1554480"/>
          </a:xfrm>
          <a:prstGeom prst="ellipse">
            <a:avLst/>
          </a:prstGeom>
          <a:noFill/>
          <a:ln w="15875">
            <a:solidFill>
              <a:srgbClr val="3A4A5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101023" y="2372868"/>
            <a:ext cx="1280160" cy="1280160"/>
          </a:xfrm>
          <a:prstGeom prst="ellipse">
            <a:avLst/>
          </a:prstGeom>
          <a:gradFill rotWithShape="1">
            <a:gsLst>
              <a:gs pos="0">
                <a:srgbClr val="6ED4C8"/>
              </a:gs>
              <a:gs pos="100000">
                <a:srgbClr val="2A9D8F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45091" y="2580894"/>
            <a:ext cx="192024" cy="192024"/>
          </a:xfrm>
          <a:prstGeom prst="ellipse">
            <a:avLst/>
          </a:prstGeom>
          <a:gradFill rotWithShape="1">
            <a:gsLst>
              <a:gs pos="0">
                <a:srgbClr val="0B141F"/>
              </a:gs>
              <a:gs pos="100000">
                <a:srgbClr val="0B141F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54070" y="3084957"/>
            <a:ext cx="192024" cy="192024"/>
          </a:xfrm>
          <a:prstGeom prst="ellipse">
            <a:avLst/>
          </a:prstGeom>
          <a:gradFill rotWithShape="1">
            <a:gsLst>
              <a:gs pos="0">
                <a:srgbClr val="0B141F"/>
              </a:gs>
              <a:gs pos="100000">
                <a:srgbClr val="0B141F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936111" y="3084957"/>
            <a:ext cx="192024" cy="192024"/>
          </a:xfrm>
          <a:prstGeom prst="ellipse">
            <a:avLst/>
          </a:prstGeom>
          <a:gradFill rotWithShape="1">
            <a:gsLst>
              <a:gs pos="0">
                <a:srgbClr val="0B141F"/>
              </a:gs>
              <a:gs pos="100000">
                <a:srgbClr val="0B141F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405061" y="2676906"/>
            <a:ext cx="672084" cy="672084"/>
          </a:xfrm>
          <a:prstGeom prst="ellipse">
            <a:avLst/>
          </a:prstGeom>
          <a:noFill/>
          <a:ln w="15875">
            <a:solidFill>
              <a:srgbClr val="0B141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35263" y="372618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Poppins"/>
              </a:rPr>
              <a:t>34.93.165.42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52383" y="3982212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D6DEE6"/>
                </a:solidFill>
                <a:latin typeface="Poppins"/>
              </a:rPr>
              <a:t>a different real service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862072" y="3012948"/>
            <a:ext cx="6101791" cy="0"/>
          </a:xfrm>
          <a:prstGeom prst="line">
            <a:avLst/>
          </a:prstGeom>
          <a:ln w="31750">
            <a:solidFill>
              <a:srgbClr val="2A9D8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6149477" y="2944368"/>
            <a:ext cx="137160" cy="137160"/>
          </a:xfrm>
          <a:prstGeom prst="ellipse">
            <a:avLst/>
          </a:prstGeom>
          <a:gradFill rotWithShape="1">
            <a:gsLst>
              <a:gs pos="0">
                <a:srgbClr val="2A9D8F"/>
              </a:gs>
              <a:gs pos="100000">
                <a:srgbClr val="FFFFFF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4114800"/>
            <a:ext cx="10399471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D6DEE6"/>
                </a:solidFill>
                <a:latin typeface="Poppins"/>
              </a:rPr>
              <a:t>Same shape of call as Publish — a completely different real address underneath.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" y="4727448"/>
            <a:ext cx="10948111" cy="868680"/>
          </a:xfrm>
          <a:prstGeom prst="roundRect">
            <a:avLst/>
          </a:prstGeom>
          <a:solidFill>
            <a:srgbClr val="121B27"/>
          </a:solidFill>
          <a:ln w="15875">
            <a:solidFill>
              <a:srgbClr val="C87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2" y="4855464"/>
            <a:ext cx="10490911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C87C1C"/>
                </a:solidFill>
                <a:latin typeface="Poppins"/>
              </a:rPr>
              <a:t>NOTICE THE DOMAIN HERE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" y="5111496"/>
            <a:ext cx="10490911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D6DEE6"/>
                </a:solidFill>
                <a:latin typeface="Consolas"/>
              </a:rPr>
              <a:t>GET https://34.93.165.42.sslip.io/beckn — not fabric.nfh.global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621792" y="6053328"/>
            <a:ext cx="640080" cy="329184"/>
          </a:xfrm>
          <a:prstGeom prst="roundRect">
            <a:avLst/>
          </a:prstGeom>
          <a:solidFill>
            <a:srgbClr val="E4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" y="6099048"/>
            <a:ext cx="6400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21B27"/>
                </a:solidFill>
                <a:latin typeface="Poppins"/>
              </a:rPr>
              <a:t>◀ Map</a:t>
            </a:r>
          </a:p>
        </p:txBody>
      </p:sp>
      <p:sp>
        <p:nvSpPr>
          <p:cNvPr id="28" name="Rounded Rectangle 27">
            <a:hlinkClick action="ppaction://hlinksldjump" r:id="rId3"/>
          </p:cNvPr>
          <p:cNvSpPr/>
          <p:nvPr/>
        </p:nvSpPr>
        <p:spPr>
          <a:xfrm>
            <a:off x="10838383" y="6053328"/>
            <a:ext cx="731520" cy="329184"/>
          </a:xfrm>
          <a:prstGeom prst="round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838383" y="6099048"/>
            <a:ext cx="7315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Poppins"/>
              </a:rPr>
              <a:t>Next ▶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20040"/>
            <a:ext cx="1094811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87C1C"/>
                </a:solidFill>
                <a:latin typeface="Poppins"/>
              </a:rPr>
              <a:t>MOMENT 3 · INIT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76072"/>
            <a:ext cx="10948111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121B27"/>
                </a:solidFill>
                <a:latin typeface="Poppins"/>
              </a:rPr>
              <a:t>Two separate letters, not a phone call — nothing is committed yet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5543" y="594360"/>
            <a:ext cx="594360" cy="292608"/>
          </a:xfrm>
          <a:prstGeom prst="roundRect">
            <a:avLst/>
          </a:prstGeom>
          <a:solidFill>
            <a:srgbClr val="2C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5543" y="612648"/>
            <a:ext cx="5943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Poppins"/>
              </a:rPr>
              <a:t>ASYNC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371600"/>
            <a:ext cx="10948111" cy="640080"/>
          </a:xfrm>
          <a:prstGeom prst="rect">
            <a:avLst/>
          </a:prstGeom>
          <a:solidFill>
            <a:srgbClr val="0B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472184"/>
            <a:ext cx="1039947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Poppins"/>
              </a:rPr>
              <a:t>The seller's app sends its real answer — a brand-new message, going the opposite direction, not a reply to the same letter.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148840"/>
            <a:ext cx="10948111" cy="2468880"/>
          </a:xfrm>
          <a:prstGeom prst="roundRect">
            <a:avLst/>
          </a:prstGeom>
          <a:solidFill>
            <a:srgbClr val="0B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41832" y="2340864"/>
            <a:ext cx="10308031" cy="2084832"/>
          </a:xfrm>
          <a:prstGeom prst="roundRect">
            <a:avLst/>
          </a:prstGeom>
          <a:solidFill>
            <a:srgbClr val="1A2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856232" y="2510028"/>
            <a:ext cx="1005840" cy="1005840"/>
          </a:xfrm>
          <a:prstGeom prst="ellipse">
            <a:avLst/>
          </a:prstGeom>
          <a:gradFill rotWithShape="1">
            <a:gsLst>
              <a:gs pos="0">
                <a:srgbClr val="5AA9FF"/>
              </a:gs>
              <a:gs pos="100000">
                <a:srgbClr val="2C5F8A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095119" y="2809845"/>
            <a:ext cx="528066" cy="411891"/>
          </a:xfrm>
          <a:prstGeom prst="roundRect">
            <a:avLst/>
          </a:prstGeom>
          <a:solidFill>
            <a:srgbClr val="0B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53312" y="35890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Poppins"/>
              </a:rPr>
              <a:t>BuyerApp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3845052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D6DEE6"/>
                </a:solidFill>
                <a:latin typeface="Poppins"/>
              </a:rPr>
              <a:t>sends its request</a:t>
            </a:r>
          </a:p>
        </p:txBody>
      </p:sp>
      <p:sp>
        <p:nvSpPr>
          <p:cNvPr id="14" name="Oval 13"/>
          <p:cNvSpPr/>
          <p:nvPr/>
        </p:nvSpPr>
        <p:spPr>
          <a:xfrm>
            <a:off x="9329623" y="2510028"/>
            <a:ext cx="1005840" cy="1005840"/>
          </a:xfrm>
          <a:prstGeom prst="ellipse">
            <a:avLst/>
          </a:prstGeom>
          <a:gradFill rotWithShape="1">
            <a:gsLst>
              <a:gs pos="0">
                <a:srgbClr val="5AA9FF"/>
              </a:gs>
              <a:gs pos="100000">
                <a:srgbClr val="2C5F8A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608114" y="2917896"/>
            <a:ext cx="448856" cy="316839"/>
          </a:xfrm>
          <a:prstGeom prst="roundRect">
            <a:avLst/>
          </a:prstGeom>
          <a:solidFill>
            <a:srgbClr val="0B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Block Arc 15"/>
          <p:cNvSpPr/>
          <p:nvPr/>
        </p:nvSpPr>
        <p:spPr>
          <a:xfrm>
            <a:off x="9663561" y="2722511"/>
            <a:ext cx="337962" cy="316839"/>
          </a:xfrm>
          <a:prstGeom prst="blockArc">
            <a:avLst/>
          </a:prstGeom>
          <a:solidFill>
            <a:srgbClr val="0B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6703" y="35890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Poppins"/>
              </a:rPr>
              <a:t>SellerApp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3823" y="3845052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D6DEE6"/>
                </a:solidFill>
                <a:latin typeface="Poppins"/>
              </a:rPr>
              <a:t>answers separately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862072" y="2848356"/>
            <a:ext cx="6467551" cy="0"/>
          </a:xfrm>
          <a:prstGeom prst="line">
            <a:avLst/>
          </a:prstGeom>
          <a:ln w="25400">
            <a:solidFill>
              <a:srgbClr val="C87C1C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6350645" y="2779776"/>
            <a:ext cx="137160" cy="137160"/>
          </a:xfrm>
          <a:prstGeom prst="ellipse">
            <a:avLst/>
          </a:prstGeom>
          <a:gradFill rotWithShape="1">
            <a:gsLst>
              <a:gs pos="0">
                <a:srgbClr val="C87C1C"/>
              </a:gs>
              <a:gs pos="100000">
                <a:srgbClr val="FFFFFF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 flipH="1">
            <a:off x="2862072" y="3177540"/>
            <a:ext cx="6467551" cy="0"/>
          </a:xfrm>
          <a:prstGeom prst="line">
            <a:avLst/>
          </a:prstGeom>
          <a:ln w="25400">
            <a:solidFill>
              <a:srgbClr val="E8A33D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5703889" y="3108960"/>
            <a:ext cx="137160" cy="137160"/>
          </a:xfrm>
          <a:prstGeom prst="ellipse">
            <a:avLst/>
          </a:prstGeom>
          <a:gradFill rotWithShape="1">
            <a:gsLst>
              <a:gs pos="0">
                <a:srgbClr val="E8A33D"/>
              </a:gs>
              <a:gs pos="100000">
                <a:srgbClr val="FFFFFF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088575" y="2235708"/>
            <a:ext cx="621792" cy="274320"/>
          </a:xfrm>
          <a:prstGeom prst="roundRect">
            <a:avLst/>
          </a:prstGeom>
          <a:solidFill>
            <a:srgbClr val="3A4A5E"/>
          </a:solidFill>
          <a:ln w="9525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88575" y="2267712"/>
            <a:ext cx="62179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D6DEE6"/>
                </a:solidFill>
                <a:latin typeface="Poppins"/>
              </a:rPr>
              <a:t>DRAFT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81447" y="2446020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8391A2"/>
                </a:solidFill>
                <a:latin typeface="Poppins"/>
              </a:rPr>
              <a:t>init →   ← on_init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" y="4727448"/>
            <a:ext cx="10948111" cy="868680"/>
          </a:xfrm>
          <a:prstGeom prst="roundRect">
            <a:avLst/>
          </a:prstGeom>
          <a:solidFill>
            <a:srgbClr val="121B27"/>
          </a:solidFill>
          <a:ln w="15875">
            <a:solidFill>
              <a:srgbClr val="C87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" y="4855464"/>
            <a:ext cx="10490911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C87C1C"/>
                </a:solidFill>
                <a:latin typeface="Poppins"/>
              </a:rPr>
              <a:t>contract.status.code IN THE REAL PAYLOAD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" y="5111496"/>
            <a:ext cx="10490911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D6DEE6"/>
                </a:solidFill>
                <a:latin typeface="Consolas"/>
              </a:rPr>
              <a:t>"DRAFT" — no ledger, no payment, no money moved yet</a:t>
            </a:r>
          </a:p>
        </p:txBody>
      </p:sp>
      <p:sp>
        <p:nvSpPr>
          <p:cNvPr id="29" name="Rounded Rectangle 28">
            <a:hlinkClick action="ppaction://hlinksldjump" r:id="rId2"/>
          </p:cNvPr>
          <p:cNvSpPr/>
          <p:nvPr/>
        </p:nvSpPr>
        <p:spPr>
          <a:xfrm>
            <a:off x="621792" y="6053328"/>
            <a:ext cx="640080" cy="329184"/>
          </a:xfrm>
          <a:prstGeom prst="roundRect">
            <a:avLst/>
          </a:prstGeom>
          <a:solidFill>
            <a:srgbClr val="E4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" y="6099048"/>
            <a:ext cx="6400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21B27"/>
                </a:solidFill>
                <a:latin typeface="Poppins"/>
              </a:rPr>
              <a:t>◀ Map</a:t>
            </a:r>
          </a:p>
        </p:txBody>
      </p:sp>
      <p:sp>
        <p:nvSpPr>
          <p:cNvPr id="31" name="Rounded Rectangle 30">
            <a:hlinkClick action="ppaction://hlinksldjump" r:id="rId3"/>
          </p:cNvPr>
          <p:cNvSpPr/>
          <p:nvPr/>
        </p:nvSpPr>
        <p:spPr>
          <a:xfrm>
            <a:off x="10838383" y="6053328"/>
            <a:ext cx="731520" cy="329184"/>
          </a:xfrm>
          <a:prstGeom prst="round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838383" y="6099048"/>
            <a:ext cx="7315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Poppins"/>
              </a:rPr>
              <a:t>Next ▶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20040"/>
            <a:ext cx="1094811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87C1C"/>
                </a:solidFill>
                <a:latin typeface="Poppins"/>
              </a:rPr>
              <a:t>MOMENT 4 · CONFIRM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76072"/>
            <a:ext cx="10948111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121B27"/>
                </a:solidFill>
                <a:latin typeface="Poppins"/>
              </a:rPr>
              <a:t>The trade is confirmed — and lands on a real electricity company's ledger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71600"/>
            <a:ext cx="10948111" cy="640080"/>
          </a:xfrm>
          <a:prstGeom prst="rect">
            <a:avLst/>
          </a:prstGeom>
          <a:solidFill>
            <a:srgbClr val="0B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472184"/>
            <a:ext cx="1039947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Poppins"/>
              </a:rPr>
              <a:t>A real, separate copy of this confirmation lands at the seller's own electricity company's ledger, automatically.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2148840"/>
            <a:ext cx="10948111" cy="2468880"/>
          </a:xfrm>
          <a:prstGeom prst="roundRect">
            <a:avLst/>
          </a:prstGeom>
          <a:solidFill>
            <a:srgbClr val="0B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41832" y="2340864"/>
            <a:ext cx="10308031" cy="2084832"/>
          </a:xfrm>
          <a:prstGeom prst="roundRect">
            <a:avLst/>
          </a:prstGeom>
          <a:solidFill>
            <a:srgbClr val="1A2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581912" y="2679192"/>
            <a:ext cx="914400" cy="914400"/>
          </a:xfrm>
          <a:prstGeom prst="ellipse">
            <a:avLst/>
          </a:prstGeom>
          <a:gradFill rotWithShape="1">
            <a:gsLst>
              <a:gs pos="0">
                <a:srgbClr val="5AA9FF"/>
              </a:gs>
              <a:gs pos="100000">
                <a:srgbClr val="2C5F8A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799082" y="2951753"/>
            <a:ext cx="480060" cy="374446"/>
          </a:xfrm>
          <a:prstGeom prst="roundRect">
            <a:avLst/>
          </a:prstGeom>
          <a:solidFill>
            <a:srgbClr val="0B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3666744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Poppins"/>
              </a:rPr>
              <a:t>BuyerApp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392277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D6DEE6"/>
                </a:solidFill>
                <a:latin typeface="Poppins"/>
              </a:rPr>
              <a:t>confirms the trade</a:t>
            </a:r>
          </a:p>
        </p:txBody>
      </p:sp>
      <p:sp>
        <p:nvSpPr>
          <p:cNvPr id="12" name="Oval 11"/>
          <p:cNvSpPr/>
          <p:nvPr/>
        </p:nvSpPr>
        <p:spPr>
          <a:xfrm>
            <a:off x="5775807" y="2679192"/>
            <a:ext cx="914400" cy="914400"/>
          </a:xfrm>
          <a:prstGeom prst="ellipse">
            <a:avLst/>
          </a:prstGeom>
          <a:gradFill rotWithShape="1">
            <a:gsLst>
              <a:gs pos="0">
                <a:srgbClr val="5AA9FF"/>
              </a:gs>
              <a:gs pos="100000">
                <a:srgbClr val="2C5F8A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992977" y="2951753"/>
            <a:ext cx="480060" cy="374446"/>
          </a:xfrm>
          <a:prstGeom prst="roundRect">
            <a:avLst/>
          </a:prstGeom>
          <a:solidFill>
            <a:srgbClr val="0B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27167" y="3666744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Poppins"/>
              </a:rPr>
              <a:t>SellerApp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44287" y="392277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D6DEE6"/>
                </a:solidFill>
                <a:latin typeface="Poppins"/>
              </a:rPr>
              <a:t>trade goes ACTIVE</a:t>
            </a:r>
          </a:p>
        </p:txBody>
      </p:sp>
      <p:sp>
        <p:nvSpPr>
          <p:cNvPr id="16" name="Oval 15"/>
          <p:cNvSpPr/>
          <p:nvPr/>
        </p:nvSpPr>
        <p:spPr>
          <a:xfrm>
            <a:off x="9741103" y="2724912"/>
            <a:ext cx="822960" cy="822960"/>
          </a:xfrm>
          <a:prstGeom prst="ellipse">
            <a:avLst/>
          </a:prstGeom>
          <a:gradFill rotWithShape="1">
            <a:gsLst>
              <a:gs pos="0">
                <a:srgbClr val="5BC28A"/>
              </a:gs>
              <a:gs pos="100000">
                <a:srgbClr val="2E7D4F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936556" y="2959249"/>
            <a:ext cx="432054" cy="35428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10014325" y="3058449"/>
            <a:ext cx="276515" cy="0"/>
          </a:xfrm>
          <a:prstGeom prst="line">
            <a:avLst/>
          </a:prstGeom>
          <a:ln w="13970">
            <a:solidFill>
              <a:srgbClr val="0B14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014325" y="3143477"/>
            <a:ext cx="276515" cy="0"/>
          </a:xfrm>
          <a:prstGeom prst="line">
            <a:avLst/>
          </a:prstGeom>
          <a:ln w="13970">
            <a:solidFill>
              <a:srgbClr val="0B14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014325" y="3228505"/>
            <a:ext cx="276515" cy="0"/>
          </a:xfrm>
          <a:prstGeom prst="line">
            <a:avLst/>
          </a:prstGeom>
          <a:ln w="13970">
            <a:solidFill>
              <a:srgbClr val="0B14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146743" y="3621024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Poppins"/>
              </a:rPr>
              <a:t>TPDDL Ledger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3863" y="387705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D6DEE6"/>
                </a:solidFill>
                <a:latin typeface="Poppins"/>
              </a:rPr>
              <a:t>seller's own discom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96312" y="3136392"/>
            <a:ext cx="3279495" cy="0"/>
          </a:xfrm>
          <a:prstGeom prst="line">
            <a:avLst/>
          </a:prstGeom>
          <a:ln w="28575">
            <a:solidFill>
              <a:srgbClr val="C87C1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4231454" y="3067812"/>
            <a:ext cx="137160" cy="137160"/>
          </a:xfrm>
          <a:prstGeom prst="ellipse">
            <a:avLst/>
          </a:prstGeom>
          <a:gradFill rotWithShape="1">
            <a:gsLst>
              <a:gs pos="0">
                <a:srgbClr val="C87C1C"/>
              </a:gs>
              <a:gs pos="100000">
                <a:srgbClr val="FFFFFF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6690207" y="3044952"/>
            <a:ext cx="3050896" cy="0"/>
          </a:xfrm>
          <a:prstGeom prst="line">
            <a:avLst/>
          </a:prstGeom>
          <a:ln w="25400">
            <a:solidFill>
              <a:srgbClr val="5BC28A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8299620" y="2976372"/>
            <a:ext cx="137160" cy="137160"/>
          </a:xfrm>
          <a:prstGeom prst="ellipse">
            <a:avLst/>
          </a:prstGeom>
          <a:gradFill rotWithShape="1">
            <a:gsLst>
              <a:gs pos="0">
                <a:srgbClr val="5BC28A"/>
              </a:gs>
              <a:gs pos="100000">
                <a:srgbClr val="FFFFFF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70167" y="263347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1">
                <a:solidFill>
                  <a:srgbClr val="D6DEE6"/>
                </a:solidFill>
                <a:latin typeface="Poppins"/>
              </a:rPr>
              <a:t>automatic cascade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" y="4727448"/>
            <a:ext cx="10948111" cy="868680"/>
          </a:xfrm>
          <a:prstGeom prst="roundRect">
            <a:avLst/>
          </a:prstGeom>
          <a:solidFill>
            <a:srgbClr val="121B27"/>
          </a:solidFill>
          <a:ln w="15875">
            <a:solidFill>
              <a:srgbClr val="C87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4855464"/>
            <a:ext cx="10490911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C87C1C"/>
                </a:solidFill>
                <a:latin typeface="Poppins"/>
              </a:rPr>
              <a:t>WHAT ACTUALLY LANDS AT THE SELLER'S DISCOM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" y="5111496"/>
            <a:ext cx="10490911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D6DEE6"/>
                </a:solidFill>
                <a:latin typeface="Consolas"/>
              </a:rPr>
              <a:t>contract.status.code: "ACTIVE" — before a single kWh is delivered</a:t>
            </a:r>
          </a:p>
        </p:txBody>
      </p:sp>
      <p:sp>
        <p:nvSpPr>
          <p:cNvPr id="31" name="Rounded Rectangle 30">
            <a:hlinkClick action="ppaction://hlinksldjump" r:id="rId2"/>
          </p:cNvPr>
          <p:cNvSpPr/>
          <p:nvPr/>
        </p:nvSpPr>
        <p:spPr>
          <a:xfrm>
            <a:off x="621792" y="6053328"/>
            <a:ext cx="640080" cy="329184"/>
          </a:xfrm>
          <a:prstGeom prst="roundRect">
            <a:avLst/>
          </a:prstGeom>
          <a:solidFill>
            <a:srgbClr val="E4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" y="6099048"/>
            <a:ext cx="6400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21B27"/>
                </a:solidFill>
                <a:latin typeface="Poppins"/>
              </a:rPr>
              <a:t>◀ Map</a:t>
            </a:r>
          </a:p>
        </p:txBody>
      </p:sp>
      <p:sp>
        <p:nvSpPr>
          <p:cNvPr id="33" name="Rounded Rectangle 32">
            <a:hlinkClick action="ppaction://hlinksldjump" r:id="rId3"/>
          </p:cNvPr>
          <p:cNvSpPr/>
          <p:nvPr/>
        </p:nvSpPr>
        <p:spPr>
          <a:xfrm>
            <a:off x="10838383" y="6053328"/>
            <a:ext cx="731520" cy="329184"/>
          </a:xfrm>
          <a:prstGeom prst="round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838383" y="6099048"/>
            <a:ext cx="7315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Poppins"/>
              </a:rPr>
              <a:t>Next ▶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20040"/>
            <a:ext cx="1094811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87C1C"/>
                </a:solidFill>
                <a:latin typeface="Poppins"/>
              </a:rPr>
              <a:t>MOMENT 5 · SETTLE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76072"/>
            <a:ext cx="10948111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121B27"/>
                </a:solidFill>
                <a:latin typeface="Poppins"/>
              </a:rPr>
              <a:t>The payoff — real settlement math, computed live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92663" y="594360"/>
            <a:ext cx="777240" cy="292608"/>
          </a:xfrm>
          <a:prstGeom prst="round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92663" y="612648"/>
            <a:ext cx="7772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Poppins"/>
              </a:rPr>
              <a:t>₹437.15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371600"/>
            <a:ext cx="10948111" cy="640080"/>
          </a:xfrm>
          <a:prstGeom prst="rect">
            <a:avLst/>
          </a:prstGeom>
          <a:solidFill>
            <a:srgbClr val="0B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472184"/>
            <a:ext cx="1039947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Poppins"/>
              </a:rPr>
              <a:t>After delivery, the seller reports the real numbers — and this exact step is where the actual revenue split gets computed, live.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148840"/>
            <a:ext cx="10948111" cy="2743200"/>
          </a:xfrm>
          <a:prstGeom prst="roundRect">
            <a:avLst/>
          </a:prstGeom>
          <a:solidFill>
            <a:srgbClr val="0B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41832" y="2340864"/>
            <a:ext cx="10308031" cy="2359152"/>
          </a:xfrm>
          <a:prstGeom prst="roundRect">
            <a:avLst/>
          </a:prstGeom>
          <a:solidFill>
            <a:srgbClr val="1A2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039112" y="2578608"/>
            <a:ext cx="1005840" cy="1005840"/>
          </a:xfrm>
          <a:prstGeom prst="ellipse">
            <a:avLst/>
          </a:prstGeom>
          <a:gradFill rotWithShape="1">
            <a:gsLst>
              <a:gs pos="0">
                <a:srgbClr val="5AA9FF"/>
              </a:gs>
              <a:gs pos="100000">
                <a:srgbClr val="2C5F8A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277999" y="2878425"/>
            <a:ext cx="528066" cy="411891"/>
          </a:xfrm>
          <a:prstGeom prst="roundRect">
            <a:avLst/>
          </a:prstGeom>
          <a:solidFill>
            <a:srgbClr val="0B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36192" y="365760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Poppins"/>
              </a:rPr>
              <a:t>SellerApp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53312" y="3913632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D6DEE6"/>
                </a:solidFill>
                <a:latin typeface="Poppins"/>
              </a:rPr>
              <a:t>reports real delivery</a:t>
            </a:r>
          </a:p>
        </p:txBody>
      </p:sp>
      <p:sp>
        <p:nvSpPr>
          <p:cNvPr id="14" name="Oval 13"/>
          <p:cNvSpPr/>
          <p:nvPr/>
        </p:nvSpPr>
        <p:spPr>
          <a:xfrm>
            <a:off x="9146743" y="2578608"/>
            <a:ext cx="1005840" cy="1005840"/>
          </a:xfrm>
          <a:prstGeom prst="ellipse">
            <a:avLst/>
          </a:prstGeom>
          <a:gradFill rotWithShape="1">
            <a:gsLst>
              <a:gs pos="0">
                <a:srgbClr val="5AA9FF"/>
              </a:gs>
              <a:gs pos="100000">
                <a:srgbClr val="2C5F8A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385630" y="2878425"/>
            <a:ext cx="528066" cy="411891"/>
          </a:xfrm>
          <a:prstGeom prst="roundRect">
            <a:avLst/>
          </a:prstGeom>
          <a:solidFill>
            <a:srgbClr val="0B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43823" y="365760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Poppins"/>
              </a:rPr>
              <a:t>BuyerApp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0943" y="3913632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D6DEE6"/>
                </a:solidFill>
                <a:latin typeface="Poppins"/>
              </a:rPr>
              <a:t>receives the result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044952" y="3081528"/>
            <a:ext cx="6101791" cy="0"/>
          </a:xfrm>
          <a:prstGeom prst="line">
            <a:avLst/>
          </a:prstGeom>
          <a:ln w="31750">
            <a:solidFill>
              <a:srgbClr val="F2C0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6332357" y="3012948"/>
            <a:ext cx="137160" cy="137160"/>
          </a:xfrm>
          <a:prstGeom prst="ellipse">
            <a:avLst/>
          </a:prstGeom>
          <a:gradFill rotWithShape="1">
            <a:gsLst>
              <a:gs pos="0">
                <a:srgbClr val="F2C05C"/>
              </a:gs>
              <a:gs pos="100000">
                <a:srgbClr val="FFFFFF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547207" y="3337560"/>
            <a:ext cx="1097280" cy="1097280"/>
          </a:xfrm>
          <a:prstGeom prst="ellipse">
            <a:avLst/>
          </a:prstGeom>
          <a:gradFill rotWithShape="1">
            <a:gsLst>
              <a:gs pos="0">
                <a:srgbClr val="F2C05C"/>
              </a:gs>
              <a:gs pos="100000">
                <a:srgbClr val="C87C1C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07127" y="3648456"/>
            <a:ext cx="237744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0B141F"/>
                </a:solidFill>
                <a:latin typeface="Poppins"/>
              </a:rPr>
              <a:t>₹437.15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58487" y="4507992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D6DEE6"/>
                </a:solidFill>
                <a:latin typeface="Poppins"/>
              </a:rPr>
              <a:t>seller +₹437.15   ·   buyer −₹437.15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" y="5001768"/>
            <a:ext cx="10948111" cy="868680"/>
          </a:xfrm>
          <a:prstGeom prst="roundRect">
            <a:avLst/>
          </a:prstGeom>
          <a:solidFill>
            <a:srgbClr val="121B27"/>
          </a:solidFill>
          <a:ln w="15875">
            <a:solidFill>
              <a:srgbClr val="C87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2" y="5129784"/>
            <a:ext cx="10490911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C87C1C"/>
                </a:solidFill>
                <a:latin typeface="Poppins"/>
              </a:rPr>
              <a:t>THE EXACT COMPUTATION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" y="5385816"/>
            <a:ext cx="10490911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D6DEE6"/>
                </a:solidFill>
                <a:latin typeface="Consolas"/>
              </a:rPr>
              <a:t>18.5 kWh × ₹12.5 + 14.2 kWh × ₹14.5 = ₹437.15 — computed here, not typed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621792" y="6053328"/>
            <a:ext cx="640080" cy="329184"/>
          </a:xfrm>
          <a:prstGeom prst="roundRect">
            <a:avLst/>
          </a:prstGeom>
          <a:solidFill>
            <a:srgbClr val="E4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" y="6099048"/>
            <a:ext cx="6400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21B27"/>
                </a:solidFill>
                <a:latin typeface="Poppins"/>
              </a:rPr>
              <a:t>◀ Map</a:t>
            </a:r>
          </a:p>
        </p:txBody>
      </p:sp>
      <p:sp>
        <p:nvSpPr>
          <p:cNvPr id="28" name="Rounded Rectangle 27">
            <a:hlinkClick action="ppaction://hlinksldjump" r:id="rId3"/>
          </p:cNvPr>
          <p:cNvSpPr/>
          <p:nvPr/>
        </p:nvSpPr>
        <p:spPr>
          <a:xfrm>
            <a:off x="10838383" y="6053328"/>
            <a:ext cx="731520" cy="329184"/>
          </a:xfrm>
          <a:prstGeom prst="round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838383" y="6099048"/>
            <a:ext cx="7315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Poppins"/>
              </a:rPr>
              <a:t>Next ▶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20040"/>
            <a:ext cx="1094811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87C1C"/>
                </a:solidFill>
                <a:latin typeface="Poppins"/>
              </a:rPr>
              <a:t>MOMENT 6 · REJECTED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76072"/>
            <a:ext cx="10948111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121B27"/>
                </a:solidFill>
                <a:latin typeface="Poppins"/>
              </a:rPr>
              <a:t>Proof the rules are real — a live, specific refusal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18343" y="594360"/>
            <a:ext cx="1051560" cy="292608"/>
          </a:xfrm>
          <a:prstGeom prst="roundRect">
            <a:avLst/>
          </a:prstGeom>
          <a:solidFill>
            <a:srgbClr val="A64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8343" y="612648"/>
            <a:ext cx="10515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Poppins"/>
              </a:rPr>
              <a:t>400 · NACK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371600"/>
            <a:ext cx="10948111" cy="640080"/>
          </a:xfrm>
          <a:prstGeom prst="rect">
            <a:avLst/>
          </a:prstGeom>
          <a:solidFill>
            <a:srgbClr val="0B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472184"/>
            <a:ext cx="1039947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Poppins"/>
              </a:rPr>
              <a:t>Same message shape as a normal init — except this buyer's electricity company isn't on the seller's approved list.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148840"/>
            <a:ext cx="10948111" cy="2468880"/>
          </a:xfrm>
          <a:prstGeom prst="roundRect">
            <a:avLst/>
          </a:prstGeom>
          <a:solidFill>
            <a:srgbClr val="0B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41832" y="2340864"/>
            <a:ext cx="10308031" cy="2084832"/>
          </a:xfrm>
          <a:prstGeom prst="roundRect">
            <a:avLst/>
          </a:prstGeom>
          <a:solidFill>
            <a:srgbClr val="1A2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856232" y="2510028"/>
            <a:ext cx="1005840" cy="1005840"/>
          </a:xfrm>
          <a:prstGeom prst="ellipse">
            <a:avLst/>
          </a:prstGeom>
          <a:gradFill rotWithShape="1">
            <a:gsLst>
              <a:gs pos="0">
                <a:srgbClr val="5AA9FF"/>
              </a:gs>
              <a:gs pos="100000">
                <a:srgbClr val="2C5F8A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095119" y="2809845"/>
            <a:ext cx="528066" cy="411891"/>
          </a:xfrm>
          <a:prstGeom prst="roundRect">
            <a:avLst/>
          </a:prstGeom>
          <a:solidFill>
            <a:srgbClr val="0B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53312" y="35890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Poppins"/>
              </a:rPr>
              <a:t>BuyerApp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3845052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D6DEE6"/>
                </a:solidFill>
                <a:latin typeface="Poppins"/>
              </a:rPr>
              <a:t>TEST_OUTSIDE_DISCOM</a:t>
            </a:r>
          </a:p>
        </p:txBody>
      </p:sp>
      <p:sp>
        <p:nvSpPr>
          <p:cNvPr id="14" name="Oval 13"/>
          <p:cNvSpPr/>
          <p:nvPr/>
        </p:nvSpPr>
        <p:spPr>
          <a:xfrm>
            <a:off x="9329623" y="2510028"/>
            <a:ext cx="1005840" cy="1005840"/>
          </a:xfrm>
          <a:prstGeom prst="ellipse">
            <a:avLst/>
          </a:prstGeom>
          <a:gradFill rotWithShape="1">
            <a:gsLst>
              <a:gs pos="0">
                <a:srgbClr val="5AA9FF"/>
              </a:gs>
              <a:gs pos="100000">
                <a:srgbClr val="2C5F8A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568510" y="2809845"/>
            <a:ext cx="528066" cy="411891"/>
          </a:xfrm>
          <a:prstGeom prst="roundRect">
            <a:avLst/>
          </a:prstGeom>
          <a:solidFill>
            <a:srgbClr val="0B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6703" y="35890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Poppins"/>
              </a:rPr>
              <a:t>SellerApp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3823" y="3845052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D6DEE6"/>
                </a:solidFill>
                <a:latin typeface="Poppins"/>
              </a:rPr>
              <a:t>checks its allowlist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862072" y="3012948"/>
            <a:ext cx="5443423" cy="0"/>
          </a:xfrm>
          <a:prstGeom prst="line">
            <a:avLst/>
          </a:prstGeom>
          <a:ln w="25400">
            <a:solidFill>
              <a:srgbClr val="8391A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8305495" y="2720340"/>
            <a:ext cx="585216" cy="585216"/>
          </a:xfrm>
          <a:prstGeom prst="ellipse">
            <a:avLst/>
          </a:prstGeom>
          <a:noFill/>
          <a:ln w="19050">
            <a:solidFill>
              <a:srgbClr val="E06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ctagon 19"/>
          <p:cNvSpPr/>
          <p:nvPr/>
        </p:nvSpPr>
        <p:spPr>
          <a:xfrm>
            <a:off x="8415223" y="2830068"/>
            <a:ext cx="365760" cy="365760"/>
          </a:xfrm>
          <a:prstGeom prst="octagon">
            <a:avLst/>
          </a:prstGeom>
          <a:solidFill>
            <a:srgbClr val="E0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9463" y="3396996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1">
                <a:solidFill>
                  <a:srgbClr val="A6483B"/>
                </a:solidFill>
                <a:latin typeface="Poppins"/>
              </a:rPr>
              <a:t>blocked here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" y="4727448"/>
            <a:ext cx="10948111" cy="868680"/>
          </a:xfrm>
          <a:prstGeom prst="roundRect">
            <a:avLst/>
          </a:prstGeom>
          <a:solidFill>
            <a:srgbClr val="121B27"/>
          </a:solidFill>
          <a:ln w="15875">
            <a:solidFill>
              <a:srgbClr val="C87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4855464"/>
            <a:ext cx="10490911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C87C1C"/>
                </a:solidFill>
                <a:latin typeface="Poppins"/>
              </a:rPr>
              <a:t>THE ACTUAL REJECTION, WORD FOR WORD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" y="5111496"/>
            <a:ext cx="10490911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D6DEE6"/>
                </a:solidFill>
                <a:latin typeface="Consolas"/>
              </a:rPr>
              <a:t>buyer discom "TEST_OUTSIDE_DISCOM" not allowed (allowed: BRPL, PaVVNL, TEST_DISCOM_BUYER, TEST_DISCOM_SELLER, TPDDL)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621792" y="6053328"/>
            <a:ext cx="640080" cy="329184"/>
          </a:xfrm>
          <a:prstGeom prst="roundRect">
            <a:avLst/>
          </a:prstGeom>
          <a:solidFill>
            <a:srgbClr val="E4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6099048"/>
            <a:ext cx="6400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21B27"/>
                </a:solidFill>
                <a:latin typeface="Poppins"/>
              </a:rPr>
              <a:t>◀ Map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0838383" y="6053328"/>
            <a:ext cx="731520" cy="329184"/>
          </a:xfrm>
          <a:prstGeom prst="round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838383" y="6099048"/>
            <a:ext cx="7315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Poppins"/>
              </a:rPr>
              <a:t>Next ▶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20040"/>
            <a:ext cx="1094811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87C1C"/>
                </a:solidFill>
                <a:latin typeface="Poppins"/>
              </a:rPr>
              <a:t>PUTTING IT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76072"/>
            <a:ext cx="10948111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121B27"/>
                </a:solidFill>
                <a:latin typeface="Poppins"/>
              </a:rPr>
              <a:t>The same six moments, now as one sequence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05840"/>
            <a:ext cx="10948111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8576A"/>
                </a:solidFill>
                <a:latin typeface="Poppins"/>
              </a:rPr>
              <a:t>Everything above, end to end — this is what actually happens on every real trade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874520"/>
            <a:ext cx="1443685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51026" y="2039112"/>
            <a:ext cx="585216" cy="585216"/>
          </a:xfrm>
          <a:prstGeom prst="ellipse">
            <a:avLst/>
          </a:prstGeom>
          <a:gradFill rotWithShape="1">
            <a:gsLst>
              <a:gs pos="0">
                <a:srgbClr val="2C5F8A"/>
              </a:gs>
              <a:gs pos="100000">
                <a:srgbClr val="0B141F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2185416"/>
            <a:ext cx="144368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Poppin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2788920"/>
            <a:ext cx="1297381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121B27"/>
                </a:solidFill>
                <a:latin typeface="Poppins"/>
              </a:rPr>
              <a:t>Publish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092909" y="2560320"/>
            <a:ext cx="402336" cy="0"/>
          </a:xfrm>
          <a:prstGeom prst="line">
            <a:avLst/>
          </a:prstGeom>
          <a:ln w="19050">
            <a:solidFill>
              <a:srgbClr val="8391A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522677" y="1874520"/>
            <a:ext cx="1443685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951911" y="2039112"/>
            <a:ext cx="585216" cy="585216"/>
          </a:xfrm>
          <a:prstGeom prst="ellipse">
            <a:avLst/>
          </a:prstGeom>
          <a:gradFill rotWithShape="1">
            <a:gsLst>
              <a:gs pos="0">
                <a:srgbClr val="2A9D8F"/>
              </a:gs>
              <a:gs pos="100000">
                <a:srgbClr val="0B141F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22677" y="2185416"/>
            <a:ext cx="144368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Poppin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95829" y="2788920"/>
            <a:ext cx="1297381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121B27"/>
                </a:solidFill>
                <a:latin typeface="Poppins"/>
              </a:rPr>
              <a:t>Discover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993794" y="2560320"/>
            <a:ext cx="402336" cy="0"/>
          </a:xfrm>
          <a:prstGeom prst="line">
            <a:avLst/>
          </a:prstGeom>
          <a:ln w="19050">
            <a:solidFill>
              <a:srgbClr val="8391A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423562" y="1874520"/>
            <a:ext cx="1443685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7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852796" y="2039112"/>
            <a:ext cx="585216" cy="585216"/>
          </a:xfrm>
          <a:prstGeom prst="ellipse">
            <a:avLst/>
          </a:prstGeom>
          <a:gradFill rotWithShape="1">
            <a:gsLst>
              <a:gs pos="0">
                <a:srgbClr val="C87C1C"/>
              </a:gs>
              <a:gs pos="100000">
                <a:srgbClr val="0B141F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23562" y="2185416"/>
            <a:ext cx="144368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Poppin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6714" y="2788920"/>
            <a:ext cx="1297381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121B27"/>
                </a:solidFill>
                <a:latin typeface="Poppins"/>
              </a:rPr>
              <a:t>Init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94679" y="2560320"/>
            <a:ext cx="402336" cy="0"/>
          </a:xfrm>
          <a:prstGeom prst="line">
            <a:avLst/>
          </a:prstGeom>
          <a:ln w="19050">
            <a:solidFill>
              <a:srgbClr val="8391A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324447" y="1874520"/>
            <a:ext cx="1443685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7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753682" y="2039112"/>
            <a:ext cx="585216" cy="585216"/>
          </a:xfrm>
          <a:prstGeom prst="ellipse">
            <a:avLst/>
          </a:prstGeom>
          <a:gradFill rotWithShape="1">
            <a:gsLst>
              <a:gs pos="0">
                <a:srgbClr val="C87C1C"/>
              </a:gs>
              <a:gs pos="100000">
                <a:srgbClr val="0B141F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24447" y="2185416"/>
            <a:ext cx="144368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Poppin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7599" y="2788920"/>
            <a:ext cx="1297381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121B27"/>
                </a:solidFill>
                <a:latin typeface="Poppins"/>
              </a:rPr>
              <a:t>Confirm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795564" y="2560320"/>
            <a:ext cx="402336" cy="0"/>
          </a:xfrm>
          <a:prstGeom prst="line">
            <a:avLst/>
          </a:prstGeom>
          <a:ln w="19050">
            <a:solidFill>
              <a:srgbClr val="8391A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225332" y="1874520"/>
            <a:ext cx="1443685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654567" y="2039112"/>
            <a:ext cx="585216" cy="585216"/>
          </a:xfrm>
          <a:prstGeom prst="ellipse">
            <a:avLst/>
          </a:prstGeom>
          <a:gradFill rotWithShape="1">
            <a:gsLst>
              <a:gs pos="0">
                <a:srgbClr val="2E7D4F"/>
              </a:gs>
              <a:gs pos="100000">
                <a:srgbClr val="0B141F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5332" y="2185416"/>
            <a:ext cx="144368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Poppin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98484" y="2788920"/>
            <a:ext cx="1297381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121B27"/>
                </a:solidFill>
                <a:latin typeface="Poppins"/>
              </a:rPr>
              <a:t>Settle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696449" y="2560320"/>
            <a:ext cx="402336" cy="0"/>
          </a:xfrm>
          <a:prstGeom prst="line">
            <a:avLst/>
          </a:prstGeom>
          <a:ln w="19050">
            <a:solidFill>
              <a:srgbClr val="8391A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10126217" y="1874520"/>
            <a:ext cx="1443685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648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555452" y="2039112"/>
            <a:ext cx="585216" cy="585216"/>
          </a:xfrm>
          <a:prstGeom prst="ellipse">
            <a:avLst/>
          </a:prstGeom>
          <a:gradFill rotWithShape="1">
            <a:gsLst>
              <a:gs pos="0">
                <a:srgbClr val="A6483B"/>
              </a:gs>
              <a:gs pos="100000">
                <a:srgbClr val="0B141F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126217" y="2185416"/>
            <a:ext cx="144368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Poppins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99369" y="2788920"/>
            <a:ext cx="1297381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121B27"/>
                </a:solidFill>
                <a:latin typeface="Poppins"/>
              </a:rPr>
              <a:t>Rejected*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" y="3566160"/>
            <a:ext cx="10948111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1">
                <a:solidFill>
                  <a:srgbClr val="8391A2"/>
                </a:solidFill>
                <a:latin typeface="Poppins"/>
              </a:rPr>
              <a:t>* Rejected is a real branch, not a normal step — it replaces Confirm/Settle when a rule genuinely fails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" y="4160520"/>
            <a:ext cx="10948111" cy="1051560"/>
          </a:xfrm>
          <a:prstGeom prst="roundRect">
            <a:avLst/>
          </a:prstGeom>
          <a:solidFill>
            <a:srgbClr val="0B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1832" y="4325112"/>
            <a:ext cx="10308031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D6DEE6"/>
                </a:solidFill>
                <a:latin typeface="Poppins"/>
              </a:rPr>
              <a:t>One offer, six real checkpoints, two independent companies — and a network that enforces its own rules without either side having to trust the other's word for it. That's the whole idea, in one line.</a:t>
            </a:r>
          </a:p>
        </p:txBody>
      </p:sp>
      <p:sp>
        <p:nvSpPr>
          <p:cNvPr id="37" name="Rounded Rectangle 36">
            <a:hlinkClick action="ppaction://hlinksldjump" r:id="rId2"/>
          </p:cNvPr>
          <p:cNvSpPr/>
          <p:nvPr/>
        </p:nvSpPr>
        <p:spPr>
          <a:xfrm>
            <a:off x="621792" y="6053328"/>
            <a:ext cx="640080" cy="329184"/>
          </a:xfrm>
          <a:prstGeom prst="roundRect">
            <a:avLst/>
          </a:prstGeom>
          <a:solidFill>
            <a:srgbClr val="E4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1792" y="6099048"/>
            <a:ext cx="6400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21B27"/>
                </a:solidFill>
                <a:latin typeface="Poppins"/>
              </a:rPr>
              <a:t>◀ Map</a:t>
            </a:r>
          </a:p>
        </p:txBody>
      </p:sp>
      <p:sp>
        <p:nvSpPr>
          <p:cNvPr id="39" name="Rounded Rectangle 38">
            <a:hlinkClick action="ppaction://hlinksldjump" r:id="rId3"/>
          </p:cNvPr>
          <p:cNvSpPr/>
          <p:nvPr/>
        </p:nvSpPr>
        <p:spPr>
          <a:xfrm>
            <a:off x="10564063" y="6053328"/>
            <a:ext cx="1005840" cy="329184"/>
          </a:xfrm>
          <a:prstGeom prst="round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564063" y="6099048"/>
            <a:ext cx="10058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Poppins"/>
              </a:rPr>
              <a:t>Summary ▶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C87C1C"/>
                </a:solidFill>
                <a:latin typeface="Poppins"/>
              </a:rPr>
              <a:t>WHAT THIS PROVES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95097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Poppins"/>
              </a:rPr>
              <a:t>Six moments, one real trade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627632"/>
            <a:ext cx="82296" cy="82296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9601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D6DEE6"/>
                </a:solidFill>
                <a:latin typeface="Poppins"/>
              </a:rPr>
              <a:t>It genuinely leaves our own machines — two different real external services, not one hardcoded call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249424"/>
            <a:ext cx="82296" cy="82296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76272"/>
            <a:ext cx="9601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D6DEE6"/>
                </a:solidFill>
                <a:latin typeface="Poppins"/>
              </a:rPr>
              <a:t>The async pattern is real — offers and answers travel as separate messages, nothing is a synchronous reply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871216"/>
            <a:ext cx="82296" cy="82296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798064"/>
            <a:ext cx="9601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D6DEE6"/>
                </a:solidFill>
                <a:latin typeface="Poppins"/>
              </a:rPr>
              <a:t>Settlement math is computed live from real numbers, not typed in — and the two sides' books cancel to zero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493008"/>
            <a:ext cx="82296" cy="82296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419856"/>
            <a:ext cx="9601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D6DEE6"/>
                </a:solidFill>
                <a:latin typeface="Poppins"/>
              </a:rPr>
              <a:t>The rules are actually enforced — a disallowed trade gets a real, specific, live refusal, not a generic error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14800"/>
            <a:ext cx="82296" cy="82296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041648"/>
            <a:ext cx="9601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D6DEE6"/>
                </a:solidFill>
                <a:latin typeface="Poppins"/>
              </a:rPr>
              <a:t>It lands on a real, separate electricity-company ledger, independent of either trading app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532120"/>
            <a:ext cx="9509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1">
                <a:solidFill>
                  <a:srgbClr val="8391A2"/>
                </a:solidFill>
                <a:latin typeface="Poppins"/>
              </a:rPr>
              <a:t>This deck covers 6 of the real 31 hops — ask to see the full, live, click-through version for the rest.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