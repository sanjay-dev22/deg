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framing: this is a proposal to evaluate an idea, not a report on something already built. Emphasis word is 'whether' -- we are proposing an experiment, not asserting a conclusion. Keep the tone exploratory and evidence-seeking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sections, same shape as our last proposal deck. Read the section titles, don't over-explain yet -- this is just the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claim here is independently sourced -- EU AFIR mandate, the China/Netherlands/US pilots, and the GM/E3 value study. If challenged on any number, these are the sources to cite. The point of this slide: this isn't a hypothetical trend, it's already funded and regulated.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framing slide -- make sure the team understands we're not proposing to solve a hardware problem, we're proposing to test a coordination problem, the same category UPI and ONDC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mirrors the tariff-PDF comparison slide from our last deck. Keep the delivery simple: point at the red column, then the green column, let the picture make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 -- the team likely already has context from the last deck. The one new fact to land: DEG's own paper names V2G by name as an illustrative use case, so this isn't us inventing a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that IES is real, live, and already has a category built for exactly this -- the DER integration network. This is the single most important fact for credibility: we're not proposing to invent a new government network, one already exists for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technical credibility anchor. Each of these three schemas is real, versioned, and already published -- we're proposing to connect them, not invent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framing here: the near-term money is in V1G/aggregation software, V2G is the larger but slower-forming opportunity. Don't oversell V2G revenue as immediate.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precise, defensible technical claim -- not 'V2G doesn't exist on IES', but this specific, verifiable, narrower gap. If pressed on how we know this, the answer is: direct inspection of the published schema examples, not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field names, real values -- this exact object exists in the published spec today. Emphasize the last line: we touch nothing here, we only compose it with the other two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Each box is a real, already-published mechanism -- the pilot's job is proving step 1 through 4 actually chain together, which nobody has shown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heads off a likely confusion in the room: are we building V2G hardware? No -- Layers B and C are solved, mature, open standards. We are scoping the pilot to Layer A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explicitly: the EV is software in this phase, deliberately -- we are testing digital coordination, not building a charger. This is a standard, legitimate way to de-risk before any hardware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important for credibility if anyone probes our motives. We commit, on the record, to measuring the comparison honestly rather than assuming the open-layer approach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stage is independently checkable -- if stage 1 fails, we stop there rather than build on an unproven foundation. This staged structure is the actual technical plan, deliberately conservative.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shape as our previous roadmap slide. Emphasize the gates -- we don't proceed to week 3 unless week 1-2 genuinely proves basic participation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ask small and bounded, matching the same low-commitment shape as our previous proposal's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ahead of the three most likely pushback questions. Deliver this slide slowly -- it's the credibility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End here -- pause for questions before moving into the appendix if the team wants technical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 slide -- only go here if the team asks for more technical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field names from the published schema -- have this ready if someone asks 'show me the actual data'.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message-flow diagram convention as our last deck's appendix.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slide -- use if terminology questions come up mid-presentation.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Curated sources -- available if anyone wants to verify a claim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PROPOSAL  ·  NEW USE CASE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9418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Poppins"/>
              </a:rPr>
              <a:t>Vehicle-to-Grid on India's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Poppins"/>
              </a:rPr>
              <a:t>Digital Energy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 proposal to evaluate whether India Energy Stack's open digital layer can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coordinate EV/DER flexibility — before committing to a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391A2"/>
                </a:solidFill>
                <a:latin typeface="Poppins"/>
              </a:rPr>
              <a:t>Prepared for: Team Review  |  Direction &amp; Scope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0020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01 · The Opportunity — why V2G,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67128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02 · The Global Idea — Digital Energy Grid's own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734056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03 · India's Real Program — where IES already stands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300984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04 · The Market Opening — where the value actually sits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867912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05 · Our Proposed Focus — the specific gap and the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43484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21B27"/>
                </a:solidFill>
                <a:latin typeface="Poppins"/>
              </a:rPr>
              <a:t>06 · Plan, Ask &amp; Risks — how we'd test it, honestly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01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Grid flexibility is becoming a real, funded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Electric vehicle batteries are a genuinely large, mostly idle energy resource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103120"/>
            <a:ext cx="352745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312511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Real regulation, real deadline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312511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EU's AFIR regulation mandates bidirectional-capable (ISO 15118-20) charging infrastructure for all new/refurbished public and private chargers from 1 January 2027 — not speculative.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2122" y="2103120"/>
            <a:ext cx="352745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2331720"/>
            <a:ext cx="312511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Real pilots, already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290" y="2926080"/>
            <a:ext cx="312511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China: 30 pilots across 9 cities (2025). Netherlands: 500 bidirectional vehicles in Utrecht, graduated from pilot to fully commercial service. US: Maryland's first V2G interconnection rules plus a real residential pilot with Ford F-150 Lightning trucks.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2452" y="2103120"/>
            <a:ext cx="3527450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3620" y="2331720"/>
            <a:ext cx="312511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Real, quantified value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620" y="2926080"/>
            <a:ext cx="3125114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A GM-commissioned study (E3) found V2G could deliver 5–15x more value per vehicle than one-way managed charging — roughly $7B of potential value in the US alone by 2030 — currently gated by regulatory/tariff barriers, not technology.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01 — 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01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The real blocker isn't hardware — it's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Without a shared coordination layer, every utility-vendor-aggregator pair needs its own custom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65960"/>
            <a:ext cx="10948111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4028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21B27"/>
                </a:solidFill>
                <a:latin typeface="Poppins"/>
              </a:rPr>
              <a:t>Today, without a common layer: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788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2788920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Utility A builds a private integration with Charger Vendor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291840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Utility B builds a completely different one with the same 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794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794760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An aggregator wanting to work with both utilities maintains two incompatible systems, forever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297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297680"/>
            <a:ext cx="994227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This is the same n×n integration problem UPI solved for banks, and ONDC is solving for commerce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01 — The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01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Seeing it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Two architectures for the same V2G transaction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20240"/>
            <a:ext cx="5336895" cy="502920"/>
          </a:xfrm>
          <a:prstGeom prst="rect">
            <a:avLst/>
          </a:prstGeom>
          <a:solidFill>
            <a:srgbClr val="A64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039112"/>
            <a:ext cx="5336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TODAY — POINT-TO-POINT INTEGRATIONS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606040"/>
            <a:ext cx="5336895" cy="594360"/>
          </a:xfrm>
          <a:prstGeom prst="rect">
            <a:avLst/>
          </a:prstGeom>
          <a:solidFill>
            <a:srgbClr val="FBEEEC"/>
          </a:solidFill>
          <a:ln w="9525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743200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A6483B"/>
                </a:solidFill>
                <a:latin typeface="Poppins"/>
              </a:rPr>
              <a:t>Utility ↔ Aggregator: custom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355848"/>
            <a:ext cx="5336895" cy="594360"/>
          </a:xfrm>
          <a:prstGeom prst="rect">
            <a:avLst/>
          </a:prstGeom>
          <a:solidFill>
            <a:srgbClr val="FBEEEC"/>
          </a:solidFill>
          <a:ln w="9525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493008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A6483B"/>
                </a:solidFill>
                <a:latin typeface="Poppins"/>
              </a:rPr>
              <a:t>Aggregator ↔ Charger Vendor: custom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4105656"/>
            <a:ext cx="5336895" cy="594360"/>
          </a:xfrm>
          <a:prstGeom prst="rect">
            <a:avLst/>
          </a:prstGeom>
          <a:solidFill>
            <a:srgbClr val="FBEEEC"/>
          </a:solidFill>
          <a:ln w="9525">
            <a:solidFill>
              <a:srgbClr val="A648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242816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A6483B"/>
                </a:solidFill>
                <a:latin typeface="Poppins"/>
              </a:rPr>
              <a:t>New provider joins: rebuild both links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920240"/>
            <a:ext cx="5336895" cy="5029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2039112"/>
            <a:ext cx="53368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PROPOSED — SHARED DISCOVERY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606040"/>
            <a:ext cx="5336895" cy="594360"/>
          </a:xfrm>
          <a:prstGeom prst="rect">
            <a:avLst/>
          </a:prstGeom>
          <a:solidFill>
            <a:srgbClr val="ECF5EE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0167" y="2743200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E7D4F"/>
                </a:solidFill>
                <a:latin typeface="Poppins"/>
              </a:rPr>
              <a:t>Utility publishes a flex need,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7" y="3355848"/>
            <a:ext cx="5336895" cy="594360"/>
          </a:xfrm>
          <a:prstGeom prst="rect">
            <a:avLst/>
          </a:prstGeom>
          <a:solidFill>
            <a:srgbClr val="ECF5EE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3493008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E7D4F"/>
                </a:solidFill>
                <a:latin typeface="Poppins"/>
              </a:rPr>
              <a:t>Any registered aggregator can discover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4105656"/>
            <a:ext cx="5336895" cy="594360"/>
          </a:xfrm>
          <a:prstGeom prst="rect">
            <a:avLst/>
          </a:prstGeom>
          <a:solidFill>
            <a:srgbClr val="ECF5EE"/>
          </a:solidFill>
          <a:ln w="9525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0167" y="4242816"/>
            <a:ext cx="5062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E7D4F"/>
                </a:solidFill>
                <a:latin typeface="Poppins"/>
              </a:rPr>
              <a:t>New provider joins: one registration,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25780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Same underlying transaction. One approach doesn't scale past a handful of pairs; the other scales by design.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01 — The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02 · THE GLOBAL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Digital Energy Grid (DEG)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1094811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 Feb 2025 vision paper by FIDE (the nonprofit behind India's Aadhaar/UPI/ONDC lineage) and the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IEA, proposing three shared digital layers for the global energy sector: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834640"/>
            <a:ext cx="3527450" cy="210312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312511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C87C1C"/>
                </a:solidFill>
                <a:latin typeface="Poppins"/>
              </a:rPr>
              <a:t>Universal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312511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Every asset — including EVs — gets a verifiable digital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2122" y="2834640"/>
            <a:ext cx="3527450" cy="210312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3290" y="3063240"/>
            <a:ext cx="312511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C87C1C"/>
                </a:solidFill>
                <a:latin typeface="Poppins"/>
              </a:rPr>
              <a:t>Machine-Readable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290" y="3566160"/>
            <a:ext cx="312511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Flexibility, capacity and consent expressed as structured data, not PDFs or phone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2452" y="2834640"/>
            <a:ext cx="3527450" cy="210312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3620" y="3063240"/>
            <a:ext cx="312511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C87C1C"/>
                </a:solidFill>
                <a:latin typeface="Poppins"/>
              </a:rPr>
              <a:t>Verifiability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3620" y="3566160"/>
            <a:ext cx="3125114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Every transaction cryptographically signed and independently checkable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5257800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E8A33D"/>
                </a:solidFill>
                <a:latin typeface="Poppins"/>
              </a:rPr>
              <a:t>DEG's own vision paper names "Vehicle-to-Grid Networks" explicitly as one of its illustrative future use cases.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Section 02 — The Global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03 · INDIA'S REAL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India Energy Stack (IES)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Ministry of Power's execution of DEG's idea, run via REC Limited and FSR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011680"/>
            <a:ext cx="109481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12848"/>
            <a:ext cx="103994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1B27"/>
                </a:solidFill>
                <a:latin typeface="Poppins"/>
              </a:rPr>
              <a:t>Real, live sandbox network — four pilot DISCOMs already built and demonstrated real use cases on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108960"/>
            <a:ext cx="109481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103994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1B27"/>
                </a:solidFill>
                <a:latin typeface="Poppins"/>
              </a:rPr>
              <a:t>Built on Beckn Protocol — the same open transaction protocol (identity, discovery, contracting, settlement) across every use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4206240"/>
            <a:ext cx="109481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407408"/>
            <a:ext cx="1039947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1B27"/>
                </a:solidFill>
                <a:latin typeface="Poppins"/>
              </a:rPr>
              <a:t>A dedicated network already exists for this exact category: the DER integration network — described explicitly for "rooftop solar, BESS, EV integration with DISCOMs"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03 — India's Real 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03 · INDIA'S REAL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The building blocks already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Three real, independently-published schemas cover exactly what a V2G transaction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65960"/>
            <a:ext cx="2834640" cy="10515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22199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EnergyResourceEVCharger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2152" y="1965960"/>
            <a:ext cx="8067751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0752" y="2148840"/>
            <a:ext cx="765627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Describes a bidirectional charger — max import/export rate, connector type, and the exact real protocol it speaks (ISO 15118-20).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3154680"/>
            <a:ext cx="2834640" cy="10515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41071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EnergyProgramEnrollment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3154680"/>
            <a:ext cx="8067751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3337560"/>
            <a:ext cx="765627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consent mechanism — an owner formally authorising an aggregator to control their device, using W3C Verifiable Credentials.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343400"/>
            <a:ext cx="2834640" cy="105156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599432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Demand Flexibility settlement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2152" y="4343400"/>
            <a:ext cx="8067751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4526280"/>
            <a:ext cx="765627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A utility posts a flexibility need, an aggregator commits capacity, and automated policy logic pays out based on metered performance.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03 — India's Real 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04 · THE MARKET OPENING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Where the value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5336895" cy="1828800"/>
          </a:xfrm>
          <a:prstGeom prst="rect">
            <a:avLst/>
          </a:prstGeom>
          <a:solidFill>
            <a:srgbClr val="121B27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103120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Poppins"/>
              </a:rPr>
              <a:t>Available today: V1G (smart charging)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14600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Real, quoted per-vehicle annual value: ~$100/yr in lower-value US regions up to ~$400/yr in high-value markets (MISO, New England, ERCOT) — from managed charging alone, no discharge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3007" y="1874520"/>
            <a:ext cx="5336895" cy="1828800"/>
          </a:xfrm>
          <a:prstGeom prst="rect">
            <a:avLst/>
          </a:prstGeom>
          <a:solidFill>
            <a:srgbClr val="121B27"/>
          </a:solidFill>
          <a:ln w="19050">
            <a:solidFill>
              <a:srgbClr val="C87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607" y="2103120"/>
            <a:ext cx="48796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E8A33D"/>
                </a:solidFill>
                <a:latin typeface="Poppins"/>
              </a:rPr>
              <a:t>Coming: V2G (bidirectional)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2514600"/>
            <a:ext cx="487969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D6DEE6"/>
                </a:solidFill>
                <a:latin typeface="Poppins"/>
              </a:rPr>
              <a:t>5–15x more value per vehicle than V1G — but currently gated by regulatory and tariff-export barriers, not by technology. The gap closes as regulation like AFIR takes effect.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023360"/>
            <a:ext cx="1094811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D6DEE6"/>
                </a:solidFill>
                <a:latin typeface="Poppins"/>
              </a:rPr>
              <a:t>The software/aggregation layer sitting on top of V1G is already a real, separate, faster-forming market — estimated at $1.2B (2024) growing to $8.9B by 2033.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Section 04 — The Market Opening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The gap: real pieces, never 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Verified directly against the published specification source, not assumed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20240"/>
            <a:ext cx="10948111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48840"/>
            <a:ext cx="1039947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21B27"/>
                </a:solidFill>
                <a:latin typeface="Poppins"/>
              </a:rPr>
              <a:t>The three building blocks from Slide 8 are each real and well-designed. But nobody has ever published a working example of them composed together — an EV_V2G charger enrolled with real owner consent, participating in a real settled flexibility event.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204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520440"/>
            <a:ext cx="10125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bidirectional-charger type ("EV_V2G") is never used in a single real example message anywhere in the published devkit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0233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4023360"/>
            <a:ext cx="10125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consent mechanism has exactly one real example — and in that one case, consent is explicitly declined, never granted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4526280"/>
            <a:ext cx="101251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consumer-onboarding guide gives every other user type a full worked narrative — the EV/V2G case is one sentence, with no message flow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The actual data shape we'd build against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EnergyResourceEVCharger — the real, current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74520"/>
            <a:ext cx="10948111" cy="324612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39112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304288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Consolas"/>
              </a:rPr>
              <a:t>  "type": "EV_V2G",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569464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Consolas"/>
              </a:rPr>
              <a:t>  "attributes":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34640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onsolas"/>
              </a:rPr>
              <a:t>    "maxImport": { "value": 7.4, "unit": "kW" },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99816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onsolas"/>
              </a:rPr>
              <a:t>    "maxExport": { "value": 3.7, "unit": "kW" },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364992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Consolas"/>
              </a:rPr>
              <a:t>    "connectorType": "Type2",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30168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onsolas"/>
              </a:rPr>
              <a:t>    "controlProtocol": "ISO_15118_20",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895344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8A33D"/>
                </a:solidFill>
                <a:latin typeface="Consolas"/>
              </a:rPr>
              <a:t>    "v2xProtocol": "ISO_15118_20_AC_BPT"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160520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Consolas"/>
              </a:rPr>
              <a:t> 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425696"/>
            <a:ext cx="10216591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25780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This is the unmodified, published schema — we are not proposing any change to it, only a working example that uses it.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How the pilot would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Three real, independently-published mechanisms, composed for the first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057400"/>
            <a:ext cx="253128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2057400"/>
            <a:ext cx="253128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22569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1.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43200"/>
            <a:ext cx="220210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real EV_V2G charger object — capacity, protocol, consent status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3079" y="301752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7399" y="2057400"/>
            <a:ext cx="253128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7399" y="2057400"/>
            <a:ext cx="253128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4559" y="2194560"/>
            <a:ext cx="22569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2. Enrol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1991" y="2743200"/>
            <a:ext cx="220210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Owner grants real consent via the existing enrolment mechanism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58687" y="301752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2057400"/>
            <a:ext cx="253128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057400"/>
            <a:ext cx="253128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0167" y="2194560"/>
            <a:ext cx="22569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3. 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7599" y="2743200"/>
            <a:ext cx="220210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Aggregator offers the enrolled charger's capacity to a utility's flex request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764295" y="301752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8615" y="2057400"/>
            <a:ext cx="2531287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8615" y="2057400"/>
            <a:ext cx="253128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5775" y="2194560"/>
            <a:ext cx="22569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4. Settle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3207" y="2743200"/>
            <a:ext cx="2202103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Real settlement logic runs — proving the composition pays out correctly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120640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Every step reuses an existing, unmodified mechanism — the pilot proves the connection, not new infrastructure.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Three separate conversations, kept clearly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A common source of confusion worth resolving upfront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65960"/>
            <a:ext cx="640080" cy="9144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1945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07592" y="1965960"/>
            <a:ext cx="102623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07568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Business layer — IES / Beckn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44144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Discovery, contracting, settlement between utility and aggregator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3063240"/>
            <a:ext cx="640080" cy="9144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291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07592" y="3063240"/>
            <a:ext cx="102623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317296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Vehicle layer — ISO 15118-20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353872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How a specific car and a specific charger actually negotiate and execute power transfer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4160520"/>
            <a:ext cx="640080" cy="914400"/>
          </a:xfrm>
          <a:prstGeom prst="rect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3891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oppins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07592" y="4160520"/>
            <a:ext cx="1026231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427024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1B27"/>
                </a:solidFill>
                <a:latin typeface="Poppins"/>
              </a:rPr>
              <a:t>Backend layer — OCPP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636008"/>
            <a:ext cx="975939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8576A"/>
                </a:solidFill>
                <a:latin typeface="Poppins"/>
              </a:rPr>
              <a:t>How the charger reports its status to a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349240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48576A"/>
                </a:solidFill>
                <a:latin typeface="Poppins"/>
              </a:rPr>
              <a:t>Our proposed pilot scope is Layer A only. Layers B and C are mature, open, pre-existing standards — a real open-source reference implementation (RISE-V2G) already exists for Layer B.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Proposed proof-of-concept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A fully controlled, self-contained demonstration — no dependency on external parties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2240280"/>
            <a:ext cx="2286000" cy="10058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404872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Grid / Utility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(simulated)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240280"/>
            <a:ext cx="2286000" cy="10058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10712" y="2404872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Aggregator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(BAP)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25312" y="2240280"/>
            <a:ext cx="2286000" cy="10058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62472" y="2404872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V2G Provider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(BPP)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7071" y="2240280"/>
            <a:ext cx="2286000" cy="100584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4231" y="2404872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Poppins"/>
              </a:rPr>
              <a:t>Simulated EV</a:t>
            </a:r>
          </a:p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Poppins"/>
              </a:rPr>
              <a:t>(software)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53512" y="2606040"/>
            <a:ext cx="256032" cy="32004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605272" y="2606040"/>
            <a:ext cx="256032" cy="32004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257032" y="2606040"/>
            <a:ext cx="256032" cy="32004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11880"/>
            <a:ext cx="109481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Grid signal → discover/select/confirm over IES/Beckn → real settlement → simulated physical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160520"/>
            <a:ext cx="10948111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343400"/>
            <a:ext cx="1039947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The digital layer never carries physical electricity — it carries the contract and the verified consent that would lead to it. This is the correct, standard way this class of pilot is demonstrated before physical hardware is involved.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05 · OUR PROPOSED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The question we're actually 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9164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D6DEE6"/>
                </a:solidFill>
                <a:latin typeface="Poppins"/>
              </a:rPr>
              <a:t>Not:</a:t>
            </a:r>
          </a:p>
          <a:p>
            <a:pPr algn="l">
              <a:spcAft>
                <a:spcPts val="0"/>
              </a:spcAft>
            </a:pPr>
            <a:r>
              <a:rPr sz="1700" b="1" i="1">
                <a:solidFill>
                  <a:srgbClr val="A6483B"/>
                </a:solidFill>
                <a:latin typeface="Poppins"/>
              </a:rPr>
              <a:t>“IES is great, let's connect it to V2G.”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468880"/>
            <a:ext cx="10948111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D6DEE6"/>
                </a:solidFill>
                <a:latin typeface="Poppins"/>
              </a:rPr>
              <a:t>But:</a:t>
            </a:r>
          </a:p>
          <a:p>
            <a:pPr algn="l">
              <a:spcAft>
                <a:spcPts val="0"/>
              </a:spcAft>
            </a:pPr>
            <a:r>
              <a:rPr sz="1700" b="1" i="1">
                <a:solidFill>
                  <a:srgbClr val="2E7D4F"/>
                </a:solidFill>
                <a:latin typeface="Poppins"/>
              </a:rPr>
              <a:t>“Does composing IES's open layer with a V2G asset provide a measurable advantage over a conventional, point-to-point integration — or does it not?”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703320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6DEE6"/>
                </a:solidFill>
                <a:latin typeface="Poppins"/>
              </a:rPr>
              <a:t>A pilot that answers this honestly is a valid result whichever way it comes out — and is far more credible than starting from the assumed conclusion.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2A3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Section 05 — Our Proposed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D6DEE6"/>
                </a:solidFill>
                <a:latin typeface="Poppi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· PLAN, ASK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Proposed 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94811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A staged, de-risked sequence — each stage independently verifiable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965960"/>
            <a:ext cx="1188720" cy="86868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2402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Stage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856232" y="1965960"/>
            <a:ext cx="97136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4832" y="2057400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Prove basic participation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4832" y="2404872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 minimal, real network handshake — before touching any V2G-specific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971800"/>
            <a:ext cx="1188720" cy="86868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2461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Stage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971800"/>
            <a:ext cx="97136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3063240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Build the simulated 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3410712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Author a real EV_V2G object and carry it through real consent enrolment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3977640"/>
            <a:ext cx="1188720" cy="86868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Stage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56232" y="3977640"/>
            <a:ext cx="97136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84832" y="4069080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Prove the 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832" y="4416552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Run the enrolled resource through a real flexibility commitment and settlement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983480"/>
            <a:ext cx="1188720" cy="86868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52578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Stage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6232" y="4983480"/>
            <a:ext cx="9713671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5074920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1B27"/>
                </a:solidFill>
                <a:latin typeface="Poppins"/>
              </a:rPr>
              <a:t>Compare honestly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84832" y="5422392"/>
            <a:ext cx="92107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Measure the open-layer approach against a conventional integration, on real criteria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06 — Plan, Ask &amp; Risks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· PLAN, ASK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Proposed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259986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99339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Weeks 1-2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237744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60604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108960"/>
            <a:ext cx="2270683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Register a test identity, study the target schemas and real network mechanics in depth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4539" y="1874520"/>
            <a:ext cx="259986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4539" y="199339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Weeks 3-4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4539" y="237744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260604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Build &amp;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3108960"/>
            <a:ext cx="2270683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Author the EV_V2G object, carry it through enrolment, connect it to settlement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7287" y="1874520"/>
            <a:ext cx="259986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7287" y="199339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Weeks 5-6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37744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1879" y="260604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1879" y="3108960"/>
            <a:ext cx="2270683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Run the full composition against the real sandbox; test the specific open technical question (does settlement handle true bidirectional delivery correctly)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035" y="1874520"/>
            <a:ext cx="2599867" cy="50292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0035" y="1993392"/>
            <a:ext cx="259986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Poppins"/>
              </a:rPr>
              <a:t>Week 7+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035" y="2377440"/>
            <a:ext cx="259986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627" y="2606040"/>
            <a:ext cx="227068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21B27"/>
                </a:solidFill>
                <a:latin typeface="Poppins"/>
              </a:rPr>
              <a:t>Compare &amp;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627" y="3108960"/>
            <a:ext cx="2270683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Run the honest Architecture A/B comparison; package findings for the team and, if warranted, for public contribution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06 — Plan, Ask &amp; Risks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· PLAN, ASK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What we're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96596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21B27"/>
                </a:solidFill>
                <a:latin typeface="Poppins"/>
              </a:rPr>
              <a:t>Approval to run a bounded, ~7-week technical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60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6032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21B27"/>
                </a:solidFill>
                <a:latin typeface="Poppins"/>
              </a:rPr>
              <a:t>1-2 engineers, part-time, for the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546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5468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21B27"/>
                </a:solidFill>
                <a:latin typeface="Poppins"/>
              </a:rPr>
              <a:t>Minimal infrastructure spend (a small cloud environment for testing)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749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49040"/>
            <a:ext cx="103080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21B27"/>
                </a:solidFill>
                <a:latin typeface="Poppins"/>
              </a:rPr>
              <a:t>A go/no-go review at the Week-4 checkpoint before any further commitment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06 — Plan, Ask &amp; Risks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06 · PLAN, ASK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Risks — addressed honestly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920240"/>
            <a:ext cx="1094811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039112"/>
            <a:ext cx="104909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A6483B"/>
                </a:solidFill>
                <a:latin typeface="Poppins"/>
              </a:rPr>
              <a:t>The comparison might not favour the open-layer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404872"/>
            <a:ext cx="104909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That's a legitimate, useful result — we commit to reporting it either way, per Slide 15.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3017520"/>
            <a:ext cx="1094811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3136392"/>
            <a:ext cx="104909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A6483B"/>
                </a:solidFill>
                <a:latin typeface="Poppins"/>
              </a:rPr>
              <a:t>V2G's real-world commercial value is still gated by regulation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02152"/>
            <a:ext cx="104909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Correct, and explicitly why the pilot targets the digital coordination question, not a revenue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4114800"/>
            <a:ext cx="1094811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4233672"/>
            <a:ext cx="1049091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A6483B"/>
                </a:solidFill>
                <a:latin typeface="Poppins"/>
              </a:rPr>
              <a:t>This is exploratory, not a committed product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599432"/>
            <a:ext cx="10490911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48576A"/>
                </a:solidFill>
                <a:latin typeface="Poppins"/>
              </a:rPr>
              <a:t>By design — the whole point of Stage 1-4 is to answer the question cheaply before any larger commitment.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Section 06 — Plan, Ask &amp;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87C1C"/>
                </a:solidFill>
                <a:latin typeface="Poppin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oppins"/>
              </a:rPr>
              <a:t>Approve a 7-week technical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Approve 1-2 engineers, part-time, for the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97180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Approve minimal infrastructure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Review outcome at the Week-4 checkpoint before any further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776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6DEE6"/>
                </a:solidFill>
                <a:latin typeface="Poppins"/>
              </a:rPr>
              <a:t>If successful: decide next steps together — pilot expansion, or public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E8A33D"/>
                </a:solidFill>
                <a:latin typeface="Poppins"/>
              </a:rPr>
              <a:t>Low cost. Low commitment. A real, checkable technical answer either way.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Technical reference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48576A"/>
                </a:solidFill>
                <a:latin typeface="Poppins"/>
              </a:rPr>
              <a:t>Field reference, message flow, protocol glossary, and sources — for anyone who wants to go deeper.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EnergyResourceEVCharger — full field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874520"/>
            <a:ext cx="10948111" cy="411480"/>
          </a:xfrm>
          <a:prstGeom prst="rect">
            <a:avLst/>
          </a:prstGeom>
          <a:solidFill>
            <a:srgbClr val="0B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47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9232" y="1947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3792" y="19476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Poppins"/>
              </a:rPr>
              <a:t>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2286000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77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23774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EV_CHARGER | EV_V2G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3792" y="2377440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Discriminator — whether this is one-way or bidirectional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2761488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8529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maxImport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85292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QuantitativeValue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52928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Maximum charge rate (kW)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236976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32841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maxExport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332841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QuantitativeValue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328416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Maximum V2G discharge rate — EV_V2G only (kW)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712464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8039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connectorType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38039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enum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803904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Type1, Type2, CCS1, CCS2, CHAdeMO, GB_T, NACS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4187952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2793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controlProtocol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9232" y="427939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4279392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Includes ISO_15118_20 — the real bidirectional standard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663440"/>
            <a:ext cx="10948111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7548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21B27"/>
                </a:solidFill>
                <a:latin typeface="Consolas"/>
              </a:rPr>
              <a:t>v2xProtocol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99232" y="47548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Consolas"/>
              </a:rPr>
              <a:t>enum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4754880"/>
            <a:ext cx="61932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48576A"/>
                </a:solidFill>
                <a:latin typeface="Poppins"/>
              </a:rPr>
              <a:t>ISO_15118_20_AC_BPT, ISO_15118_20_DC_BPT, CCS_BPT, CHAdeMO_V2G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 — Technical Reference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Message flow — the protocol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965960"/>
            <a:ext cx="253128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148840"/>
            <a:ext cx="2202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Consolas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606040"/>
            <a:ext cx="22021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Aggregator (BAP) looks up who is publishing matching flexibility opportunities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53079" y="288036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27399" y="1965960"/>
            <a:ext cx="253128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1991" y="2148840"/>
            <a:ext cx="2202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Consolas"/>
              </a:rPr>
              <a:t>select /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1991" y="2606040"/>
            <a:ext cx="22021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Aggregator and utility agree the terms — capacity, price, window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288036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965960"/>
            <a:ext cx="253128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7599" y="2148840"/>
            <a:ext cx="2202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Consolas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7599" y="2606040"/>
            <a:ext cx="22021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contract is activated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64295" y="2880360"/>
            <a:ext cx="274320" cy="365760"/>
          </a:xfrm>
          <a:prstGeom prst="rightArrow">
            <a:avLst/>
          </a:prstGeom>
          <a:solidFill>
            <a:srgbClr val="C87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38615" y="1965960"/>
            <a:ext cx="2531287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3207" y="2148840"/>
            <a:ext cx="22021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Consolas"/>
              </a:rPr>
              <a:t>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3207" y="2606040"/>
            <a:ext cx="22021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Delivered flexibility is measured and settlement is computed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846320"/>
            <a:ext cx="1094811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48576A"/>
                </a:solidFill>
                <a:latin typeface="Poppins"/>
              </a:rPr>
              <a:t>BAP = Beckn App Platform (requester side). BPP = Beckn Provider Platform (publisher side). Every step is cryptographically signed; the reference adapter (ONIX) validates schema conformance at each hop.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 — Technical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2024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V2G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4028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Vehicle-to-Grid — a parked EV's battery sending power back during grid stress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192024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224028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Distributed Energy Resource — any small-scale asset (solar, battery, EV) that can contribute flexibility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7180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BAP / BPP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29184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Beckn App/Provider Platform — requester and publisher roles in a Beckn 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007" y="297180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ISO 15118-20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329184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real, open standard for how an EV and charger negotiate bidirectional power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02336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OCPP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34340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Open Charge Point Protocol — how a charger reports to its management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51997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87C1C"/>
                </a:solidFill>
                <a:latin typeface="Poppins"/>
              </a:rPr>
              <a:t>OpenADR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3007" y="4343400"/>
            <a:ext cx="51997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48576A"/>
                </a:solidFill>
                <a:latin typeface="Poppins"/>
              </a:rPr>
              <a:t>The established demand-response signalling standard grid operators already use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 —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7C1C"/>
                </a:solidFill>
                <a:latin typeface="Poppin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10948111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21B27"/>
                </a:solidFill>
                <a:latin typeface="Poppins"/>
              </a:rPr>
              <a:t>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920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92024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FIDE &amp; IEA — Digital Energy Grid Vision Paper (Feb 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4231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2316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India Energy Stack — official documentation and accelerator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926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2608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beckn/DEG — the reference specification and devkit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2900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EU AFIR — Alternative Fuels Infrastructure Regulation, bidirectional charging mandate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931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93192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E3 / GM — V2G value study (US market)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4434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87C1C"/>
                </a:solidFill>
                <a:latin typeface="Poppins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434840"/>
            <a:ext cx="1030803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48576A"/>
                </a:solidFill>
                <a:latin typeface="Poppins"/>
              </a:rPr>
              <a:t>RISE-V2G — open-source ISO 15118 reference implementation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5989320"/>
            <a:ext cx="10948111" cy="0"/>
          </a:xfrm>
          <a:prstGeom prst="line">
            <a:avLst/>
          </a:prstGeom>
          <a:ln w="9525">
            <a:solidFill>
              <a:srgbClr val="CBD5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1792" y="6053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Appendix — Technical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5503" y="6053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8391A2"/>
                </a:solidFill>
                <a:latin typeface="Poppin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