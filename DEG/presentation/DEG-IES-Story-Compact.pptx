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deck answers one question plainly: what did the last month of work actually produce.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this under two minutes -- it's shared background every workstream below builds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protocol layer -- identity, discovery, signed exchange -- is already built and running; every exploration below sits on top of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Built and tested for real, verified against the real government sandbox. Paused after finding no business case for our org specifically -- a considered close, not an unfinished task.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one workstream with no working code yet -- a real, credible case and a proposed scenario, nothing more.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one workstream with a real, live thing to click through today. Offer to actually run it in the room.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here. Nothing oversold -- the one workstream that's actually live and running is named as such.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87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9509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C87C1C"/>
                </a:solidFill>
                <a:latin typeface="Poppins"/>
              </a:rPr>
              <a:t>ONE MONTH ON INDIA'S OPEN ENERGY NETWORK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950976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Poppins"/>
              </a:rPr>
              <a:t>What I Explored, Built,</a:t>
            </a:r>
          </a:p>
          <a:p>
            <a:pPr algn="l"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Poppins"/>
              </a:rPr>
              <a:t>and Demonstrated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383280"/>
            <a:ext cx="914400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D6DEE6"/>
                </a:solidFill>
                <a:latin typeface="Poppins"/>
              </a:rPr>
              <a:t>Three real explorations on the Digital Energy Grid / India Energy Stack:</a:t>
            </a:r>
          </a:p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D6DEE6"/>
                </a:solidFill>
                <a:latin typeface="Poppins"/>
              </a:rPr>
              <a:t>Policy as Code, Vehicle-to-Grid, and Peer-to-Peer Energy Trading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53212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8391A2"/>
                </a:solidFill>
                <a:latin typeface="Poppins"/>
              </a:rPr>
              <a:t>Prepared for: Team Review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65760"/>
            <a:ext cx="1094811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C87C1C"/>
                </a:solidFill>
                <a:latin typeface="Poppins"/>
              </a:rPr>
              <a:t>THE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40080"/>
            <a:ext cx="10948111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21B27"/>
                </a:solidFill>
                <a:latin typeface="Poppins"/>
              </a:rPr>
              <a:t>A real coordination gap, and a real proposal to close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97280"/>
            <a:ext cx="10948111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48576A"/>
                </a:solidFill>
                <a:latin typeface="Poppins"/>
              </a:rPr>
              <a:t>India's power sector is mid-transformation — and a shared digital language is the missing layer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828800"/>
            <a:ext cx="2634157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920240"/>
            <a:ext cx="237812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C87C1C"/>
                </a:solidFill>
                <a:latin typeface="Poppins"/>
              </a:rPr>
              <a:t>429%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359152"/>
            <a:ext cx="2378125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48576A"/>
                </a:solidFill>
                <a:latin typeface="Poppins"/>
              </a:rPr>
              <a:t>Growth in India's rooftop solar by 2035</a:t>
            </a:r>
          </a:p>
        </p:txBody>
      </p:sp>
      <p:sp>
        <p:nvSpPr>
          <p:cNvPr id="8" name="Rectangle 7"/>
          <p:cNvSpPr/>
          <p:nvPr/>
        </p:nvSpPr>
        <p:spPr>
          <a:xfrm>
            <a:off x="3393109" y="1828800"/>
            <a:ext cx="2634157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21125" y="1920240"/>
            <a:ext cx="237812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C87C1C"/>
                </a:solidFill>
                <a:latin typeface="Poppins"/>
              </a:rPr>
              <a:t>$100B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1125" y="2359152"/>
            <a:ext cx="2378125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48576A"/>
                </a:solidFill>
                <a:latin typeface="Poppins"/>
              </a:rPr>
              <a:t>Lost yearly worldwide to blackouts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64427" y="1828800"/>
            <a:ext cx="2634157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92443" y="1920240"/>
            <a:ext cx="237812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C87C1C"/>
                </a:solidFill>
                <a:latin typeface="Poppins"/>
              </a:rPr>
              <a:t>748.5M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92443" y="2359152"/>
            <a:ext cx="2378125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48576A"/>
                </a:solidFill>
                <a:latin typeface="Poppins"/>
              </a:rPr>
              <a:t>People still without electricity access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35745" y="1828800"/>
            <a:ext cx="2634157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63761" y="1920240"/>
            <a:ext cx="237812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C87C1C"/>
                </a:solidFill>
                <a:latin typeface="Poppins"/>
              </a:rPr>
              <a:t>250M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63761" y="2359152"/>
            <a:ext cx="2378125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48576A"/>
                </a:solidFill>
                <a:latin typeface="Poppins"/>
              </a:rPr>
              <a:t>Smart meters deploying across India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" y="3063240"/>
            <a:ext cx="10948111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3200400"/>
            <a:ext cx="10399471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C87C1C"/>
                </a:solidFill>
                <a:latin typeface="Poppins"/>
              </a:rPr>
              <a:t>THE GLOBAL IDEA — Digital Energy Grid (DEG)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" y="3566160"/>
            <a:ext cx="10399471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48576A"/>
                </a:solidFill>
                <a:latin typeface="Poppins"/>
              </a:rPr>
              <a:t>A Feb 2025 proposal: give the power sector a shared digital language, the way UPI gave banks one for payments — universal identity, machine-readable data, and verifiability, for every energy asset and actor.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" y="4251960"/>
            <a:ext cx="10399471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1">
                <a:solidFill>
                  <a:srgbClr val="48576A"/>
                </a:solidFill>
                <a:latin typeface="Poppins"/>
              </a:rPr>
              <a:t>Credibility: co-authored by FIDE (Nandan Nilekani's nonprofit — the same lineage as Aadhaar, UPI, and ONDC), with the International Energy Agency co-authoring and endorsing part of the paper.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21792" y="5989320"/>
            <a:ext cx="10948111" cy="0"/>
          </a:xfrm>
          <a:prstGeom prst="line">
            <a:avLst/>
          </a:prstGeom>
          <a:ln w="9525">
            <a:solidFill>
              <a:srgbClr val="CBD5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21792" y="6053328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8391A2"/>
                </a:solidFill>
                <a:latin typeface="Poppins"/>
              </a:rPr>
              <a:t>The Context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55503" y="605332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8391A2"/>
                </a:solidFill>
                <a:latin typeface="Poppin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65760"/>
            <a:ext cx="1094811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C87C1C"/>
                </a:solidFill>
                <a:latin typeface="Poppins"/>
              </a:rPr>
              <a:t>THE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40080"/>
            <a:ext cx="10948111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21B27"/>
                </a:solidFill>
                <a:latin typeface="Poppins"/>
              </a:rPr>
              <a:t>India Energy Stack (IES) — the real, running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97280"/>
            <a:ext cx="10948111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48576A"/>
                </a:solidFill>
                <a:latin typeface="Poppins"/>
              </a:rPr>
              <a:t>India's government took the DEG idea and is building it, for real, as national digital public infrastructure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828800"/>
            <a:ext cx="355793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8952" y="1938528"/>
            <a:ext cx="328361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C87C1C"/>
                </a:solidFill>
                <a:latin typeface="Poppins"/>
              </a:rPr>
              <a:t>OWNER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2212848"/>
            <a:ext cx="328361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21B27"/>
                </a:solidFill>
                <a:latin typeface="Poppins"/>
              </a:rPr>
              <a:t>Ministry of Power, Govt. of India</a:t>
            </a:r>
          </a:p>
        </p:txBody>
      </p:sp>
      <p:sp>
        <p:nvSpPr>
          <p:cNvPr id="8" name="Rectangle 7"/>
          <p:cNvSpPr/>
          <p:nvPr/>
        </p:nvSpPr>
        <p:spPr>
          <a:xfrm>
            <a:off x="4316882" y="1828800"/>
            <a:ext cx="355793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54042" y="1938528"/>
            <a:ext cx="328361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C87C1C"/>
                </a:solidFill>
                <a:latin typeface="Poppins"/>
              </a:rPr>
              <a:t>CATEGORY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4042" y="2212848"/>
            <a:ext cx="328361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21B27"/>
                </a:solidFill>
                <a:latin typeface="Poppins"/>
              </a:rPr>
              <a:t>DPI — same class as Aadhaar, UPI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11972" y="1828800"/>
            <a:ext cx="355793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49132" y="1938528"/>
            <a:ext cx="328361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C87C1C"/>
                </a:solidFill>
                <a:latin typeface="Poppins"/>
              </a:rPr>
              <a:t>STATUS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49132" y="2212848"/>
            <a:ext cx="328361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21B27"/>
                </a:solidFill>
                <a:latin typeface="Poppins"/>
              </a:rPr>
              <a:t>Strategy v0.4 (Mar 2026), evolving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" y="3063240"/>
            <a:ext cx="10948111" cy="822960"/>
          </a:xfrm>
          <a:prstGeom prst="rect">
            <a:avLst/>
          </a:prstGeom>
          <a:solidFill>
            <a:srgbClr val="FDF3E4"/>
          </a:solidFill>
          <a:ln w="12700">
            <a:solidFill>
              <a:srgbClr val="C87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3200400"/>
            <a:ext cx="10490911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21B27"/>
                </a:solidFill>
                <a:latin typeface="Poppins"/>
              </a:rPr>
              <a:t>Already proven: 4 real DISCOMs (UP, AP, Gujarat, Maharashtra) demonstrated live use cases in a 30-day pilot; a real inter-state P2P energy trade was shown publicly at the India AI Impact Summit 2026.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" y="4069080"/>
            <a:ext cx="346649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" y="4069080"/>
            <a:ext cx="3466490" cy="384048"/>
          </a:xfrm>
          <a:prstGeom prst="rect">
            <a:avLst/>
          </a:prstGeom>
          <a:solidFill>
            <a:srgbClr val="0B1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" y="4069080"/>
            <a:ext cx="346649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Poppins"/>
              </a:rPr>
              <a:t>1  REGISTER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" y="4572000"/>
            <a:ext cx="319217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48576A"/>
                </a:solidFill>
                <a:latin typeface="Poppins"/>
              </a:rPr>
              <a:t>A verifiable digital identity, listed in a shared directory. Done once.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62602" y="4069080"/>
            <a:ext cx="346649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62602" y="4069080"/>
            <a:ext cx="3466490" cy="384048"/>
          </a:xfrm>
          <a:prstGeom prst="rect">
            <a:avLst/>
          </a:prstGeom>
          <a:solidFill>
            <a:srgbClr val="0B1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62602" y="4069080"/>
            <a:ext cx="346649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Poppins"/>
              </a:rPr>
              <a:t>2  DISCOVER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99762" y="4572000"/>
            <a:ext cx="319217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48576A"/>
                </a:solidFill>
                <a:latin typeface="Poppins"/>
              </a:rPr>
              <a:t>Two systems look each other up and agree terms, over the open Beckn protocol.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03412" y="4069080"/>
            <a:ext cx="346649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03412" y="4069080"/>
            <a:ext cx="3466490" cy="384048"/>
          </a:xfrm>
          <a:prstGeom prst="rect">
            <a:avLst/>
          </a:prstGeom>
          <a:solidFill>
            <a:srgbClr val="0B1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03412" y="4069080"/>
            <a:ext cx="346649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Poppins"/>
              </a:rPr>
              <a:t>3  EXCHANGE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40572" y="4572000"/>
            <a:ext cx="319217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48576A"/>
                </a:solidFill>
                <a:latin typeface="Poppins"/>
              </a:rPr>
              <a:t>Data moves over a signed channel, shaped by a published schema.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21792" y="5989320"/>
            <a:ext cx="10948111" cy="0"/>
          </a:xfrm>
          <a:prstGeom prst="line">
            <a:avLst/>
          </a:prstGeom>
          <a:ln w="9525">
            <a:solidFill>
              <a:srgbClr val="CBD5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621792" y="6053328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8391A2"/>
                </a:solidFill>
                <a:latin typeface="Poppins"/>
              </a:rPr>
              <a:t>The Context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55503" y="605332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8391A2"/>
                </a:solidFill>
                <a:latin typeface="Poppin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65760"/>
            <a:ext cx="1094811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C87C1C"/>
                </a:solidFill>
                <a:latin typeface="Poppins"/>
              </a:rPr>
              <a:t>EXPLORATION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40080"/>
            <a:ext cx="10948111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21B27"/>
                </a:solidFill>
                <a:latin typeface="Poppins"/>
              </a:rPr>
              <a:t>Policy as Code — Tariff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97280"/>
            <a:ext cx="10948111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48576A"/>
                </a:solidFill>
                <a:latin typeface="Poppins"/>
              </a:rPr>
              <a:t>Publish an electricity tariff once, as signed data, so every billing system reads the same number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417320"/>
            <a:ext cx="1481328" cy="292608"/>
          </a:xfrm>
          <a:prstGeom prst="roundRect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1458468"/>
            <a:ext cx="148132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Poppins"/>
              </a:rPr>
              <a:t>BUILT &amp; PROVEN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874520"/>
            <a:ext cx="3466490" cy="347472"/>
          </a:xfrm>
          <a:prstGeom prst="rect">
            <a:avLst/>
          </a:prstGeom>
          <a:solidFill>
            <a:srgbClr val="2C5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874520"/>
            <a:ext cx="3210458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Poppins"/>
              </a:rPr>
              <a:t>THE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" y="2331720"/>
            <a:ext cx="1828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48576A"/>
                </a:solidFill>
                <a:latin typeface="Poppins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2331720"/>
            <a:ext cx="3119018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48576A"/>
                </a:solidFill>
                <a:latin typeface="Poppins"/>
              </a:rPr>
              <a:t>A regulator issues a tariff as a legal PDF, re-extracted by hand by every billing system that needs 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" y="2953512"/>
            <a:ext cx="1828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48576A"/>
                </a:solidFill>
                <a:latin typeface="Poppins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2953512"/>
            <a:ext cx="3119018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48576A"/>
                </a:solidFill>
                <a:latin typeface="Poppins"/>
              </a:rPr>
              <a:t>No authoritative, machine-readable source exists — a recognised, ongoing source of billing disputes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62602" y="1874520"/>
            <a:ext cx="3466490" cy="347472"/>
          </a:xfrm>
          <a:prstGeom prst="rect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90618" y="1874520"/>
            <a:ext cx="3210458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Poppins"/>
              </a:rPr>
              <a:t>WHAT I BUILT &amp; PROVED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5754" y="2331720"/>
            <a:ext cx="1828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48576A"/>
                </a:solidFill>
                <a:latin typeface="Poppins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8634" y="2331720"/>
            <a:ext cx="3119018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48576A"/>
                </a:solidFill>
                <a:latin typeface="Poppins"/>
              </a:rPr>
              <a:t>A real signed policy object, over IES's own unmodified schema fields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5754" y="2953512"/>
            <a:ext cx="1828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48576A"/>
                </a:solidFill>
                <a:latin typeface="Poppins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8634" y="2953512"/>
            <a:ext cx="3119018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48576A"/>
                </a:solidFill>
                <a:latin typeface="Poppins"/>
              </a:rPr>
              <a:t>Two independent evaluators (Node + Python) computed identical bills across 4 real scenarios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5754" y="3575304"/>
            <a:ext cx="1828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48576A"/>
                </a:solidFill>
                <a:latin typeface="Poppins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8634" y="3575304"/>
            <a:ext cx="3119018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48576A"/>
                </a:solidFill>
                <a:latin typeface="Poppins"/>
              </a:rPr>
              <a:t>Full protocol round-trip run live against the real, unmodified IES sandbox network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03412" y="1874520"/>
            <a:ext cx="3466490" cy="347472"/>
          </a:xfrm>
          <a:prstGeom prst="rect">
            <a:avLst/>
          </a:prstGeom>
          <a:solidFill>
            <a:srgbClr val="C87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31428" y="1874520"/>
            <a:ext cx="3210458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Poppins"/>
              </a:rPr>
              <a:t>WHAT I FOUND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76564" y="2331720"/>
            <a:ext cx="1828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48576A"/>
                </a:solidFill>
                <a:latin typeface="Poppins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59444" y="2331720"/>
            <a:ext cx="3119018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48576A"/>
                </a:solidFill>
                <a:latin typeface="Poppins"/>
              </a:rPr>
              <a:t>3 schema gaps already flagged open by IES itself, shown to be closable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76564" y="2953512"/>
            <a:ext cx="1828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48576A"/>
                </a:solidFill>
                <a:latin typeface="Poppins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59444" y="2953512"/>
            <a:ext cx="3119018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48576A"/>
                </a:solidFill>
                <a:latin typeface="Poppins"/>
              </a:rPr>
              <a:t>1 further real ambiguity found while building: surcharge vs. slab interaction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76564" y="3575304"/>
            <a:ext cx="1828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48576A"/>
                </a:solidFill>
                <a:latin typeface="Poppins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59444" y="3575304"/>
            <a:ext cx="3119018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48576A"/>
                </a:solidFill>
                <a:latin typeface="Poppins"/>
              </a:rPr>
              <a:t>No clear commercial angle for us specifically — paused by choice after proving it worked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21792" y="5989320"/>
            <a:ext cx="10948111" cy="0"/>
          </a:xfrm>
          <a:prstGeom prst="line">
            <a:avLst/>
          </a:prstGeom>
          <a:ln w="9525">
            <a:solidFill>
              <a:srgbClr val="CBD5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21792" y="6053328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8391A2"/>
                </a:solidFill>
                <a:latin typeface="Poppins"/>
              </a:rPr>
              <a:t>Exploration 1 — Policy as Code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55503" y="605332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8391A2"/>
                </a:solidFill>
                <a:latin typeface="Poppin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65760"/>
            <a:ext cx="1094811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C87C1C"/>
                </a:solidFill>
                <a:latin typeface="Poppins"/>
              </a:rPr>
              <a:t>EXPLORATION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40080"/>
            <a:ext cx="10948111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21B27"/>
                </a:solidFill>
                <a:latin typeface="Poppins"/>
              </a:rPr>
              <a:t>Vehicle-to-Grid (V2G)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97280"/>
            <a:ext cx="10948111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48576A"/>
                </a:solidFill>
                <a:latin typeface="Poppins"/>
              </a:rPr>
              <a:t>Can a grid ask a parked EV for help, and get a verified answer? — a research case, not yet built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417320"/>
            <a:ext cx="1961388" cy="292608"/>
          </a:xfrm>
          <a:prstGeom prst="roundRect">
            <a:avLst/>
          </a:prstGeom>
          <a:solidFill>
            <a:srgbClr val="2C5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1458468"/>
            <a:ext cx="196138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Poppins"/>
              </a:rPr>
              <a:t>RESEARCHED &amp; SCOPED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874520"/>
            <a:ext cx="5336895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2029968"/>
            <a:ext cx="487969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C87C1C"/>
                </a:solidFill>
                <a:latin typeface="Poppins"/>
              </a:rPr>
              <a:t>THE IDEA &amp; THE SCENARIO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423160"/>
            <a:ext cx="20116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C87C1C"/>
                </a:solidFill>
                <a:latin typeface="Poppins"/>
              </a:rPr>
              <a:t>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" y="2423160"/>
            <a:ext cx="460537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48576A"/>
                </a:solidFill>
                <a:latin typeface="Poppins"/>
              </a:rPr>
              <a:t>A parked EV's battery is a mostly-idle resource; grids need short bursts of extra power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2990088"/>
            <a:ext cx="20116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C87C1C"/>
                </a:solidFill>
                <a:latin typeface="Poppins"/>
              </a:rPr>
              <a:t>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" y="2990088"/>
            <a:ext cx="460537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48576A"/>
                </a:solidFill>
                <a:latin typeface="Poppins"/>
              </a:rPr>
              <a:t>Real &amp; funded elsewhere: EU mandates V2G chargers from 2027; pilots run in China, NL, 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3557016"/>
            <a:ext cx="20116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C87C1C"/>
                </a:solidFill>
                <a:latin typeface="Poppins"/>
              </a:rPr>
              <a:t>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" y="3557016"/>
            <a:ext cx="460537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48576A"/>
                </a:solidFill>
                <a:latin typeface="Poppins"/>
              </a:rPr>
              <a:t>Proposed scenario: a utility asks for 5 kW/30 min; a simulated 60 kWh EV at 80% charge answers — discover → confirm → status, fully automatic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33007" y="1874520"/>
            <a:ext cx="5336895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61607" y="2029968"/>
            <a:ext cx="487969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C87C1C"/>
                </a:solidFill>
                <a:latin typeface="Poppins"/>
              </a:rPr>
              <a:t>SCOPE, STATED HONESTLY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61607" y="2423160"/>
            <a:ext cx="20116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C87C1C"/>
                </a:solidFill>
                <a:latin typeface="Poppins"/>
              </a:rPr>
              <a:t>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35927" y="2423160"/>
            <a:ext cx="460537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48576A"/>
                </a:solidFill>
                <a:latin typeface="Poppins"/>
              </a:rPr>
              <a:t>Would prove real discovery, agreement, and automatic settlement logic — digitally, meaningfully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61607" y="2990088"/>
            <a:ext cx="20116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C87C1C"/>
                </a:solidFill>
                <a:latin typeface="Poppins"/>
              </a:rPr>
              <a:t>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35927" y="2990088"/>
            <a:ext cx="460537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48576A"/>
                </a:solidFill>
                <a:latin typeface="Poppins"/>
              </a:rPr>
              <a:t>No real battery, inverter, or grid connection — that needs hardware and regulatory approval, a separate later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1607" y="3557016"/>
            <a:ext cx="20116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C87C1C"/>
                </a:solidFill>
                <a:latin typeface="Poppins"/>
              </a:rPr>
              <a:t>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35927" y="3557016"/>
            <a:ext cx="460537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48576A"/>
                </a:solidFill>
                <a:latin typeface="Poppins"/>
              </a:rPr>
              <a:t>A credible case, ready to build against if greenlit — no prototype exists yet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21792" y="5989320"/>
            <a:ext cx="10948111" cy="0"/>
          </a:xfrm>
          <a:prstGeom prst="line">
            <a:avLst/>
          </a:prstGeom>
          <a:ln w="9525">
            <a:solidFill>
              <a:srgbClr val="CBD5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21792" y="6053328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8391A2"/>
                </a:solidFill>
                <a:latin typeface="Poppins"/>
              </a:rPr>
              <a:t>Exploration 2 — Vehicle-to-Grid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55503" y="605332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8391A2"/>
                </a:solidFill>
                <a:latin typeface="Poppin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65760"/>
            <a:ext cx="1094811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C87C1C"/>
                </a:solidFill>
                <a:latin typeface="Poppins"/>
              </a:rPr>
              <a:t>EXPLORATION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40080"/>
            <a:ext cx="10948111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21B27"/>
                </a:solidFill>
                <a:latin typeface="Poppins"/>
              </a:rPr>
              <a:t>P2P Energy Trading — live, running, provable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97280"/>
            <a:ext cx="10948111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48576A"/>
                </a:solidFill>
                <a:latin typeface="Poppins"/>
              </a:rPr>
              <a:t>Two real platforms trade solar energy across two utilities over the real IES sandbox network, right now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417320"/>
            <a:ext cx="1961388" cy="292608"/>
          </a:xfrm>
          <a:prstGeom prst="roundRect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1458468"/>
            <a:ext cx="196138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Poppins"/>
              </a:rPr>
              <a:t>LIVE &amp; DEMONSTRABLE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874520"/>
            <a:ext cx="3466490" cy="347472"/>
          </a:xfrm>
          <a:prstGeom prst="rect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874520"/>
            <a:ext cx="3210458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Poppins"/>
              </a:rPr>
              <a:t>WHAT I BUILT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" y="2331720"/>
            <a:ext cx="1828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48576A"/>
                </a:solidFill>
                <a:latin typeface="Poppins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2331720"/>
            <a:ext cx="3119018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48576A"/>
                </a:solidFill>
                <a:latin typeface="Poppins"/>
              </a:rPr>
              <a:t>An interactive walkthrough of all 31 real protocol hops, with real payloads, in plain English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" y="2953512"/>
            <a:ext cx="1828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48576A"/>
                </a:solidFill>
                <a:latin typeface="Poppins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2953512"/>
            <a:ext cx="3119018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48576A"/>
                </a:solidFill>
                <a:latin typeface="Poppins"/>
              </a:rPr>
              <a:t>A live demo app: two real trading platforms an audience clicks through in real time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" y="3575304"/>
            <a:ext cx="1828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48576A"/>
                </a:solidFill>
                <a:latin typeface="Poppins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3575304"/>
            <a:ext cx="3119018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48576A"/>
                </a:solidFill>
                <a:latin typeface="Poppins"/>
              </a:rPr>
              <a:t>A live network view: every real offer on the shared network, plus our own ledger-verified trades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62602" y="1874520"/>
            <a:ext cx="3466490" cy="347472"/>
          </a:xfrm>
          <a:prstGeom prst="rect">
            <a:avLst/>
          </a:prstGeom>
          <a:solidFill>
            <a:srgbClr val="2C5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90618" y="1874520"/>
            <a:ext cx="3210458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Poppins"/>
              </a:rPr>
              <a:t>WHAT IT PROVES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5754" y="2331720"/>
            <a:ext cx="1828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48576A"/>
                </a:solidFill>
                <a:latin typeface="Poppins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8634" y="2331720"/>
            <a:ext cx="3119018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48576A"/>
                </a:solidFill>
                <a:latin typeface="Poppins"/>
              </a:rPr>
              <a:t>A full signed trade lifecycle — publish → discover → init → confirm → settle — for real, e.g. 32.7 kWh, ₹437.15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5754" y="2953512"/>
            <a:ext cx="1828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48576A"/>
                </a:solidFill>
                <a:latin typeface="Poppins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8634" y="2953512"/>
            <a:ext cx="3119018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48576A"/>
                </a:solidFill>
                <a:latin typeface="Poppins"/>
              </a:rPr>
              <a:t>Policy actually enforces rules: an unapproved utility gets a real, live HTTP 400 rejection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5754" y="3575304"/>
            <a:ext cx="1828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48576A"/>
                </a:solidFill>
                <a:latin typeface="Poppins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18634" y="3575304"/>
            <a:ext cx="3119018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48576A"/>
                </a:solidFill>
                <a:latin typeface="Poppins"/>
              </a:rPr>
              <a:t>Settlement independently re-checked on a real, hosted, external ledger — different credentials than the ones that wrote it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03412" y="1874520"/>
            <a:ext cx="3466490" cy="347472"/>
          </a:xfrm>
          <a:prstGeom prst="rect">
            <a:avLst/>
          </a:prstGeom>
          <a:solidFill>
            <a:srgbClr val="C87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31428" y="1874520"/>
            <a:ext cx="3210458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Poppins"/>
              </a:rPr>
              <a:t>ARCHITECTURE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76564" y="2331720"/>
            <a:ext cx="1828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48576A"/>
                </a:solidFill>
                <a:latin typeface="Poppins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59444" y="2331720"/>
            <a:ext cx="3119018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48576A"/>
                </a:solidFill>
                <a:latin typeface="Poppins"/>
              </a:rPr>
              <a:t>Only the two trading platforms ever talk directly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76564" y="2953512"/>
            <a:ext cx="1828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48576A"/>
                </a:solidFill>
                <a:latin typeface="Poppins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59444" y="2953512"/>
            <a:ext cx="3119018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48576A"/>
                </a:solidFill>
                <a:latin typeface="Poppins"/>
              </a:rPr>
              <a:t>Both utilities are named in the contract data itself — an automatic policy pays each correctly without either being bypassed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21792" y="5989320"/>
            <a:ext cx="10948111" cy="0"/>
          </a:xfrm>
          <a:prstGeom prst="line">
            <a:avLst/>
          </a:prstGeom>
          <a:ln w="9525">
            <a:solidFill>
              <a:srgbClr val="CBD5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21792" y="6053328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8391A2"/>
                </a:solidFill>
                <a:latin typeface="Poppins"/>
              </a:rPr>
              <a:t>Exploration 3 — P2P Energy Trading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55503" y="605332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8391A2"/>
                </a:solidFill>
                <a:latin typeface="Poppin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C87C1C"/>
                </a:solidFill>
                <a:latin typeface="Poppins"/>
              </a:rPr>
              <a:t>WHERE THINGS STAND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95097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Poppins"/>
              </a:rPr>
              <a:t>One network, three honest answers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691640"/>
            <a:ext cx="128016" cy="777240"/>
          </a:xfrm>
          <a:prstGeom prst="rect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1691640"/>
            <a:ext cx="310896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Poppins"/>
              </a:rPr>
              <a:t>Policy as Code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1691640"/>
            <a:ext cx="585216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D6DEE6"/>
                </a:solidFill>
                <a:latin typeface="Poppins"/>
              </a:rPr>
              <a:t>Built &amp; proven — paused after finding no commercial angle for us specifically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651760"/>
            <a:ext cx="128016" cy="777240"/>
          </a:xfrm>
          <a:prstGeom prst="rect">
            <a:avLst/>
          </a:prstGeom>
          <a:solidFill>
            <a:srgbClr val="2C5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651760"/>
            <a:ext cx="310896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Poppins"/>
              </a:rPr>
              <a:t>Vehicle-to-Grid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2651760"/>
            <a:ext cx="585216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D6DEE6"/>
                </a:solidFill>
                <a:latin typeface="Poppins"/>
              </a:rPr>
              <a:t>Researched &amp; scoped — a credible case, no prototype built yet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3611880"/>
            <a:ext cx="128016" cy="777240"/>
          </a:xfrm>
          <a:prstGeom prst="rect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611880"/>
            <a:ext cx="310896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Poppins"/>
              </a:rPr>
              <a:t>P2P Energy Trading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3611880"/>
            <a:ext cx="585216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D6DEE6"/>
                </a:solidFill>
                <a:latin typeface="Poppins"/>
              </a:rPr>
              <a:t>Live, working, and demonstrable today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074920"/>
            <a:ext cx="95097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1">
                <a:solidFill>
                  <a:srgbClr val="8391A2"/>
                </a:solidFill>
                <a:latin typeface="Poppins"/>
              </a:rPr>
              <a:t>Same open network throughout — three different bets placed against it, each stated exactly as it stands.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