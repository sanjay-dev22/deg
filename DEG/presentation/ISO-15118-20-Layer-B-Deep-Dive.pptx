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answers the specific questions raised last time: what signals pass between EV and charger, what the handshake looks like, and what the actual data fields and values are. It stands alone from the PoC proposal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room again: we are not building Layer B. We are learning it so we can speak to it accurately and know precisely what our simulated EV-001 represents.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quoted scope line is verbatim from the actual standard text (Clause 1) -- read directly from the ISO preview document, not paraphrased from a blog.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map -- refer back to this slide's numbering as you move through the detail slides so the room doesn't lose the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physical-layer pairing, not yet any V2G-specific content. It answers 'how does the charger know it's THIS car on THIS plug' in a facility with many chargers on one powerline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stage, but a real gap most people skip past: the powerline pairing in stage 1 says nothing about IP addressing. SDP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TLS 1.3 (RFC 8446) is a normative reference in the actual standard document -- this isn't an optional add-on, it's baked into the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moment for us is ServiceDiscoveryRes -- this is the message where the charger tells the EV whether it even supports discharge (BPT)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Dynamic Control Mode quote is copied verbatim from the actual standard's own glossary entry (3.16) -- not a paraphrase. It maps directly onto our scenario: an outside system (our Grid-Flex-Requester, one layer up) is effectively the thing setting the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direct answer to 'what kind of parameters and values' -- be upfront in the room that the field names/ranges are verified real, but the specific numbers are our scenario's own, clearly labeled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DC_ChargeLoop is the one message pair that repeats -- everything else in this whole deck happens once per session. This loop is the actual live discharge.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if anyone asks 'how do we know a rogue charger can't just claim to discharge a car it doesn't control' -- the standard's own security clause is the answer, and it's substantial.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technical deep dive by reconnecting to the PoC deck's own honest-scope slide -- this prevents the room from concluding we now need to go build a 15118-20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this slide ready if anyone wants to go check a claim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LAYER B, DEEP DIVE  ·  VEHICLE ↔ CHARGER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How the EV Actually Talks to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the Charger — ISO 15118-20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The exact handshake, the signals exchanged, and the data fields and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values involved — the standard that makes real V2G physically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  |  Technical Deep Dive on Layer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Where Layer B sits in 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Three separate conversations happen in any real V2G event — this deck is only about the middle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011680"/>
            <a:ext cx="640080" cy="91440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94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7592" y="2011680"/>
            <a:ext cx="102623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130552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Business layer (IES / Beckn)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96312"/>
            <a:ext cx="97593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Discovery + agreement between grid and provider — our PoC's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063240"/>
            <a:ext cx="640080" cy="9144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7592" y="3063240"/>
            <a:ext cx="10262311" cy="914400"/>
          </a:xfrm>
          <a:prstGeom prst="rect">
            <a:avLst/>
          </a:prstGeom>
          <a:solidFill>
            <a:srgbClr val="FDF3E4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3182112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Vehicle layer (ISO 15118-20)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547872"/>
            <a:ext cx="97593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EV and the charger negotiating power, in real time — THIS DECK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114800"/>
            <a:ext cx="640080" cy="91440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97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7592" y="4114800"/>
            <a:ext cx="102623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4233672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Backend layer (OCPP)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599432"/>
            <a:ext cx="97593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How the charger reports status/metering to its own backend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276088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48576A"/>
                </a:solidFill>
                <a:latin typeface="Poppins"/>
              </a:rPr>
              <a:t>Layer B is mature and standardized — already implemented by real vehicle and charger manufacturers today. Understanding it doesn't mean we build it; it means we know exactly what our PoC's simulated EV is standing in for.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Recap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What ISO 15118-20 actually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Published April 2022 by ISO/IEC — the current, official standard for EV ↔ charger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105156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29968"/>
            <a:ext cx="103080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Poppins"/>
              </a:rPr>
              <a:t>“Specifies the communication between the electric vehicle (EV) ... and the electric</a:t>
            </a:r>
          </a:p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Poppins"/>
              </a:rPr>
              <a:t>vehicle supply equipment (EVSE) ... defines communication messages and sequence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Poppins"/>
              </a:rPr>
              <a:t>requirements for bidirectional power transfer.”  — ISO 15118-20:2022(E), Clause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06324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21868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two endpoints, by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84448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EVCC — Electric Vehicle Communication Controller: the embedded system inside the car.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SECC — Supply Equipment Communication Controller: the embedded system inside the charger.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06324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1868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Why -20, not the older 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584448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ISO 15118-2 (2014) only supports charging. -20 (2022) is the first generation that formally defines Bidirectional Power Transfer (BPT) — the EV sending power back out. It's what makes real V2G possible at the protocol level.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The whole journey,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Six stages from plugging in to power actually flowing — each one detailed on the following slides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6596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09397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0487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5234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SLAC — prove you're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plugged into THIS socket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4650" y="2564892"/>
            <a:ext cx="192024" cy="219456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94962" y="196596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209397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240487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7842" y="275234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SDP — find the charger's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address on the network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57820" y="2564892"/>
            <a:ext cx="192024" cy="219456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68132" y="196596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1012" y="209397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1012" y="240487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Secure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1012" y="275234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TLS + protocol version —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lock the channel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330689" y="3438144"/>
            <a:ext cx="219456" cy="320040"/>
          </a:xfrm>
          <a:prstGeom prst="down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" y="388620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1421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32511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Handshake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67258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Session, auth, services —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introduce &amp; authorize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984650" y="4485132"/>
            <a:ext cx="192024" cy="219456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94962" y="388620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7842" y="401421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7842" y="432511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Negotiate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7842" y="467258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Charge parameters &amp;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schedule — agree on power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57820" y="4485132"/>
            <a:ext cx="192024" cy="219456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68132" y="3886200"/>
            <a:ext cx="3344570" cy="14173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1012" y="401421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87C1C"/>
                </a:solidFill>
                <a:latin typeface="Poppi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1012" y="4325112"/>
            <a:ext cx="297881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1012" y="4672584"/>
            <a:ext cx="297881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Power flows, then a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clean, checked stop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Handshake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1 OF 6 —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SLAC — proving you're plugged into THIS 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The charging cable itself carries a powerline signal (HomePlug GreenPHY); in a shared garage many cars may sit on the same physical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373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73736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072" y="1737360"/>
            <a:ext cx="6421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011680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2011680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CM_SLAC_PARM.REQ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11680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11680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“Let's pair — here's my request ID”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78024"/>
            <a:ext cx="160020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478024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SECC→EVCC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2478024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478024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CM_SLAC_PARM.CNF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8072" y="2478024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478024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Returns a RunID and how many test “sounds” to expect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944368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944368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 (bcast)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2944368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944368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CM_START_ATTEN_CHAR.IND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8072" y="2944368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944368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“I'm about to send test pulses” — sent 3× for reliability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10712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410712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3410712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3410712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CM_MNBC_SOUND.IND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72" y="3410712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410712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counted series of powerline “sound” pulses down the cable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3877056"/>
            <a:ext cx="160020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877056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SECC→EVCC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3877056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3877056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CM_ATTEN_PROFILE.IND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8072" y="3877056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877056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Reports the signal attenuation it measured per pulse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343400"/>
            <a:ext cx="160020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343400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SECC↔EVCC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7712" y="4343400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4343400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CM_ATTEN_CHAR.IND / .RSP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8072" y="4343400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343400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Charger sends the averaged attenuation profile; EV acknowledges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4809744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809744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67712" y="4809744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4809744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CM_SLAC_MATCH.REQ/CNF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48072" y="4809744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4809744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Finalizes the match — hands over a shared Network Membership Key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533095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8391A2"/>
                </a:solidFill>
                <a:latin typeface="Poppins"/>
              </a:rPr>
              <a:t>“SLAC” = Signal Level Attenuation Characterization. Sequence consolidated from public technical references (ISO 15118-3 / HomePlug GreenPHY) — exact vendor timing varies.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562356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Poppins"/>
              </a:rPr>
              <a:t>Result: EV and this one charger now share a private logical network (an NMK) — no other car on the same physical line can be confused with this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2 OF 6 —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SDP — finding the charger's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SECC Discovery Protocol: now that a private link exists, the EV still doesn't know the charger's IP address or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373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73736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MESSAGE /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072" y="1737360"/>
            <a:ext cx="6421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01168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201168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IPv6 SLAAC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1168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1168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EV self-assigns a link-local IPv6 address on the new private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587752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EVCC→(multicast)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2587752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587752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SECC Discovery Request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8072" y="2587752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587752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UDP broadcast to a well-known multicast address, port 15118 — “who's my charger?” — states which security option (TLS / no-TLS) it wants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163824"/>
            <a:ext cx="1600200" cy="512064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6382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SECC→EVCC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3163824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163824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SECC Discovery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8072" y="3163824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163824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Unicast reply: the charger's own IPv6 address + the TCP port to connect to, and confirms the security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79476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8391A2"/>
                </a:solidFill>
                <a:latin typeface="Poppins"/>
              </a:rPr>
              <a:t>Port 15118 (UDP for discovery, then TCP for the session) is the IANA-registered port used across the whole ISO 15118 series.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3 OF 6 — SECURE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Locking the channel before any real data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Everything from here on rides inside an encrypted, versioned, compressed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2331720" cy="77724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7452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A33D"/>
                </a:solidFill>
                <a:latin typeface="Consolas"/>
              </a:rPr>
              <a:t>TCP + TLS 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74520"/>
            <a:ext cx="857067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1874520"/>
            <a:ext cx="815919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EV opens a TCP connection to the address/port SDP just returned, then performs a TLS 1.3 handshake. The charger presents a certificate the EV can verify up a real, audited chain of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743200"/>
            <a:ext cx="2331720" cy="77724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A33D"/>
                </a:solidFill>
                <a:latin typeface="Consolas"/>
              </a:rPr>
              <a:t>V2GTP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2743200"/>
            <a:ext cx="857067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743200"/>
            <a:ext cx="815919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V2G Transfer Protocol — a small fixed header (version, payload type, payload length) wraps every message that follows, inside the TLS tunnel.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611880"/>
            <a:ext cx="2331720" cy="77724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61188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A33D"/>
                </a:solidFill>
                <a:latin typeface="Consolas"/>
              </a:rPr>
              <a:t>EXI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232" y="3611880"/>
            <a:ext cx="857067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3611880"/>
            <a:ext cx="815919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Efficient XML Interchange — every message is schema-defined XML, but sent as compact binary, not text. This is what actually crosses the wire, not raw XML.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480560"/>
            <a:ext cx="2331720" cy="77724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4805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A33D"/>
                </a:solidFill>
                <a:latin typeface="Consolas"/>
              </a:rPr>
              <a:t>SupportedAppProtocolReq / 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9232" y="4480560"/>
            <a:ext cx="857067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4480560"/>
            <a:ext cx="815919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very first real message pair: the EV proposes which protocol namespaces it understands (e.g. urn:iso:std:iso:15118:-20:DC), ranked by priority; the charger picks one and confirms.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4 OF 6 —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Session, authorization, and service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Now that the channel is secure, the EV and charger introduce themselves and agree on what kind of session this will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373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73736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072" y="1737360"/>
            <a:ext cx="6421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01168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201168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SessionSetupReq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1168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1168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EV sends its EVCCID (its own identifier)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587752"/>
            <a:ext cx="1600200" cy="512064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SECC→EVCC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2587752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587752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SessionSetupRes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8072" y="2587752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587752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Charger replies with its EVSEID and a new SessionID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163824"/>
            <a:ext cx="1600200" cy="512064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6382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SECC→EVCC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3163824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163824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AuthorizationSetupReq/Res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8072" y="3163824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163824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Charger states which authorization modes it supports — EIM (tap a card/app) or PnC (certificate-based, no user action)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739896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739896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3739896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3739896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AuthorizationReq/Res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72" y="3739896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739896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EV actually authorizes — presents its PnC certificate signature, or the driver confirms via EIM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4315968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31596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4315968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15968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ServiceDiscoveryReq/Res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8072" y="4315968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4315968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“What can you offer?” — charger lists services: AC, DC, and crucially, whether Bidirectional Power Transfer (BPT) is among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89204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89204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7712" y="489204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489204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ServiceDetailReq / ServiceSelectionReq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8072" y="489204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89204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EV inspects and then formally selects DC + BPT for this session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5 OF 6 — NEGOTIATE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Two ways to negotiate power: Scheduled vs. Dynamic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Chosen during ScheduleExchangeReq/Res — this decision shapes everything that follows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53368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84832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Scheduled Control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487168"/>
            <a:ext cx="4824831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EV and charger negotiate together: the charger proposes a whole power/price schedule up front, and the EV's own battery management system decides how to follow it.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391A2"/>
                </a:solidFill>
                <a:latin typeface="Poppins"/>
              </a:rPr>
              <a:t>Typical for public charging, where the vehicle is unpredictable.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874520"/>
            <a:ext cx="5336895" cy="2514600"/>
          </a:xfrm>
          <a:prstGeom prst="rect">
            <a:avLst/>
          </a:prstGeom>
          <a:solidFill>
            <a:srgbClr val="FDF3E4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9039" y="2084832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Dynamic Control Mode  — our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9039" y="2487168"/>
            <a:ext cx="4824831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121B27"/>
                </a:solidFill>
                <a:latin typeface="Poppins"/>
              </a:rPr>
              <a:t>“The SECC controls the power flow and gives the EVCC set points it should follow.”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— ISO 15118-20:2022(E), definition 3.16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An external system drives near-real-time decisions. This is the mode a grid-flexibility event like ours would actually use.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5 OF 6 — NEGOTIATE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The actual fields — mapped onto our own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DC_ChargeParameterDiscoveryReq/Res: the EV states its limits, the charger states its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FIELD (real ISO 15118-20 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952" y="1828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2432" y="1828800"/>
            <a:ext cx="58274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OUR EV-001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39696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3969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EVMaximumDischargePower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2139696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39696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EVCC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139696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2" y="2139696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5,000 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606040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060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EVMinimumDischargePower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2606040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606040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EVCC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2606040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606040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0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072384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72384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EVPresentSOC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3072384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3072384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EVCC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42432" y="3072384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032" y="3072384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80 %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538728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3872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EVEnergyRequest (this event)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3538728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538728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EVCC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3538728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2" y="3538728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− 2.5 kWh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4005072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050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DepartureTime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4005072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4005072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EVCC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42432" y="4005072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1032" y="4005072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a future timestamp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471416"/>
            <a:ext cx="34747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47141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Consolas"/>
              </a:rPr>
              <a:t>EVSEMaximumDischargePower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7952" y="4471416"/>
            <a:ext cx="1463040" cy="402336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87952" y="4471416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SECC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2432" y="4471416"/>
            <a:ext cx="582747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1032" y="4471416"/>
            <a:ext cx="53702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Poppins"/>
              </a:rPr>
              <a:t>5,000 W (charger's own limit)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010912"/>
            <a:ext cx="1094811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8391A2"/>
                </a:solidFill>
                <a:latin typeface="Poppins"/>
              </a:rPr>
              <a:t>Field names and their permitted ranges are real (per the -20 schema, powers are defined 0–200,000 W, currents 0–400 A). The specific values above are our own scenario's numbers, chosen to match the PoC — not worked examples copied from the standard, whose public preview doesn't include one. On the wire, each number is actually sent as a RationalNumber: value × 10^exponent, not a plain float.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STAGE 6 OF 6 —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Power actually flows, then a checked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This is the loop that would physically run for our full 30-minute event — everything before this was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373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73736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072" y="1737360"/>
            <a:ext cx="6421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8391A2"/>
                </a:solidFill>
                <a:latin typeface="Poppins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011680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2011680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DC_CableCheckReq/Res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11680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011680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Insulation-resistance safety test on the DC cable before any real power 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78024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478024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2478024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478024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DC_PreChargeReq/Res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8072" y="2478024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478024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Charger ramps its output voltage to match the battery's present voltage — avoids an inrush current spike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944368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944368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2944368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944368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PowerDeliveryReq (START, discharge)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8072" y="2944368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944368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“Begin now” — and for BPT, explicitly signals the direction as discharge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10712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410712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3410712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3410712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DC_ChargeLoopReq/Res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72" y="3410712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410712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live heartbeat, repeating roughly every ~1s for the whole event: EV reports present SOC/voltage/current, charger reports its present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3877056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877056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EVCC→SECC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3877056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3877056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PowerDeliveryReq (STOP)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8072" y="3877056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877056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“Stop now” — the event is over, 2.5 kWh delivered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343400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343400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7712" y="4343400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4343400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DC_WeldingDetectionReq/Res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8072" y="4343400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343400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Safety check confirming the contactors actually opened, not welded shut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4809744"/>
            <a:ext cx="1600200" cy="40233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809744"/>
            <a:ext cx="1600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EVCC↔SECC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67712" y="4809744"/>
            <a:ext cx="2788920" cy="402336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4809744"/>
            <a:ext cx="25694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SessionStopReq/Res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48072" y="4809744"/>
            <a:ext cx="6421831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4809744"/>
            <a:ext cx="60560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Clean, graceful termination of the whole communication session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Layer B — ISO 15118-20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WHY THIS IS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Security isn't bolted on — it's a third of the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10948111" cy="310896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148840"/>
            <a:ext cx="103080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A33D"/>
                </a:solidFill>
                <a:latin typeface="Poppins"/>
              </a:rPr>
              <a:t>TLS 1.3, mandatory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514600"/>
            <a:ext cx="1030803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IETF RFC 8446 is a normative reference. Every application-layer message rides inside an encrypted tunnel — nothing is sent in the clear.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08960"/>
            <a:ext cx="103080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A33D"/>
                </a:solidFill>
                <a:latin typeface="Poppins"/>
              </a:rPr>
              <a:t>Certificate-based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74720"/>
            <a:ext cx="1030803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The charger always proves itself with a certificate chained to a real, audited root CA; the EV optionally does the same for Plug &amp; Charge (PnC), with zero driver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069080"/>
            <a:ext cx="103080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8A33D"/>
                </a:solidFill>
                <a:latin typeface="Poppins"/>
              </a:rPr>
              <a:t>A genuinely large chunk of the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434840"/>
            <a:ext cx="1030803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Clause 7.3, “Security concept,” alone runs about 35 pages — certificate profiles, key management, random number generation, firewall guidance.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Layer B — ISO 15118-20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SCOPE, RESTATED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Where our PoC actually sits, relative to all of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Nothing on the previous eleven slides is something we are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194560"/>
            <a:ext cx="100337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Layer B (this deck) is mature, standardized, and already implemented by real vehicle and charger OEMs today. We are not modifying or reimplementing any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063240"/>
            <a:ext cx="100337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Our PoC's simulated “EV-001” exists to stand in for what this whole handshake would report if it really happened: a state of charge before, an amount of energy delivered, a state of charge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31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931920"/>
            <a:ext cx="100337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Layer A (our actual PoC) only needs Layer B's outputs — a completed, verified discharge — to trigger discovery, agreement, and settlement over the open network.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Scope, Restated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Sources, for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3736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Primary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102165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ISO 15118-20:2022(E), “Road vehicles — Vehicle to grid communication interface — Part 20” — scope, definitions, and table of contents read directly from the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4320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Secondary, corroborating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10896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Typhoon HIL documentation — ISO 15118-20 DC/BPT message sequence and field ranges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5204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CharIN e.V. — DC BPT ISO 15118-20 Interoperability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319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3192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Public technical references on SLAC / SDP behavior (ISO 15118-3, HomePlug GreenPHY)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80560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8391A2"/>
                </a:solidFill>
                <a:latin typeface="Poppins"/>
              </a:rPr>
              <a:t>Our own scenario's numeric values (5 kW, 60 kWh, 80% SoC, 2.5 kWh) are ours, not the standard's — clearly labeled as such throughout.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