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Gaps</c:v>
                </c:pt>
              </c:strCache>
            </c:strRef>
          </c:tx>
          <c:spPr>
            <a:solidFill>
              <a:srgbClr val="A82A2A"/>
            </a:solidFill>
            <a:effectLst/>
          </c:spPr>
          <c:invertIfNegative val="0"/>
          <c:dLbls>
            <c:numFmt formatCode="#,##0"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A82A2A"/>
              </a:solidFill>
              <a:effectLst/>
            </c:spPr>
          </c:dPt>
          <c:dPt>
            <c:idx val="1"/>
            <c:invertIfNegative val="0"/>
            <c:bubble3D val="0"/>
            <c:spPr>
              <a:solidFill>
                <a:srgbClr val="B85C0A"/>
              </a:solidFill>
              <a:effectLst/>
            </c:spPr>
          </c:dPt>
          <c:dPt>
            <c:idx val="2"/>
            <c:invertIfNegative val="0"/>
            <c:bubble3D val="0"/>
            <c:spPr>
              <a:solidFill>
                <a:srgbClr val="0E7A6E"/>
              </a:solidFill>
              <a:effectLst/>
            </c:spPr>
          </c:dPt>
          <c:dPt>
            <c:idx val="3"/>
            <c:invertIfNegative val="0"/>
            <c:bubble3D val="0"/>
            <c:spPr>
              <a:solidFill>
                <a:srgbClr val="1E7A3C"/>
              </a:solidFill>
              <a:effectLst/>
            </c:spPr>
          </c:dPt>
          <c:cat>
            <c:multiLvlStrRef>
              <c:f>Sheet1!$A$2:$A$5</c:f>
              <c:multiLvlStrCache>
                <c:ptCount val="4"/>
                <c:lvl>
                  <c:pt idx="0">
                    <c:v>HIGH severity</c:v>
                  </c:pt>
                  <c:pt idx="1">
                    <c:v>MEDIUM severity</c:v>
                  </c:pt>
                  <c:pt idx="2">
                    <c:v>LOW severity</c:v>
                  </c:pt>
                  <c:pt idx="3">
                    <c:v>Closed — not a gap</c:v>
                  </c:pt>
                </c:lvl>
              </c:multiLvlStrCache>
            </c:multiLvlStrRef>
          </c:cat>
          <c:val>
            <c:numRef>
              <c:f>Sheet1!$B$2:$B$5</c:f>
              <c:numCache>
                <c:formatCode>General</c:formatCode>
                <c:ptCount val="4"/>
                <c:pt idx="0">
                  <c:v>8</c:v>
                </c:pt>
                <c:pt idx="1">
                  <c:v>12</c:v>
                </c:pt>
                <c:pt idx="2">
                  <c:v>3</c:v>
                </c:pt>
                <c:pt idx="3">
                  <c:v>1</c:v>
                </c:pt>
              </c:numCache>
            </c:numRef>
          </c:val>
        </c:ser>
        <c:dLbls>
          <c:numFmt formatCode="#,##0"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exists to give the team a shared, correct mental model before harder questions come up again, and it is built around one discipline: every claim in it is tagged by exactly how it was checked -- directly against the real schema and code (file and line citations exist for these), against a real external published source (a regulator filing or a news article), or clearly marked as our own reasoned inference where no hard proof exists yet. Walk through the eight sections (A through H) at a glance: the layer boundary between this project and the real grid, electricity fundamentals, the real systems underneath, how a real offer actually gets published, why Beckn exists and what its message sequence means, who integrates what and in what order, the real business value and customer chain, and finally the one genuinely new finding from this round -- stored versus direct energy. If challenged on any single claim, you can say exactly how it was verified; that is the entire point of building the deck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literally the agenda -- read it out loud in plain spoken language rather than re-reading the card text verbatim. One: are we controlling the electrical grid, or just a commercial layer on top of it? Two: if this devkit ever gets used for real, who actually does the work of connecting it to a real DISCOM's systems, and in what order does that happen? Three: our own demo has a dashboard where a human types numbers in -- in a real rollout, does that dashboard even exist, and who's really doing the publishing and buying? Four: why does this even need a protocol like Beckn, and what do all those strange message names like init and confirm actually mean? Five: who actually benefits from any of this work, what's genuinely new versus already existing, and is continuing to find and fix problems actually worth the effort? Six, the newest and most important finding: does the schema genuinely support trading stored battery energy, or is that claim weaker than it looks once you actually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bands bottom-to-top, conceptually: physical grid -- wires, transformers, inverters -- owned by DISCOMs and equipment manufacturers, completely real, nothing to do with this project. Telemetry -- smart meters and AMI -- already deployed at scale; this project only ever reads from it, never writes to it. Control and safety -- DERMS and anti-islanding -- decides who can actually switch something on or off; never us. Commercial and settlement -- Beckn protocol, onix, this devkit -- is the one and only layer this project builds: prices, penalties, disputes, and trust between companies that have never met. Market participants are simply whoever ends up using whatever gets built. This was checked directly against the real, running docker-compose and onix configuration for this project, not guessed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memorable answer to 'does your software change how electricity physically works' -- no. On the left: solar/inverter physics, net metering, the DISCOM's own safety systems, hardware export limits, and physical delivery itself are all completely untouched by this project. On the right: a shared message format, commercial rules, a trust/verification layer, capacity-aware checks, and an accounting overlay are the entirety of what this project contributes. If challenged, the one-line defense is: if you can point to a wire, a meter, or a safety relay, we don't touch it; if you're pointing at a price, a penalty, or a dispute, that's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physical-intuition slide in the whole deck -- spend real time here. Physically, electrons from an inverter join one shared pool the instant they're generated; there is no way, in any P2P energy trading system anywhere in the world, to route specific electrons to a specific buyer, because electrons are physically indistinguishable from one another. What a trade actually does is take a quantity a meter already measured flowing -- an export that would have happened with or without any trade -- and attach a commercial label to it after the fact: 'this amount is now attributed to this buyer, at this price.' This is not a shortcut or a weakness of this particular project; it is literally how every Renewable Energy Certificate and 'green tariff' electricity product in the world already works, and those products are decades old and completely mainstream. If someone asks 'so how do you guarantee the buyer gets clean solar power,' the honest and correct answer is: the grid is physically indifferent to who requested what; the guarantee is an accounting one, verified by a real meter reading, exactly like every REC scheme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tap/bucket analogy fully: kW is like litres-per-minute flowing from a tap right now -- an instantaneous rate. kWh is the total litres actually collected in a bucket after some time has passed -- an amount. A '5 kW solar panel' is a statement about its peak rate at the sunniest moment of the day, not a promise about how much energy it generates overall. Across one full day it might realistically generate roughly 20 to 25 kWh, not 5kW times 24 hours equals 120 kWh, because its output rises and falls with the sun rather than running flat. The bill a household gets is in kWh -- literally called 'units' in India -- which is the amount, not the rate. Tie it to something already familiar: it's exactly the same relationship as speed (km/h) and distance (km) -- distance equals speed times time, energy (kWh) equals power (kW) times time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concretely: sunlight hits the panel and makes DC electricity; an inverter converts that DC into AC because homes and the grid only use AC; whatever the house is currently using gets served first, for free, with no DISCOM involved at all; only the leftover after that becomes 'excess,' which either exports to the grid in real time or charges a battery if one exists. Crucially: excess is never typed in by a person -- it's computed automatically and continuously by a bidirectional, or 'net,' meter, which separately tracks energy flowing in and energy flowing out at every interval. Also mention: a real tradeable offer needs more than just this live reading -- it needs a forecast for a future delivery window, since a live reading only tells you what's happening this instant, not what will be available an hour or a day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of the four terms plainly as grounding knowledge. Last-gasp event: the literal last message a smart meter manages to send, using the tiny bit of charge left in its own backup capacitor, the instant it loses power -- comparable to a phone pushing one final '1% battery' notification right before it dies; this is how a utility learns a specific house lost power within seconds, without anyone calling to report it. OMS: the DISCOM's own control-room software that tracks every outage across their network -- which feeder tripped, how many customers are affected, when a crew was sent and when power was restored. SCADA: the long-standing, foundational 'mission control' system a utility uses to watch live readings and remotely operate switches across its whole grid from one place; OMS and DERMS are both built on top of this. SAIDI/SAIFI: the two standard numbers every utility is measured on for reliability -- how often, on average, a customer loses power each year, and for how long in total. These are regulator-mandated, which is exactly why a DISCOM's own outage log can be trusted as independent evidence: they already have to report it accurately to someone else. The unifying point: these four systems are why a fault or outage claim in a trade dispute can be checked against a real, independent source instead of just trusting the seller's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real-world pipeline a meter reading travels through before anyone can use it: the smart meter itself measures continuously; a Head-End System is essentially a central phone exchange that polls or receives data from tens of thousands of meters at once; a Meter Data Management system then cleans up that raw data through a process the industry calls VEE -- Validate, Estimate, Edit -- before anyone downstream is allowed to trust it; only after all of that does this platform ever read anything. The point to really land: 'constantly watching the meters,' which came up as a request in review, is not a new capability anyone needs to invent -- it's this exact pipeline, which India's own smart-metering rollout already runs at national scale. What's actually new is just reading this feed more often, closer to real time, instead of only once at the very end of a long delivery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term and why none of them are this project's job. DERMS: think of it as SCADA, but specifically for the thousands of small customer-owned devices on a DISCOM's grid -- it's the system that can actually send a real command to a device. SunSpec Modbus: a shared, standardized remote-control language that most commercial solar inverters, regardless of brand, already understand, so a utility system doesn't need a custom integration per manufacturer. IEEE 2030.5: a newer, more modern, internet-native version of the same idea, with security built in from the start; it's the standard California's own grid regulator mandates for this exact purpose, under what's called Rule 21. OpenADR: a standard specifically for broadcasting 'please reduce your consumption or generation right now' messages to many participating devices or buildings at once -- already used today in real demand-response programs. Anti-islanding: a safety behavior built directly into every grid-tied inverter by regulation -- if it senses the wider grid has gone down, it disconnects itself immediately and completely on its own, with no reliance on any network signal at all, specifically so a utility repair crew is never at risk of a line they believe is dead actually still being live. The unifying point for defense: every one of these is a real, already-existing system operated by someone else; this project never reaches into any of them directly, and that is a deliberate design boundary, not a current limitation to apologize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terms and connect them to the 'what if I can give you more power since I have more export capacity' question: a feeder is one branch of the electrical wiring serving a cluster of homes, and a transformer steps the voltage down to what a home actually uses -- both have hard physical limits to how much current they can carry safely. A sanctioned capacity is the specific maximum export amount a DISCOM has approved for one particular connection, decided when that rooftop system was first installed, based on what that local line can actually absorb given everyone else sharing it. The CIS, or Customer Information System, is simply the DISCOM's internal database holding that number, along with the rest of a customer's account and connection details. The reason this matters: today, nothing in this devkit checks a declared trade quantity against this real number at all -- that is a genuine, named, not-yet-fixed gap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why steps 1 and 2 -- forecast, capacity check -- don't exist yet in this project, while step 3 -- schema, API, routing -- is the entirety of what's actually been built, and step 4 -- physical delivery -- was never going to change regardless of any of this. Forecasting a future offer requires combining a weather forecast, the specific system's own historical generation pattern, and the household's typical consumption pattern -- a genuine, separate piece of software, a well-established discipline called solar or generation forecasting, that doesn't exist in this project yet. The capacity check needs the real sanctioned-capacity number from Section C, which also isn't wired in yet. What this devkit actually does -- the schema, signing, and network routing -- is the commercial coordination layer, and it assumes both of those upstream steps already produced a trustworthy number, which in the demo is faked by a human typing one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slide exists and walk through each row: it directly answers 'if our dashboard isn't real, who actually does this.' A Trade Platform Provider is a real company -- Pulse Energy is named specifically because they're a real, reported operator already running live pilots in Delhi-NCR and western UP -- that builds its own branded app; a human prosumer still exists in that picture, but reviews an already-computed offer rather than typing a raw number into a blank field. A DISCOM-run procurement desk means a real human trading-desk employee at a utility like BRPL or TPDDL, but they approve broad policy, such as 'accept anything under a certain price from this discom's prosumers,' not every individual trade by hand. The machine-to-machine row is the most important one to really understand: an EV charger, through a reported Beckn collaboration called the Unified Energy Interface, can discover, verify, and pay for green energy entirely on its own, with zero human involved at the moment of the actual trade -- this is not hypothetical, it's a named, reported, real integration. Finally, a prosumer, the seller, only really interacts with any of this once, at enrollment, granting consent for their data to be used, not per individual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validate, not dismiss, a completely reasonable reaction some people have after seeing the schema and messages: 'this feels like bureaucracy, not real engineering.' The honest answer: scoped correctly, it genuinely is paperwork, in the best sense. Beckn's entire design philosophy, the same one behind ONDC for commerce and conceptually UPI for payments, is to standardize the conversation between two companies that have never met, not to replace either company's own internal systems. The real engineering difficulty in this whole project isn't inventing a clever way to move electrons -- it's getting the accountability, trust, and dispute-resolution rules of that conversation actually right before real money starts moving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core reasoning simply: two companies' systems that have never met and were built independently can't just call each other's private APIs -- there's no shared understanding of what a message even means. Beckn's actual contribution is a shared, open vocabulary -- publish, discover, init, confirm, and so on -- that any two independent systems can each implement once and then be able to talk to literally any other participant on the network, not just one pre-arranged partner. It's worth being explicit that Beckn itself never moves money or electricity -- it's a conversation standard, the same category of thing as ONDC is for commerce or, conceptually, UPI is for payments, with each side's own real systems still doing all the actual work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likely to be one of the most heavily scrutinized slides, so cover the why, not just the what. The entire reason this looks like a back-and-forth sequence instead of one simple request and response is that none of the real answers involved are available instantly: whether a counterpart is even allowed to trade, whether a pricing policy accepts the terms, whether a human seller wants to accept a bid, whether a meter actually delivered what was promised -- none of those resolve in the time a web request is normally kept open. So the shape is always the same: acknowledge immediately that the message arrived, then deliver the real answer later, via a separate, independently verified callback, once it's actually ready. Walk through each row briefly: publish and discover are broadcast, because at that point a buyer and seller haven't found each other yet; once a specific seller is chosen, init and confirm go directly between just the two of them, with no more need to broadcast to the whole network; the on_ versions of each message are always the real, asynchronously-delivered answer coming back; and status/on_status is necessarily the very last hop, because it depends on a real meter reading that doesn't exist until the delivery window is actually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responsibility table row by row and be explicit about the asymmetry in effort and control: nobody needs to integrate anything with the physical grid itself -- it already works exactly as it should. Telemetry is the one layer this project's own engineering team can realistically connect to unilaterally, because it only requires read access, granted through a consent mechanism the real India Energy Stack architecture already names as one of its core building blocks. Control and safety, meaning DERMS, is categorically different -- it means issuing an actual command that could affect the grid, and building that path is the DISCOM's own systems-integration team's responsibility, on their own timeline, not something this project can build or schedule. The commercial and settlement layer is this project's entire job, full stop. The callout box underneath exists specifically to prevent anyone walking away thinking DERMS integration is a near-term roadmap item -- it explicitly isn't, and saying so plainly is more defensible than implying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reasoning behind the sequence, not just the list. Harden the commercial layer first, because it's entirely our own work, with nothing external to wait on. Pilot on direct-flow solar only next, because that's the one resource type India's real regulators -- DERC, UPERC -- have already approved for live pilots; there's no storage ambiguity to resolve first. Only after that, add a read-only telemetry integration, since it's still something this project can do alone, just requiring a consent grant rather than a joint engineering project. The capacity and sanctioned-limit check comes next because it's the first point requiring a specific DISCOM's own data. DERMS integration for curtailment is deliberately placed near the end, because at that point it genuinely becomes someone else's project, not this team's to schedule. Stored-energy trading is placed last on purpose -- not because batteries are unimportant, but because the schema gap covered in Section H has to be fixed first, or a FIRM claim stays unverifiable no matter how far along everything else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chain and explain why it's not a single paying company. This work's most immediate consumer is the team maintaining the protocol and devkit itself -- what gets handed over is exactly this kind of gap-hunting and hardening work. The next link is a DISCOM's own engineering team, who would eventually adopt this devkit to let their real customers trade -- they inherit whatever gaps were or weren't fixed before they adopted it. Before anything goes further, a real regulator, CERC at the national level or a state SERC, has to be convinced the system is safe with real money moving through it. And the actual final beneficiary, the one whose money is genuinely at stake, is an ordinary household trading real electricity. This mirrors exactly how India's own UPI and ONDC were built: as public digital infrastructure hardened before wide adoption, not as one company's single commercial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table row by row: physical delivery of electricity is completely unaffected by any of this, full stop. Metering and telemetry are only ever read from, never altered -- the only change proposed is reading that feed more often. Hardware control and safety systems are never touched at all, by explicit design, not by current limitation. The only place this project actually changes anything is the commercial rules and trust layer -- penalties, price sanity checks, dispute pointers, capacity-aware checks -- which is the full and complete scope of everything tracked across the 24 identified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chart and the reasoning: 24 gaps total, broken down by severity -- 8 high, 12 medium, 3 low, and 1 that was investigated and found to already be fixed, included deliberately to show the process wasn't one-sided or alarmist. Make the cost-asymmetry argument plainly: a gap caught now, in a sandbox, costs a pull request; the same gap caught after a DISCOM has gone live with real customers' money costs a regulatory incident. That asymmetry, not the raw count, is the actual argument for why this work is worth continuing.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opening of the most important new section in this deck, so take real time here. A battery already holds its energy right now -- a promise to deliver 5 kWh at 6pm can actually be checked in advance, because the battery's own state-of-charge can be read before the trade is even confirmed. Direct solar is fundamentally different: the energy literally does not exist yet at the moment the promise is made -- it depends on the sun actually shining later. A promise to deliver solar energy after sunset isn't a risk to manage, it's a physical impossibility, no matter how the software is written. This distinction is not a software design choice -- it's basic physics, true regardless of what any schema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and give credit where it's due: the real EnergyResource schema, version 2.1, read directly from the actual repository, not inferred, treats a battery as a genuinely well-designed, first-class type, aligned with the same international modeling standard, CIM, specifically IEC 61970-302's BatteryUnit, that real utility software already uses worldwide. It captures real, meaningful fields: how much energy the battery can actually hold, what chemistry it is, how degraded its real capacity is compared to new, and how efficient it is over a full charge-discharge cycle. This slide exists specifically to make clear that the problem on the next slide is not 'the schema is bad' -- it is a genuinely well-built piece of schema that simply isn't connected to where it needs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red flag, state it as precisely as possible. The schema that's actually used for every real offer and commitment in this devkit today has no field anywhere that references a specific EnergyResource at all -- no resource ID, no resource type, nothing. Its only fields are commercial ones: price, available quantity, requested quantity, and the final delivered amount. The only place 'is this battery-backed or not' shows up at all is a single self-declared field, commitmentType, set to either FIRM or BEST_EFFORT -- and the actual policy code already in this project defaults that field to FIRM whenever it's left out, with no check at all against whether the thing making the promise is actually a battery with a real state-of-charge reading, or a solar panel with no way to guarantee anything. Concretely: nothing today stops a plain solar offer from declaring itself FIRM, and nothing catches it if it does. Be ready to cite exactly where this was checked: EnergyTradeOffer/v2.0's own attributes file and README, and the specific lines, 330 to 333, of the real policy file where commitmentType is read with a default and no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each row matters and how it was verified, since 'VERIFIED, EXTERNAL SOURCE' is the strongest possible backing a claim can have in this deck. The Delhi Electricity Regulatory Commission's actual live pilot charges exactly 0.42 rupees per kWh as a transaction charge, and that's not a coincidence -- it's the exact same number this devkit's own policy file already uses as a sample constant, strongly suggesting the devkit's numbers were modeled on the real pilot rather than invented. The three DISCOMs this devkit's own code already allowlists -- BRPL, TPDDL, and PVVNL -- are literally the same three real utilities named as actual participants in India's live P2P pilots, confirmed by an independent news source, not just by this project's own documentation. And critically: neither those live pilots nor the Ministry of Power's own published architecture document for the India Energy Stack describe any rule at all for battery-storage trading -- P2P solar trading is the real, described, regulator-approved use case today; stored-energy trading is not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clear this is a scoped, modest, already-reasoned fix, not a speculative new idea. Add one new field to an offer that points at the specific real resource backing it. Require that a FIRM claim can only be made when that resource is actually a battery-type resource and a real, current state-of-charge reading accompanies it. And simply leave solar-only offers restricted to BEST_EFFORT, which doesn't ban them from trading at all -- it just stops them from making a promise they have no physical way of actually keeping. This is explicitly framed as a direct, natural extension of a gap already identified and accepted earlier in this project's own review, Gap 12, not a brand new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layer boundary plainly, then the storage-vs-direct finding as the one genuinely new, evidence-backed red flag from this session: the schema models batteries richly, but the active trade/offer schema never references resource type at all, so a FIRM claim today is unverifiable regardless of what's actually backing it. Point to Gap 12 and the new resourceId proposal as the fix. If time allows, close by naming the realistic build order from Section F again: harden the commercial layer, pilot solar-only, add read-only telemetry, then capacity checks -- DERMS and stored-energy trading both come later, and both depend on someone else's work or a schema fix that doesn't exist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1920240"/>
            <a:ext cx="10820095" cy="320040"/>
          </a:xfrm>
          <a:prstGeom prst="rect">
            <a:avLst/>
          </a:prstGeom>
          <a:noFill/>
          <a:ln/>
        </p:spPr>
        <p:txBody>
          <a:bodyPr wrap="square" lIns="0" tIns="0" rIns="0" bIns="0" rtlCol="0" anchor="ctr"/>
          <a:lstStyle/>
          <a:p>
            <a:pPr indent="0" marL="0">
              <a:buNone/>
            </a:pPr>
            <a:r>
              <a:rPr lang="en-US" sz="1300" b="1" spc="150" kern="0" dirty="0">
                <a:solidFill>
                  <a:srgbClr val="0E7A6E"/>
                </a:solidFill>
                <a:latin typeface="Calibri" pitchFamily="34" charset="0"/>
                <a:ea typeface="Calibri" pitchFamily="34" charset="-122"/>
                <a:cs typeface="Calibri" pitchFamily="34" charset="-120"/>
              </a:rPr>
              <a:t>TEAM FOUNDATIONS SESSION</a:t>
            </a:r>
            <a:endParaRPr lang="en-US" sz="1300" dirty="0"/>
          </a:p>
        </p:txBody>
      </p:sp>
      <p:sp>
        <p:nvSpPr>
          <p:cNvPr id="3" name="Text 1"/>
          <p:cNvSpPr txBox="1"/>
          <p:nvPr/>
        </p:nvSpPr>
        <p:spPr>
          <a:xfrm>
            <a:off x="685800" y="2286000"/>
            <a:ext cx="10820095" cy="1005840"/>
          </a:xfrm>
          <a:prstGeom prst="rect">
            <a:avLst/>
          </a:prstGeom>
          <a:noFill/>
          <a:ln/>
        </p:spPr>
        <p:txBody>
          <a:bodyPr wrap="square" lIns="0" tIns="0" rIns="0" bIns="0" rtlCol="0" anchor="ctr"/>
          <a:lstStyle/>
          <a:p>
            <a:pPr indent="0" marL="0">
              <a:buNone/>
            </a:pPr>
            <a:r>
              <a:rPr lang="en-US" sz="4000" b="1" dirty="0">
                <a:solidFill>
                  <a:srgbClr val="1A1A1A"/>
                </a:solidFill>
                <a:latin typeface="Calibri" pitchFamily="34" charset="0"/>
                <a:ea typeface="Calibri" pitchFamily="34" charset="-122"/>
                <a:cs typeface="Calibri" pitchFamily="34" charset="-120"/>
              </a:rPr>
              <a:t>What We're Actually Building</a:t>
            </a:r>
            <a:endParaRPr lang="en-US" sz="4000" dirty="0"/>
          </a:p>
        </p:txBody>
      </p:sp>
      <p:sp>
        <p:nvSpPr>
          <p:cNvPr id="4" name="Text 2"/>
          <p:cNvSpPr txBox="1"/>
          <p:nvPr/>
        </p:nvSpPr>
        <p:spPr>
          <a:xfrm>
            <a:off x="685800" y="3291840"/>
            <a:ext cx="10241280" cy="868680"/>
          </a:xfrm>
          <a:prstGeom prst="rect">
            <a:avLst/>
          </a:prstGeom>
          <a:noFill/>
          <a:ln/>
        </p:spPr>
        <p:txBody>
          <a:bodyPr wrap="square" lIns="0" tIns="0" rIns="0" bIns="0" rtlCol="0" anchor="ctr"/>
          <a:lstStyle/>
          <a:p>
            <a:pPr indent="0" marL="0">
              <a:lnSpc>
                <a:spcPct val="130000"/>
              </a:lnSpc>
              <a:buNone/>
            </a:pPr>
            <a:r>
              <a:rPr lang="en-US" sz="1700" dirty="0">
                <a:solidFill>
                  <a:srgbClr val="555E6B"/>
                </a:solidFill>
                <a:latin typeface="Calibri" pitchFamily="34" charset="0"/>
                <a:ea typeface="Calibri" pitchFamily="34" charset="-122"/>
                <a:cs typeface="Calibri" pitchFamily="34" charset="-120"/>
              </a:rPr>
              <a:t>P2P energy trading: the commercial/settlement layer, the real grid underneath it, and the one physical question we hadn't stress-tested yet — stored vs. direct energy</a:t>
            </a:r>
            <a:endParaRPr lang="en-US" sz="1700" dirty="0"/>
          </a:p>
        </p:txBody>
      </p:sp>
      <p:sp>
        <p:nvSpPr>
          <p:cNvPr id="5" name="Shape 3"/>
          <p:cNvSpPr/>
          <p:nvPr/>
        </p:nvSpPr>
        <p:spPr>
          <a:xfrm>
            <a:off x="685800" y="4343400"/>
            <a:ext cx="10820095" cy="0"/>
          </a:xfrm>
          <a:prstGeom prst="line">
            <a:avLst/>
          </a:prstGeom>
          <a:noFill/>
          <a:ln w="12700">
            <a:solidFill>
              <a:srgbClr val="D8DCE2"/>
            </a:solidFill>
            <a:prstDash val="solid"/>
          </a:ln>
        </p:spPr>
      </p:sp>
      <p:sp>
        <p:nvSpPr>
          <p:cNvPr id="6" name="Text 4"/>
          <p:cNvSpPr txBox="1"/>
          <p:nvPr/>
        </p:nvSpPr>
        <p:spPr>
          <a:xfrm>
            <a:off x="685800" y="4572000"/>
            <a:ext cx="9875520" cy="548640"/>
          </a:xfrm>
          <a:prstGeom prst="rect">
            <a:avLst/>
          </a:prstGeom>
          <a:noFill/>
          <a:ln/>
        </p:spPr>
        <p:txBody>
          <a:bodyPr wrap="square" lIns="0" tIns="0" rIns="0" bIns="0" rtlCol="0" anchor="ctr"/>
          <a:lstStyle/>
          <a:p>
            <a:pPr indent="0" marL="0">
              <a:lnSpc>
                <a:spcPct val="125000"/>
              </a:lnSpc>
              <a:buNone/>
            </a:pPr>
            <a:r>
              <a:rPr lang="en-US" sz="1200" i="1" dirty="0">
                <a:solidFill>
                  <a:srgbClr val="555E6B"/>
                </a:solidFill>
                <a:latin typeface="Calibri" pitchFamily="34" charset="0"/>
                <a:ea typeface="Calibri" pitchFamily="34" charset="-122"/>
                <a:cs typeface="Calibri" pitchFamily="34" charset="-120"/>
              </a:rPr>
              <a:t>Every claim below is tagged by how we know it: verified directly in the schema/code, verified against an external published source, our own reasoned inference, or a simple example.</a:t>
            </a:r>
            <a:endParaRPr lang="en-US" sz="1200" dirty="0"/>
          </a:p>
        </p:txBody>
      </p:sp>
      <p:sp>
        <p:nvSpPr>
          <p:cNvPr id="7" name="Text 5"/>
          <p:cNvSpPr txBox="1"/>
          <p:nvPr/>
        </p:nvSpPr>
        <p:spPr>
          <a:xfrm>
            <a:off x="685800" y="6126480"/>
            <a:ext cx="5486400" cy="274320"/>
          </a:xfrm>
          <a:prstGeom prst="rect">
            <a:avLst/>
          </a:prstGeom>
          <a:noFill/>
          <a:ln/>
        </p:spPr>
        <p:txBody>
          <a:bodyPr wrap="square" lIns="0" tIns="0" rIns="0" bIns="0" rtlCol="0" anchor="ctr"/>
          <a:lstStyle/>
          <a:p>
            <a:pPr indent="0" marL="0">
              <a:buNone/>
            </a:pPr>
            <a:r>
              <a:rPr lang="en-US" sz="1200" dirty="0">
                <a:solidFill>
                  <a:srgbClr val="555E6B"/>
                </a:solidFill>
                <a:latin typeface="Calibri" pitchFamily="34" charset="0"/>
                <a:ea typeface="Calibri" pitchFamily="34" charset="-122"/>
                <a:cs typeface="Calibri" pitchFamily="34" charset="-120"/>
              </a:rPr>
              <a:t>Prepared for: Team review</a:t>
            </a:r>
            <a:endParaRPr lang="en-US" sz="12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   CONTEXT</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What this session answers</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Shape 3"/>
          <p:cNvSpPr/>
          <p:nvPr/>
        </p:nvSpPr>
        <p:spPr>
          <a:xfrm>
            <a:off x="685800" y="1737360"/>
            <a:ext cx="3436010" cy="2148840"/>
          </a:xfrm>
          <a:prstGeom prst="roundRect">
            <a:avLst>
              <a:gd name="adj" fmla="val 2553"/>
            </a:avLst>
          </a:prstGeom>
          <a:solidFill>
            <a:srgbClr val="E4F3F0"/>
          </a:solidFill>
          <a:ln w="12700">
            <a:solidFill>
              <a:srgbClr val="0E7A6E"/>
            </a:solidFill>
            <a:prstDash val="solid"/>
          </a:ln>
        </p:spPr>
      </p:sp>
      <p:sp>
        <p:nvSpPr>
          <p:cNvPr id="6" name="Shape 4"/>
          <p:cNvSpPr/>
          <p:nvPr/>
        </p:nvSpPr>
        <p:spPr>
          <a:xfrm>
            <a:off x="685800" y="1737360"/>
            <a:ext cx="50292" cy="2148840"/>
          </a:xfrm>
          <a:prstGeom prst="rect">
            <a:avLst/>
          </a:prstGeom>
          <a:solidFill>
            <a:srgbClr val="0E7A6E"/>
          </a:solidFill>
          <a:ln w="12700">
            <a:solidFill>
              <a:srgbClr val="0E7A6E"/>
            </a:solidFill>
            <a:prstDash val="solid"/>
          </a:ln>
        </p:spPr>
      </p:sp>
      <p:sp>
        <p:nvSpPr>
          <p:cNvPr id="7" name="Text 5"/>
          <p:cNvSpPr txBox="1"/>
          <p:nvPr/>
        </p:nvSpPr>
        <p:spPr>
          <a:xfrm>
            <a:off x="941832" y="190195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0E7A6E"/>
                </a:solidFill>
                <a:latin typeface="Calibri" pitchFamily="34" charset="0"/>
                <a:ea typeface="Calibri" pitchFamily="34" charset="-122"/>
                <a:cs typeface="Calibri" pitchFamily="34" charset="-120"/>
              </a:rPr>
              <a:t>1  Commercial layer vs. the grid</a:t>
            </a:r>
            <a:endParaRPr lang="en-US" sz="1450" dirty="0"/>
          </a:p>
        </p:txBody>
      </p:sp>
      <p:sp>
        <p:nvSpPr>
          <p:cNvPr id="8" name="Text 6"/>
          <p:cNvSpPr txBox="1"/>
          <p:nvPr/>
        </p:nvSpPr>
        <p:spPr>
          <a:xfrm>
            <a:off x="941832" y="230428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Exactly which part of the real electricity system this project touches, and which parts already exist untouched.</a:t>
            </a:r>
            <a:endParaRPr lang="en-US" sz="1150" dirty="0"/>
          </a:p>
        </p:txBody>
      </p:sp>
      <p:sp>
        <p:nvSpPr>
          <p:cNvPr id="9" name="Shape 7"/>
          <p:cNvSpPr/>
          <p:nvPr/>
        </p:nvSpPr>
        <p:spPr>
          <a:xfrm>
            <a:off x="4377842" y="1737360"/>
            <a:ext cx="3436010" cy="2148840"/>
          </a:xfrm>
          <a:prstGeom prst="roundRect">
            <a:avLst>
              <a:gd name="adj" fmla="val 2553"/>
            </a:avLst>
          </a:prstGeom>
          <a:solidFill>
            <a:srgbClr val="E6EEFD"/>
          </a:solidFill>
          <a:ln w="12700">
            <a:solidFill>
              <a:srgbClr val="1D4ED8"/>
            </a:solidFill>
            <a:prstDash val="solid"/>
          </a:ln>
        </p:spPr>
      </p:sp>
      <p:sp>
        <p:nvSpPr>
          <p:cNvPr id="10" name="Shape 8"/>
          <p:cNvSpPr/>
          <p:nvPr/>
        </p:nvSpPr>
        <p:spPr>
          <a:xfrm>
            <a:off x="4377842" y="1737360"/>
            <a:ext cx="50292" cy="2148840"/>
          </a:xfrm>
          <a:prstGeom prst="rect">
            <a:avLst/>
          </a:prstGeom>
          <a:solidFill>
            <a:srgbClr val="1D4ED8"/>
          </a:solidFill>
          <a:ln w="12700">
            <a:solidFill>
              <a:srgbClr val="1D4ED8"/>
            </a:solidFill>
            <a:prstDash val="solid"/>
          </a:ln>
        </p:spPr>
      </p:sp>
      <p:sp>
        <p:nvSpPr>
          <p:cNvPr id="11" name="Text 9"/>
          <p:cNvSpPr txBox="1"/>
          <p:nvPr/>
        </p:nvSpPr>
        <p:spPr>
          <a:xfrm>
            <a:off x="4633874" y="190195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1D4ED8"/>
                </a:solidFill>
                <a:latin typeface="Calibri" pitchFamily="34" charset="0"/>
                <a:ea typeface="Calibri" pitchFamily="34" charset="-122"/>
                <a:cs typeface="Calibri" pitchFamily="34" charset="-120"/>
              </a:rPr>
              <a:t>2  How it connects as one system</a:t>
            </a:r>
            <a:endParaRPr lang="en-US" sz="1450" dirty="0"/>
          </a:p>
        </p:txBody>
      </p:sp>
      <p:sp>
        <p:nvSpPr>
          <p:cNvPr id="12" name="Text 10"/>
          <p:cNvSpPr txBox="1"/>
          <p:nvPr/>
        </p:nvSpPr>
        <p:spPr>
          <a:xfrm>
            <a:off x="4633874" y="230428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Who actually does the integration work between this devkit and real DISCOM/meter systems, and in what order.</a:t>
            </a:r>
            <a:endParaRPr lang="en-US" sz="1150" dirty="0"/>
          </a:p>
        </p:txBody>
      </p:sp>
      <p:sp>
        <p:nvSpPr>
          <p:cNvPr id="13" name="Shape 11"/>
          <p:cNvSpPr/>
          <p:nvPr/>
        </p:nvSpPr>
        <p:spPr>
          <a:xfrm>
            <a:off x="8069885" y="1737360"/>
            <a:ext cx="3436010" cy="2148840"/>
          </a:xfrm>
          <a:prstGeom prst="roundRect">
            <a:avLst>
              <a:gd name="adj" fmla="val 2553"/>
            </a:avLst>
          </a:prstGeom>
          <a:solidFill>
            <a:srgbClr val="EFE8FA"/>
          </a:solidFill>
          <a:ln w="12700">
            <a:solidFill>
              <a:srgbClr val="6D3BC4"/>
            </a:solidFill>
            <a:prstDash val="solid"/>
          </a:ln>
        </p:spPr>
      </p:sp>
      <p:sp>
        <p:nvSpPr>
          <p:cNvPr id="14" name="Shape 12"/>
          <p:cNvSpPr/>
          <p:nvPr/>
        </p:nvSpPr>
        <p:spPr>
          <a:xfrm>
            <a:off x="8069885" y="1737360"/>
            <a:ext cx="50292" cy="2148840"/>
          </a:xfrm>
          <a:prstGeom prst="rect">
            <a:avLst/>
          </a:prstGeom>
          <a:solidFill>
            <a:srgbClr val="6D3BC4"/>
          </a:solidFill>
          <a:ln w="12700">
            <a:solidFill>
              <a:srgbClr val="6D3BC4"/>
            </a:solidFill>
            <a:prstDash val="solid"/>
          </a:ln>
        </p:spPr>
      </p:sp>
      <p:sp>
        <p:nvSpPr>
          <p:cNvPr id="15" name="Text 13"/>
          <p:cNvSpPr txBox="1"/>
          <p:nvPr/>
        </p:nvSpPr>
        <p:spPr>
          <a:xfrm>
            <a:off x="8325917" y="190195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6D3BC4"/>
                </a:solidFill>
                <a:latin typeface="Calibri" pitchFamily="34" charset="0"/>
                <a:ea typeface="Calibri" pitchFamily="34" charset="-122"/>
                <a:cs typeface="Calibri" pitchFamily="34" charset="-120"/>
              </a:rPr>
              <a:t>3  Life without our dashboard</a:t>
            </a:r>
            <a:endParaRPr lang="en-US" sz="1450" dirty="0"/>
          </a:p>
        </p:txBody>
      </p:sp>
      <p:sp>
        <p:nvSpPr>
          <p:cNvPr id="16" name="Text 14"/>
          <p:cNvSpPr txBox="1"/>
          <p:nvPr/>
        </p:nvSpPr>
        <p:spPr>
          <a:xfrm>
            <a:off x="8325917" y="230428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If a real rollout doesn't use our toy UI, who actually publishes and buys, and how much is automatic.</a:t>
            </a:r>
            <a:endParaRPr lang="en-US" sz="1150" dirty="0"/>
          </a:p>
        </p:txBody>
      </p:sp>
      <p:sp>
        <p:nvSpPr>
          <p:cNvPr id="17" name="Shape 15"/>
          <p:cNvSpPr/>
          <p:nvPr/>
        </p:nvSpPr>
        <p:spPr>
          <a:xfrm>
            <a:off x="685800" y="4069080"/>
            <a:ext cx="3436010" cy="2148840"/>
          </a:xfrm>
          <a:prstGeom prst="roundRect">
            <a:avLst>
              <a:gd name="adj" fmla="val 2553"/>
            </a:avLst>
          </a:prstGeom>
          <a:solidFill>
            <a:srgbClr val="FCEEDD"/>
          </a:solidFill>
          <a:ln w="12700">
            <a:solidFill>
              <a:srgbClr val="B85C0A"/>
            </a:solidFill>
            <a:prstDash val="solid"/>
          </a:ln>
        </p:spPr>
      </p:sp>
      <p:sp>
        <p:nvSpPr>
          <p:cNvPr id="18" name="Shape 16"/>
          <p:cNvSpPr/>
          <p:nvPr/>
        </p:nvSpPr>
        <p:spPr>
          <a:xfrm>
            <a:off x="685800" y="4069080"/>
            <a:ext cx="50292" cy="2148840"/>
          </a:xfrm>
          <a:prstGeom prst="rect">
            <a:avLst/>
          </a:prstGeom>
          <a:solidFill>
            <a:srgbClr val="B85C0A"/>
          </a:solidFill>
          <a:ln w="12700">
            <a:solidFill>
              <a:srgbClr val="B85C0A"/>
            </a:solidFill>
            <a:prstDash val="solid"/>
          </a:ln>
        </p:spPr>
      </p:sp>
      <p:sp>
        <p:nvSpPr>
          <p:cNvPr id="19" name="Text 17"/>
          <p:cNvSpPr txBox="1"/>
          <p:nvPr/>
        </p:nvSpPr>
        <p:spPr>
          <a:xfrm>
            <a:off x="941832" y="423367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B85C0A"/>
                </a:solidFill>
                <a:latin typeface="Calibri" pitchFamily="34" charset="0"/>
                <a:ea typeface="Calibri" pitchFamily="34" charset="-122"/>
                <a:cs typeface="Calibri" pitchFamily="34" charset="-120"/>
              </a:rPr>
              <a:t>4  Why Beckn, and what the hops mean</a:t>
            </a:r>
            <a:endParaRPr lang="en-US" sz="1450" dirty="0"/>
          </a:p>
        </p:txBody>
      </p:sp>
      <p:sp>
        <p:nvSpPr>
          <p:cNvPr id="20" name="Text 18"/>
          <p:cNvSpPr txBox="1"/>
          <p:nvPr/>
        </p:nvSpPr>
        <p:spPr>
          <a:xfrm>
            <a:off x="941832" y="463600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init, on_init, confirm, on_confirm, status — what each one actually is and why this shape was chosen.</a:t>
            </a:r>
            <a:endParaRPr lang="en-US" sz="1150" dirty="0"/>
          </a:p>
        </p:txBody>
      </p:sp>
      <p:sp>
        <p:nvSpPr>
          <p:cNvPr id="21" name="Shape 19"/>
          <p:cNvSpPr/>
          <p:nvPr/>
        </p:nvSpPr>
        <p:spPr>
          <a:xfrm>
            <a:off x="4377842" y="4069080"/>
            <a:ext cx="3436010" cy="2148840"/>
          </a:xfrm>
          <a:prstGeom prst="roundRect">
            <a:avLst>
              <a:gd name="adj" fmla="val 2553"/>
            </a:avLst>
          </a:prstGeom>
          <a:solidFill>
            <a:srgbClr val="FAE6E6"/>
          </a:solidFill>
          <a:ln w="12700">
            <a:solidFill>
              <a:srgbClr val="A82A2A"/>
            </a:solidFill>
            <a:prstDash val="solid"/>
          </a:ln>
        </p:spPr>
      </p:sp>
      <p:sp>
        <p:nvSpPr>
          <p:cNvPr id="22" name="Shape 20"/>
          <p:cNvSpPr/>
          <p:nvPr/>
        </p:nvSpPr>
        <p:spPr>
          <a:xfrm>
            <a:off x="4377842" y="4069080"/>
            <a:ext cx="50292" cy="2148840"/>
          </a:xfrm>
          <a:prstGeom prst="rect">
            <a:avLst/>
          </a:prstGeom>
          <a:solidFill>
            <a:srgbClr val="A82A2A"/>
          </a:solidFill>
          <a:ln w="12700">
            <a:solidFill>
              <a:srgbClr val="A82A2A"/>
            </a:solidFill>
            <a:prstDash val="solid"/>
          </a:ln>
        </p:spPr>
      </p:sp>
      <p:sp>
        <p:nvSpPr>
          <p:cNvPr id="23" name="Text 21"/>
          <p:cNvSpPr txBox="1"/>
          <p:nvPr/>
        </p:nvSpPr>
        <p:spPr>
          <a:xfrm>
            <a:off x="4633874" y="423367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A82A2A"/>
                </a:solidFill>
                <a:latin typeface="Calibri" pitchFamily="34" charset="0"/>
                <a:ea typeface="Calibri" pitchFamily="34" charset="-122"/>
                <a:cs typeface="Calibri" pitchFamily="34" charset="-120"/>
              </a:rPr>
              <a:t>5  Business value &amp; the real customer</a:t>
            </a:r>
            <a:endParaRPr lang="en-US" sz="1450" dirty="0"/>
          </a:p>
        </p:txBody>
      </p:sp>
      <p:sp>
        <p:nvSpPr>
          <p:cNvPr id="24" name="Text 22"/>
          <p:cNvSpPr txBox="1"/>
          <p:nvPr/>
        </p:nvSpPr>
        <p:spPr>
          <a:xfrm>
            <a:off x="4633874" y="463600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Who's actually consuming this work, what's genuinely new vs. inherited, and whether it's worth it.</a:t>
            </a:r>
            <a:endParaRPr lang="en-US" sz="1150" dirty="0"/>
          </a:p>
        </p:txBody>
      </p:sp>
      <p:sp>
        <p:nvSpPr>
          <p:cNvPr id="25" name="Shape 23"/>
          <p:cNvSpPr/>
          <p:nvPr/>
        </p:nvSpPr>
        <p:spPr>
          <a:xfrm>
            <a:off x="8069885" y="4069080"/>
            <a:ext cx="3436010" cy="2148840"/>
          </a:xfrm>
          <a:prstGeom prst="roundRect">
            <a:avLst>
              <a:gd name="adj" fmla="val 2553"/>
            </a:avLst>
          </a:prstGeom>
          <a:solidFill>
            <a:srgbClr val="E5F3E8"/>
          </a:solidFill>
          <a:ln w="12700">
            <a:solidFill>
              <a:srgbClr val="1E7A3C"/>
            </a:solidFill>
            <a:prstDash val="solid"/>
          </a:ln>
        </p:spPr>
      </p:sp>
      <p:sp>
        <p:nvSpPr>
          <p:cNvPr id="26" name="Shape 24"/>
          <p:cNvSpPr/>
          <p:nvPr/>
        </p:nvSpPr>
        <p:spPr>
          <a:xfrm>
            <a:off x="8069885" y="4069080"/>
            <a:ext cx="50292" cy="2148840"/>
          </a:xfrm>
          <a:prstGeom prst="rect">
            <a:avLst/>
          </a:prstGeom>
          <a:solidFill>
            <a:srgbClr val="1E7A3C"/>
          </a:solidFill>
          <a:ln w="12700">
            <a:solidFill>
              <a:srgbClr val="1E7A3C"/>
            </a:solidFill>
            <a:prstDash val="solid"/>
          </a:ln>
        </p:spPr>
      </p:sp>
      <p:sp>
        <p:nvSpPr>
          <p:cNvPr id="27" name="Text 25"/>
          <p:cNvSpPr txBox="1"/>
          <p:nvPr/>
        </p:nvSpPr>
        <p:spPr>
          <a:xfrm>
            <a:off x="8325917" y="423367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1E7A3C"/>
                </a:solidFill>
                <a:latin typeface="Calibri" pitchFamily="34" charset="0"/>
                <a:ea typeface="Calibri" pitchFamily="34" charset="-122"/>
                <a:cs typeface="Calibri" pitchFamily="34" charset="-120"/>
              </a:rPr>
              <a:t>6  Stored vs. direct energy — the red flag</a:t>
            </a:r>
            <a:endParaRPr lang="en-US" sz="1450" dirty="0"/>
          </a:p>
        </p:txBody>
      </p:sp>
      <p:sp>
        <p:nvSpPr>
          <p:cNvPr id="28" name="Text 26"/>
          <p:cNvSpPr txBox="1"/>
          <p:nvPr/>
        </p:nvSpPr>
        <p:spPr>
          <a:xfrm>
            <a:off x="8325917" y="463600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Does the schema actually support battery trading for real, or is “buy/sell” defined too loosely to tell the difference?</a:t>
            </a:r>
            <a:endParaRPr lang="en-US" sz="1150" dirty="0"/>
          </a:p>
        </p:txBody>
      </p:sp>
      <p:sp>
        <p:nvSpPr>
          <p:cNvPr id="29" name="Text 27"/>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Questions raised across this project's review sessions</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A   THE CORE CLARIFICATION</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The full stack, top to bottom</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Four layers already exist in the real world, owned and operated by others. We build the fifth.</a:t>
            </a:r>
            <a:endParaRPr lang="en-US" sz="1350" dirty="0"/>
          </a:p>
        </p:txBody>
      </p:sp>
      <p:sp>
        <p:nvSpPr>
          <p:cNvPr id="6" name="Shape 4"/>
          <p:cNvSpPr/>
          <p:nvPr/>
        </p:nvSpPr>
        <p:spPr>
          <a:xfrm>
            <a:off x="685800" y="1874520"/>
            <a:ext cx="10820095" cy="786384"/>
          </a:xfrm>
          <a:prstGeom prst="roundRect">
            <a:avLst>
              <a:gd name="adj" fmla="val 6977"/>
            </a:avLst>
          </a:prstGeom>
          <a:solidFill>
            <a:srgbClr val="EFE8FA"/>
          </a:solidFill>
          <a:ln w="12700">
            <a:solidFill>
              <a:srgbClr val="6D3BC4"/>
            </a:solidFill>
            <a:prstDash val="solid"/>
          </a:ln>
        </p:spPr>
      </p:sp>
      <p:sp>
        <p:nvSpPr>
          <p:cNvPr id="7" name="Shape 5"/>
          <p:cNvSpPr/>
          <p:nvPr/>
        </p:nvSpPr>
        <p:spPr>
          <a:xfrm>
            <a:off x="685800" y="1874520"/>
            <a:ext cx="50292" cy="786384"/>
          </a:xfrm>
          <a:prstGeom prst="rect">
            <a:avLst/>
          </a:prstGeom>
          <a:solidFill>
            <a:srgbClr val="6D3BC4"/>
          </a:solidFill>
          <a:ln w="12700">
            <a:solidFill>
              <a:srgbClr val="6D3BC4"/>
            </a:solidFill>
            <a:prstDash val="solid"/>
          </a:ln>
        </p:spPr>
      </p:sp>
      <p:sp>
        <p:nvSpPr>
          <p:cNvPr id="8" name="Text 6"/>
          <p:cNvSpPr txBox="1"/>
          <p:nvPr/>
        </p:nvSpPr>
        <p:spPr>
          <a:xfrm>
            <a:off x="960120" y="1965960"/>
            <a:ext cx="3678832" cy="603504"/>
          </a:xfrm>
          <a:prstGeom prst="rect">
            <a:avLst/>
          </a:prstGeom>
          <a:noFill/>
          <a:ln/>
        </p:spPr>
        <p:txBody>
          <a:bodyPr wrap="square" lIns="0" tIns="0" rIns="0" bIns="0" rtlCol="0" anchor="ctr"/>
          <a:lstStyle/>
          <a:p>
            <a:pPr indent="0" marL="0">
              <a:lnSpc>
                <a:spcPct val="105000"/>
              </a:lnSpc>
              <a:buNone/>
            </a:pPr>
            <a:r>
              <a:rPr lang="en-US" sz="1400" b="1" dirty="0">
                <a:solidFill>
                  <a:srgbClr val="6D3BC4"/>
                </a:solidFill>
                <a:latin typeface="Calibri" pitchFamily="34" charset="0"/>
                <a:ea typeface="Calibri" pitchFamily="34" charset="-122"/>
                <a:cs typeface="Calibri" pitchFamily="34" charset="-120"/>
              </a:rPr>
              <a:t>Market participants</a:t>
            </a:r>
            <a:endParaRPr lang="en-US" sz="1400" dirty="0"/>
          </a:p>
        </p:txBody>
      </p:sp>
      <p:sp>
        <p:nvSpPr>
          <p:cNvPr id="9" name="Text 7"/>
          <p:cNvSpPr txBox="1"/>
          <p:nvPr/>
        </p:nvSpPr>
        <p:spPr>
          <a:xfrm>
            <a:off x="4581034" y="1965960"/>
            <a:ext cx="4977244" cy="603504"/>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Sellers, buyers, aggregators, DISCOM procurement desks</a:t>
            </a:r>
            <a:endParaRPr lang="en-US" sz="1150" dirty="0"/>
          </a:p>
        </p:txBody>
      </p:sp>
      <p:sp>
        <p:nvSpPr>
          <p:cNvPr id="10" name="Shape 8"/>
          <p:cNvSpPr/>
          <p:nvPr/>
        </p:nvSpPr>
        <p:spPr>
          <a:xfrm>
            <a:off x="9814255" y="2121408"/>
            <a:ext cx="1508760" cy="292608"/>
          </a:xfrm>
          <a:prstGeom prst="roundRect">
            <a:avLst>
              <a:gd name="adj" fmla="val 50000"/>
            </a:avLst>
          </a:prstGeom>
          <a:solidFill>
            <a:srgbClr val="FFFFFF"/>
          </a:solidFill>
          <a:ln w="15875">
            <a:solidFill>
              <a:srgbClr val="555E6B"/>
            </a:solidFill>
            <a:prstDash val="solid"/>
          </a:ln>
        </p:spPr>
      </p:sp>
      <p:sp>
        <p:nvSpPr>
          <p:cNvPr id="11" name="Text 9"/>
          <p:cNvSpPr txBox="1"/>
          <p:nvPr/>
        </p:nvSpPr>
        <p:spPr>
          <a:xfrm>
            <a:off x="9814255" y="2121408"/>
            <a:ext cx="1508760" cy="292608"/>
          </a:xfrm>
          <a:prstGeom prst="rect">
            <a:avLst/>
          </a:prstGeom>
          <a:noFill/>
          <a:ln/>
        </p:spPr>
        <p:txBody>
          <a:bodyPr wrap="square" lIns="0" tIns="0" rIns="0" bIns="0" rtlCol="0" anchor="ctr"/>
          <a:lstStyle/>
          <a:p>
            <a:pPr algn="ctr" indent="0" marL="0">
              <a:buNone/>
            </a:pPr>
            <a:r>
              <a:rPr lang="en-US" sz="1000" b="1" dirty="0">
                <a:solidFill>
                  <a:srgbClr val="555E6B"/>
                </a:solidFill>
                <a:latin typeface="Calibri" pitchFamily="34" charset="0"/>
                <a:ea typeface="Calibri" pitchFamily="34" charset="-122"/>
                <a:cs typeface="Calibri" pitchFamily="34" charset="-120"/>
              </a:rPr>
              <a:t>USES IT</a:t>
            </a:r>
            <a:endParaRPr lang="en-US" sz="1000" dirty="0"/>
          </a:p>
        </p:txBody>
      </p:sp>
      <p:sp>
        <p:nvSpPr>
          <p:cNvPr id="12" name="Shape 10"/>
          <p:cNvSpPr/>
          <p:nvPr/>
        </p:nvSpPr>
        <p:spPr>
          <a:xfrm>
            <a:off x="685800" y="2734056"/>
            <a:ext cx="10820095" cy="786384"/>
          </a:xfrm>
          <a:prstGeom prst="roundRect">
            <a:avLst>
              <a:gd name="adj" fmla="val 6977"/>
            </a:avLst>
          </a:prstGeom>
          <a:solidFill>
            <a:srgbClr val="E6EEFD"/>
          </a:solidFill>
          <a:ln w="12700">
            <a:solidFill>
              <a:srgbClr val="1D4ED8"/>
            </a:solidFill>
            <a:prstDash val="solid"/>
          </a:ln>
        </p:spPr>
      </p:sp>
      <p:sp>
        <p:nvSpPr>
          <p:cNvPr id="13" name="Shape 11"/>
          <p:cNvSpPr/>
          <p:nvPr/>
        </p:nvSpPr>
        <p:spPr>
          <a:xfrm>
            <a:off x="685800" y="2734056"/>
            <a:ext cx="50292" cy="786384"/>
          </a:xfrm>
          <a:prstGeom prst="rect">
            <a:avLst/>
          </a:prstGeom>
          <a:solidFill>
            <a:srgbClr val="1D4ED8"/>
          </a:solidFill>
          <a:ln w="12700">
            <a:solidFill>
              <a:srgbClr val="1D4ED8"/>
            </a:solidFill>
            <a:prstDash val="solid"/>
          </a:ln>
        </p:spPr>
      </p:sp>
      <p:sp>
        <p:nvSpPr>
          <p:cNvPr id="14" name="Text 12"/>
          <p:cNvSpPr txBox="1"/>
          <p:nvPr/>
        </p:nvSpPr>
        <p:spPr>
          <a:xfrm>
            <a:off x="960120" y="2825496"/>
            <a:ext cx="3678832" cy="603504"/>
          </a:xfrm>
          <a:prstGeom prst="rect">
            <a:avLst/>
          </a:prstGeom>
          <a:noFill/>
          <a:ln/>
        </p:spPr>
        <p:txBody>
          <a:bodyPr wrap="square" lIns="0" tIns="0" rIns="0" bIns="0" rtlCol="0" anchor="ctr"/>
          <a:lstStyle/>
          <a:p>
            <a:pPr indent="0" marL="0">
              <a:lnSpc>
                <a:spcPct val="105000"/>
              </a:lnSpc>
              <a:buNone/>
            </a:pPr>
            <a:r>
              <a:rPr lang="en-US" sz="1400" b="1" dirty="0">
                <a:solidFill>
                  <a:srgbClr val="1D4ED8"/>
                </a:solidFill>
                <a:latin typeface="Calibri" pitchFamily="34" charset="0"/>
                <a:ea typeface="Calibri" pitchFamily="34" charset="-122"/>
                <a:cs typeface="Calibri" pitchFamily="34" charset="-120"/>
              </a:rPr>
              <a:t>Commercial / settlement — OUR SCOPE</a:t>
            </a:r>
            <a:endParaRPr lang="en-US" sz="1400" dirty="0"/>
          </a:p>
        </p:txBody>
      </p:sp>
      <p:sp>
        <p:nvSpPr>
          <p:cNvPr id="15" name="Text 13"/>
          <p:cNvSpPr txBox="1"/>
          <p:nvPr/>
        </p:nvSpPr>
        <p:spPr>
          <a:xfrm>
            <a:off x="4581034" y="2825496"/>
            <a:ext cx="4977244" cy="603504"/>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Beckn protocol, onix adapters, this devkit: prices, penalties, disputes, trust</a:t>
            </a:r>
            <a:endParaRPr lang="en-US" sz="1150" dirty="0"/>
          </a:p>
        </p:txBody>
      </p:sp>
      <p:sp>
        <p:nvSpPr>
          <p:cNvPr id="16" name="Shape 14"/>
          <p:cNvSpPr/>
          <p:nvPr/>
        </p:nvSpPr>
        <p:spPr>
          <a:xfrm>
            <a:off x="9814255" y="2980944"/>
            <a:ext cx="1508760" cy="292608"/>
          </a:xfrm>
          <a:prstGeom prst="roundRect">
            <a:avLst>
              <a:gd name="adj" fmla="val 50000"/>
            </a:avLst>
          </a:prstGeom>
          <a:solidFill>
            <a:srgbClr val="FFFFFF"/>
          </a:solidFill>
          <a:ln w="15875">
            <a:solidFill>
              <a:srgbClr val="1D4ED8"/>
            </a:solidFill>
            <a:prstDash val="solid"/>
          </a:ln>
        </p:spPr>
      </p:sp>
      <p:sp>
        <p:nvSpPr>
          <p:cNvPr id="17" name="Text 15"/>
          <p:cNvSpPr txBox="1"/>
          <p:nvPr/>
        </p:nvSpPr>
        <p:spPr>
          <a:xfrm>
            <a:off x="9814255" y="2980944"/>
            <a:ext cx="1508760" cy="292608"/>
          </a:xfrm>
          <a:prstGeom prst="rect">
            <a:avLst/>
          </a:prstGeom>
          <a:noFill/>
          <a:ln/>
        </p:spPr>
        <p:txBody>
          <a:bodyPr wrap="square" lIns="0" tIns="0" rIns="0" bIns="0"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WE BUILD</a:t>
            </a:r>
            <a:endParaRPr lang="en-US" sz="1000" dirty="0"/>
          </a:p>
        </p:txBody>
      </p:sp>
      <p:sp>
        <p:nvSpPr>
          <p:cNvPr id="18" name="Shape 16"/>
          <p:cNvSpPr/>
          <p:nvPr/>
        </p:nvSpPr>
        <p:spPr>
          <a:xfrm>
            <a:off x="685800" y="3593592"/>
            <a:ext cx="10820095" cy="786384"/>
          </a:xfrm>
          <a:prstGeom prst="roundRect">
            <a:avLst>
              <a:gd name="adj" fmla="val 6977"/>
            </a:avLst>
          </a:prstGeom>
          <a:solidFill>
            <a:srgbClr val="E5F3E8"/>
          </a:solidFill>
          <a:ln w="12700">
            <a:solidFill>
              <a:srgbClr val="1E7A3C"/>
            </a:solidFill>
            <a:prstDash val="solid"/>
          </a:ln>
        </p:spPr>
      </p:sp>
      <p:sp>
        <p:nvSpPr>
          <p:cNvPr id="19" name="Shape 17"/>
          <p:cNvSpPr/>
          <p:nvPr/>
        </p:nvSpPr>
        <p:spPr>
          <a:xfrm>
            <a:off x="685800" y="3593592"/>
            <a:ext cx="50292" cy="786384"/>
          </a:xfrm>
          <a:prstGeom prst="rect">
            <a:avLst/>
          </a:prstGeom>
          <a:solidFill>
            <a:srgbClr val="1E7A3C"/>
          </a:solidFill>
          <a:ln w="12700">
            <a:solidFill>
              <a:srgbClr val="1E7A3C"/>
            </a:solidFill>
            <a:prstDash val="solid"/>
          </a:ln>
        </p:spPr>
      </p:sp>
      <p:sp>
        <p:nvSpPr>
          <p:cNvPr id="20" name="Text 18"/>
          <p:cNvSpPr txBox="1"/>
          <p:nvPr/>
        </p:nvSpPr>
        <p:spPr>
          <a:xfrm>
            <a:off x="960120" y="3685032"/>
            <a:ext cx="3678832" cy="603504"/>
          </a:xfrm>
          <a:prstGeom prst="rect">
            <a:avLst/>
          </a:prstGeom>
          <a:noFill/>
          <a:ln/>
        </p:spPr>
        <p:txBody>
          <a:bodyPr wrap="square" lIns="0" tIns="0" rIns="0" bIns="0" rtlCol="0" anchor="ctr"/>
          <a:lstStyle/>
          <a:p>
            <a:pPr indent="0" marL="0">
              <a:lnSpc>
                <a:spcPct val="105000"/>
              </a:lnSpc>
              <a:buNone/>
            </a:pPr>
            <a:r>
              <a:rPr lang="en-US" sz="1400" b="1" dirty="0">
                <a:solidFill>
                  <a:srgbClr val="1E7A3C"/>
                </a:solidFill>
                <a:latin typeface="Calibri" pitchFamily="34" charset="0"/>
                <a:ea typeface="Calibri" pitchFamily="34" charset="-122"/>
                <a:cs typeface="Calibri" pitchFamily="34" charset="-120"/>
              </a:rPr>
              <a:t>Control &amp; safety</a:t>
            </a:r>
            <a:endParaRPr lang="en-US" sz="1400" dirty="0"/>
          </a:p>
        </p:txBody>
      </p:sp>
      <p:sp>
        <p:nvSpPr>
          <p:cNvPr id="21" name="Text 19"/>
          <p:cNvSpPr txBox="1"/>
          <p:nvPr/>
        </p:nvSpPr>
        <p:spPr>
          <a:xfrm>
            <a:off x="4581034" y="3685032"/>
            <a:ext cx="4977244" cy="603504"/>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DERMS, SCADA, anti-islanding — who can command a device, and hardware's own safety logic</a:t>
            </a:r>
            <a:endParaRPr lang="en-US" sz="1150" dirty="0"/>
          </a:p>
        </p:txBody>
      </p:sp>
      <p:sp>
        <p:nvSpPr>
          <p:cNvPr id="22" name="Shape 20"/>
          <p:cNvSpPr/>
          <p:nvPr/>
        </p:nvSpPr>
        <p:spPr>
          <a:xfrm>
            <a:off x="9814255" y="3840480"/>
            <a:ext cx="1508760" cy="292608"/>
          </a:xfrm>
          <a:prstGeom prst="roundRect">
            <a:avLst>
              <a:gd name="adj" fmla="val 50000"/>
            </a:avLst>
          </a:prstGeom>
          <a:solidFill>
            <a:srgbClr val="FFFFFF"/>
          </a:solidFill>
          <a:ln w="15875">
            <a:solidFill>
              <a:srgbClr val="1E7A3C"/>
            </a:solidFill>
            <a:prstDash val="solid"/>
          </a:ln>
        </p:spPr>
      </p:sp>
      <p:sp>
        <p:nvSpPr>
          <p:cNvPr id="23" name="Text 21"/>
          <p:cNvSpPr txBox="1"/>
          <p:nvPr/>
        </p:nvSpPr>
        <p:spPr>
          <a:xfrm>
            <a:off x="9814255" y="3840480"/>
            <a:ext cx="1508760" cy="292608"/>
          </a:xfrm>
          <a:prstGeom prst="rect">
            <a:avLst/>
          </a:prstGeom>
          <a:noFill/>
          <a:ln/>
        </p:spPr>
        <p:txBody>
          <a:bodyPr wrap="square" lIns="0" tIns="0" rIns="0" bIns="0" rtlCol="0" anchor="ctr"/>
          <a:lstStyle/>
          <a:p>
            <a:pPr algn="ctr" indent="0" marL="0">
              <a:buNone/>
            </a:pPr>
            <a:r>
              <a:rPr lang="en-US" sz="1000" b="1" dirty="0">
                <a:solidFill>
                  <a:srgbClr val="1E7A3C"/>
                </a:solidFill>
                <a:latin typeface="Calibri" pitchFamily="34" charset="0"/>
                <a:ea typeface="Calibri" pitchFamily="34" charset="-122"/>
                <a:cs typeface="Calibri" pitchFamily="34" charset="-120"/>
              </a:rPr>
              <a:t>EXISTING</a:t>
            </a:r>
            <a:endParaRPr lang="en-US" sz="1000" dirty="0"/>
          </a:p>
        </p:txBody>
      </p:sp>
      <p:sp>
        <p:nvSpPr>
          <p:cNvPr id="24" name="Shape 22"/>
          <p:cNvSpPr/>
          <p:nvPr/>
        </p:nvSpPr>
        <p:spPr>
          <a:xfrm>
            <a:off x="685800" y="4453128"/>
            <a:ext cx="10820095" cy="786384"/>
          </a:xfrm>
          <a:prstGeom prst="roundRect">
            <a:avLst>
              <a:gd name="adj" fmla="val 6977"/>
            </a:avLst>
          </a:prstGeom>
          <a:solidFill>
            <a:srgbClr val="E5F3E8"/>
          </a:solidFill>
          <a:ln w="12700">
            <a:solidFill>
              <a:srgbClr val="1E7A3C"/>
            </a:solidFill>
            <a:prstDash val="solid"/>
          </a:ln>
        </p:spPr>
      </p:sp>
      <p:sp>
        <p:nvSpPr>
          <p:cNvPr id="25" name="Shape 23"/>
          <p:cNvSpPr/>
          <p:nvPr/>
        </p:nvSpPr>
        <p:spPr>
          <a:xfrm>
            <a:off x="685800" y="4453128"/>
            <a:ext cx="50292" cy="786384"/>
          </a:xfrm>
          <a:prstGeom prst="rect">
            <a:avLst/>
          </a:prstGeom>
          <a:solidFill>
            <a:srgbClr val="1E7A3C"/>
          </a:solidFill>
          <a:ln w="12700">
            <a:solidFill>
              <a:srgbClr val="1E7A3C"/>
            </a:solidFill>
            <a:prstDash val="solid"/>
          </a:ln>
        </p:spPr>
      </p:sp>
      <p:sp>
        <p:nvSpPr>
          <p:cNvPr id="26" name="Text 24"/>
          <p:cNvSpPr txBox="1"/>
          <p:nvPr/>
        </p:nvSpPr>
        <p:spPr>
          <a:xfrm>
            <a:off x="960120" y="4544568"/>
            <a:ext cx="3678832" cy="603504"/>
          </a:xfrm>
          <a:prstGeom prst="rect">
            <a:avLst/>
          </a:prstGeom>
          <a:noFill/>
          <a:ln/>
        </p:spPr>
        <p:txBody>
          <a:bodyPr wrap="square" lIns="0" tIns="0" rIns="0" bIns="0" rtlCol="0" anchor="ctr"/>
          <a:lstStyle/>
          <a:p>
            <a:pPr indent="0" marL="0">
              <a:lnSpc>
                <a:spcPct val="105000"/>
              </a:lnSpc>
              <a:buNone/>
            </a:pPr>
            <a:r>
              <a:rPr lang="en-US" sz="1400" b="1" dirty="0">
                <a:solidFill>
                  <a:srgbClr val="1E7A3C"/>
                </a:solidFill>
                <a:latin typeface="Calibri" pitchFamily="34" charset="0"/>
                <a:ea typeface="Calibri" pitchFamily="34" charset="-122"/>
                <a:cs typeface="Calibri" pitchFamily="34" charset="-120"/>
              </a:rPr>
              <a:t>Telemetry</a:t>
            </a:r>
            <a:endParaRPr lang="en-US" sz="1400" dirty="0"/>
          </a:p>
        </p:txBody>
      </p:sp>
      <p:sp>
        <p:nvSpPr>
          <p:cNvPr id="27" name="Text 25"/>
          <p:cNvSpPr txBox="1"/>
          <p:nvPr/>
        </p:nvSpPr>
        <p:spPr>
          <a:xfrm>
            <a:off x="4581034" y="4544568"/>
            <a:ext cx="4977244" cy="603504"/>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Smart meters, AMI, HES, MDM — what's measured, continuously, by deployed systems</a:t>
            </a:r>
            <a:endParaRPr lang="en-US" sz="1150" dirty="0"/>
          </a:p>
        </p:txBody>
      </p:sp>
      <p:sp>
        <p:nvSpPr>
          <p:cNvPr id="28" name="Shape 26"/>
          <p:cNvSpPr/>
          <p:nvPr/>
        </p:nvSpPr>
        <p:spPr>
          <a:xfrm>
            <a:off x="9814255" y="4700016"/>
            <a:ext cx="1508760" cy="292608"/>
          </a:xfrm>
          <a:prstGeom prst="roundRect">
            <a:avLst>
              <a:gd name="adj" fmla="val 50000"/>
            </a:avLst>
          </a:prstGeom>
          <a:solidFill>
            <a:srgbClr val="FFFFFF"/>
          </a:solidFill>
          <a:ln w="15875">
            <a:solidFill>
              <a:srgbClr val="1E7A3C"/>
            </a:solidFill>
            <a:prstDash val="solid"/>
          </a:ln>
        </p:spPr>
      </p:sp>
      <p:sp>
        <p:nvSpPr>
          <p:cNvPr id="29" name="Text 27"/>
          <p:cNvSpPr txBox="1"/>
          <p:nvPr/>
        </p:nvSpPr>
        <p:spPr>
          <a:xfrm>
            <a:off x="9814255" y="4700016"/>
            <a:ext cx="1508760" cy="292608"/>
          </a:xfrm>
          <a:prstGeom prst="rect">
            <a:avLst/>
          </a:prstGeom>
          <a:noFill/>
          <a:ln/>
        </p:spPr>
        <p:txBody>
          <a:bodyPr wrap="square" lIns="0" tIns="0" rIns="0" bIns="0" rtlCol="0" anchor="ctr"/>
          <a:lstStyle/>
          <a:p>
            <a:pPr algn="ctr" indent="0" marL="0">
              <a:buNone/>
            </a:pPr>
            <a:r>
              <a:rPr lang="en-US" sz="1000" b="1" dirty="0">
                <a:solidFill>
                  <a:srgbClr val="1E7A3C"/>
                </a:solidFill>
                <a:latin typeface="Calibri" pitchFamily="34" charset="0"/>
                <a:ea typeface="Calibri" pitchFamily="34" charset="-122"/>
                <a:cs typeface="Calibri" pitchFamily="34" charset="-120"/>
              </a:rPr>
              <a:t>EXISTING</a:t>
            </a:r>
            <a:endParaRPr lang="en-US" sz="1000" dirty="0"/>
          </a:p>
        </p:txBody>
      </p:sp>
      <p:sp>
        <p:nvSpPr>
          <p:cNvPr id="30" name="Shape 28"/>
          <p:cNvSpPr/>
          <p:nvPr/>
        </p:nvSpPr>
        <p:spPr>
          <a:xfrm>
            <a:off x="685800" y="5312664"/>
            <a:ext cx="10820095" cy="786384"/>
          </a:xfrm>
          <a:prstGeom prst="roundRect">
            <a:avLst>
              <a:gd name="adj" fmla="val 6977"/>
            </a:avLst>
          </a:prstGeom>
          <a:solidFill>
            <a:srgbClr val="E5F3E8"/>
          </a:solidFill>
          <a:ln w="12700">
            <a:solidFill>
              <a:srgbClr val="1E7A3C"/>
            </a:solidFill>
            <a:prstDash val="solid"/>
          </a:ln>
        </p:spPr>
      </p:sp>
      <p:sp>
        <p:nvSpPr>
          <p:cNvPr id="31" name="Shape 29"/>
          <p:cNvSpPr/>
          <p:nvPr/>
        </p:nvSpPr>
        <p:spPr>
          <a:xfrm>
            <a:off x="685800" y="5312664"/>
            <a:ext cx="50292" cy="786384"/>
          </a:xfrm>
          <a:prstGeom prst="rect">
            <a:avLst/>
          </a:prstGeom>
          <a:solidFill>
            <a:srgbClr val="1E7A3C"/>
          </a:solidFill>
          <a:ln w="12700">
            <a:solidFill>
              <a:srgbClr val="1E7A3C"/>
            </a:solidFill>
            <a:prstDash val="solid"/>
          </a:ln>
        </p:spPr>
      </p:sp>
      <p:sp>
        <p:nvSpPr>
          <p:cNvPr id="32" name="Text 30"/>
          <p:cNvSpPr txBox="1"/>
          <p:nvPr/>
        </p:nvSpPr>
        <p:spPr>
          <a:xfrm>
            <a:off x="960120" y="5404104"/>
            <a:ext cx="3678832" cy="603504"/>
          </a:xfrm>
          <a:prstGeom prst="rect">
            <a:avLst/>
          </a:prstGeom>
          <a:noFill/>
          <a:ln/>
        </p:spPr>
        <p:txBody>
          <a:bodyPr wrap="square" lIns="0" tIns="0" rIns="0" bIns="0" rtlCol="0" anchor="ctr"/>
          <a:lstStyle/>
          <a:p>
            <a:pPr indent="0" marL="0">
              <a:lnSpc>
                <a:spcPct val="105000"/>
              </a:lnSpc>
              <a:buNone/>
            </a:pPr>
            <a:r>
              <a:rPr lang="en-US" sz="1400" b="1" dirty="0">
                <a:solidFill>
                  <a:srgbClr val="1E7A3C"/>
                </a:solidFill>
                <a:latin typeface="Calibri" pitchFamily="34" charset="0"/>
                <a:ea typeface="Calibri" pitchFamily="34" charset="-122"/>
                <a:cs typeface="Calibri" pitchFamily="34" charset="-120"/>
              </a:rPr>
              <a:t>Physical grid</a:t>
            </a:r>
            <a:endParaRPr lang="en-US" sz="1400" dirty="0"/>
          </a:p>
        </p:txBody>
      </p:sp>
      <p:sp>
        <p:nvSpPr>
          <p:cNvPr id="33" name="Text 31"/>
          <p:cNvSpPr txBox="1"/>
          <p:nvPr/>
        </p:nvSpPr>
        <p:spPr>
          <a:xfrm>
            <a:off x="4581034" y="5404104"/>
            <a:ext cx="4977244" cy="603504"/>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Wires, transformers, feeders, inverters — the actual equipment electricity flows through</a:t>
            </a:r>
            <a:endParaRPr lang="en-US" sz="1150" dirty="0"/>
          </a:p>
        </p:txBody>
      </p:sp>
      <p:sp>
        <p:nvSpPr>
          <p:cNvPr id="34" name="Shape 32"/>
          <p:cNvSpPr/>
          <p:nvPr/>
        </p:nvSpPr>
        <p:spPr>
          <a:xfrm>
            <a:off x="9814255" y="5559552"/>
            <a:ext cx="1508760" cy="292608"/>
          </a:xfrm>
          <a:prstGeom prst="roundRect">
            <a:avLst>
              <a:gd name="adj" fmla="val 50000"/>
            </a:avLst>
          </a:prstGeom>
          <a:solidFill>
            <a:srgbClr val="FFFFFF"/>
          </a:solidFill>
          <a:ln w="15875">
            <a:solidFill>
              <a:srgbClr val="1E7A3C"/>
            </a:solidFill>
            <a:prstDash val="solid"/>
          </a:ln>
        </p:spPr>
      </p:sp>
      <p:sp>
        <p:nvSpPr>
          <p:cNvPr id="35" name="Text 33"/>
          <p:cNvSpPr txBox="1"/>
          <p:nvPr/>
        </p:nvSpPr>
        <p:spPr>
          <a:xfrm>
            <a:off x="9814255" y="5559552"/>
            <a:ext cx="1508760" cy="292608"/>
          </a:xfrm>
          <a:prstGeom prst="rect">
            <a:avLst/>
          </a:prstGeom>
          <a:noFill/>
          <a:ln/>
        </p:spPr>
        <p:txBody>
          <a:bodyPr wrap="square" lIns="0" tIns="0" rIns="0" bIns="0" rtlCol="0" anchor="ctr"/>
          <a:lstStyle/>
          <a:p>
            <a:pPr algn="ctr" indent="0" marL="0">
              <a:buNone/>
            </a:pPr>
            <a:r>
              <a:rPr lang="en-US" sz="1000" b="1" dirty="0">
                <a:solidFill>
                  <a:srgbClr val="1E7A3C"/>
                </a:solidFill>
                <a:latin typeface="Calibri" pitchFamily="34" charset="0"/>
                <a:ea typeface="Calibri" pitchFamily="34" charset="-122"/>
                <a:cs typeface="Calibri" pitchFamily="34" charset="-120"/>
              </a:rPr>
              <a:t>EXISTING</a:t>
            </a:r>
            <a:endParaRPr lang="en-US" sz="1000" dirty="0"/>
          </a:p>
        </p:txBody>
      </p:sp>
      <p:sp>
        <p:nvSpPr>
          <p:cNvPr id="36" name="Text 34"/>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Architecture confirmed directly against the running devkit's docker-compose/onix configuration</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A   THE CORE CLARIFICATION</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What stays exactly the same, what we add</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Shape 3"/>
          <p:cNvSpPr/>
          <p:nvPr/>
        </p:nvSpPr>
        <p:spPr>
          <a:xfrm>
            <a:off x="685800" y="1737360"/>
            <a:ext cx="5272888" cy="4114800"/>
          </a:xfrm>
          <a:prstGeom prst="roundRect">
            <a:avLst>
              <a:gd name="adj" fmla="val 1333"/>
            </a:avLst>
          </a:prstGeom>
          <a:solidFill>
            <a:srgbClr val="E5F3E8"/>
          </a:solidFill>
          <a:ln w="12700">
            <a:solidFill>
              <a:srgbClr val="1E7A3C"/>
            </a:solidFill>
            <a:prstDash val="solid"/>
          </a:ln>
        </p:spPr>
      </p:sp>
      <p:sp>
        <p:nvSpPr>
          <p:cNvPr id="6" name="Shape 4"/>
          <p:cNvSpPr/>
          <p:nvPr/>
        </p:nvSpPr>
        <p:spPr>
          <a:xfrm>
            <a:off x="685800" y="1737360"/>
            <a:ext cx="50292" cy="4114800"/>
          </a:xfrm>
          <a:prstGeom prst="rect">
            <a:avLst/>
          </a:prstGeom>
          <a:solidFill>
            <a:srgbClr val="1E7A3C"/>
          </a:solidFill>
          <a:ln w="12700">
            <a:solidFill>
              <a:srgbClr val="1E7A3C"/>
            </a:solidFill>
            <a:prstDash val="solid"/>
          </a:ln>
        </p:spPr>
      </p:sp>
      <p:sp>
        <p:nvSpPr>
          <p:cNvPr id="7" name="Text 5"/>
          <p:cNvSpPr txBox="1"/>
          <p:nvPr/>
        </p:nvSpPr>
        <p:spPr>
          <a:xfrm>
            <a:off x="941832" y="1920240"/>
            <a:ext cx="4815688" cy="320040"/>
          </a:xfrm>
          <a:prstGeom prst="rect">
            <a:avLst/>
          </a:prstGeom>
          <a:noFill/>
          <a:ln/>
        </p:spPr>
        <p:txBody>
          <a:bodyPr wrap="square" lIns="0" tIns="0" rIns="0" bIns="0" rtlCol="0" anchor="ctr"/>
          <a:lstStyle/>
          <a:p>
            <a:pPr indent="0" marL="0">
              <a:buNone/>
            </a:pPr>
            <a:r>
              <a:rPr lang="en-US" sz="1300" b="1" dirty="0">
                <a:solidFill>
                  <a:srgbClr val="1E7A3C"/>
                </a:solidFill>
                <a:latin typeface="Calibri" pitchFamily="34" charset="0"/>
                <a:ea typeface="Calibri" pitchFamily="34" charset="-122"/>
                <a:cs typeface="Calibri" pitchFamily="34" charset="-120"/>
              </a:rPr>
              <a:t>STAYS THE SAME — NOT OURS</a:t>
            </a:r>
            <a:endParaRPr lang="en-US" sz="1300" dirty="0"/>
          </a:p>
        </p:txBody>
      </p:sp>
      <p:sp>
        <p:nvSpPr>
          <p:cNvPr id="8" name="Text 6"/>
          <p:cNvSpPr txBox="1"/>
          <p:nvPr/>
        </p:nvSpPr>
        <p:spPr>
          <a:xfrm>
            <a:off x="960120" y="2423160"/>
            <a:ext cx="4724248"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  How solar physically generates and the inverter converts it</a:t>
            </a:r>
            <a:endParaRPr lang="en-US" sz="1200" dirty="0"/>
          </a:p>
        </p:txBody>
      </p:sp>
      <p:sp>
        <p:nvSpPr>
          <p:cNvPr id="9" name="Text 7"/>
          <p:cNvSpPr txBox="1"/>
          <p:nvPr/>
        </p:nvSpPr>
        <p:spPr>
          <a:xfrm>
            <a:off x="960120" y="3081528"/>
            <a:ext cx="4724248"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  Net metering — measurement of what's imported/exported</a:t>
            </a:r>
            <a:endParaRPr lang="en-US" sz="1200" dirty="0"/>
          </a:p>
        </p:txBody>
      </p:sp>
      <p:sp>
        <p:nvSpPr>
          <p:cNvPr id="10" name="Text 8"/>
          <p:cNvSpPr txBox="1"/>
          <p:nvPr/>
        </p:nvSpPr>
        <p:spPr>
          <a:xfrm>
            <a:off x="960120" y="3739896"/>
            <a:ext cx="4724248"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  The DISCOM's own safety and protection systems</a:t>
            </a:r>
            <a:endParaRPr lang="en-US" sz="1200" dirty="0"/>
          </a:p>
        </p:txBody>
      </p:sp>
      <p:sp>
        <p:nvSpPr>
          <p:cNvPr id="11" name="Text 9"/>
          <p:cNvSpPr txBox="1"/>
          <p:nvPr/>
        </p:nvSpPr>
        <p:spPr>
          <a:xfrm>
            <a:off x="960120" y="4398264"/>
            <a:ext cx="4724248"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  Hardware export limits enforced at the inverter itself</a:t>
            </a:r>
            <a:endParaRPr lang="en-US" sz="1200" dirty="0"/>
          </a:p>
        </p:txBody>
      </p:sp>
      <p:sp>
        <p:nvSpPr>
          <p:cNvPr id="12" name="Text 10"/>
          <p:cNvSpPr txBox="1"/>
          <p:nvPr/>
        </p:nvSpPr>
        <p:spPr>
          <a:xfrm>
            <a:off x="960120" y="5056632"/>
            <a:ext cx="4724248"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  Physical delivery — electrons flow exactly as they always did</a:t>
            </a:r>
            <a:endParaRPr lang="en-US" sz="1200" dirty="0"/>
          </a:p>
        </p:txBody>
      </p:sp>
      <p:sp>
        <p:nvSpPr>
          <p:cNvPr id="13" name="Shape 11"/>
          <p:cNvSpPr/>
          <p:nvPr/>
        </p:nvSpPr>
        <p:spPr>
          <a:xfrm>
            <a:off x="6233008" y="1737360"/>
            <a:ext cx="5272888" cy="4114800"/>
          </a:xfrm>
          <a:prstGeom prst="roundRect">
            <a:avLst>
              <a:gd name="adj" fmla="val 1333"/>
            </a:avLst>
          </a:prstGeom>
          <a:solidFill>
            <a:srgbClr val="E6EEFD"/>
          </a:solidFill>
          <a:ln w="12700">
            <a:solidFill>
              <a:srgbClr val="1D4ED8"/>
            </a:solidFill>
            <a:prstDash val="solid"/>
          </a:ln>
        </p:spPr>
      </p:sp>
      <p:sp>
        <p:nvSpPr>
          <p:cNvPr id="14" name="Shape 12"/>
          <p:cNvSpPr/>
          <p:nvPr/>
        </p:nvSpPr>
        <p:spPr>
          <a:xfrm>
            <a:off x="6233008" y="1737360"/>
            <a:ext cx="50292" cy="4114800"/>
          </a:xfrm>
          <a:prstGeom prst="rect">
            <a:avLst/>
          </a:prstGeom>
          <a:solidFill>
            <a:srgbClr val="1D4ED8"/>
          </a:solidFill>
          <a:ln w="12700">
            <a:solidFill>
              <a:srgbClr val="1D4ED8"/>
            </a:solidFill>
            <a:prstDash val="solid"/>
          </a:ln>
        </p:spPr>
      </p:sp>
      <p:sp>
        <p:nvSpPr>
          <p:cNvPr id="15" name="Text 13"/>
          <p:cNvSpPr txBox="1"/>
          <p:nvPr/>
        </p:nvSpPr>
        <p:spPr>
          <a:xfrm>
            <a:off x="6489040" y="1920240"/>
            <a:ext cx="4815688" cy="320040"/>
          </a:xfrm>
          <a:prstGeom prst="rect">
            <a:avLst/>
          </a:prstGeom>
          <a:noFill/>
          <a:ln/>
        </p:spPr>
        <p:txBody>
          <a:bodyPr wrap="square" lIns="0" tIns="0" rIns="0" bIns="0" rtlCol="0" anchor="ctr"/>
          <a:lstStyle/>
          <a:p>
            <a:pPr indent="0" marL="0">
              <a:buNone/>
            </a:pPr>
            <a:r>
              <a:rPr lang="en-US" sz="1300" b="1" dirty="0">
                <a:solidFill>
                  <a:srgbClr val="1D4ED8"/>
                </a:solidFill>
                <a:latin typeface="Calibri" pitchFamily="34" charset="0"/>
                <a:ea typeface="Calibri" pitchFamily="34" charset="-122"/>
                <a:cs typeface="Calibri" pitchFamily="34" charset="-120"/>
              </a:rPr>
              <a:t>WE ADD — THIS PROJECT</a:t>
            </a:r>
            <a:endParaRPr lang="en-US" sz="1300" dirty="0"/>
          </a:p>
        </p:txBody>
      </p:sp>
      <p:sp>
        <p:nvSpPr>
          <p:cNvPr id="16" name="Text 14"/>
          <p:cNvSpPr txBox="1"/>
          <p:nvPr/>
        </p:nvSpPr>
        <p:spPr>
          <a:xfrm>
            <a:off x="6507328" y="2423160"/>
            <a:ext cx="4724248"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  A shared message format so unrelated companies' systems understand each other</a:t>
            </a:r>
            <a:endParaRPr lang="en-US" sz="1200" dirty="0"/>
          </a:p>
        </p:txBody>
      </p:sp>
      <p:sp>
        <p:nvSpPr>
          <p:cNvPr id="17" name="Text 15"/>
          <p:cNvSpPr txBox="1"/>
          <p:nvPr/>
        </p:nvSpPr>
        <p:spPr>
          <a:xfrm>
            <a:off x="6507328" y="3081528"/>
            <a:ext cx="4724248"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  Real commercial rules: penalties, price bands, wheeling charges</a:t>
            </a:r>
            <a:endParaRPr lang="en-US" sz="1200" dirty="0"/>
          </a:p>
        </p:txBody>
      </p:sp>
      <p:sp>
        <p:nvSpPr>
          <p:cNvPr id="18" name="Text 16"/>
          <p:cNvSpPr txBox="1"/>
          <p:nvPr/>
        </p:nvSpPr>
        <p:spPr>
          <a:xfrm>
            <a:off x="6507328" y="3739896"/>
            <a:ext cx="4724248"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  A trust/verification layer: signatures, policy checks, dispute pointers</a:t>
            </a:r>
            <a:endParaRPr lang="en-US" sz="1200" dirty="0"/>
          </a:p>
        </p:txBody>
      </p:sp>
      <p:sp>
        <p:nvSpPr>
          <p:cNvPr id="19" name="Text 17"/>
          <p:cNvSpPr txBox="1"/>
          <p:nvPr/>
        </p:nvSpPr>
        <p:spPr>
          <a:xfrm>
            <a:off x="6507328" y="4398264"/>
            <a:ext cx="4724248"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  Capacity-aware compliance checks at the commercial layer</a:t>
            </a:r>
            <a:endParaRPr lang="en-US" sz="1200" dirty="0"/>
          </a:p>
        </p:txBody>
      </p:sp>
      <p:sp>
        <p:nvSpPr>
          <p:cNvPr id="20" name="Text 18"/>
          <p:cNvSpPr txBox="1"/>
          <p:nvPr/>
        </p:nvSpPr>
        <p:spPr>
          <a:xfrm>
            <a:off x="6507328" y="5056632"/>
            <a:ext cx="4724248"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  An accounting claim on top of a measured, already-happening export</a:t>
            </a:r>
            <a:endParaRPr lang="en-US" sz="1200" dirty="0"/>
          </a:p>
        </p:txBody>
      </p:sp>
      <p:sp>
        <p:nvSpPr>
          <p:cNvPr id="21" name="Text 19"/>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This project's own build scope, as specified before coding began (ARCHITECTURE.md)</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A   THE CORE CLARIFICATION</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A trade doesn't move electrons to a buyer</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Shape 3"/>
          <p:cNvSpPr/>
          <p:nvPr/>
        </p:nvSpPr>
        <p:spPr>
          <a:xfrm>
            <a:off x="9722815" y="384048"/>
            <a:ext cx="1783080" cy="292608"/>
          </a:xfrm>
          <a:prstGeom prst="roundRect">
            <a:avLst>
              <a:gd name="adj" fmla="val 50000"/>
            </a:avLst>
          </a:prstGeom>
          <a:solidFill>
            <a:srgbClr val="FFFFFF"/>
          </a:solidFill>
          <a:ln w="15875">
            <a:solidFill>
              <a:srgbClr val="B85C0A"/>
            </a:solidFill>
            <a:prstDash val="solid"/>
          </a:ln>
        </p:spPr>
      </p:sp>
      <p:sp>
        <p:nvSpPr>
          <p:cNvPr id="6" name="Text 4"/>
          <p:cNvSpPr txBox="1"/>
          <p:nvPr/>
        </p:nvSpPr>
        <p:spPr>
          <a:xfrm>
            <a:off x="9722815" y="384048"/>
            <a:ext cx="1783080" cy="292608"/>
          </a:xfrm>
          <a:prstGeom prst="rect">
            <a:avLst/>
          </a:prstGeom>
          <a:noFill/>
          <a:ln/>
        </p:spPr>
        <p:txBody>
          <a:bodyPr wrap="square" lIns="0" tIns="0" rIns="0" bIns="0" rtlCol="0" anchor="ctr"/>
          <a:lstStyle/>
          <a:p>
            <a:pPr algn="ctr" indent="0" marL="0">
              <a:buNone/>
            </a:pPr>
            <a:r>
              <a:rPr lang="en-US" sz="1000" b="1" dirty="0">
                <a:solidFill>
                  <a:srgbClr val="B85C0A"/>
                </a:solidFill>
                <a:latin typeface="Calibri" pitchFamily="34" charset="0"/>
                <a:ea typeface="Calibri" pitchFamily="34" charset="-122"/>
                <a:cs typeface="Calibri" pitchFamily="34" charset="-120"/>
              </a:rPr>
              <a:t>OUR INFERENCE</a:t>
            </a:r>
            <a:endParaRPr lang="en-US" sz="1000" dirty="0"/>
          </a:p>
        </p:txBody>
      </p:sp>
      <p:sp>
        <p:nvSpPr>
          <p:cNvPr id="7" name="Text 5"/>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This single fact resolves most of the “how does this actually work physically” confusion.</a:t>
            </a:r>
            <a:endParaRPr lang="en-US" sz="1350" dirty="0"/>
          </a:p>
        </p:txBody>
      </p:sp>
      <p:sp>
        <p:nvSpPr>
          <p:cNvPr id="8" name="Shape 6"/>
          <p:cNvSpPr/>
          <p:nvPr/>
        </p:nvSpPr>
        <p:spPr>
          <a:xfrm>
            <a:off x="685800" y="1920240"/>
            <a:ext cx="10820095" cy="1737360"/>
          </a:xfrm>
          <a:prstGeom prst="roundRect">
            <a:avLst>
              <a:gd name="adj" fmla="val 3158"/>
            </a:avLst>
          </a:prstGeom>
          <a:solidFill>
            <a:srgbClr val="E6EEFD"/>
          </a:solidFill>
          <a:ln w="12700">
            <a:solidFill>
              <a:srgbClr val="1D4ED8"/>
            </a:solidFill>
            <a:prstDash val="solid"/>
          </a:ln>
        </p:spPr>
      </p:sp>
      <p:sp>
        <p:nvSpPr>
          <p:cNvPr id="9" name="Shape 7"/>
          <p:cNvSpPr/>
          <p:nvPr/>
        </p:nvSpPr>
        <p:spPr>
          <a:xfrm>
            <a:off x="685800" y="1920240"/>
            <a:ext cx="50292" cy="1737360"/>
          </a:xfrm>
          <a:prstGeom prst="rect">
            <a:avLst/>
          </a:prstGeom>
          <a:solidFill>
            <a:srgbClr val="1D4ED8"/>
          </a:solidFill>
          <a:ln w="12700">
            <a:solidFill>
              <a:srgbClr val="1D4ED8"/>
            </a:solidFill>
            <a:prstDash val="solid"/>
          </a:ln>
        </p:spPr>
      </p:sp>
      <p:sp>
        <p:nvSpPr>
          <p:cNvPr id="10" name="Text 8"/>
          <p:cNvSpPr txBox="1"/>
          <p:nvPr/>
        </p:nvSpPr>
        <p:spPr>
          <a:xfrm>
            <a:off x="960120" y="2103120"/>
            <a:ext cx="10271455" cy="320040"/>
          </a:xfrm>
          <a:prstGeom prst="rect">
            <a:avLst/>
          </a:prstGeom>
          <a:noFill/>
          <a:ln/>
        </p:spPr>
        <p:txBody>
          <a:bodyPr wrap="square" lIns="0" tIns="0" rIns="0" bIns="0" rtlCol="0" anchor="ctr"/>
          <a:lstStyle/>
          <a:p>
            <a:pPr indent="0" marL="0">
              <a:buNone/>
            </a:pPr>
            <a:r>
              <a:rPr lang="en-US" sz="1300" b="1" dirty="0">
                <a:solidFill>
                  <a:srgbClr val="1D4ED8"/>
                </a:solidFill>
                <a:latin typeface="Calibri" pitchFamily="34" charset="0"/>
                <a:ea typeface="Calibri" pitchFamily="34" charset="-122"/>
                <a:cs typeface="Calibri" pitchFamily="34" charset="-120"/>
              </a:rPr>
              <a:t>What actually happens, physically</a:t>
            </a:r>
            <a:endParaRPr lang="en-US" sz="1300" dirty="0"/>
          </a:p>
        </p:txBody>
      </p:sp>
      <p:sp>
        <p:nvSpPr>
          <p:cNvPr id="11" name="Text 9"/>
          <p:cNvSpPr txBox="1"/>
          <p:nvPr/>
        </p:nvSpPr>
        <p:spPr>
          <a:xfrm>
            <a:off x="960120" y="2514600"/>
            <a:ext cx="10271455" cy="960120"/>
          </a:xfrm>
          <a:prstGeom prst="rect">
            <a:avLst/>
          </a:prstGeom>
          <a:noFill/>
          <a:ln/>
        </p:spPr>
        <p:txBody>
          <a:bodyPr wrap="square" lIns="0" tIns="0" rIns="0" bIns="0" rtlCol="0" anchor="ctr"/>
          <a:lstStyle/>
          <a:p>
            <a:pPr indent="0" marL="0">
              <a:lnSpc>
                <a:spcPct val="130000"/>
              </a:lnSpc>
              <a:buNone/>
            </a:pPr>
            <a:r>
              <a:rPr lang="en-US" sz="1300" dirty="0">
                <a:solidFill>
                  <a:srgbClr val="1A1A1A"/>
                </a:solidFill>
                <a:latin typeface="Calibri" pitchFamily="34" charset="0"/>
                <a:ea typeface="Calibri" pitchFamily="34" charset="-122"/>
                <a:cs typeface="Calibri" pitchFamily="34" charset="-120"/>
              </a:rPr>
              <a:t>The grid is one shared pool from the moment electrons leave an inverter. There is no “this electron belongs to buyer X” mechanism, and there never will be — electrons are indistinguishable. A trade relabels a measured export that was going to happen anyway.</a:t>
            </a:r>
            <a:endParaRPr lang="en-US" sz="1300" dirty="0"/>
          </a:p>
        </p:txBody>
      </p:sp>
      <p:sp>
        <p:nvSpPr>
          <p:cNvPr id="12" name="Shape 10"/>
          <p:cNvSpPr/>
          <p:nvPr/>
        </p:nvSpPr>
        <p:spPr>
          <a:xfrm>
            <a:off x="685800" y="3931920"/>
            <a:ext cx="10820095" cy="1737360"/>
          </a:xfrm>
          <a:prstGeom prst="roundRect">
            <a:avLst>
              <a:gd name="adj" fmla="val 3158"/>
            </a:avLst>
          </a:prstGeom>
          <a:solidFill>
            <a:srgbClr val="E5F3E8"/>
          </a:solidFill>
          <a:ln w="12700">
            <a:solidFill>
              <a:srgbClr val="1E7A3C"/>
            </a:solidFill>
            <a:prstDash val="solid"/>
          </a:ln>
        </p:spPr>
      </p:sp>
      <p:sp>
        <p:nvSpPr>
          <p:cNvPr id="13" name="Shape 11"/>
          <p:cNvSpPr/>
          <p:nvPr/>
        </p:nvSpPr>
        <p:spPr>
          <a:xfrm>
            <a:off x="685800" y="3931920"/>
            <a:ext cx="50292" cy="1737360"/>
          </a:xfrm>
          <a:prstGeom prst="rect">
            <a:avLst/>
          </a:prstGeom>
          <a:solidFill>
            <a:srgbClr val="1E7A3C"/>
          </a:solidFill>
          <a:ln w="12700">
            <a:solidFill>
              <a:srgbClr val="1E7A3C"/>
            </a:solidFill>
            <a:prstDash val="solid"/>
          </a:ln>
        </p:spPr>
      </p:sp>
      <p:sp>
        <p:nvSpPr>
          <p:cNvPr id="14" name="Text 12"/>
          <p:cNvSpPr txBox="1"/>
          <p:nvPr/>
        </p:nvSpPr>
        <p:spPr>
          <a:xfrm>
            <a:off x="960120" y="4114800"/>
            <a:ext cx="10271455" cy="320040"/>
          </a:xfrm>
          <a:prstGeom prst="rect">
            <a:avLst/>
          </a:prstGeom>
          <a:noFill/>
          <a:ln/>
        </p:spPr>
        <p:txBody>
          <a:bodyPr wrap="square" lIns="0" tIns="0" rIns="0" bIns="0" rtlCol="0" anchor="ctr"/>
          <a:lstStyle/>
          <a:p>
            <a:pPr indent="0" marL="0">
              <a:buNone/>
            </a:pPr>
            <a:r>
              <a:rPr lang="en-US" sz="1300" b="1" dirty="0">
                <a:solidFill>
                  <a:srgbClr val="1E7A3C"/>
                </a:solidFill>
                <a:latin typeface="Calibri" pitchFamily="34" charset="0"/>
                <a:ea typeface="Calibri" pitchFamily="34" charset="-122"/>
                <a:cs typeface="Calibri" pitchFamily="34" charset="-120"/>
              </a:rPr>
              <a:t>The real-world precedent</a:t>
            </a:r>
            <a:endParaRPr lang="en-US" sz="1300" dirty="0"/>
          </a:p>
        </p:txBody>
      </p:sp>
      <p:sp>
        <p:nvSpPr>
          <p:cNvPr id="15" name="Text 13"/>
          <p:cNvSpPr txBox="1"/>
          <p:nvPr/>
        </p:nvSpPr>
        <p:spPr>
          <a:xfrm>
            <a:off x="960120" y="4526280"/>
            <a:ext cx="10271455" cy="960120"/>
          </a:xfrm>
          <a:prstGeom prst="rect">
            <a:avLst/>
          </a:prstGeom>
          <a:noFill/>
          <a:ln/>
        </p:spPr>
        <p:txBody>
          <a:bodyPr wrap="square" lIns="0" tIns="0" rIns="0" bIns="0" rtlCol="0" anchor="ctr"/>
          <a:lstStyle/>
          <a:p>
            <a:pPr indent="0" marL="0">
              <a:lnSpc>
                <a:spcPct val="130000"/>
              </a:lnSpc>
              <a:buNone/>
            </a:pPr>
            <a:r>
              <a:rPr lang="en-US" sz="1300" dirty="0">
                <a:solidFill>
                  <a:srgbClr val="1A1A1A"/>
                </a:solidFill>
                <a:latin typeface="Calibri" pitchFamily="34" charset="0"/>
                <a:ea typeface="Calibri" pitchFamily="34" charset="-122"/>
                <a:cs typeface="Calibri" pitchFamily="34" charset="-120"/>
              </a:rPr>
              <a:t>This is the same principle behind Renewable Energy Certificates and “green tariff” electricity, which predate P2P trading by decades — you never get “solar electrons” into your socket, you buy a verified accounting claim against a shared physical pool.</a:t>
            </a:r>
            <a:endParaRPr lang="en-US" sz="1300" dirty="0"/>
          </a:p>
        </p:txBody>
      </p:sp>
      <p:sp>
        <p:nvSpPr>
          <p:cNvPr id="16" name="Text 14"/>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Established REC / green-tariff market design, predating this project</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B   ELECTRICITY 101</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kW is a rate. kWh is an amount.</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Think of electricity like water through a tap.</a:t>
            </a:r>
            <a:endParaRPr lang="en-US" sz="1350" dirty="0"/>
          </a:p>
        </p:txBody>
      </p:sp>
      <p:sp>
        <p:nvSpPr>
          <p:cNvPr id="6" name="Shape 4"/>
          <p:cNvSpPr/>
          <p:nvPr/>
        </p:nvSpPr>
        <p:spPr>
          <a:xfrm>
            <a:off x="685800" y="1874520"/>
            <a:ext cx="5272888" cy="2103120"/>
          </a:xfrm>
          <a:prstGeom prst="roundRect">
            <a:avLst>
              <a:gd name="adj" fmla="val 2609"/>
            </a:avLst>
          </a:prstGeom>
          <a:solidFill>
            <a:srgbClr val="FCEEDD"/>
          </a:solidFill>
          <a:ln w="12700">
            <a:solidFill>
              <a:srgbClr val="B85C0A"/>
            </a:solidFill>
            <a:prstDash val="solid"/>
          </a:ln>
        </p:spPr>
      </p:sp>
      <p:sp>
        <p:nvSpPr>
          <p:cNvPr id="7" name="Shape 5"/>
          <p:cNvSpPr/>
          <p:nvPr/>
        </p:nvSpPr>
        <p:spPr>
          <a:xfrm>
            <a:off x="685800" y="1874520"/>
            <a:ext cx="50292" cy="2103120"/>
          </a:xfrm>
          <a:prstGeom prst="rect">
            <a:avLst/>
          </a:prstGeom>
          <a:solidFill>
            <a:srgbClr val="B85C0A"/>
          </a:solidFill>
          <a:ln w="12700">
            <a:solidFill>
              <a:srgbClr val="B85C0A"/>
            </a:solidFill>
            <a:prstDash val="solid"/>
          </a:ln>
        </p:spPr>
      </p:sp>
      <p:sp>
        <p:nvSpPr>
          <p:cNvPr id="8" name="Text 6"/>
          <p:cNvSpPr txBox="1"/>
          <p:nvPr/>
        </p:nvSpPr>
        <p:spPr>
          <a:xfrm>
            <a:off x="960120" y="2057400"/>
            <a:ext cx="4724248" cy="320040"/>
          </a:xfrm>
          <a:prstGeom prst="rect">
            <a:avLst/>
          </a:prstGeom>
          <a:noFill/>
          <a:ln/>
        </p:spPr>
        <p:txBody>
          <a:bodyPr wrap="square" lIns="0" tIns="0" rIns="0" bIns="0" rtlCol="0" anchor="ctr"/>
          <a:lstStyle/>
          <a:p>
            <a:pPr indent="0" marL="0">
              <a:buNone/>
            </a:pPr>
            <a:r>
              <a:rPr lang="en-US" sz="1350" b="1" dirty="0">
                <a:solidFill>
                  <a:srgbClr val="B85C0A"/>
                </a:solidFill>
                <a:latin typeface="Calibri" pitchFamily="34" charset="0"/>
                <a:ea typeface="Calibri" pitchFamily="34" charset="-122"/>
                <a:cs typeface="Calibri" pitchFamily="34" charset="-120"/>
              </a:rPr>
              <a:t>kW — KILOWATT</a:t>
            </a:r>
            <a:endParaRPr lang="en-US" sz="1350" dirty="0"/>
          </a:p>
        </p:txBody>
      </p:sp>
      <p:sp>
        <p:nvSpPr>
          <p:cNvPr id="9" name="Text 7"/>
          <p:cNvSpPr txBox="1"/>
          <p:nvPr/>
        </p:nvSpPr>
        <p:spPr>
          <a:xfrm>
            <a:off x="960120" y="2468880"/>
            <a:ext cx="4724248" cy="1325880"/>
          </a:xfrm>
          <a:prstGeom prst="rect">
            <a:avLst/>
          </a:prstGeom>
          <a:noFill/>
          <a:ln/>
        </p:spPr>
        <p:txBody>
          <a:bodyPr wrap="square" lIns="0" tIns="0" rIns="0" bIns="0" rtlCol="0" anchor="ctr"/>
          <a:lstStyle/>
          <a:p>
            <a:pPr indent="0" marL="0">
              <a:lnSpc>
                <a:spcPct val="125000"/>
              </a:lnSpc>
              <a:buNone/>
            </a:pPr>
            <a:r>
              <a:rPr lang="en-US" sz="1250" dirty="0">
                <a:solidFill>
                  <a:srgbClr val="1A1A1A"/>
                </a:solidFill>
                <a:latin typeface="Calibri" pitchFamily="34" charset="0"/>
                <a:ea typeface="Calibri" pitchFamily="34" charset="-122"/>
                <a:cs typeface="Calibri" pitchFamily="34" charset="-120"/>
              </a:rPr>
              <a:t>The RATE right now — like litres per minute from a tap. A “5 kW panel” means: at full midday sun, it can push energy out at that rate. It doesn't mean it always does.</a:t>
            </a:r>
            <a:endParaRPr lang="en-US" sz="1250" dirty="0"/>
          </a:p>
        </p:txBody>
      </p:sp>
      <p:sp>
        <p:nvSpPr>
          <p:cNvPr id="10" name="Shape 8"/>
          <p:cNvSpPr/>
          <p:nvPr/>
        </p:nvSpPr>
        <p:spPr>
          <a:xfrm>
            <a:off x="6233008" y="1874520"/>
            <a:ext cx="5272888" cy="2103120"/>
          </a:xfrm>
          <a:prstGeom prst="roundRect">
            <a:avLst>
              <a:gd name="adj" fmla="val 2609"/>
            </a:avLst>
          </a:prstGeom>
          <a:solidFill>
            <a:srgbClr val="E5F3E8"/>
          </a:solidFill>
          <a:ln w="12700">
            <a:solidFill>
              <a:srgbClr val="1E7A3C"/>
            </a:solidFill>
            <a:prstDash val="solid"/>
          </a:ln>
        </p:spPr>
      </p:sp>
      <p:sp>
        <p:nvSpPr>
          <p:cNvPr id="11" name="Shape 9"/>
          <p:cNvSpPr/>
          <p:nvPr/>
        </p:nvSpPr>
        <p:spPr>
          <a:xfrm>
            <a:off x="6233008" y="1874520"/>
            <a:ext cx="50292" cy="2103120"/>
          </a:xfrm>
          <a:prstGeom prst="rect">
            <a:avLst/>
          </a:prstGeom>
          <a:solidFill>
            <a:srgbClr val="1E7A3C"/>
          </a:solidFill>
          <a:ln w="12700">
            <a:solidFill>
              <a:srgbClr val="1E7A3C"/>
            </a:solidFill>
            <a:prstDash val="solid"/>
          </a:ln>
        </p:spPr>
      </p:sp>
      <p:sp>
        <p:nvSpPr>
          <p:cNvPr id="12" name="Text 10"/>
          <p:cNvSpPr txBox="1"/>
          <p:nvPr/>
        </p:nvSpPr>
        <p:spPr>
          <a:xfrm>
            <a:off x="6507328" y="2057400"/>
            <a:ext cx="4724248" cy="320040"/>
          </a:xfrm>
          <a:prstGeom prst="rect">
            <a:avLst/>
          </a:prstGeom>
          <a:noFill/>
          <a:ln/>
        </p:spPr>
        <p:txBody>
          <a:bodyPr wrap="square" lIns="0" tIns="0" rIns="0" bIns="0" rtlCol="0" anchor="ctr"/>
          <a:lstStyle/>
          <a:p>
            <a:pPr indent="0" marL="0">
              <a:buNone/>
            </a:pPr>
            <a:r>
              <a:rPr lang="en-US" sz="1350" b="1" dirty="0">
                <a:solidFill>
                  <a:srgbClr val="1E7A3C"/>
                </a:solidFill>
                <a:latin typeface="Calibri" pitchFamily="34" charset="0"/>
                <a:ea typeface="Calibri" pitchFamily="34" charset="-122"/>
                <a:cs typeface="Calibri" pitchFamily="34" charset="-120"/>
              </a:rPr>
              <a:t>kWh — KILOWATT-HOUR</a:t>
            </a:r>
            <a:endParaRPr lang="en-US" sz="1350" dirty="0"/>
          </a:p>
        </p:txBody>
      </p:sp>
      <p:sp>
        <p:nvSpPr>
          <p:cNvPr id="13" name="Text 11"/>
          <p:cNvSpPr txBox="1"/>
          <p:nvPr/>
        </p:nvSpPr>
        <p:spPr>
          <a:xfrm>
            <a:off x="6507328" y="2468880"/>
            <a:ext cx="4724248" cy="1325880"/>
          </a:xfrm>
          <a:prstGeom prst="rect">
            <a:avLst/>
          </a:prstGeom>
          <a:noFill/>
          <a:ln/>
        </p:spPr>
        <p:txBody>
          <a:bodyPr wrap="square" lIns="0" tIns="0" rIns="0" bIns="0" rtlCol="0" anchor="ctr"/>
          <a:lstStyle/>
          <a:p>
            <a:pPr indent="0" marL="0">
              <a:lnSpc>
                <a:spcPct val="125000"/>
              </a:lnSpc>
              <a:buNone/>
            </a:pPr>
            <a:r>
              <a:rPr lang="en-US" sz="1250" dirty="0">
                <a:solidFill>
                  <a:srgbClr val="1A1A1A"/>
                </a:solidFill>
                <a:latin typeface="Calibri" pitchFamily="34" charset="0"/>
                <a:ea typeface="Calibri" pitchFamily="34" charset="-122"/>
                <a:cs typeface="Calibri" pitchFamily="34" charset="-120"/>
              </a:rPr>
              <a:t>The AMOUNT collected over time — like litres filling a bucket after an hour. Your bill's “units” are kWh. A 5 kW system might realistically generate ~20–25 kWh across one good day, not 120.</a:t>
            </a:r>
            <a:endParaRPr lang="en-US" sz="1250" dirty="0"/>
          </a:p>
        </p:txBody>
      </p:sp>
      <p:sp>
        <p:nvSpPr>
          <p:cNvPr id="14" name="Shape 12"/>
          <p:cNvSpPr/>
          <p:nvPr/>
        </p:nvSpPr>
        <p:spPr>
          <a:xfrm>
            <a:off x="685800" y="4251960"/>
            <a:ext cx="10820095" cy="1005840"/>
          </a:xfrm>
          <a:prstGeom prst="roundRect">
            <a:avLst>
              <a:gd name="adj" fmla="val 5455"/>
            </a:avLst>
          </a:prstGeom>
          <a:solidFill>
            <a:srgbClr val="E6EEFD"/>
          </a:solidFill>
          <a:ln w="12700">
            <a:solidFill>
              <a:srgbClr val="1D4ED8"/>
            </a:solidFill>
            <a:prstDash val="solid"/>
          </a:ln>
        </p:spPr>
      </p:sp>
      <p:sp>
        <p:nvSpPr>
          <p:cNvPr id="15" name="Text 13"/>
          <p:cNvSpPr txBox="1"/>
          <p:nvPr/>
        </p:nvSpPr>
        <p:spPr>
          <a:xfrm>
            <a:off x="960120" y="4389120"/>
            <a:ext cx="10271455" cy="731520"/>
          </a:xfrm>
          <a:prstGeom prst="rect">
            <a:avLst/>
          </a:prstGeom>
          <a:noFill/>
          <a:ln/>
        </p:spPr>
        <p:txBody>
          <a:bodyPr wrap="square" lIns="0" tIns="0" rIns="0" bIns="0" rtlCol="0" anchor="ctr"/>
          <a:lstStyle/>
          <a:p>
            <a:pPr indent="0" marL="0">
              <a:lnSpc>
                <a:spcPct val="125000"/>
              </a:lnSpc>
              <a:buNone/>
            </a:pPr>
            <a:r>
              <a:rPr lang="en-US" sz="1300" b="1" dirty="0">
                <a:solidFill>
                  <a:srgbClr val="1A1A1A"/>
                </a:solidFill>
                <a:latin typeface="Calibri" pitchFamily="34" charset="0"/>
                <a:ea typeface="Calibri" pitchFamily="34" charset="-122"/>
                <a:cs typeface="Calibri" pitchFamily="34" charset="-120"/>
              </a:rPr>
              <a:t>The same relationship as speed and distance: distance = speed × time, exactly like energy (kWh) = power (kW) × time (hours). That's the whole two-layer structure to hold onto.</a:t>
            </a:r>
            <a:endParaRPr lang="en-US" sz="1300" dirty="0"/>
          </a:p>
        </p:txBody>
      </p:sp>
      <p:sp>
        <p:nvSpPr>
          <p:cNvPr id="16" name="Text 14"/>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Standard electrical-engineering definitions (power vs. energy)</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B   ELECTRICITY 101</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How “excess” is actually measured</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Not typed in by anyone — computed continuously by a bidirectional smart meter.</a:t>
            </a:r>
            <a:endParaRPr lang="en-US" sz="1350" dirty="0"/>
          </a:p>
        </p:txBody>
      </p:sp>
      <p:sp>
        <p:nvSpPr>
          <p:cNvPr id="6" name="Shape 4"/>
          <p:cNvSpPr/>
          <p:nvPr/>
        </p:nvSpPr>
        <p:spPr>
          <a:xfrm>
            <a:off x="685800" y="1920240"/>
            <a:ext cx="2533574" cy="1737360"/>
          </a:xfrm>
          <a:prstGeom prst="roundRect">
            <a:avLst>
              <a:gd name="adj" fmla="val 3158"/>
            </a:avLst>
          </a:prstGeom>
          <a:solidFill>
            <a:srgbClr val="E4F3F0"/>
          </a:solidFill>
          <a:ln w="12700">
            <a:solidFill>
              <a:srgbClr val="0E7A6E"/>
            </a:solidFill>
            <a:prstDash val="solid"/>
          </a:ln>
        </p:spPr>
      </p:sp>
      <p:sp>
        <p:nvSpPr>
          <p:cNvPr id="7" name="Shape 5"/>
          <p:cNvSpPr/>
          <p:nvPr/>
        </p:nvSpPr>
        <p:spPr>
          <a:xfrm>
            <a:off x="685800" y="1920240"/>
            <a:ext cx="50292" cy="1737360"/>
          </a:xfrm>
          <a:prstGeom prst="rect">
            <a:avLst/>
          </a:prstGeom>
          <a:solidFill>
            <a:srgbClr val="0E7A6E"/>
          </a:solidFill>
          <a:ln w="12700">
            <a:solidFill>
              <a:srgbClr val="0E7A6E"/>
            </a:solidFill>
            <a:prstDash val="solid"/>
          </a:ln>
        </p:spPr>
      </p:sp>
      <p:sp>
        <p:nvSpPr>
          <p:cNvPr id="8" name="Text 6"/>
          <p:cNvSpPr txBox="1"/>
          <p:nvPr/>
        </p:nvSpPr>
        <p:spPr>
          <a:xfrm>
            <a:off x="886968" y="2084832"/>
            <a:ext cx="2131238" cy="274320"/>
          </a:xfrm>
          <a:prstGeom prst="rect">
            <a:avLst/>
          </a:prstGeom>
          <a:noFill/>
          <a:ln/>
        </p:spPr>
        <p:txBody>
          <a:bodyPr wrap="square" lIns="0" tIns="0" rIns="0" bIns="0" rtlCol="0" anchor="ctr"/>
          <a:lstStyle/>
          <a:p>
            <a:pPr indent="0" marL="0">
              <a:buNone/>
            </a:pPr>
            <a:r>
              <a:rPr lang="en-US" sz="950" b="1" spc="50" kern="0" dirty="0">
                <a:solidFill>
                  <a:srgbClr val="0E7A6E"/>
                </a:solidFill>
                <a:latin typeface="Calibri" pitchFamily="34" charset="0"/>
                <a:ea typeface="Calibri" pitchFamily="34" charset="-122"/>
                <a:cs typeface="Calibri" pitchFamily="34" charset="-120"/>
              </a:rPr>
              <a:t>STEP 1</a:t>
            </a:r>
            <a:endParaRPr lang="en-US" sz="950" dirty="0"/>
          </a:p>
        </p:txBody>
      </p:sp>
      <p:sp>
        <p:nvSpPr>
          <p:cNvPr id="9" name="Text 7"/>
          <p:cNvSpPr txBox="1"/>
          <p:nvPr/>
        </p:nvSpPr>
        <p:spPr>
          <a:xfrm>
            <a:off x="886968"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Panel generates DC</a:t>
            </a:r>
            <a:endParaRPr lang="en-US" sz="1300" dirty="0"/>
          </a:p>
        </p:txBody>
      </p:sp>
      <p:sp>
        <p:nvSpPr>
          <p:cNvPr id="10" name="Text 8"/>
          <p:cNvSpPr txBox="1"/>
          <p:nvPr/>
        </p:nvSpPr>
        <p:spPr>
          <a:xfrm>
            <a:off x="886968" y="2880360"/>
            <a:ext cx="2131238" cy="59436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Sunlight hits the photovoltaic cells</a:t>
            </a:r>
            <a:endParaRPr lang="en-US" sz="1000" dirty="0"/>
          </a:p>
        </p:txBody>
      </p:sp>
      <p:sp>
        <p:nvSpPr>
          <p:cNvPr id="11" name="Shape 9"/>
          <p:cNvSpPr/>
          <p:nvPr/>
        </p:nvSpPr>
        <p:spPr>
          <a:xfrm>
            <a:off x="3228518" y="2688336"/>
            <a:ext cx="201168" cy="201168"/>
          </a:xfrm>
          <a:prstGeom prst="chevron">
            <a:avLst/>
          </a:prstGeom>
          <a:solidFill>
            <a:srgbClr val="9CA3AF"/>
          </a:solidFill>
          <a:ln w="12700">
            <a:solidFill>
              <a:srgbClr val="9CA3AF"/>
            </a:solidFill>
            <a:prstDash val="solid"/>
          </a:ln>
        </p:spPr>
      </p:sp>
      <p:sp>
        <p:nvSpPr>
          <p:cNvPr id="12" name="Shape 10"/>
          <p:cNvSpPr/>
          <p:nvPr/>
        </p:nvSpPr>
        <p:spPr>
          <a:xfrm>
            <a:off x="3447974" y="1920240"/>
            <a:ext cx="2533574" cy="1737360"/>
          </a:xfrm>
          <a:prstGeom prst="roundRect">
            <a:avLst>
              <a:gd name="adj" fmla="val 3158"/>
            </a:avLst>
          </a:prstGeom>
          <a:solidFill>
            <a:srgbClr val="E6EEFD"/>
          </a:solidFill>
          <a:ln w="12700">
            <a:solidFill>
              <a:srgbClr val="1D4ED8"/>
            </a:solidFill>
            <a:prstDash val="solid"/>
          </a:ln>
        </p:spPr>
      </p:sp>
      <p:sp>
        <p:nvSpPr>
          <p:cNvPr id="13" name="Shape 11"/>
          <p:cNvSpPr/>
          <p:nvPr/>
        </p:nvSpPr>
        <p:spPr>
          <a:xfrm>
            <a:off x="3447974" y="1920240"/>
            <a:ext cx="50292" cy="1737360"/>
          </a:xfrm>
          <a:prstGeom prst="rect">
            <a:avLst/>
          </a:prstGeom>
          <a:solidFill>
            <a:srgbClr val="1D4ED8"/>
          </a:solidFill>
          <a:ln w="12700">
            <a:solidFill>
              <a:srgbClr val="1D4ED8"/>
            </a:solidFill>
            <a:prstDash val="solid"/>
          </a:ln>
        </p:spPr>
      </p:sp>
      <p:sp>
        <p:nvSpPr>
          <p:cNvPr id="14" name="Text 12"/>
          <p:cNvSpPr txBox="1"/>
          <p:nvPr/>
        </p:nvSpPr>
        <p:spPr>
          <a:xfrm>
            <a:off x="3649142" y="2084832"/>
            <a:ext cx="2131238" cy="274320"/>
          </a:xfrm>
          <a:prstGeom prst="rect">
            <a:avLst/>
          </a:prstGeom>
          <a:noFill/>
          <a:ln/>
        </p:spPr>
        <p:txBody>
          <a:bodyPr wrap="square" lIns="0" tIns="0" rIns="0" bIns="0" rtlCol="0" anchor="ctr"/>
          <a:lstStyle/>
          <a:p>
            <a:pPr indent="0" marL="0">
              <a:buNone/>
            </a:pPr>
            <a:r>
              <a:rPr lang="en-US" sz="950" b="1" spc="50" kern="0" dirty="0">
                <a:solidFill>
                  <a:srgbClr val="1D4ED8"/>
                </a:solidFill>
                <a:latin typeface="Calibri" pitchFamily="34" charset="0"/>
                <a:ea typeface="Calibri" pitchFamily="34" charset="-122"/>
                <a:cs typeface="Calibri" pitchFamily="34" charset="-120"/>
              </a:rPr>
              <a:t>STEP 2</a:t>
            </a:r>
            <a:endParaRPr lang="en-US" sz="950" dirty="0"/>
          </a:p>
        </p:txBody>
      </p:sp>
      <p:sp>
        <p:nvSpPr>
          <p:cNvPr id="15" name="Text 13"/>
          <p:cNvSpPr txBox="1"/>
          <p:nvPr/>
        </p:nvSpPr>
        <p:spPr>
          <a:xfrm>
            <a:off x="3649142"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Inverter converts to AC</a:t>
            </a:r>
            <a:endParaRPr lang="en-US" sz="1300" dirty="0"/>
          </a:p>
        </p:txBody>
      </p:sp>
      <p:sp>
        <p:nvSpPr>
          <p:cNvPr id="16" name="Text 14"/>
          <p:cNvSpPr txBox="1"/>
          <p:nvPr/>
        </p:nvSpPr>
        <p:spPr>
          <a:xfrm>
            <a:off x="3649142" y="2880360"/>
            <a:ext cx="2131238" cy="59436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Homes and the grid run on AC, not DC</a:t>
            </a:r>
            <a:endParaRPr lang="en-US" sz="1000" dirty="0"/>
          </a:p>
        </p:txBody>
      </p:sp>
      <p:sp>
        <p:nvSpPr>
          <p:cNvPr id="17" name="Shape 15"/>
          <p:cNvSpPr/>
          <p:nvPr/>
        </p:nvSpPr>
        <p:spPr>
          <a:xfrm>
            <a:off x="5990692" y="2688336"/>
            <a:ext cx="201168" cy="201168"/>
          </a:xfrm>
          <a:prstGeom prst="chevron">
            <a:avLst/>
          </a:prstGeom>
          <a:solidFill>
            <a:srgbClr val="9CA3AF"/>
          </a:solidFill>
          <a:ln w="12700">
            <a:solidFill>
              <a:srgbClr val="9CA3AF"/>
            </a:solidFill>
            <a:prstDash val="solid"/>
          </a:ln>
        </p:spPr>
      </p:sp>
      <p:sp>
        <p:nvSpPr>
          <p:cNvPr id="18" name="Shape 16"/>
          <p:cNvSpPr/>
          <p:nvPr/>
        </p:nvSpPr>
        <p:spPr>
          <a:xfrm>
            <a:off x="6210148" y="1920240"/>
            <a:ext cx="2533574" cy="1737360"/>
          </a:xfrm>
          <a:prstGeom prst="roundRect">
            <a:avLst>
              <a:gd name="adj" fmla="val 3158"/>
            </a:avLst>
          </a:prstGeom>
          <a:solidFill>
            <a:srgbClr val="EFE8FA"/>
          </a:solidFill>
          <a:ln w="12700">
            <a:solidFill>
              <a:srgbClr val="6D3BC4"/>
            </a:solidFill>
            <a:prstDash val="solid"/>
          </a:ln>
        </p:spPr>
      </p:sp>
      <p:sp>
        <p:nvSpPr>
          <p:cNvPr id="19" name="Shape 17"/>
          <p:cNvSpPr/>
          <p:nvPr/>
        </p:nvSpPr>
        <p:spPr>
          <a:xfrm>
            <a:off x="6210148" y="1920240"/>
            <a:ext cx="50292" cy="1737360"/>
          </a:xfrm>
          <a:prstGeom prst="rect">
            <a:avLst/>
          </a:prstGeom>
          <a:solidFill>
            <a:srgbClr val="6D3BC4"/>
          </a:solidFill>
          <a:ln w="12700">
            <a:solidFill>
              <a:srgbClr val="6D3BC4"/>
            </a:solidFill>
            <a:prstDash val="solid"/>
          </a:ln>
        </p:spPr>
      </p:sp>
      <p:sp>
        <p:nvSpPr>
          <p:cNvPr id="20" name="Text 18"/>
          <p:cNvSpPr txBox="1"/>
          <p:nvPr/>
        </p:nvSpPr>
        <p:spPr>
          <a:xfrm>
            <a:off x="6411316" y="2084832"/>
            <a:ext cx="2131238" cy="274320"/>
          </a:xfrm>
          <a:prstGeom prst="rect">
            <a:avLst/>
          </a:prstGeom>
          <a:noFill/>
          <a:ln/>
        </p:spPr>
        <p:txBody>
          <a:bodyPr wrap="square" lIns="0" tIns="0" rIns="0" bIns="0" rtlCol="0" anchor="ctr"/>
          <a:lstStyle/>
          <a:p>
            <a:pPr indent="0" marL="0">
              <a:buNone/>
            </a:pPr>
            <a:r>
              <a:rPr lang="en-US" sz="950" b="1" spc="50" kern="0" dirty="0">
                <a:solidFill>
                  <a:srgbClr val="6D3BC4"/>
                </a:solidFill>
                <a:latin typeface="Calibri" pitchFamily="34" charset="0"/>
                <a:ea typeface="Calibri" pitchFamily="34" charset="-122"/>
                <a:cs typeface="Calibri" pitchFamily="34" charset="-120"/>
              </a:rPr>
              <a:t>STEP 3</a:t>
            </a:r>
            <a:endParaRPr lang="en-US" sz="950" dirty="0"/>
          </a:p>
        </p:txBody>
      </p:sp>
      <p:sp>
        <p:nvSpPr>
          <p:cNvPr id="21" name="Text 19"/>
          <p:cNvSpPr txBox="1"/>
          <p:nvPr/>
        </p:nvSpPr>
        <p:spPr>
          <a:xfrm>
            <a:off x="6411316"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House load first</a:t>
            </a:r>
            <a:endParaRPr lang="en-US" sz="1300" dirty="0"/>
          </a:p>
        </p:txBody>
      </p:sp>
      <p:sp>
        <p:nvSpPr>
          <p:cNvPr id="22" name="Text 20"/>
          <p:cNvSpPr txBox="1"/>
          <p:nvPr/>
        </p:nvSpPr>
        <p:spPr>
          <a:xfrm>
            <a:off x="6411316" y="2880360"/>
            <a:ext cx="2131238" cy="59436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Whatever's running now is served first — free, no DISCOM involved</a:t>
            </a:r>
            <a:endParaRPr lang="en-US" sz="1000" dirty="0"/>
          </a:p>
        </p:txBody>
      </p:sp>
      <p:sp>
        <p:nvSpPr>
          <p:cNvPr id="23" name="Shape 21"/>
          <p:cNvSpPr/>
          <p:nvPr/>
        </p:nvSpPr>
        <p:spPr>
          <a:xfrm>
            <a:off x="8752865" y="2688336"/>
            <a:ext cx="201168" cy="201168"/>
          </a:xfrm>
          <a:prstGeom prst="chevron">
            <a:avLst/>
          </a:prstGeom>
          <a:solidFill>
            <a:srgbClr val="9CA3AF"/>
          </a:solidFill>
          <a:ln w="12700">
            <a:solidFill>
              <a:srgbClr val="9CA3AF"/>
            </a:solidFill>
            <a:prstDash val="solid"/>
          </a:ln>
        </p:spPr>
      </p:sp>
      <p:sp>
        <p:nvSpPr>
          <p:cNvPr id="24" name="Shape 22"/>
          <p:cNvSpPr/>
          <p:nvPr/>
        </p:nvSpPr>
        <p:spPr>
          <a:xfrm>
            <a:off x="8972321" y="1920240"/>
            <a:ext cx="2533574" cy="1737360"/>
          </a:xfrm>
          <a:prstGeom prst="roundRect">
            <a:avLst>
              <a:gd name="adj" fmla="val 3158"/>
            </a:avLst>
          </a:prstGeom>
          <a:solidFill>
            <a:srgbClr val="FCEEDD"/>
          </a:solidFill>
          <a:ln w="12700">
            <a:solidFill>
              <a:srgbClr val="B85C0A"/>
            </a:solidFill>
            <a:prstDash val="solid"/>
          </a:ln>
        </p:spPr>
      </p:sp>
      <p:sp>
        <p:nvSpPr>
          <p:cNvPr id="25" name="Shape 23"/>
          <p:cNvSpPr/>
          <p:nvPr/>
        </p:nvSpPr>
        <p:spPr>
          <a:xfrm>
            <a:off x="8972321" y="1920240"/>
            <a:ext cx="50292" cy="1737360"/>
          </a:xfrm>
          <a:prstGeom prst="rect">
            <a:avLst/>
          </a:prstGeom>
          <a:solidFill>
            <a:srgbClr val="B85C0A"/>
          </a:solidFill>
          <a:ln w="12700">
            <a:solidFill>
              <a:srgbClr val="B85C0A"/>
            </a:solidFill>
            <a:prstDash val="solid"/>
          </a:ln>
        </p:spPr>
      </p:sp>
      <p:sp>
        <p:nvSpPr>
          <p:cNvPr id="26" name="Text 24"/>
          <p:cNvSpPr txBox="1"/>
          <p:nvPr/>
        </p:nvSpPr>
        <p:spPr>
          <a:xfrm>
            <a:off x="9173489" y="2084832"/>
            <a:ext cx="2131238" cy="274320"/>
          </a:xfrm>
          <a:prstGeom prst="rect">
            <a:avLst/>
          </a:prstGeom>
          <a:noFill/>
          <a:ln/>
        </p:spPr>
        <p:txBody>
          <a:bodyPr wrap="square" lIns="0" tIns="0" rIns="0" bIns="0" rtlCol="0" anchor="ctr"/>
          <a:lstStyle/>
          <a:p>
            <a:pPr indent="0" marL="0">
              <a:buNone/>
            </a:pPr>
            <a:r>
              <a:rPr lang="en-US" sz="950" b="1" spc="50" kern="0" dirty="0">
                <a:solidFill>
                  <a:srgbClr val="B85C0A"/>
                </a:solidFill>
                <a:latin typeface="Calibri" pitchFamily="34" charset="0"/>
                <a:ea typeface="Calibri" pitchFamily="34" charset="-122"/>
                <a:cs typeface="Calibri" pitchFamily="34" charset="-120"/>
              </a:rPr>
              <a:t>STEP 4</a:t>
            </a:r>
            <a:endParaRPr lang="en-US" sz="950" dirty="0"/>
          </a:p>
        </p:txBody>
      </p:sp>
      <p:sp>
        <p:nvSpPr>
          <p:cNvPr id="27" name="Text 25"/>
          <p:cNvSpPr txBox="1"/>
          <p:nvPr/>
        </p:nvSpPr>
        <p:spPr>
          <a:xfrm>
            <a:off x="9173489"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Leftover = excess</a:t>
            </a:r>
            <a:endParaRPr lang="en-US" sz="1300" dirty="0"/>
          </a:p>
        </p:txBody>
      </p:sp>
      <p:sp>
        <p:nvSpPr>
          <p:cNvPr id="28" name="Text 26"/>
          <p:cNvSpPr txBox="1"/>
          <p:nvPr/>
        </p:nvSpPr>
        <p:spPr>
          <a:xfrm>
            <a:off x="9173489" y="2880360"/>
            <a:ext cx="2131238" cy="59436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Export to the grid in real time, or charge a battery if one exists</a:t>
            </a:r>
            <a:endParaRPr lang="en-US" sz="1000" dirty="0"/>
          </a:p>
        </p:txBody>
      </p:sp>
      <p:sp>
        <p:nvSpPr>
          <p:cNvPr id="29" name="Shape 27"/>
          <p:cNvSpPr/>
          <p:nvPr/>
        </p:nvSpPr>
        <p:spPr>
          <a:xfrm>
            <a:off x="685800" y="3931920"/>
            <a:ext cx="10820095" cy="1005840"/>
          </a:xfrm>
          <a:prstGeom prst="roundRect">
            <a:avLst>
              <a:gd name="adj" fmla="val 5455"/>
            </a:avLst>
          </a:prstGeom>
          <a:solidFill>
            <a:srgbClr val="E6EEFD"/>
          </a:solidFill>
          <a:ln w="12700">
            <a:solidFill>
              <a:srgbClr val="1D4ED8"/>
            </a:solidFill>
            <a:prstDash val="solid"/>
          </a:ln>
        </p:spPr>
      </p:sp>
      <p:sp>
        <p:nvSpPr>
          <p:cNvPr id="30" name="Text 28"/>
          <p:cNvSpPr txBox="1"/>
          <p:nvPr/>
        </p:nvSpPr>
        <p:spPr>
          <a:xfrm>
            <a:off x="960120" y="4069080"/>
            <a:ext cx="10271455" cy="731520"/>
          </a:xfrm>
          <a:prstGeom prst="rect">
            <a:avLst/>
          </a:prstGeom>
          <a:noFill/>
          <a:ln/>
        </p:spPr>
        <p:txBody>
          <a:bodyPr wrap="square" lIns="0" tIns="0" rIns="0" bIns="0" rtlCol="0" anchor="ctr"/>
          <a:lstStyle/>
          <a:p>
            <a:pPr indent="0" marL="0">
              <a:lnSpc>
                <a:spcPct val="125000"/>
              </a:lnSpc>
              <a:buNone/>
            </a:pPr>
            <a:r>
              <a:rPr lang="en-US" sz="1300" b="1" dirty="0">
                <a:solidFill>
                  <a:srgbClr val="1A1A1A"/>
                </a:solidFill>
                <a:latin typeface="Calibri" pitchFamily="34" charset="0"/>
                <a:ea typeface="Calibri" pitchFamily="34" charset="-122"/>
                <a:cs typeface="Calibri" pitchFamily="34" charset="-120"/>
              </a:rPr>
              <a:t>excess (available to sell) = current production − current house consumption — measured automatically, every interval. A tradeable offer also needs a forecast (weather + history) for a future delivery slot, since a live reading alone only shows what's happening right now.</a:t>
            </a:r>
            <a:endParaRPr lang="en-US" sz="1300" dirty="0"/>
          </a:p>
        </p:txBody>
      </p:sp>
      <p:sp>
        <p:nvSpPr>
          <p:cNvPr id="31" name="Text 29"/>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Net-metering mechanics; standard AMI measurement design</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C   THE REAL SYSTEMS UNDERNEATH</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Detection &amp; monitoring</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How a real outage or fault is actually known about — not guessed at.</a:t>
            </a:r>
            <a:endParaRPr lang="en-US" sz="1350" dirty="0"/>
          </a:p>
        </p:txBody>
      </p:sp>
      <p:sp>
        <p:nvSpPr>
          <p:cNvPr id="6" name="Shape 4"/>
          <p:cNvSpPr/>
          <p:nvPr/>
        </p:nvSpPr>
        <p:spPr>
          <a:xfrm>
            <a:off x="685800" y="1828800"/>
            <a:ext cx="5272888" cy="1920240"/>
          </a:xfrm>
          <a:prstGeom prst="roundRect">
            <a:avLst>
              <a:gd name="adj" fmla="val 2857"/>
            </a:avLst>
          </a:prstGeom>
          <a:solidFill>
            <a:srgbClr val="E4F3F0"/>
          </a:solidFill>
          <a:ln w="12700">
            <a:solidFill>
              <a:srgbClr val="0E7A6E"/>
            </a:solidFill>
            <a:prstDash val="solid"/>
          </a:ln>
        </p:spPr>
      </p:sp>
      <p:sp>
        <p:nvSpPr>
          <p:cNvPr id="7" name="Shape 5"/>
          <p:cNvSpPr/>
          <p:nvPr/>
        </p:nvSpPr>
        <p:spPr>
          <a:xfrm>
            <a:off x="685800" y="1828800"/>
            <a:ext cx="50292" cy="1920240"/>
          </a:xfrm>
          <a:prstGeom prst="rect">
            <a:avLst/>
          </a:prstGeom>
          <a:solidFill>
            <a:srgbClr val="0E7A6E"/>
          </a:solidFill>
          <a:ln w="12700">
            <a:solidFill>
              <a:srgbClr val="0E7A6E"/>
            </a:solidFill>
            <a:prstDash val="solid"/>
          </a:ln>
        </p:spPr>
      </p:sp>
      <p:sp>
        <p:nvSpPr>
          <p:cNvPr id="8" name="Text 6"/>
          <p:cNvSpPr txBox="1"/>
          <p:nvPr/>
        </p:nvSpPr>
        <p:spPr>
          <a:xfrm>
            <a:off x="941832" y="1993392"/>
            <a:ext cx="4815688" cy="384048"/>
          </a:xfrm>
          <a:prstGeom prst="rect">
            <a:avLst/>
          </a:prstGeom>
          <a:noFill/>
          <a:ln/>
        </p:spPr>
        <p:txBody>
          <a:bodyPr wrap="square" lIns="0" tIns="0" rIns="0" bIns="0" rtlCol="0" anchor="ctr"/>
          <a:lstStyle/>
          <a:p>
            <a:pPr indent="0" marL="0">
              <a:lnSpc>
                <a:spcPct val="105000"/>
              </a:lnSpc>
              <a:buNone/>
            </a:pPr>
            <a:r>
              <a:rPr lang="en-US" sz="1450" b="1" dirty="0">
                <a:solidFill>
                  <a:srgbClr val="0E7A6E"/>
                </a:solidFill>
                <a:latin typeface="Calibri" pitchFamily="34" charset="0"/>
                <a:ea typeface="Calibri" pitchFamily="34" charset="-122"/>
                <a:cs typeface="Calibri" pitchFamily="34" charset="-120"/>
              </a:rPr>
              <a:t>Last-gasp event</a:t>
            </a:r>
            <a:endParaRPr lang="en-US" sz="1450" dirty="0"/>
          </a:p>
        </p:txBody>
      </p:sp>
      <p:sp>
        <p:nvSpPr>
          <p:cNvPr id="9" name="Text 7"/>
          <p:cNvSpPr txBox="1"/>
          <p:nvPr/>
        </p:nvSpPr>
        <p:spPr>
          <a:xfrm>
            <a:off x="941832" y="2395728"/>
            <a:ext cx="4815688" cy="11887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A smart meter's final signal, fired from its own backup capacitor the instant power drops — like a phone's “1% battery” push before it dies. Confirms a seller genuinely lost power.</a:t>
            </a:r>
            <a:endParaRPr lang="en-US" sz="1150" dirty="0"/>
          </a:p>
        </p:txBody>
      </p:sp>
      <p:sp>
        <p:nvSpPr>
          <p:cNvPr id="10" name="Shape 8"/>
          <p:cNvSpPr/>
          <p:nvPr/>
        </p:nvSpPr>
        <p:spPr>
          <a:xfrm>
            <a:off x="6233008" y="1828800"/>
            <a:ext cx="5272888" cy="1920240"/>
          </a:xfrm>
          <a:prstGeom prst="roundRect">
            <a:avLst>
              <a:gd name="adj" fmla="val 2857"/>
            </a:avLst>
          </a:prstGeom>
          <a:solidFill>
            <a:srgbClr val="E6EEFD"/>
          </a:solidFill>
          <a:ln w="12700">
            <a:solidFill>
              <a:srgbClr val="1D4ED8"/>
            </a:solidFill>
            <a:prstDash val="solid"/>
          </a:ln>
        </p:spPr>
      </p:sp>
      <p:sp>
        <p:nvSpPr>
          <p:cNvPr id="11" name="Shape 9"/>
          <p:cNvSpPr/>
          <p:nvPr/>
        </p:nvSpPr>
        <p:spPr>
          <a:xfrm>
            <a:off x="6233008" y="1828800"/>
            <a:ext cx="50292" cy="1920240"/>
          </a:xfrm>
          <a:prstGeom prst="rect">
            <a:avLst/>
          </a:prstGeom>
          <a:solidFill>
            <a:srgbClr val="1D4ED8"/>
          </a:solidFill>
          <a:ln w="12700">
            <a:solidFill>
              <a:srgbClr val="1D4ED8"/>
            </a:solidFill>
            <a:prstDash val="solid"/>
          </a:ln>
        </p:spPr>
      </p:sp>
      <p:sp>
        <p:nvSpPr>
          <p:cNvPr id="12" name="Text 10"/>
          <p:cNvSpPr txBox="1"/>
          <p:nvPr/>
        </p:nvSpPr>
        <p:spPr>
          <a:xfrm>
            <a:off x="6489040" y="1993392"/>
            <a:ext cx="4815688" cy="384048"/>
          </a:xfrm>
          <a:prstGeom prst="rect">
            <a:avLst/>
          </a:prstGeom>
          <a:noFill/>
          <a:ln/>
        </p:spPr>
        <p:txBody>
          <a:bodyPr wrap="square" lIns="0" tIns="0" rIns="0" bIns="0" rtlCol="0" anchor="ctr"/>
          <a:lstStyle/>
          <a:p>
            <a:pPr indent="0" marL="0">
              <a:lnSpc>
                <a:spcPct val="105000"/>
              </a:lnSpc>
              <a:buNone/>
            </a:pPr>
            <a:r>
              <a:rPr lang="en-US" sz="1450" b="1" dirty="0">
                <a:solidFill>
                  <a:srgbClr val="1D4ED8"/>
                </a:solidFill>
                <a:latin typeface="Calibri" pitchFamily="34" charset="0"/>
                <a:ea typeface="Calibri" pitchFamily="34" charset="-122"/>
                <a:cs typeface="Calibri" pitchFamily="34" charset="-120"/>
              </a:rPr>
              <a:t>OMS</a:t>
            </a:r>
            <a:endParaRPr lang="en-US" sz="1450" dirty="0"/>
          </a:p>
        </p:txBody>
      </p:sp>
      <p:sp>
        <p:nvSpPr>
          <p:cNvPr id="13" name="Text 11"/>
          <p:cNvSpPr txBox="1"/>
          <p:nvPr/>
        </p:nvSpPr>
        <p:spPr>
          <a:xfrm>
            <a:off x="6489040" y="2395728"/>
            <a:ext cx="4815688" cy="11887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Outage Management System — the DISCOM's own control-room software tracking every outage: which feeder, how many affected, when restored.</a:t>
            </a:r>
            <a:endParaRPr lang="en-US" sz="1150" dirty="0"/>
          </a:p>
        </p:txBody>
      </p:sp>
      <p:sp>
        <p:nvSpPr>
          <p:cNvPr id="14" name="Shape 12"/>
          <p:cNvSpPr/>
          <p:nvPr/>
        </p:nvSpPr>
        <p:spPr>
          <a:xfrm>
            <a:off x="685800" y="3931920"/>
            <a:ext cx="5272888" cy="1920240"/>
          </a:xfrm>
          <a:prstGeom prst="roundRect">
            <a:avLst>
              <a:gd name="adj" fmla="val 2857"/>
            </a:avLst>
          </a:prstGeom>
          <a:solidFill>
            <a:srgbClr val="EFE8FA"/>
          </a:solidFill>
          <a:ln w="12700">
            <a:solidFill>
              <a:srgbClr val="6D3BC4"/>
            </a:solidFill>
            <a:prstDash val="solid"/>
          </a:ln>
        </p:spPr>
      </p:sp>
      <p:sp>
        <p:nvSpPr>
          <p:cNvPr id="15" name="Shape 13"/>
          <p:cNvSpPr/>
          <p:nvPr/>
        </p:nvSpPr>
        <p:spPr>
          <a:xfrm>
            <a:off x="685800" y="3931920"/>
            <a:ext cx="50292" cy="1920240"/>
          </a:xfrm>
          <a:prstGeom prst="rect">
            <a:avLst/>
          </a:prstGeom>
          <a:solidFill>
            <a:srgbClr val="6D3BC4"/>
          </a:solidFill>
          <a:ln w="12700">
            <a:solidFill>
              <a:srgbClr val="6D3BC4"/>
            </a:solidFill>
            <a:prstDash val="solid"/>
          </a:ln>
        </p:spPr>
      </p:sp>
      <p:sp>
        <p:nvSpPr>
          <p:cNvPr id="16" name="Text 14"/>
          <p:cNvSpPr txBox="1"/>
          <p:nvPr/>
        </p:nvSpPr>
        <p:spPr>
          <a:xfrm>
            <a:off x="941832" y="4096512"/>
            <a:ext cx="4815688" cy="384048"/>
          </a:xfrm>
          <a:prstGeom prst="rect">
            <a:avLst/>
          </a:prstGeom>
          <a:noFill/>
          <a:ln/>
        </p:spPr>
        <p:txBody>
          <a:bodyPr wrap="square" lIns="0" tIns="0" rIns="0" bIns="0" rtlCol="0" anchor="ctr"/>
          <a:lstStyle/>
          <a:p>
            <a:pPr indent="0" marL="0">
              <a:lnSpc>
                <a:spcPct val="105000"/>
              </a:lnSpc>
              <a:buNone/>
            </a:pPr>
            <a:r>
              <a:rPr lang="en-US" sz="1450" b="1" dirty="0">
                <a:solidFill>
                  <a:srgbClr val="6D3BC4"/>
                </a:solidFill>
                <a:latin typeface="Calibri" pitchFamily="34" charset="0"/>
                <a:ea typeface="Calibri" pitchFamily="34" charset="-122"/>
                <a:cs typeface="Calibri" pitchFamily="34" charset="-120"/>
              </a:rPr>
              <a:t>SCADA</a:t>
            </a:r>
            <a:endParaRPr lang="en-US" sz="1450" dirty="0"/>
          </a:p>
        </p:txBody>
      </p:sp>
      <p:sp>
        <p:nvSpPr>
          <p:cNvPr id="17" name="Text 15"/>
          <p:cNvSpPr txBox="1"/>
          <p:nvPr/>
        </p:nvSpPr>
        <p:spPr>
          <a:xfrm>
            <a:off x="941832" y="4498848"/>
            <a:ext cx="4815688" cy="11887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The utility's decades-old “mission control” — live readings and remote on/off controls across the whole grid. OMS and DERMS are both built on it.</a:t>
            </a:r>
            <a:endParaRPr lang="en-US" sz="1150" dirty="0"/>
          </a:p>
        </p:txBody>
      </p:sp>
      <p:sp>
        <p:nvSpPr>
          <p:cNvPr id="18" name="Shape 16"/>
          <p:cNvSpPr/>
          <p:nvPr/>
        </p:nvSpPr>
        <p:spPr>
          <a:xfrm>
            <a:off x="6233008" y="3931920"/>
            <a:ext cx="5272888" cy="1920240"/>
          </a:xfrm>
          <a:prstGeom prst="roundRect">
            <a:avLst>
              <a:gd name="adj" fmla="val 2857"/>
            </a:avLst>
          </a:prstGeom>
          <a:solidFill>
            <a:srgbClr val="FCEEDD"/>
          </a:solidFill>
          <a:ln w="12700">
            <a:solidFill>
              <a:srgbClr val="B85C0A"/>
            </a:solidFill>
            <a:prstDash val="solid"/>
          </a:ln>
        </p:spPr>
      </p:sp>
      <p:sp>
        <p:nvSpPr>
          <p:cNvPr id="19" name="Shape 17"/>
          <p:cNvSpPr/>
          <p:nvPr/>
        </p:nvSpPr>
        <p:spPr>
          <a:xfrm>
            <a:off x="6233008" y="3931920"/>
            <a:ext cx="50292" cy="1920240"/>
          </a:xfrm>
          <a:prstGeom prst="rect">
            <a:avLst/>
          </a:prstGeom>
          <a:solidFill>
            <a:srgbClr val="B85C0A"/>
          </a:solidFill>
          <a:ln w="12700">
            <a:solidFill>
              <a:srgbClr val="B85C0A"/>
            </a:solidFill>
            <a:prstDash val="solid"/>
          </a:ln>
        </p:spPr>
      </p:sp>
      <p:sp>
        <p:nvSpPr>
          <p:cNvPr id="20" name="Text 18"/>
          <p:cNvSpPr txBox="1"/>
          <p:nvPr/>
        </p:nvSpPr>
        <p:spPr>
          <a:xfrm>
            <a:off x="6489040" y="4096512"/>
            <a:ext cx="4815688" cy="384048"/>
          </a:xfrm>
          <a:prstGeom prst="rect">
            <a:avLst/>
          </a:prstGeom>
          <a:noFill/>
          <a:ln/>
        </p:spPr>
        <p:txBody>
          <a:bodyPr wrap="square" lIns="0" tIns="0" rIns="0" bIns="0" rtlCol="0" anchor="ctr"/>
          <a:lstStyle/>
          <a:p>
            <a:pPr indent="0" marL="0">
              <a:lnSpc>
                <a:spcPct val="105000"/>
              </a:lnSpc>
              <a:buNone/>
            </a:pPr>
            <a:r>
              <a:rPr lang="en-US" sz="1450" b="1" dirty="0">
                <a:solidFill>
                  <a:srgbClr val="B85C0A"/>
                </a:solidFill>
                <a:latin typeface="Calibri" pitchFamily="34" charset="0"/>
                <a:ea typeface="Calibri" pitchFamily="34" charset="-122"/>
                <a:cs typeface="Calibri" pitchFamily="34" charset="-120"/>
              </a:rPr>
              <a:t>SAIDI / SAIFI</a:t>
            </a:r>
            <a:endParaRPr lang="en-US" sz="1450" dirty="0"/>
          </a:p>
        </p:txBody>
      </p:sp>
      <p:sp>
        <p:nvSpPr>
          <p:cNvPr id="21" name="Text 19"/>
          <p:cNvSpPr txBox="1"/>
          <p:nvPr/>
        </p:nvSpPr>
        <p:spPr>
          <a:xfrm>
            <a:off x="6489040" y="4498848"/>
            <a:ext cx="4815688" cy="11887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Standard reliability scorecards — average outage frequency and duration per customer per year, regulator-mandated. Why a DISCOM's outage log is trustworthy.</a:t>
            </a:r>
            <a:endParaRPr lang="en-US" sz="1150" dirty="0"/>
          </a:p>
        </p:txBody>
      </p:sp>
      <p:sp>
        <p:nvSpPr>
          <p:cNvPr id="22" name="Text 20"/>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Standard AMI/DISCOM operations terminology; cross-checked against KNOWLEDGE-BASE.md §8.1</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C   THE REAL SYSTEMS UNDERNEATH</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The telemetry pipeline (“the watcher”)</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“Constantly watching the meters” isn't new hardware — it's this, already deployed, read more often.</a:t>
            </a:r>
            <a:endParaRPr lang="en-US" sz="1350" dirty="0"/>
          </a:p>
        </p:txBody>
      </p:sp>
      <p:sp>
        <p:nvSpPr>
          <p:cNvPr id="6" name="Shape 4"/>
          <p:cNvSpPr/>
          <p:nvPr/>
        </p:nvSpPr>
        <p:spPr>
          <a:xfrm>
            <a:off x="685800" y="1920240"/>
            <a:ext cx="2533574" cy="1828800"/>
          </a:xfrm>
          <a:prstGeom prst="roundRect">
            <a:avLst>
              <a:gd name="adj" fmla="val 3000"/>
            </a:avLst>
          </a:prstGeom>
          <a:solidFill>
            <a:srgbClr val="E5F3E8"/>
          </a:solidFill>
          <a:ln w="12700">
            <a:solidFill>
              <a:srgbClr val="1E7A3C"/>
            </a:solidFill>
            <a:prstDash val="solid"/>
          </a:ln>
        </p:spPr>
      </p:sp>
      <p:sp>
        <p:nvSpPr>
          <p:cNvPr id="7" name="Shape 5"/>
          <p:cNvSpPr/>
          <p:nvPr/>
        </p:nvSpPr>
        <p:spPr>
          <a:xfrm>
            <a:off x="685800" y="1920240"/>
            <a:ext cx="50292" cy="1828800"/>
          </a:xfrm>
          <a:prstGeom prst="rect">
            <a:avLst/>
          </a:prstGeom>
          <a:solidFill>
            <a:srgbClr val="1E7A3C"/>
          </a:solidFill>
          <a:ln w="12700">
            <a:solidFill>
              <a:srgbClr val="1E7A3C"/>
            </a:solidFill>
            <a:prstDash val="solid"/>
          </a:ln>
        </p:spPr>
      </p:sp>
      <p:sp>
        <p:nvSpPr>
          <p:cNvPr id="8" name="Text 6"/>
          <p:cNvSpPr txBox="1"/>
          <p:nvPr/>
        </p:nvSpPr>
        <p:spPr>
          <a:xfrm>
            <a:off x="886968" y="2084832"/>
            <a:ext cx="2131238" cy="274320"/>
          </a:xfrm>
          <a:prstGeom prst="rect">
            <a:avLst/>
          </a:prstGeom>
          <a:noFill/>
          <a:ln/>
        </p:spPr>
        <p:txBody>
          <a:bodyPr wrap="square" lIns="0" tIns="0" rIns="0" bIns="0" rtlCol="0" anchor="ctr"/>
          <a:lstStyle/>
          <a:p>
            <a:pPr indent="0" marL="0">
              <a:buNone/>
            </a:pPr>
            <a:r>
              <a:rPr lang="en-US" sz="950" b="1" spc="50" kern="0" dirty="0">
                <a:solidFill>
                  <a:srgbClr val="1E7A3C"/>
                </a:solidFill>
                <a:latin typeface="Calibri" pitchFamily="34" charset="0"/>
                <a:ea typeface="Calibri" pitchFamily="34" charset="-122"/>
                <a:cs typeface="Calibri" pitchFamily="34" charset="-120"/>
              </a:rPr>
              <a:t>DEVICE</a:t>
            </a:r>
            <a:endParaRPr lang="en-US" sz="950" dirty="0"/>
          </a:p>
        </p:txBody>
      </p:sp>
      <p:sp>
        <p:nvSpPr>
          <p:cNvPr id="9" name="Text 7"/>
          <p:cNvSpPr txBox="1"/>
          <p:nvPr/>
        </p:nvSpPr>
        <p:spPr>
          <a:xfrm>
            <a:off x="886968"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Smart meter</a:t>
            </a:r>
            <a:endParaRPr lang="en-US" sz="1300" dirty="0"/>
          </a:p>
        </p:txBody>
      </p:sp>
      <p:sp>
        <p:nvSpPr>
          <p:cNvPr id="10" name="Text 8"/>
          <p:cNvSpPr txBox="1"/>
          <p:nvPr/>
        </p:nvSpPr>
        <p:spPr>
          <a:xfrm>
            <a:off x="886968" y="2880360"/>
            <a:ext cx="2131238" cy="68580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Measures import/export continuously at the premises</a:t>
            </a:r>
            <a:endParaRPr lang="en-US" sz="1000" dirty="0"/>
          </a:p>
        </p:txBody>
      </p:sp>
      <p:sp>
        <p:nvSpPr>
          <p:cNvPr id="11" name="Shape 9"/>
          <p:cNvSpPr/>
          <p:nvPr/>
        </p:nvSpPr>
        <p:spPr>
          <a:xfrm>
            <a:off x="3228518" y="2734056"/>
            <a:ext cx="201168" cy="201168"/>
          </a:xfrm>
          <a:prstGeom prst="chevron">
            <a:avLst/>
          </a:prstGeom>
          <a:solidFill>
            <a:srgbClr val="9CA3AF"/>
          </a:solidFill>
          <a:ln w="12700">
            <a:solidFill>
              <a:srgbClr val="9CA3AF"/>
            </a:solidFill>
            <a:prstDash val="solid"/>
          </a:ln>
        </p:spPr>
      </p:sp>
      <p:sp>
        <p:nvSpPr>
          <p:cNvPr id="12" name="Shape 10"/>
          <p:cNvSpPr/>
          <p:nvPr/>
        </p:nvSpPr>
        <p:spPr>
          <a:xfrm>
            <a:off x="3447974" y="1920240"/>
            <a:ext cx="2533574" cy="1828800"/>
          </a:xfrm>
          <a:prstGeom prst="roundRect">
            <a:avLst>
              <a:gd name="adj" fmla="val 3000"/>
            </a:avLst>
          </a:prstGeom>
          <a:solidFill>
            <a:srgbClr val="E5F3E8"/>
          </a:solidFill>
          <a:ln w="12700">
            <a:solidFill>
              <a:srgbClr val="1E7A3C"/>
            </a:solidFill>
            <a:prstDash val="solid"/>
          </a:ln>
        </p:spPr>
      </p:sp>
      <p:sp>
        <p:nvSpPr>
          <p:cNvPr id="13" name="Shape 11"/>
          <p:cNvSpPr/>
          <p:nvPr/>
        </p:nvSpPr>
        <p:spPr>
          <a:xfrm>
            <a:off x="3447974" y="1920240"/>
            <a:ext cx="50292" cy="1828800"/>
          </a:xfrm>
          <a:prstGeom prst="rect">
            <a:avLst/>
          </a:prstGeom>
          <a:solidFill>
            <a:srgbClr val="1E7A3C"/>
          </a:solidFill>
          <a:ln w="12700">
            <a:solidFill>
              <a:srgbClr val="1E7A3C"/>
            </a:solidFill>
            <a:prstDash val="solid"/>
          </a:ln>
        </p:spPr>
      </p:sp>
      <p:sp>
        <p:nvSpPr>
          <p:cNvPr id="14" name="Text 12"/>
          <p:cNvSpPr txBox="1"/>
          <p:nvPr/>
        </p:nvSpPr>
        <p:spPr>
          <a:xfrm>
            <a:off x="3649142" y="2084832"/>
            <a:ext cx="2131238" cy="274320"/>
          </a:xfrm>
          <a:prstGeom prst="rect">
            <a:avLst/>
          </a:prstGeom>
          <a:noFill/>
          <a:ln/>
        </p:spPr>
        <p:txBody>
          <a:bodyPr wrap="square" lIns="0" tIns="0" rIns="0" bIns="0" rtlCol="0" anchor="ctr"/>
          <a:lstStyle/>
          <a:p>
            <a:pPr indent="0" marL="0">
              <a:buNone/>
            </a:pPr>
            <a:r>
              <a:rPr lang="en-US" sz="950" b="1" spc="50" kern="0" dirty="0">
                <a:solidFill>
                  <a:srgbClr val="1E7A3C"/>
                </a:solidFill>
                <a:latin typeface="Calibri" pitchFamily="34" charset="0"/>
                <a:ea typeface="Calibri" pitchFamily="34" charset="-122"/>
                <a:cs typeface="Calibri" pitchFamily="34" charset="-120"/>
              </a:rPr>
              <a:t>EXISTING</a:t>
            </a:r>
            <a:endParaRPr lang="en-US" sz="950" dirty="0"/>
          </a:p>
        </p:txBody>
      </p:sp>
      <p:sp>
        <p:nvSpPr>
          <p:cNvPr id="15" name="Text 13"/>
          <p:cNvSpPr txBox="1"/>
          <p:nvPr/>
        </p:nvSpPr>
        <p:spPr>
          <a:xfrm>
            <a:off x="3649142"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HES</a:t>
            </a:r>
            <a:endParaRPr lang="en-US" sz="1300" dirty="0"/>
          </a:p>
        </p:txBody>
      </p:sp>
      <p:sp>
        <p:nvSpPr>
          <p:cNvPr id="16" name="Text 14"/>
          <p:cNvSpPr txBox="1"/>
          <p:nvPr/>
        </p:nvSpPr>
        <p:spPr>
          <a:xfrm>
            <a:off x="3649142" y="2880360"/>
            <a:ext cx="2131238" cy="68580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Head-End System — the “central phone exchange” for tens of thousands of meters</a:t>
            </a:r>
            <a:endParaRPr lang="en-US" sz="1000" dirty="0"/>
          </a:p>
        </p:txBody>
      </p:sp>
      <p:sp>
        <p:nvSpPr>
          <p:cNvPr id="17" name="Shape 15"/>
          <p:cNvSpPr/>
          <p:nvPr/>
        </p:nvSpPr>
        <p:spPr>
          <a:xfrm>
            <a:off x="5990692" y="2734056"/>
            <a:ext cx="201168" cy="201168"/>
          </a:xfrm>
          <a:prstGeom prst="chevron">
            <a:avLst/>
          </a:prstGeom>
          <a:solidFill>
            <a:srgbClr val="9CA3AF"/>
          </a:solidFill>
          <a:ln w="12700">
            <a:solidFill>
              <a:srgbClr val="9CA3AF"/>
            </a:solidFill>
            <a:prstDash val="solid"/>
          </a:ln>
        </p:spPr>
      </p:sp>
      <p:sp>
        <p:nvSpPr>
          <p:cNvPr id="18" name="Shape 16"/>
          <p:cNvSpPr/>
          <p:nvPr/>
        </p:nvSpPr>
        <p:spPr>
          <a:xfrm>
            <a:off x="6210148" y="1920240"/>
            <a:ext cx="2533574" cy="1828800"/>
          </a:xfrm>
          <a:prstGeom prst="roundRect">
            <a:avLst>
              <a:gd name="adj" fmla="val 3000"/>
            </a:avLst>
          </a:prstGeom>
          <a:solidFill>
            <a:srgbClr val="E5F3E8"/>
          </a:solidFill>
          <a:ln w="12700">
            <a:solidFill>
              <a:srgbClr val="1E7A3C"/>
            </a:solidFill>
            <a:prstDash val="solid"/>
          </a:ln>
        </p:spPr>
      </p:sp>
      <p:sp>
        <p:nvSpPr>
          <p:cNvPr id="19" name="Shape 17"/>
          <p:cNvSpPr/>
          <p:nvPr/>
        </p:nvSpPr>
        <p:spPr>
          <a:xfrm>
            <a:off x="6210148" y="1920240"/>
            <a:ext cx="50292" cy="1828800"/>
          </a:xfrm>
          <a:prstGeom prst="rect">
            <a:avLst/>
          </a:prstGeom>
          <a:solidFill>
            <a:srgbClr val="1E7A3C"/>
          </a:solidFill>
          <a:ln w="12700">
            <a:solidFill>
              <a:srgbClr val="1E7A3C"/>
            </a:solidFill>
            <a:prstDash val="solid"/>
          </a:ln>
        </p:spPr>
      </p:sp>
      <p:sp>
        <p:nvSpPr>
          <p:cNvPr id="20" name="Text 18"/>
          <p:cNvSpPr txBox="1"/>
          <p:nvPr/>
        </p:nvSpPr>
        <p:spPr>
          <a:xfrm>
            <a:off x="6411316" y="2084832"/>
            <a:ext cx="2131238" cy="274320"/>
          </a:xfrm>
          <a:prstGeom prst="rect">
            <a:avLst/>
          </a:prstGeom>
          <a:noFill/>
          <a:ln/>
        </p:spPr>
        <p:txBody>
          <a:bodyPr wrap="square" lIns="0" tIns="0" rIns="0" bIns="0" rtlCol="0" anchor="ctr"/>
          <a:lstStyle/>
          <a:p>
            <a:pPr indent="0" marL="0">
              <a:buNone/>
            </a:pPr>
            <a:r>
              <a:rPr lang="en-US" sz="950" b="1" spc="50" kern="0" dirty="0">
                <a:solidFill>
                  <a:srgbClr val="1E7A3C"/>
                </a:solidFill>
                <a:latin typeface="Calibri" pitchFamily="34" charset="0"/>
                <a:ea typeface="Calibri" pitchFamily="34" charset="-122"/>
                <a:cs typeface="Calibri" pitchFamily="34" charset="-120"/>
              </a:rPr>
              <a:t>EXISTING</a:t>
            </a:r>
            <a:endParaRPr lang="en-US" sz="950" dirty="0"/>
          </a:p>
        </p:txBody>
      </p:sp>
      <p:sp>
        <p:nvSpPr>
          <p:cNvPr id="21" name="Text 19"/>
          <p:cNvSpPr txBox="1"/>
          <p:nvPr/>
        </p:nvSpPr>
        <p:spPr>
          <a:xfrm>
            <a:off x="6411316"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MDM / VEE</a:t>
            </a:r>
            <a:endParaRPr lang="en-US" sz="1300" dirty="0"/>
          </a:p>
        </p:txBody>
      </p:sp>
      <p:sp>
        <p:nvSpPr>
          <p:cNvPr id="22" name="Text 20"/>
          <p:cNvSpPr txBox="1"/>
          <p:nvPr/>
        </p:nvSpPr>
        <p:spPr>
          <a:xfrm>
            <a:off x="6411316" y="2880360"/>
            <a:ext cx="2131238" cy="68580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Validates, Estimates, Edits raw readings before anyone trusts them</a:t>
            </a:r>
            <a:endParaRPr lang="en-US" sz="1000" dirty="0"/>
          </a:p>
        </p:txBody>
      </p:sp>
      <p:sp>
        <p:nvSpPr>
          <p:cNvPr id="23" name="Shape 21"/>
          <p:cNvSpPr/>
          <p:nvPr/>
        </p:nvSpPr>
        <p:spPr>
          <a:xfrm>
            <a:off x="8752865" y="2734056"/>
            <a:ext cx="201168" cy="201168"/>
          </a:xfrm>
          <a:prstGeom prst="chevron">
            <a:avLst/>
          </a:prstGeom>
          <a:solidFill>
            <a:srgbClr val="9CA3AF"/>
          </a:solidFill>
          <a:ln w="12700">
            <a:solidFill>
              <a:srgbClr val="9CA3AF"/>
            </a:solidFill>
            <a:prstDash val="solid"/>
          </a:ln>
        </p:spPr>
      </p:sp>
      <p:sp>
        <p:nvSpPr>
          <p:cNvPr id="24" name="Shape 22"/>
          <p:cNvSpPr/>
          <p:nvPr/>
        </p:nvSpPr>
        <p:spPr>
          <a:xfrm>
            <a:off x="8972321" y="1920240"/>
            <a:ext cx="2533574" cy="1828800"/>
          </a:xfrm>
          <a:prstGeom prst="roundRect">
            <a:avLst>
              <a:gd name="adj" fmla="val 3000"/>
            </a:avLst>
          </a:prstGeom>
          <a:solidFill>
            <a:srgbClr val="E6EEFD"/>
          </a:solidFill>
          <a:ln w="12700">
            <a:solidFill>
              <a:srgbClr val="1D4ED8"/>
            </a:solidFill>
            <a:prstDash val="solid"/>
          </a:ln>
        </p:spPr>
      </p:sp>
      <p:sp>
        <p:nvSpPr>
          <p:cNvPr id="25" name="Shape 23"/>
          <p:cNvSpPr/>
          <p:nvPr/>
        </p:nvSpPr>
        <p:spPr>
          <a:xfrm>
            <a:off x="8972321" y="1920240"/>
            <a:ext cx="50292" cy="1828800"/>
          </a:xfrm>
          <a:prstGeom prst="rect">
            <a:avLst/>
          </a:prstGeom>
          <a:solidFill>
            <a:srgbClr val="1D4ED8"/>
          </a:solidFill>
          <a:ln w="12700">
            <a:solidFill>
              <a:srgbClr val="1D4ED8"/>
            </a:solidFill>
            <a:prstDash val="solid"/>
          </a:ln>
        </p:spPr>
      </p:sp>
      <p:sp>
        <p:nvSpPr>
          <p:cNvPr id="26" name="Text 24"/>
          <p:cNvSpPr txBox="1"/>
          <p:nvPr/>
        </p:nvSpPr>
        <p:spPr>
          <a:xfrm>
            <a:off x="9173489" y="2084832"/>
            <a:ext cx="2131238" cy="274320"/>
          </a:xfrm>
          <a:prstGeom prst="rect">
            <a:avLst/>
          </a:prstGeom>
          <a:noFill/>
          <a:ln/>
        </p:spPr>
        <p:txBody>
          <a:bodyPr wrap="square" lIns="0" tIns="0" rIns="0" bIns="0" rtlCol="0" anchor="ctr"/>
          <a:lstStyle/>
          <a:p>
            <a:pPr indent="0" marL="0">
              <a:buNone/>
            </a:pPr>
            <a:r>
              <a:rPr lang="en-US" sz="950" b="1" spc="50" kern="0" dirty="0">
                <a:solidFill>
                  <a:srgbClr val="1D4ED8"/>
                </a:solidFill>
                <a:latin typeface="Calibri" pitchFamily="34" charset="0"/>
                <a:ea typeface="Calibri" pitchFamily="34" charset="-122"/>
                <a:cs typeface="Calibri" pitchFamily="34" charset="-120"/>
              </a:rPr>
              <a:t>OUR SCOPE</a:t>
            </a:r>
            <a:endParaRPr lang="en-US" sz="950" dirty="0"/>
          </a:p>
        </p:txBody>
      </p:sp>
      <p:sp>
        <p:nvSpPr>
          <p:cNvPr id="27" name="Text 25"/>
          <p:cNvSpPr txBox="1"/>
          <p:nvPr/>
        </p:nvSpPr>
        <p:spPr>
          <a:xfrm>
            <a:off x="9173489"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This platform</a:t>
            </a:r>
            <a:endParaRPr lang="en-US" sz="1300" dirty="0"/>
          </a:p>
        </p:txBody>
      </p:sp>
      <p:sp>
        <p:nvSpPr>
          <p:cNvPr id="28" name="Text 26"/>
          <p:cNvSpPr txBox="1"/>
          <p:nvPr/>
        </p:nvSpPr>
        <p:spPr>
          <a:xfrm>
            <a:off x="9173489" y="2880360"/>
            <a:ext cx="2131238" cy="68580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Reads the cleaned feed at the cadence it's already produced</a:t>
            </a:r>
            <a:endParaRPr lang="en-US" sz="1000" dirty="0"/>
          </a:p>
        </p:txBody>
      </p:sp>
      <p:sp>
        <p:nvSpPr>
          <p:cNvPr id="29" name="Shape 27"/>
          <p:cNvSpPr/>
          <p:nvPr/>
        </p:nvSpPr>
        <p:spPr>
          <a:xfrm>
            <a:off x="685800" y="4023360"/>
            <a:ext cx="10820095" cy="868680"/>
          </a:xfrm>
          <a:prstGeom prst="roundRect">
            <a:avLst>
              <a:gd name="adj" fmla="val 6316"/>
            </a:avLst>
          </a:prstGeom>
          <a:solidFill>
            <a:srgbClr val="E6EEFD"/>
          </a:solidFill>
          <a:ln w="12700">
            <a:solidFill>
              <a:srgbClr val="1D4ED8"/>
            </a:solidFill>
            <a:prstDash val="solid"/>
          </a:ln>
        </p:spPr>
      </p:sp>
      <p:sp>
        <p:nvSpPr>
          <p:cNvPr id="30" name="Text 28"/>
          <p:cNvSpPr txBox="1"/>
          <p:nvPr/>
        </p:nvSpPr>
        <p:spPr>
          <a:xfrm>
            <a:off x="960120" y="4160520"/>
            <a:ext cx="10271455" cy="594360"/>
          </a:xfrm>
          <a:prstGeom prst="rect">
            <a:avLst/>
          </a:prstGeom>
          <a:noFill/>
          <a:ln/>
        </p:spPr>
        <p:txBody>
          <a:bodyPr wrap="square" lIns="0" tIns="0" rIns="0" bIns="0" rtlCol="0" anchor="ctr"/>
          <a:lstStyle/>
          <a:p>
            <a:pPr indent="0" marL="0">
              <a:lnSpc>
                <a:spcPct val="125000"/>
              </a:lnSpc>
              <a:buNone/>
            </a:pPr>
            <a:r>
              <a:rPr lang="en-US" sz="1300" b="1" dirty="0">
                <a:solidFill>
                  <a:srgbClr val="1A1A1A"/>
                </a:solidFill>
                <a:latin typeface="Calibri" pitchFamily="34" charset="0"/>
                <a:ea typeface="Calibri" pitchFamily="34" charset="-122"/>
                <a:cs typeface="Calibri" pitchFamily="34" charset="-120"/>
              </a:rPr>
              <a:t>“AMI” is just the umbrella name for the whole pipeline above — meter + comms + HES + MDM together. India's smart-metering rollout already runs this at scale.</a:t>
            </a:r>
            <a:endParaRPr lang="en-US" sz="1300" dirty="0"/>
          </a:p>
        </p:txBody>
      </p:sp>
      <p:sp>
        <p:nvSpPr>
          <p:cNvPr id="31" name="Text 29"/>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India smart-metering program design (AMI/HES/MDM architecture)</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C   THE REAL SYSTEMS UNDERNEATH</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Control &amp; safety</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Who can actually command a device — and why this software never does.</a:t>
            </a:r>
            <a:endParaRPr lang="en-US" sz="1350" dirty="0"/>
          </a:p>
        </p:txBody>
      </p:sp>
      <p:sp>
        <p:nvSpPr>
          <p:cNvPr id="6" name="Shape 4"/>
          <p:cNvSpPr/>
          <p:nvPr/>
        </p:nvSpPr>
        <p:spPr>
          <a:xfrm>
            <a:off x="685800" y="1828800"/>
            <a:ext cx="10820095" cy="786384"/>
          </a:xfrm>
          <a:prstGeom prst="roundRect">
            <a:avLst>
              <a:gd name="adj" fmla="val 6977"/>
            </a:avLst>
          </a:prstGeom>
          <a:solidFill>
            <a:srgbClr val="E4F3F0"/>
          </a:solidFill>
          <a:ln w="12700">
            <a:solidFill>
              <a:srgbClr val="0E7A6E"/>
            </a:solidFill>
            <a:prstDash val="solid"/>
          </a:ln>
        </p:spPr>
      </p:sp>
      <p:sp>
        <p:nvSpPr>
          <p:cNvPr id="7" name="Shape 5"/>
          <p:cNvSpPr/>
          <p:nvPr/>
        </p:nvSpPr>
        <p:spPr>
          <a:xfrm>
            <a:off x="685800" y="1828800"/>
            <a:ext cx="50292" cy="786384"/>
          </a:xfrm>
          <a:prstGeom prst="rect">
            <a:avLst/>
          </a:prstGeom>
          <a:solidFill>
            <a:srgbClr val="0E7A6E"/>
          </a:solidFill>
          <a:ln w="12700">
            <a:solidFill>
              <a:srgbClr val="0E7A6E"/>
            </a:solidFill>
            <a:prstDash val="solid"/>
          </a:ln>
        </p:spPr>
      </p:sp>
      <p:sp>
        <p:nvSpPr>
          <p:cNvPr id="8" name="Text 6"/>
          <p:cNvSpPr txBox="1"/>
          <p:nvPr/>
        </p:nvSpPr>
        <p:spPr>
          <a:xfrm>
            <a:off x="960120" y="1920240"/>
            <a:ext cx="2377440" cy="603504"/>
          </a:xfrm>
          <a:prstGeom prst="rect">
            <a:avLst/>
          </a:prstGeom>
          <a:noFill/>
          <a:ln/>
        </p:spPr>
        <p:txBody>
          <a:bodyPr wrap="square" lIns="0" tIns="0" rIns="0" bIns="0" rtlCol="0" anchor="ctr"/>
          <a:lstStyle/>
          <a:p>
            <a:pPr indent="0" marL="0">
              <a:buNone/>
            </a:pPr>
            <a:r>
              <a:rPr lang="en-US" sz="1300" b="1" dirty="0">
                <a:solidFill>
                  <a:srgbClr val="0E7A6E"/>
                </a:solidFill>
                <a:latin typeface="Calibri" pitchFamily="34" charset="0"/>
                <a:ea typeface="Calibri" pitchFamily="34" charset="-122"/>
                <a:cs typeface="Calibri" pitchFamily="34" charset="-120"/>
              </a:rPr>
              <a:t>DERMS</a:t>
            </a:r>
            <a:endParaRPr lang="en-US" sz="1300" dirty="0"/>
          </a:p>
        </p:txBody>
      </p:sp>
      <p:sp>
        <p:nvSpPr>
          <p:cNvPr id="9" name="Text 7"/>
          <p:cNvSpPr txBox="1"/>
          <p:nvPr/>
        </p:nvSpPr>
        <p:spPr>
          <a:xfrm>
            <a:off x="3474720" y="1901952"/>
            <a:ext cx="7756855" cy="64008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The DISCOM's control system for its many small customer-owned devices — “SCADA, but for rooftops.” Issues real commands.</a:t>
            </a:r>
            <a:endParaRPr lang="en-US" sz="1150" dirty="0"/>
          </a:p>
        </p:txBody>
      </p:sp>
      <p:sp>
        <p:nvSpPr>
          <p:cNvPr id="10" name="Shape 8"/>
          <p:cNvSpPr/>
          <p:nvPr/>
        </p:nvSpPr>
        <p:spPr>
          <a:xfrm>
            <a:off x="685800" y="2688336"/>
            <a:ext cx="10820095" cy="786384"/>
          </a:xfrm>
          <a:prstGeom prst="roundRect">
            <a:avLst>
              <a:gd name="adj" fmla="val 6977"/>
            </a:avLst>
          </a:prstGeom>
          <a:solidFill>
            <a:srgbClr val="E6EEFD"/>
          </a:solidFill>
          <a:ln w="12700">
            <a:solidFill>
              <a:srgbClr val="1D4ED8"/>
            </a:solidFill>
            <a:prstDash val="solid"/>
          </a:ln>
        </p:spPr>
      </p:sp>
      <p:sp>
        <p:nvSpPr>
          <p:cNvPr id="11" name="Shape 9"/>
          <p:cNvSpPr/>
          <p:nvPr/>
        </p:nvSpPr>
        <p:spPr>
          <a:xfrm>
            <a:off x="685800" y="2688336"/>
            <a:ext cx="50292" cy="786384"/>
          </a:xfrm>
          <a:prstGeom prst="rect">
            <a:avLst/>
          </a:prstGeom>
          <a:solidFill>
            <a:srgbClr val="1D4ED8"/>
          </a:solidFill>
          <a:ln w="12700">
            <a:solidFill>
              <a:srgbClr val="1D4ED8"/>
            </a:solidFill>
            <a:prstDash val="solid"/>
          </a:ln>
        </p:spPr>
      </p:sp>
      <p:sp>
        <p:nvSpPr>
          <p:cNvPr id="12" name="Text 10"/>
          <p:cNvSpPr txBox="1"/>
          <p:nvPr/>
        </p:nvSpPr>
        <p:spPr>
          <a:xfrm>
            <a:off x="960120" y="2779776"/>
            <a:ext cx="2377440" cy="603504"/>
          </a:xfrm>
          <a:prstGeom prst="rect">
            <a:avLst/>
          </a:prstGeom>
          <a:noFill/>
          <a:ln/>
        </p:spPr>
        <p:txBody>
          <a:bodyPr wrap="square" lIns="0" tIns="0" rIns="0" bIns="0" rtlCol="0" anchor="ctr"/>
          <a:lstStyle/>
          <a:p>
            <a:pPr indent="0" marL="0">
              <a:buNone/>
            </a:pPr>
            <a:r>
              <a:rPr lang="en-US" sz="1300" b="1" dirty="0">
                <a:solidFill>
                  <a:srgbClr val="1D4ED8"/>
                </a:solidFill>
                <a:latin typeface="Calibri" pitchFamily="34" charset="0"/>
                <a:ea typeface="Calibri" pitchFamily="34" charset="-122"/>
                <a:cs typeface="Calibri" pitchFamily="34" charset="-120"/>
              </a:rPr>
              <a:t>SunSpec Modbus</a:t>
            </a:r>
            <a:endParaRPr lang="en-US" sz="1300" dirty="0"/>
          </a:p>
        </p:txBody>
      </p:sp>
      <p:sp>
        <p:nvSpPr>
          <p:cNvPr id="13" name="Text 11"/>
          <p:cNvSpPr txBox="1"/>
          <p:nvPr/>
        </p:nvSpPr>
        <p:spPr>
          <a:xfrm>
            <a:off x="3474720" y="2761488"/>
            <a:ext cx="7756855" cy="64008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A “universal remote control” language most commercial inverters already speak, across brands.</a:t>
            </a:r>
            <a:endParaRPr lang="en-US" sz="1150" dirty="0"/>
          </a:p>
        </p:txBody>
      </p:sp>
      <p:sp>
        <p:nvSpPr>
          <p:cNvPr id="14" name="Shape 12"/>
          <p:cNvSpPr/>
          <p:nvPr/>
        </p:nvSpPr>
        <p:spPr>
          <a:xfrm>
            <a:off x="685800" y="3547872"/>
            <a:ext cx="10820095" cy="786384"/>
          </a:xfrm>
          <a:prstGeom prst="roundRect">
            <a:avLst>
              <a:gd name="adj" fmla="val 6977"/>
            </a:avLst>
          </a:prstGeom>
          <a:solidFill>
            <a:srgbClr val="EFE8FA"/>
          </a:solidFill>
          <a:ln w="12700">
            <a:solidFill>
              <a:srgbClr val="6D3BC4"/>
            </a:solidFill>
            <a:prstDash val="solid"/>
          </a:ln>
        </p:spPr>
      </p:sp>
      <p:sp>
        <p:nvSpPr>
          <p:cNvPr id="15" name="Shape 13"/>
          <p:cNvSpPr/>
          <p:nvPr/>
        </p:nvSpPr>
        <p:spPr>
          <a:xfrm>
            <a:off x="685800" y="3547872"/>
            <a:ext cx="50292" cy="786384"/>
          </a:xfrm>
          <a:prstGeom prst="rect">
            <a:avLst/>
          </a:prstGeom>
          <a:solidFill>
            <a:srgbClr val="6D3BC4"/>
          </a:solidFill>
          <a:ln w="12700">
            <a:solidFill>
              <a:srgbClr val="6D3BC4"/>
            </a:solidFill>
            <a:prstDash val="solid"/>
          </a:ln>
        </p:spPr>
      </p:sp>
      <p:sp>
        <p:nvSpPr>
          <p:cNvPr id="16" name="Text 14"/>
          <p:cNvSpPr txBox="1"/>
          <p:nvPr/>
        </p:nvSpPr>
        <p:spPr>
          <a:xfrm>
            <a:off x="960120" y="3639312"/>
            <a:ext cx="2377440" cy="603504"/>
          </a:xfrm>
          <a:prstGeom prst="rect">
            <a:avLst/>
          </a:prstGeom>
          <a:noFill/>
          <a:ln/>
        </p:spPr>
        <p:txBody>
          <a:bodyPr wrap="square" lIns="0" tIns="0" rIns="0" bIns="0" rtlCol="0" anchor="ctr"/>
          <a:lstStyle/>
          <a:p>
            <a:pPr indent="0" marL="0">
              <a:buNone/>
            </a:pPr>
            <a:r>
              <a:rPr lang="en-US" sz="1300" b="1" dirty="0">
                <a:solidFill>
                  <a:srgbClr val="6D3BC4"/>
                </a:solidFill>
                <a:latin typeface="Calibri" pitchFamily="34" charset="0"/>
                <a:ea typeface="Calibri" pitchFamily="34" charset="-122"/>
                <a:cs typeface="Calibri" pitchFamily="34" charset="-120"/>
              </a:rPr>
              <a:t>IEEE 2030.5</a:t>
            </a:r>
            <a:endParaRPr lang="en-US" sz="1300" dirty="0"/>
          </a:p>
        </p:txBody>
      </p:sp>
      <p:sp>
        <p:nvSpPr>
          <p:cNvPr id="17" name="Text 15"/>
          <p:cNvSpPr txBox="1"/>
          <p:nvPr/>
        </p:nvSpPr>
        <p:spPr>
          <a:xfrm>
            <a:off x="3474720" y="3621024"/>
            <a:ext cx="7756855" cy="64008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A newer, internet-style, security-built-in standard for home DER devices — mandated in California's Rule 21.</a:t>
            </a:r>
            <a:endParaRPr lang="en-US" sz="1150" dirty="0"/>
          </a:p>
        </p:txBody>
      </p:sp>
      <p:sp>
        <p:nvSpPr>
          <p:cNvPr id="18" name="Shape 16"/>
          <p:cNvSpPr/>
          <p:nvPr/>
        </p:nvSpPr>
        <p:spPr>
          <a:xfrm>
            <a:off x="685800" y="4407408"/>
            <a:ext cx="10820095" cy="786384"/>
          </a:xfrm>
          <a:prstGeom prst="roundRect">
            <a:avLst>
              <a:gd name="adj" fmla="val 6977"/>
            </a:avLst>
          </a:prstGeom>
          <a:solidFill>
            <a:srgbClr val="FCEEDD"/>
          </a:solidFill>
          <a:ln w="12700">
            <a:solidFill>
              <a:srgbClr val="B85C0A"/>
            </a:solidFill>
            <a:prstDash val="solid"/>
          </a:ln>
        </p:spPr>
      </p:sp>
      <p:sp>
        <p:nvSpPr>
          <p:cNvPr id="19" name="Shape 17"/>
          <p:cNvSpPr/>
          <p:nvPr/>
        </p:nvSpPr>
        <p:spPr>
          <a:xfrm>
            <a:off x="685800" y="4407408"/>
            <a:ext cx="50292" cy="786384"/>
          </a:xfrm>
          <a:prstGeom prst="rect">
            <a:avLst/>
          </a:prstGeom>
          <a:solidFill>
            <a:srgbClr val="B85C0A"/>
          </a:solidFill>
          <a:ln w="12700">
            <a:solidFill>
              <a:srgbClr val="B85C0A"/>
            </a:solidFill>
            <a:prstDash val="solid"/>
          </a:ln>
        </p:spPr>
      </p:sp>
      <p:sp>
        <p:nvSpPr>
          <p:cNvPr id="20" name="Text 18"/>
          <p:cNvSpPr txBox="1"/>
          <p:nvPr/>
        </p:nvSpPr>
        <p:spPr>
          <a:xfrm>
            <a:off x="960120" y="4498848"/>
            <a:ext cx="2377440" cy="603504"/>
          </a:xfrm>
          <a:prstGeom prst="rect">
            <a:avLst/>
          </a:prstGeom>
          <a:noFill/>
          <a:ln/>
        </p:spPr>
        <p:txBody>
          <a:bodyPr wrap="square" lIns="0" tIns="0" rIns="0" bIns="0" rtlCol="0" anchor="ctr"/>
          <a:lstStyle/>
          <a:p>
            <a:pPr indent="0" marL="0">
              <a:buNone/>
            </a:pPr>
            <a:r>
              <a:rPr lang="en-US" sz="1300" b="1" dirty="0">
                <a:solidFill>
                  <a:srgbClr val="B85C0A"/>
                </a:solidFill>
                <a:latin typeface="Calibri" pitchFamily="34" charset="0"/>
                <a:ea typeface="Calibri" pitchFamily="34" charset="-122"/>
                <a:cs typeface="Calibri" pitchFamily="34" charset="-120"/>
              </a:rPr>
              <a:t>OpenADR</a:t>
            </a:r>
            <a:endParaRPr lang="en-US" sz="1300" dirty="0"/>
          </a:p>
        </p:txBody>
      </p:sp>
      <p:sp>
        <p:nvSpPr>
          <p:cNvPr id="21" name="Text 19"/>
          <p:cNvSpPr txBox="1"/>
          <p:nvPr/>
        </p:nvSpPr>
        <p:spPr>
          <a:xfrm>
            <a:off x="3474720" y="4480560"/>
            <a:ext cx="7756855" cy="64008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Broadcasts “reduce load/generation now” signals to many devices at once — already used in real demand response.</a:t>
            </a:r>
            <a:endParaRPr lang="en-US" sz="1150" dirty="0"/>
          </a:p>
        </p:txBody>
      </p:sp>
      <p:sp>
        <p:nvSpPr>
          <p:cNvPr id="22" name="Shape 20"/>
          <p:cNvSpPr/>
          <p:nvPr/>
        </p:nvSpPr>
        <p:spPr>
          <a:xfrm>
            <a:off x="685800" y="5266944"/>
            <a:ext cx="10820095" cy="786384"/>
          </a:xfrm>
          <a:prstGeom prst="roundRect">
            <a:avLst>
              <a:gd name="adj" fmla="val 6977"/>
            </a:avLst>
          </a:prstGeom>
          <a:solidFill>
            <a:srgbClr val="FAE6E6"/>
          </a:solidFill>
          <a:ln w="12700">
            <a:solidFill>
              <a:srgbClr val="A82A2A"/>
            </a:solidFill>
            <a:prstDash val="solid"/>
          </a:ln>
        </p:spPr>
      </p:sp>
      <p:sp>
        <p:nvSpPr>
          <p:cNvPr id="23" name="Shape 21"/>
          <p:cNvSpPr/>
          <p:nvPr/>
        </p:nvSpPr>
        <p:spPr>
          <a:xfrm>
            <a:off x="685800" y="5266944"/>
            <a:ext cx="50292" cy="786384"/>
          </a:xfrm>
          <a:prstGeom prst="rect">
            <a:avLst/>
          </a:prstGeom>
          <a:solidFill>
            <a:srgbClr val="A82A2A"/>
          </a:solidFill>
          <a:ln w="12700">
            <a:solidFill>
              <a:srgbClr val="A82A2A"/>
            </a:solidFill>
            <a:prstDash val="solid"/>
          </a:ln>
        </p:spPr>
      </p:sp>
      <p:sp>
        <p:nvSpPr>
          <p:cNvPr id="24" name="Text 22"/>
          <p:cNvSpPr txBox="1"/>
          <p:nvPr/>
        </p:nvSpPr>
        <p:spPr>
          <a:xfrm>
            <a:off x="960120" y="5358384"/>
            <a:ext cx="2377440" cy="603504"/>
          </a:xfrm>
          <a:prstGeom prst="rect">
            <a:avLst/>
          </a:prstGeom>
          <a:noFill/>
          <a:ln/>
        </p:spPr>
        <p:txBody>
          <a:bodyPr wrap="square" lIns="0" tIns="0" rIns="0" bIns="0" rtlCol="0" anchor="ctr"/>
          <a:lstStyle/>
          <a:p>
            <a:pPr indent="0" marL="0">
              <a:buNone/>
            </a:pPr>
            <a:r>
              <a:rPr lang="en-US" sz="1300" b="1" dirty="0">
                <a:solidFill>
                  <a:srgbClr val="A82A2A"/>
                </a:solidFill>
                <a:latin typeface="Calibri" pitchFamily="34" charset="0"/>
                <a:ea typeface="Calibri" pitchFamily="34" charset="-122"/>
                <a:cs typeface="Calibri" pitchFamily="34" charset="-120"/>
              </a:rPr>
              <a:t>Anti-islanding</a:t>
            </a:r>
            <a:endParaRPr lang="en-US" sz="1300" dirty="0"/>
          </a:p>
        </p:txBody>
      </p:sp>
      <p:sp>
        <p:nvSpPr>
          <p:cNvPr id="25" name="Text 23"/>
          <p:cNvSpPr txBox="1"/>
          <p:nvPr/>
        </p:nvSpPr>
        <p:spPr>
          <a:xfrm>
            <a:off x="3474720" y="5340096"/>
            <a:ext cx="7756855" cy="64008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A mandatory, purely local inverter safety behavior — disconnects on grid loss, zero network dependency.</a:t>
            </a:r>
            <a:endParaRPr lang="en-US" sz="1150" dirty="0"/>
          </a:p>
        </p:txBody>
      </p:sp>
      <p:sp>
        <p:nvSpPr>
          <p:cNvPr id="26" name="Text 24"/>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IEEE 2030.5 / SunSpec Alliance / OpenADR Alliance public standards; IEEE 1547-2018 anti-islanding requirement</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C   THE REAL SYSTEMS UNDERNEATH</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Capacity &amp; records</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Where the real ceiling on “how much can I sell” actually comes from.</a:t>
            </a:r>
            <a:endParaRPr lang="en-US" sz="1350" dirty="0"/>
          </a:p>
        </p:txBody>
      </p:sp>
      <p:sp>
        <p:nvSpPr>
          <p:cNvPr id="6" name="Shape 4"/>
          <p:cNvSpPr/>
          <p:nvPr/>
        </p:nvSpPr>
        <p:spPr>
          <a:xfrm>
            <a:off x="685800" y="1920240"/>
            <a:ext cx="3423818" cy="2834640"/>
          </a:xfrm>
          <a:prstGeom prst="roundRect">
            <a:avLst>
              <a:gd name="adj" fmla="val 1935"/>
            </a:avLst>
          </a:prstGeom>
          <a:solidFill>
            <a:srgbClr val="E4F3F0"/>
          </a:solidFill>
          <a:ln w="12700">
            <a:solidFill>
              <a:srgbClr val="0E7A6E"/>
            </a:solidFill>
            <a:prstDash val="solid"/>
          </a:ln>
        </p:spPr>
      </p:sp>
      <p:sp>
        <p:nvSpPr>
          <p:cNvPr id="7" name="Shape 5"/>
          <p:cNvSpPr/>
          <p:nvPr/>
        </p:nvSpPr>
        <p:spPr>
          <a:xfrm>
            <a:off x="685800" y="1920240"/>
            <a:ext cx="50292" cy="2834640"/>
          </a:xfrm>
          <a:prstGeom prst="rect">
            <a:avLst/>
          </a:prstGeom>
          <a:solidFill>
            <a:srgbClr val="0E7A6E"/>
          </a:solidFill>
          <a:ln w="12700">
            <a:solidFill>
              <a:srgbClr val="0E7A6E"/>
            </a:solidFill>
            <a:prstDash val="solid"/>
          </a:ln>
        </p:spPr>
      </p:sp>
      <p:sp>
        <p:nvSpPr>
          <p:cNvPr id="8" name="Text 6"/>
          <p:cNvSpPr txBox="1"/>
          <p:nvPr/>
        </p:nvSpPr>
        <p:spPr>
          <a:xfrm>
            <a:off x="941832" y="2084832"/>
            <a:ext cx="2966618" cy="384048"/>
          </a:xfrm>
          <a:prstGeom prst="rect">
            <a:avLst/>
          </a:prstGeom>
          <a:noFill/>
          <a:ln/>
        </p:spPr>
        <p:txBody>
          <a:bodyPr wrap="square" lIns="0" tIns="0" rIns="0" bIns="0" rtlCol="0" anchor="ctr"/>
          <a:lstStyle/>
          <a:p>
            <a:pPr indent="0" marL="0">
              <a:lnSpc>
                <a:spcPct val="105000"/>
              </a:lnSpc>
              <a:buNone/>
            </a:pPr>
            <a:r>
              <a:rPr lang="en-US" sz="1450" b="1" dirty="0">
                <a:solidFill>
                  <a:srgbClr val="0E7A6E"/>
                </a:solidFill>
                <a:latin typeface="Calibri" pitchFamily="34" charset="0"/>
                <a:ea typeface="Calibri" pitchFamily="34" charset="-122"/>
                <a:cs typeface="Calibri" pitchFamily="34" charset="-120"/>
              </a:rPr>
              <a:t>Transformer / feeder</a:t>
            </a:r>
            <a:endParaRPr lang="en-US" sz="1450" dirty="0"/>
          </a:p>
        </p:txBody>
      </p:sp>
      <p:sp>
        <p:nvSpPr>
          <p:cNvPr id="9" name="Text 7"/>
          <p:cNvSpPr txBox="1"/>
          <p:nvPr/>
        </p:nvSpPr>
        <p:spPr>
          <a:xfrm>
            <a:off x="941832" y="2487168"/>
            <a:ext cx="2966618" cy="2103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A feeder is one branch of wiring to a cluster of homes; a transformer steps voltage down to household level. Both have real physical current limits.</a:t>
            </a:r>
            <a:endParaRPr lang="en-US" sz="1150" dirty="0"/>
          </a:p>
        </p:txBody>
      </p:sp>
      <p:sp>
        <p:nvSpPr>
          <p:cNvPr id="10" name="Shape 8"/>
          <p:cNvSpPr/>
          <p:nvPr/>
        </p:nvSpPr>
        <p:spPr>
          <a:xfrm>
            <a:off x="4383938" y="1920240"/>
            <a:ext cx="3423818" cy="2834640"/>
          </a:xfrm>
          <a:prstGeom prst="roundRect">
            <a:avLst>
              <a:gd name="adj" fmla="val 1935"/>
            </a:avLst>
          </a:prstGeom>
          <a:solidFill>
            <a:srgbClr val="E6EEFD"/>
          </a:solidFill>
          <a:ln w="12700">
            <a:solidFill>
              <a:srgbClr val="1D4ED8"/>
            </a:solidFill>
            <a:prstDash val="solid"/>
          </a:ln>
        </p:spPr>
      </p:sp>
      <p:sp>
        <p:nvSpPr>
          <p:cNvPr id="11" name="Shape 9"/>
          <p:cNvSpPr/>
          <p:nvPr/>
        </p:nvSpPr>
        <p:spPr>
          <a:xfrm>
            <a:off x="4383938" y="1920240"/>
            <a:ext cx="50292" cy="2834640"/>
          </a:xfrm>
          <a:prstGeom prst="rect">
            <a:avLst/>
          </a:prstGeom>
          <a:solidFill>
            <a:srgbClr val="1D4ED8"/>
          </a:solidFill>
          <a:ln w="12700">
            <a:solidFill>
              <a:srgbClr val="1D4ED8"/>
            </a:solidFill>
            <a:prstDash val="solid"/>
          </a:ln>
        </p:spPr>
      </p:sp>
      <p:sp>
        <p:nvSpPr>
          <p:cNvPr id="12" name="Text 10"/>
          <p:cNvSpPr txBox="1"/>
          <p:nvPr/>
        </p:nvSpPr>
        <p:spPr>
          <a:xfrm>
            <a:off x="4639970" y="2084832"/>
            <a:ext cx="2966618" cy="384048"/>
          </a:xfrm>
          <a:prstGeom prst="rect">
            <a:avLst/>
          </a:prstGeom>
          <a:noFill/>
          <a:ln/>
        </p:spPr>
        <p:txBody>
          <a:bodyPr wrap="square" lIns="0" tIns="0" rIns="0" bIns="0" rtlCol="0" anchor="ctr"/>
          <a:lstStyle/>
          <a:p>
            <a:pPr indent="0" marL="0">
              <a:lnSpc>
                <a:spcPct val="105000"/>
              </a:lnSpc>
              <a:buNone/>
            </a:pPr>
            <a:r>
              <a:rPr lang="en-US" sz="1450" b="1" dirty="0">
                <a:solidFill>
                  <a:srgbClr val="1D4ED8"/>
                </a:solidFill>
                <a:latin typeface="Calibri" pitchFamily="34" charset="0"/>
                <a:ea typeface="Calibri" pitchFamily="34" charset="-122"/>
                <a:cs typeface="Calibri" pitchFamily="34" charset="-120"/>
              </a:rPr>
              <a:t>Sanctioned capacity</a:t>
            </a:r>
            <a:endParaRPr lang="en-US" sz="1450" dirty="0"/>
          </a:p>
        </p:txBody>
      </p:sp>
      <p:sp>
        <p:nvSpPr>
          <p:cNvPr id="13" name="Text 11"/>
          <p:cNvSpPr txBox="1"/>
          <p:nvPr/>
        </p:nvSpPr>
        <p:spPr>
          <a:xfrm>
            <a:off x="4639970" y="2487168"/>
            <a:ext cx="2966618" cy="2103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The DISCOM-approved maximum export for a specific connection, set at installation — based on what the local line can safely absorb.</a:t>
            </a:r>
            <a:endParaRPr lang="en-US" sz="1150" dirty="0"/>
          </a:p>
        </p:txBody>
      </p:sp>
      <p:sp>
        <p:nvSpPr>
          <p:cNvPr id="14" name="Shape 12"/>
          <p:cNvSpPr/>
          <p:nvPr/>
        </p:nvSpPr>
        <p:spPr>
          <a:xfrm>
            <a:off x="8082077" y="1920240"/>
            <a:ext cx="3423818" cy="2834640"/>
          </a:xfrm>
          <a:prstGeom prst="roundRect">
            <a:avLst>
              <a:gd name="adj" fmla="val 1935"/>
            </a:avLst>
          </a:prstGeom>
          <a:solidFill>
            <a:srgbClr val="EFE8FA"/>
          </a:solidFill>
          <a:ln w="12700">
            <a:solidFill>
              <a:srgbClr val="6D3BC4"/>
            </a:solidFill>
            <a:prstDash val="solid"/>
          </a:ln>
        </p:spPr>
      </p:sp>
      <p:sp>
        <p:nvSpPr>
          <p:cNvPr id="15" name="Shape 13"/>
          <p:cNvSpPr/>
          <p:nvPr/>
        </p:nvSpPr>
        <p:spPr>
          <a:xfrm>
            <a:off x="8082077" y="1920240"/>
            <a:ext cx="50292" cy="2834640"/>
          </a:xfrm>
          <a:prstGeom prst="rect">
            <a:avLst/>
          </a:prstGeom>
          <a:solidFill>
            <a:srgbClr val="6D3BC4"/>
          </a:solidFill>
          <a:ln w="12700">
            <a:solidFill>
              <a:srgbClr val="6D3BC4"/>
            </a:solidFill>
            <a:prstDash val="solid"/>
          </a:ln>
        </p:spPr>
      </p:sp>
      <p:sp>
        <p:nvSpPr>
          <p:cNvPr id="16" name="Text 14"/>
          <p:cNvSpPr txBox="1"/>
          <p:nvPr/>
        </p:nvSpPr>
        <p:spPr>
          <a:xfrm>
            <a:off x="8338109" y="2084832"/>
            <a:ext cx="2966618" cy="384048"/>
          </a:xfrm>
          <a:prstGeom prst="rect">
            <a:avLst/>
          </a:prstGeom>
          <a:noFill/>
          <a:ln/>
        </p:spPr>
        <p:txBody>
          <a:bodyPr wrap="square" lIns="0" tIns="0" rIns="0" bIns="0" rtlCol="0" anchor="ctr"/>
          <a:lstStyle/>
          <a:p>
            <a:pPr indent="0" marL="0">
              <a:lnSpc>
                <a:spcPct val="105000"/>
              </a:lnSpc>
              <a:buNone/>
            </a:pPr>
            <a:r>
              <a:rPr lang="en-US" sz="1450" b="1" dirty="0">
                <a:solidFill>
                  <a:srgbClr val="6D3BC4"/>
                </a:solidFill>
                <a:latin typeface="Calibri" pitchFamily="34" charset="0"/>
                <a:ea typeface="Calibri" pitchFamily="34" charset="-122"/>
                <a:cs typeface="Calibri" pitchFamily="34" charset="-120"/>
              </a:rPr>
              <a:t>CIS</a:t>
            </a:r>
            <a:endParaRPr lang="en-US" sz="1450" dirty="0"/>
          </a:p>
        </p:txBody>
      </p:sp>
      <p:sp>
        <p:nvSpPr>
          <p:cNvPr id="17" name="Text 15"/>
          <p:cNvSpPr txBox="1"/>
          <p:nvPr/>
        </p:nvSpPr>
        <p:spPr>
          <a:xfrm>
            <a:off x="8338109" y="2487168"/>
            <a:ext cx="2966618" cy="2103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Customer Information System — the DISCOM's internal account/connection database. Holds the one real number a capacity check needs.</a:t>
            </a:r>
            <a:endParaRPr lang="en-US" sz="1150" dirty="0"/>
          </a:p>
        </p:txBody>
      </p:sp>
      <p:sp>
        <p:nvSpPr>
          <p:cNvPr id="18" name="Text 16"/>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CEA Connectivity Regulations 2013; standard DISCOM interconnection-approval practice</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D   HOW A REAL OFFER GETS PUBLISHED</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Today's demo vs. a real rollout</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Our dashboard's “type a kW number” field is a placeholder for steps 1–2 — nobody would type this in reality.</a:t>
            </a:r>
            <a:endParaRPr lang="en-US" sz="1350" dirty="0"/>
          </a:p>
        </p:txBody>
      </p:sp>
      <p:sp>
        <p:nvSpPr>
          <p:cNvPr id="6" name="Shape 4"/>
          <p:cNvSpPr/>
          <p:nvPr/>
        </p:nvSpPr>
        <p:spPr>
          <a:xfrm>
            <a:off x="685800" y="1965960"/>
            <a:ext cx="2533574" cy="1920240"/>
          </a:xfrm>
          <a:prstGeom prst="roundRect">
            <a:avLst>
              <a:gd name="adj" fmla="val 2857"/>
            </a:avLst>
          </a:prstGeom>
          <a:solidFill>
            <a:srgbClr val="FCEEDD"/>
          </a:solidFill>
          <a:ln w="12700">
            <a:solidFill>
              <a:srgbClr val="B85C0A"/>
            </a:solidFill>
            <a:prstDash val="solid"/>
          </a:ln>
        </p:spPr>
      </p:sp>
      <p:sp>
        <p:nvSpPr>
          <p:cNvPr id="7" name="Shape 5"/>
          <p:cNvSpPr/>
          <p:nvPr/>
        </p:nvSpPr>
        <p:spPr>
          <a:xfrm>
            <a:off x="685800" y="1965960"/>
            <a:ext cx="50292" cy="1920240"/>
          </a:xfrm>
          <a:prstGeom prst="rect">
            <a:avLst/>
          </a:prstGeom>
          <a:solidFill>
            <a:srgbClr val="B85C0A"/>
          </a:solidFill>
          <a:ln w="12700">
            <a:solidFill>
              <a:srgbClr val="B85C0A"/>
            </a:solidFill>
            <a:prstDash val="solid"/>
          </a:ln>
        </p:spPr>
      </p:sp>
      <p:sp>
        <p:nvSpPr>
          <p:cNvPr id="8" name="Text 6"/>
          <p:cNvSpPr txBox="1"/>
          <p:nvPr/>
        </p:nvSpPr>
        <p:spPr>
          <a:xfrm>
            <a:off x="886968" y="2130552"/>
            <a:ext cx="2131238" cy="274320"/>
          </a:xfrm>
          <a:prstGeom prst="rect">
            <a:avLst/>
          </a:prstGeom>
          <a:noFill/>
          <a:ln/>
        </p:spPr>
        <p:txBody>
          <a:bodyPr wrap="square" lIns="0" tIns="0" rIns="0" bIns="0" rtlCol="0" anchor="ctr"/>
          <a:lstStyle/>
          <a:p>
            <a:pPr indent="0" marL="0">
              <a:buNone/>
            </a:pPr>
            <a:r>
              <a:rPr lang="en-US" sz="950" b="1" spc="50" kern="0" dirty="0">
                <a:solidFill>
                  <a:srgbClr val="B85C0A"/>
                </a:solidFill>
                <a:latin typeface="Calibri" pitchFamily="34" charset="0"/>
                <a:ea typeface="Calibri" pitchFamily="34" charset="-122"/>
                <a:cs typeface="Calibri" pitchFamily="34" charset="-120"/>
              </a:rPr>
              <a:t>NOT BUILT YET</a:t>
            </a:r>
            <a:endParaRPr lang="en-US" sz="950" dirty="0"/>
          </a:p>
        </p:txBody>
      </p:sp>
      <p:sp>
        <p:nvSpPr>
          <p:cNvPr id="9" name="Text 7"/>
          <p:cNvSpPr txBox="1"/>
          <p:nvPr/>
        </p:nvSpPr>
        <p:spPr>
          <a:xfrm>
            <a:off x="886968" y="245973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1. Forecast</a:t>
            </a:r>
            <a:endParaRPr lang="en-US" sz="1300" dirty="0"/>
          </a:p>
        </p:txBody>
      </p:sp>
      <p:sp>
        <p:nvSpPr>
          <p:cNvPr id="10" name="Text 8"/>
          <p:cNvSpPr txBox="1"/>
          <p:nvPr/>
        </p:nvSpPr>
        <p:spPr>
          <a:xfrm>
            <a:off x="886968" y="2926080"/>
            <a:ext cx="2131238" cy="77724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Weather + historical pattern + load pattern → believable future availability</a:t>
            </a:r>
            <a:endParaRPr lang="en-US" sz="1000" dirty="0"/>
          </a:p>
        </p:txBody>
      </p:sp>
      <p:sp>
        <p:nvSpPr>
          <p:cNvPr id="11" name="Shape 9"/>
          <p:cNvSpPr/>
          <p:nvPr/>
        </p:nvSpPr>
        <p:spPr>
          <a:xfrm>
            <a:off x="3228518" y="2825496"/>
            <a:ext cx="201168" cy="201168"/>
          </a:xfrm>
          <a:prstGeom prst="chevron">
            <a:avLst/>
          </a:prstGeom>
          <a:solidFill>
            <a:srgbClr val="9CA3AF"/>
          </a:solidFill>
          <a:ln w="12700">
            <a:solidFill>
              <a:srgbClr val="9CA3AF"/>
            </a:solidFill>
            <a:prstDash val="solid"/>
          </a:ln>
        </p:spPr>
      </p:sp>
      <p:sp>
        <p:nvSpPr>
          <p:cNvPr id="12" name="Shape 10"/>
          <p:cNvSpPr/>
          <p:nvPr/>
        </p:nvSpPr>
        <p:spPr>
          <a:xfrm>
            <a:off x="3447974" y="1965960"/>
            <a:ext cx="2533574" cy="1920240"/>
          </a:xfrm>
          <a:prstGeom prst="roundRect">
            <a:avLst>
              <a:gd name="adj" fmla="val 2857"/>
            </a:avLst>
          </a:prstGeom>
          <a:solidFill>
            <a:srgbClr val="FCEEDD"/>
          </a:solidFill>
          <a:ln w="12700">
            <a:solidFill>
              <a:srgbClr val="B85C0A"/>
            </a:solidFill>
            <a:prstDash val="solid"/>
          </a:ln>
        </p:spPr>
      </p:sp>
      <p:sp>
        <p:nvSpPr>
          <p:cNvPr id="13" name="Shape 11"/>
          <p:cNvSpPr/>
          <p:nvPr/>
        </p:nvSpPr>
        <p:spPr>
          <a:xfrm>
            <a:off x="3447974" y="1965960"/>
            <a:ext cx="50292" cy="1920240"/>
          </a:xfrm>
          <a:prstGeom prst="rect">
            <a:avLst/>
          </a:prstGeom>
          <a:solidFill>
            <a:srgbClr val="B85C0A"/>
          </a:solidFill>
          <a:ln w="12700">
            <a:solidFill>
              <a:srgbClr val="B85C0A"/>
            </a:solidFill>
            <a:prstDash val="solid"/>
          </a:ln>
        </p:spPr>
      </p:sp>
      <p:sp>
        <p:nvSpPr>
          <p:cNvPr id="14" name="Text 12"/>
          <p:cNvSpPr txBox="1"/>
          <p:nvPr/>
        </p:nvSpPr>
        <p:spPr>
          <a:xfrm>
            <a:off x="3649142" y="2130552"/>
            <a:ext cx="2131238" cy="274320"/>
          </a:xfrm>
          <a:prstGeom prst="rect">
            <a:avLst/>
          </a:prstGeom>
          <a:noFill/>
          <a:ln/>
        </p:spPr>
        <p:txBody>
          <a:bodyPr wrap="square" lIns="0" tIns="0" rIns="0" bIns="0" rtlCol="0" anchor="ctr"/>
          <a:lstStyle/>
          <a:p>
            <a:pPr indent="0" marL="0">
              <a:buNone/>
            </a:pPr>
            <a:r>
              <a:rPr lang="en-US" sz="950" b="1" spc="50" kern="0" dirty="0">
                <a:solidFill>
                  <a:srgbClr val="B85C0A"/>
                </a:solidFill>
                <a:latin typeface="Calibri" pitchFamily="34" charset="0"/>
                <a:ea typeface="Calibri" pitchFamily="34" charset="-122"/>
                <a:cs typeface="Calibri" pitchFamily="34" charset="-120"/>
              </a:rPr>
              <a:t>NOT BUILT YET</a:t>
            </a:r>
            <a:endParaRPr lang="en-US" sz="950" dirty="0"/>
          </a:p>
        </p:txBody>
      </p:sp>
      <p:sp>
        <p:nvSpPr>
          <p:cNvPr id="15" name="Text 13"/>
          <p:cNvSpPr txBox="1"/>
          <p:nvPr/>
        </p:nvSpPr>
        <p:spPr>
          <a:xfrm>
            <a:off x="3649142" y="245973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2. Capacity check</a:t>
            </a:r>
            <a:endParaRPr lang="en-US" sz="1300" dirty="0"/>
          </a:p>
        </p:txBody>
      </p:sp>
      <p:sp>
        <p:nvSpPr>
          <p:cNvPr id="16" name="Text 14"/>
          <p:cNvSpPr txBox="1"/>
          <p:nvPr/>
        </p:nvSpPr>
        <p:spPr>
          <a:xfrm>
            <a:off x="3649142" y="2926080"/>
            <a:ext cx="2131238" cy="77724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Declared quantity checked against the DISCOM's sanctioned export limit</a:t>
            </a:r>
            <a:endParaRPr lang="en-US" sz="1000" dirty="0"/>
          </a:p>
        </p:txBody>
      </p:sp>
      <p:sp>
        <p:nvSpPr>
          <p:cNvPr id="17" name="Shape 15"/>
          <p:cNvSpPr/>
          <p:nvPr/>
        </p:nvSpPr>
        <p:spPr>
          <a:xfrm>
            <a:off x="5990692" y="2825496"/>
            <a:ext cx="201168" cy="201168"/>
          </a:xfrm>
          <a:prstGeom prst="chevron">
            <a:avLst/>
          </a:prstGeom>
          <a:solidFill>
            <a:srgbClr val="9CA3AF"/>
          </a:solidFill>
          <a:ln w="12700">
            <a:solidFill>
              <a:srgbClr val="9CA3AF"/>
            </a:solidFill>
            <a:prstDash val="solid"/>
          </a:ln>
        </p:spPr>
      </p:sp>
      <p:sp>
        <p:nvSpPr>
          <p:cNvPr id="18" name="Shape 16"/>
          <p:cNvSpPr/>
          <p:nvPr/>
        </p:nvSpPr>
        <p:spPr>
          <a:xfrm>
            <a:off x="6210148" y="1965960"/>
            <a:ext cx="2533574" cy="1920240"/>
          </a:xfrm>
          <a:prstGeom prst="roundRect">
            <a:avLst>
              <a:gd name="adj" fmla="val 2857"/>
            </a:avLst>
          </a:prstGeom>
          <a:solidFill>
            <a:srgbClr val="E6EEFD"/>
          </a:solidFill>
          <a:ln w="12700">
            <a:solidFill>
              <a:srgbClr val="1D4ED8"/>
            </a:solidFill>
            <a:prstDash val="solid"/>
          </a:ln>
        </p:spPr>
      </p:sp>
      <p:sp>
        <p:nvSpPr>
          <p:cNvPr id="19" name="Shape 17"/>
          <p:cNvSpPr/>
          <p:nvPr/>
        </p:nvSpPr>
        <p:spPr>
          <a:xfrm>
            <a:off x="6210148" y="1965960"/>
            <a:ext cx="50292" cy="1920240"/>
          </a:xfrm>
          <a:prstGeom prst="rect">
            <a:avLst/>
          </a:prstGeom>
          <a:solidFill>
            <a:srgbClr val="1D4ED8"/>
          </a:solidFill>
          <a:ln w="12700">
            <a:solidFill>
              <a:srgbClr val="1D4ED8"/>
            </a:solidFill>
            <a:prstDash val="solid"/>
          </a:ln>
        </p:spPr>
      </p:sp>
      <p:sp>
        <p:nvSpPr>
          <p:cNvPr id="20" name="Text 18"/>
          <p:cNvSpPr txBox="1"/>
          <p:nvPr/>
        </p:nvSpPr>
        <p:spPr>
          <a:xfrm>
            <a:off x="6411316" y="2130552"/>
            <a:ext cx="2131238" cy="274320"/>
          </a:xfrm>
          <a:prstGeom prst="rect">
            <a:avLst/>
          </a:prstGeom>
          <a:noFill/>
          <a:ln/>
        </p:spPr>
        <p:txBody>
          <a:bodyPr wrap="square" lIns="0" tIns="0" rIns="0" bIns="0" rtlCol="0" anchor="ctr"/>
          <a:lstStyle/>
          <a:p>
            <a:pPr indent="0" marL="0">
              <a:buNone/>
            </a:pPr>
            <a:r>
              <a:rPr lang="en-US" sz="950" b="1" spc="50" kern="0" dirty="0">
                <a:solidFill>
                  <a:srgbClr val="1D4ED8"/>
                </a:solidFill>
                <a:latin typeface="Calibri" pitchFamily="34" charset="0"/>
                <a:ea typeface="Calibri" pitchFamily="34" charset="-122"/>
                <a:cs typeface="Calibri" pitchFamily="34" charset="-120"/>
              </a:rPr>
              <a:t>WE BUILT THIS</a:t>
            </a:r>
            <a:endParaRPr lang="en-US" sz="950" dirty="0"/>
          </a:p>
        </p:txBody>
      </p:sp>
      <p:sp>
        <p:nvSpPr>
          <p:cNvPr id="21" name="Text 19"/>
          <p:cNvSpPr txBox="1"/>
          <p:nvPr/>
        </p:nvSpPr>
        <p:spPr>
          <a:xfrm>
            <a:off x="6411316" y="245973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3. Schema / API / routing</a:t>
            </a:r>
            <a:endParaRPr lang="en-US" sz="1300" dirty="0"/>
          </a:p>
        </p:txBody>
      </p:sp>
      <p:sp>
        <p:nvSpPr>
          <p:cNvPr id="22" name="Text 20"/>
          <p:cNvSpPr txBox="1"/>
          <p:nvPr/>
        </p:nvSpPr>
        <p:spPr>
          <a:xfrm>
            <a:off x="6411316" y="2926080"/>
            <a:ext cx="2131238" cy="77724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Beckn message, signed, routed network-wide</a:t>
            </a:r>
            <a:endParaRPr lang="en-US" sz="1000" dirty="0"/>
          </a:p>
        </p:txBody>
      </p:sp>
      <p:sp>
        <p:nvSpPr>
          <p:cNvPr id="23" name="Shape 21"/>
          <p:cNvSpPr/>
          <p:nvPr/>
        </p:nvSpPr>
        <p:spPr>
          <a:xfrm>
            <a:off x="8752865" y="2825496"/>
            <a:ext cx="201168" cy="201168"/>
          </a:xfrm>
          <a:prstGeom prst="chevron">
            <a:avLst/>
          </a:prstGeom>
          <a:solidFill>
            <a:srgbClr val="9CA3AF"/>
          </a:solidFill>
          <a:ln w="12700">
            <a:solidFill>
              <a:srgbClr val="9CA3AF"/>
            </a:solidFill>
            <a:prstDash val="solid"/>
          </a:ln>
        </p:spPr>
      </p:sp>
      <p:sp>
        <p:nvSpPr>
          <p:cNvPr id="24" name="Shape 22"/>
          <p:cNvSpPr/>
          <p:nvPr/>
        </p:nvSpPr>
        <p:spPr>
          <a:xfrm>
            <a:off x="8972321" y="1965960"/>
            <a:ext cx="2533574" cy="1920240"/>
          </a:xfrm>
          <a:prstGeom prst="roundRect">
            <a:avLst>
              <a:gd name="adj" fmla="val 2857"/>
            </a:avLst>
          </a:prstGeom>
          <a:solidFill>
            <a:srgbClr val="E5F3E8"/>
          </a:solidFill>
          <a:ln w="12700">
            <a:solidFill>
              <a:srgbClr val="1E7A3C"/>
            </a:solidFill>
            <a:prstDash val="solid"/>
          </a:ln>
        </p:spPr>
      </p:sp>
      <p:sp>
        <p:nvSpPr>
          <p:cNvPr id="25" name="Shape 23"/>
          <p:cNvSpPr/>
          <p:nvPr/>
        </p:nvSpPr>
        <p:spPr>
          <a:xfrm>
            <a:off x="8972321" y="1965960"/>
            <a:ext cx="50292" cy="1920240"/>
          </a:xfrm>
          <a:prstGeom prst="rect">
            <a:avLst/>
          </a:prstGeom>
          <a:solidFill>
            <a:srgbClr val="1E7A3C"/>
          </a:solidFill>
          <a:ln w="12700">
            <a:solidFill>
              <a:srgbClr val="1E7A3C"/>
            </a:solidFill>
            <a:prstDash val="solid"/>
          </a:ln>
        </p:spPr>
      </p:sp>
      <p:sp>
        <p:nvSpPr>
          <p:cNvPr id="26" name="Text 24"/>
          <p:cNvSpPr txBox="1"/>
          <p:nvPr/>
        </p:nvSpPr>
        <p:spPr>
          <a:xfrm>
            <a:off x="9173489" y="2130552"/>
            <a:ext cx="2131238" cy="274320"/>
          </a:xfrm>
          <a:prstGeom prst="rect">
            <a:avLst/>
          </a:prstGeom>
          <a:noFill/>
          <a:ln/>
        </p:spPr>
        <p:txBody>
          <a:bodyPr wrap="square" lIns="0" tIns="0" rIns="0" bIns="0" rtlCol="0" anchor="ctr"/>
          <a:lstStyle/>
          <a:p>
            <a:pPr indent="0" marL="0">
              <a:buNone/>
            </a:pPr>
            <a:r>
              <a:rPr lang="en-US" sz="950" b="1" spc="50" kern="0" dirty="0">
                <a:solidFill>
                  <a:srgbClr val="1E7A3C"/>
                </a:solidFill>
                <a:latin typeface="Calibri" pitchFamily="34" charset="0"/>
                <a:ea typeface="Calibri" pitchFamily="34" charset="-122"/>
                <a:cs typeface="Calibri" pitchFamily="34" charset="-120"/>
              </a:rPr>
              <a:t>ALREADY HAPPENS</a:t>
            </a:r>
            <a:endParaRPr lang="en-US" sz="950" dirty="0"/>
          </a:p>
        </p:txBody>
      </p:sp>
      <p:sp>
        <p:nvSpPr>
          <p:cNvPr id="27" name="Text 25"/>
          <p:cNvSpPr txBox="1"/>
          <p:nvPr/>
        </p:nvSpPr>
        <p:spPr>
          <a:xfrm>
            <a:off x="9173489" y="245973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4. Physical delivery</a:t>
            </a:r>
            <a:endParaRPr lang="en-US" sz="1300" dirty="0"/>
          </a:p>
        </p:txBody>
      </p:sp>
      <p:sp>
        <p:nvSpPr>
          <p:cNvPr id="28" name="Text 26"/>
          <p:cNvSpPr txBox="1"/>
          <p:nvPr/>
        </p:nvSpPr>
        <p:spPr>
          <a:xfrm>
            <a:off x="9173489" y="2926080"/>
            <a:ext cx="2131238" cy="77724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Unchanged — the panel exports exactly as it always would</a:t>
            </a:r>
            <a:endParaRPr lang="en-US" sz="1000" dirty="0"/>
          </a:p>
        </p:txBody>
      </p:sp>
      <p:sp>
        <p:nvSpPr>
          <p:cNvPr id="29" name="Text 27"/>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Gap analysis against this project's own seller-app/buyer-app source (ARCHITECTURE.md, KNOWLEDGE-BASE.md)</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D   HOW A REAL OFFER GETS PUBLISHED</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If not our dashboard, then who?</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Shape 3"/>
          <p:cNvSpPr/>
          <p:nvPr/>
        </p:nvSpPr>
        <p:spPr>
          <a:xfrm>
            <a:off x="8854135" y="384048"/>
            <a:ext cx="2651760" cy="292608"/>
          </a:xfrm>
          <a:prstGeom prst="roundRect">
            <a:avLst>
              <a:gd name="adj" fmla="val 50000"/>
            </a:avLst>
          </a:prstGeom>
          <a:solidFill>
            <a:srgbClr val="FFFFFF"/>
          </a:solidFill>
          <a:ln w="15875">
            <a:solidFill>
              <a:srgbClr val="1D4ED8"/>
            </a:solidFill>
            <a:prstDash val="solid"/>
          </a:ln>
        </p:spPr>
      </p:sp>
      <p:sp>
        <p:nvSpPr>
          <p:cNvPr id="6" name="Text 4"/>
          <p:cNvSpPr txBox="1"/>
          <p:nvPr/>
        </p:nvSpPr>
        <p:spPr>
          <a:xfrm>
            <a:off x="8854135" y="384048"/>
            <a:ext cx="2651760" cy="292608"/>
          </a:xfrm>
          <a:prstGeom prst="rect">
            <a:avLst/>
          </a:prstGeom>
          <a:noFill/>
          <a:ln/>
        </p:spPr>
        <p:txBody>
          <a:bodyPr wrap="square" lIns="0" tIns="0" rIns="0" bIns="0"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VERIFIED — EXTERNAL SOURCE</a:t>
            </a:r>
            <a:endParaRPr lang="en-US" sz="1000" dirty="0"/>
          </a:p>
        </p:txBody>
      </p:sp>
      <p:sp>
        <p:nvSpPr>
          <p:cNvPr id="7" name="Text 5"/>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A dashboard still exists in a real rollout — just a real company's product, not necessarily a human typing numbers.</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920240"/>
          <a:ext cx="10820095" cy="914400"/>
        </p:xfrm>
        <a:graphic>
          <a:graphicData uri="http://schemas.openxmlformats.org/drawingml/2006/table">
            <a:tbl>
              <a:tblPr/>
              <a:tblGrid>
                <a:gridCol w="2377440"/>
                <a:gridCol w="2651760"/>
                <a:gridCol w="2743200"/>
                <a:gridCol w="3044952"/>
              </a:tblGrid>
              <a:tr h="868680">
                <a:tc>
                  <a:txBody>
                    <a:bodyPr/>
                    <a:lstStyle/>
                    <a:p>
                      <a:pPr indent="0" marL="0">
                        <a:buNone/>
                      </a:pPr>
                      <a:r>
                        <a:rPr lang="en-US" sz="1050" b="1" dirty="0">
                          <a:solidFill>
                            <a:srgbClr val="FFFFFF"/>
                          </a:solidFill>
                        </a:rPr>
                        <a:t>ROLE</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REAL-WORLD EXAMPLE</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WHO ACTS</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HUMAN INVOLVEMENT</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r>
              <a:tr h="868680">
                <a:tc>
                  <a:txBody>
                    <a:bodyPr/>
                    <a:lstStyle/>
                    <a:p>
                      <a:pPr indent="0" marL="0">
                        <a:buNone/>
                      </a:pPr>
                      <a:r>
                        <a:rPr lang="en-US" sz="1000" b="1" dirty="0">
                          <a:solidFill>
                            <a:srgbClr val="1A1A1A"/>
                          </a:solidFill>
                        </a:rPr>
                        <a:t>Trade Platform Provider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Pulse Energy (named operator in live Delhi-NCR/UP P2P pilots)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A company's own branded app, built on top of forecast + capacity-check logic</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Reviews/confirms; doesn't type raw kW numbers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868680">
                <a:tc>
                  <a:txBody>
                    <a:bodyPr/>
                    <a:lstStyle/>
                    <a:p>
                      <a:pPr indent="0" marL="0">
                        <a:buNone/>
                      </a:pPr>
                      <a:r>
                        <a:rPr lang="en-US" sz="1000" b="1" dirty="0">
                          <a:solidFill>
                            <a:srgbClr val="1A1A1A"/>
                          </a:solidFill>
                        </a:rPr>
                        <a:t>DISCOM-run procurement desk</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BRPL / TPDDL buyer-side portal</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A real trading-desk operator at the utility</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Approves at policy level, not per-trade</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868680">
                <a:tc>
                  <a:txBody>
                    <a:bodyPr/>
                    <a:lstStyle/>
                    <a:p>
                      <a:pPr indent="0" marL="0">
                        <a:buNone/>
                      </a:pPr>
                      <a:r>
                        <a:rPr lang="en-US" sz="1000" b="1" dirty="0">
                          <a:solidFill>
                            <a:srgbClr val="1A1A1A"/>
                          </a:solidFill>
                        </a:rPr>
                        <a:t>Machine-to-machine (no dashboard)</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EV charger via the Beckn “Unified Energy Interface”</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The charger itself discovers, verifies, and pays for green energy</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None — fully automatic at time of trade</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868680">
                <a:tc>
                  <a:txBody>
                    <a:bodyPr/>
                    <a:lstStyle/>
                    <a:p>
                      <a:pPr indent="0" marL="0">
                        <a:buNone/>
                      </a:pPr>
                      <a:r>
                        <a:rPr lang="en-US" sz="1000" b="1" dirty="0">
                          <a:solidFill>
                            <a:srgbClr val="1A1A1A"/>
                          </a:solidFill>
                        </a:rPr>
                        <a:t>Prosumer (seller)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Rooftop household / farmer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Their net meter + a forecasting agent generates the offer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One-time enrollment consent, not per-offer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evreporter.com, "A Comprehensive Explainer on Peer-to-Peer Energy Trading in India" (Pulse Energy interview)</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D   HOW A REAL OFFER GETS PUBLISHED</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Why it currently feels like “paperwork”</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Shape 3"/>
          <p:cNvSpPr/>
          <p:nvPr/>
        </p:nvSpPr>
        <p:spPr>
          <a:xfrm>
            <a:off x="685800" y="1828800"/>
            <a:ext cx="10820095" cy="1920240"/>
          </a:xfrm>
          <a:prstGeom prst="roundRect">
            <a:avLst>
              <a:gd name="adj" fmla="val 2857"/>
            </a:avLst>
          </a:prstGeom>
          <a:solidFill>
            <a:srgbClr val="EFE8FA"/>
          </a:solidFill>
          <a:ln w="12700">
            <a:solidFill>
              <a:srgbClr val="6D3BC4"/>
            </a:solidFill>
            <a:prstDash val="solid"/>
          </a:ln>
        </p:spPr>
      </p:sp>
      <p:sp>
        <p:nvSpPr>
          <p:cNvPr id="6" name="Shape 4"/>
          <p:cNvSpPr/>
          <p:nvPr/>
        </p:nvSpPr>
        <p:spPr>
          <a:xfrm>
            <a:off x="685800" y="1828800"/>
            <a:ext cx="50292" cy="1920240"/>
          </a:xfrm>
          <a:prstGeom prst="rect">
            <a:avLst/>
          </a:prstGeom>
          <a:solidFill>
            <a:srgbClr val="6D3BC4"/>
          </a:solidFill>
          <a:ln w="12700">
            <a:solidFill>
              <a:srgbClr val="6D3BC4"/>
            </a:solidFill>
            <a:prstDash val="solid"/>
          </a:ln>
        </p:spPr>
      </p:sp>
      <p:sp>
        <p:nvSpPr>
          <p:cNvPr id="7" name="Text 5"/>
          <p:cNvSpPr txBox="1"/>
          <p:nvPr/>
        </p:nvSpPr>
        <p:spPr>
          <a:xfrm>
            <a:off x="960120" y="2011680"/>
            <a:ext cx="10271455" cy="320040"/>
          </a:xfrm>
          <a:prstGeom prst="rect">
            <a:avLst/>
          </a:prstGeom>
          <a:noFill/>
          <a:ln/>
        </p:spPr>
        <p:txBody>
          <a:bodyPr wrap="square" lIns="0" tIns="0" rIns="0" bIns="0" rtlCol="0" anchor="ctr"/>
          <a:lstStyle/>
          <a:p>
            <a:pPr indent="0" marL="0">
              <a:buNone/>
            </a:pPr>
            <a:r>
              <a:rPr lang="en-US" sz="1300" b="1" dirty="0">
                <a:solidFill>
                  <a:srgbClr val="6D3BC4"/>
                </a:solidFill>
                <a:latin typeface="Calibri" pitchFamily="34" charset="0"/>
                <a:ea typeface="Calibri" pitchFamily="34" charset="-122"/>
                <a:cs typeface="Calibri" pitchFamily="34" charset="-120"/>
              </a:rPr>
              <a:t>What the protocol layer is actually for</a:t>
            </a:r>
            <a:endParaRPr lang="en-US" sz="1300" dirty="0"/>
          </a:p>
        </p:txBody>
      </p:sp>
      <p:sp>
        <p:nvSpPr>
          <p:cNvPr id="8" name="Text 6"/>
          <p:cNvSpPr txBox="1"/>
          <p:nvPr/>
        </p:nvSpPr>
        <p:spPr>
          <a:xfrm>
            <a:off x="960120" y="2423160"/>
            <a:ext cx="10271455" cy="1143000"/>
          </a:xfrm>
          <a:prstGeom prst="rect">
            <a:avLst/>
          </a:prstGeom>
          <a:noFill/>
          <a:ln/>
        </p:spPr>
        <p:txBody>
          <a:bodyPr wrap="square" lIns="0" tIns="0" rIns="0" bIns="0" rtlCol="0" anchor="ctr"/>
          <a:lstStyle/>
          <a:p>
            <a:pPr indent="0" marL="0">
              <a:lnSpc>
                <a:spcPct val="125000"/>
              </a:lnSpc>
              <a:buNone/>
            </a:pPr>
            <a:r>
              <a:rPr lang="en-US" sz="1250" dirty="0">
                <a:solidFill>
                  <a:srgbClr val="1A1A1A"/>
                </a:solidFill>
                <a:latin typeface="Calibri" pitchFamily="34" charset="0"/>
                <a:ea typeface="Calibri" pitchFamily="34" charset="-122"/>
                <a:cs typeface="Calibri" pitchFamily="34" charset="-120"/>
              </a:rPr>
              <a:t>Scoped honestly, the schema/API/routing layer IS paperwork — a commercial coordination protocol. Beckn's whole design philosophy is to standardize the conversation between independent parties, not to replace each party's own metering, forecasting, or DERMS systems.</a:t>
            </a:r>
            <a:endParaRPr lang="en-US" sz="1250" dirty="0"/>
          </a:p>
        </p:txBody>
      </p:sp>
      <p:sp>
        <p:nvSpPr>
          <p:cNvPr id="9" name="Shape 7"/>
          <p:cNvSpPr/>
          <p:nvPr/>
        </p:nvSpPr>
        <p:spPr>
          <a:xfrm>
            <a:off x="685800" y="3977640"/>
            <a:ext cx="10820095" cy="1920240"/>
          </a:xfrm>
          <a:prstGeom prst="roundRect">
            <a:avLst>
              <a:gd name="adj" fmla="val 2857"/>
            </a:avLst>
          </a:prstGeom>
          <a:solidFill>
            <a:srgbClr val="E5F3E8"/>
          </a:solidFill>
          <a:ln w="12700">
            <a:solidFill>
              <a:srgbClr val="1E7A3C"/>
            </a:solidFill>
            <a:prstDash val="solid"/>
          </a:ln>
        </p:spPr>
      </p:sp>
      <p:sp>
        <p:nvSpPr>
          <p:cNvPr id="10" name="Shape 8"/>
          <p:cNvSpPr/>
          <p:nvPr/>
        </p:nvSpPr>
        <p:spPr>
          <a:xfrm>
            <a:off x="685800" y="3977640"/>
            <a:ext cx="50292" cy="1920240"/>
          </a:xfrm>
          <a:prstGeom prst="rect">
            <a:avLst/>
          </a:prstGeom>
          <a:solidFill>
            <a:srgbClr val="1E7A3C"/>
          </a:solidFill>
          <a:ln w="12700">
            <a:solidFill>
              <a:srgbClr val="1E7A3C"/>
            </a:solidFill>
            <a:prstDash val="solid"/>
          </a:ln>
        </p:spPr>
      </p:sp>
      <p:sp>
        <p:nvSpPr>
          <p:cNvPr id="11" name="Text 9"/>
          <p:cNvSpPr txBox="1"/>
          <p:nvPr/>
        </p:nvSpPr>
        <p:spPr>
          <a:xfrm>
            <a:off x="960120" y="4160520"/>
            <a:ext cx="10271455" cy="320040"/>
          </a:xfrm>
          <a:prstGeom prst="rect">
            <a:avLst/>
          </a:prstGeom>
          <a:noFill/>
          <a:ln/>
        </p:spPr>
        <p:txBody>
          <a:bodyPr wrap="square" lIns="0" tIns="0" rIns="0" bIns="0" rtlCol="0" anchor="ctr"/>
          <a:lstStyle/>
          <a:p>
            <a:pPr indent="0" marL="0">
              <a:buNone/>
            </a:pPr>
            <a:r>
              <a:rPr lang="en-US" sz="1300" b="1" dirty="0">
                <a:solidFill>
                  <a:srgbClr val="1E7A3C"/>
                </a:solidFill>
                <a:latin typeface="Calibri" pitchFamily="34" charset="0"/>
                <a:ea typeface="Calibri" pitchFamily="34" charset="-122"/>
                <a:cs typeface="Calibri" pitchFamily="34" charset="-120"/>
              </a:rPr>
              <a:t>Where the real engineering effort goes</a:t>
            </a:r>
            <a:endParaRPr lang="en-US" sz="1300" dirty="0"/>
          </a:p>
        </p:txBody>
      </p:sp>
      <p:sp>
        <p:nvSpPr>
          <p:cNvPr id="12" name="Text 10"/>
          <p:cNvSpPr txBox="1"/>
          <p:nvPr/>
        </p:nvSpPr>
        <p:spPr>
          <a:xfrm>
            <a:off x="960120" y="4572000"/>
            <a:ext cx="10271455" cy="1143000"/>
          </a:xfrm>
          <a:prstGeom prst="rect">
            <a:avLst/>
          </a:prstGeom>
          <a:noFill/>
          <a:ln/>
        </p:spPr>
        <p:txBody>
          <a:bodyPr wrap="square" lIns="0" tIns="0" rIns="0" bIns="0" rtlCol="0" anchor="ctr"/>
          <a:lstStyle/>
          <a:p>
            <a:pPr indent="0" marL="0">
              <a:lnSpc>
                <a:spcPct val="125000"/>
              </a:lnSpc>
              <a:buNone/>
            </a:pPr>
            <a:r>
              <a:rPr lang="en-US" sz="1250" dirty="0">
                <a:solidFill>
                  <a:srgbClr val="1A1A1A"/>
                </a:solidFill>
                <a:latin typeface="Calibri" pitchFamily="34" charset="0"/>
                <a:ea typeface="Calibri" pitchFamily="34" charset="-122"/>
                <a:cs typeface="Calibri" pitchFamily="34" charset="-120"/>
              </a:rPr>
              <a:t>The real complexity of this whole project is almost entirely in the commercial/trust/settlement layer — who's accountable for what, who gets paid, how disputes resolve — not in some exotic physical-delivery mechanism the grid doesn't actually need.</a:t>
            </a:r>
            <a:endParaRPr lang="en-US" sz="1250" dirty="0"/>
          </a:p>
        </p:txBody>
      </p:sp>
      <p:sp>
        <p:nvSpPr>
          <p:cNvPr id="13" name="Text 11"/>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Beckn Protocol design philosophy (open specification)</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E   WHY BECKN, AND THE HOP SEQUENCE</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Why a shared protocol at all</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Two companies that have never met need a common language before they can trade anything.</a:t>
            </a:r>
            <a:endParaRPr lang="en-US" sz="1350" dirty="0"/>
          </a:p>
        </p:txBody>
      </p:sp>
      <p:sp>
        <p:nvSpPr>
          <p:cNvPr id="6" name="Shape 4"/>
          <p:cNvSpPr/>
          <p:nvPr/>
        </p:nvSpPr>
        <p:spPr>
          <a:xfrm>
            <a:off x="685800" y="1920240"/>
            <a:ext cx="3423818" cy="2834640"/>
          </a:xfrm>
          <a:prstGeom prst="roundRect">
            <a:avLst>
              <a:gd name="adj" fmla="val 1935"/>
            </a:avLst>
          </a:prstGeom>
          <a:solidFill>
            <a:srgbClr val="E4F3F0"/>
          </a:solidFill>
          <a:ln w="12700">
            <a:solidFill>
              <a:srgbClr val="0E7A6E"/>
            </a:solidFill>
            <a:prstDash val="solid"/>
          </a:ln>
        </p:spPr>
      </p:sp>
      <p:sp>
        <p:nvSpPr>
          <p:cNvPr id="7" name="Shape 5"/>
          <p:cNvSpPr/>
          <p:nvPr/>
        </p:nvSpPr>
        <p:spPr>
          <a:xfrm>
            <a:off x="685800" y="1920240"/>
            <a:ext cx="50292" cy="2834640"/>
          </a:xfrm>
          <a:prstGeom prst="rect">
            <a:avLst/>
          </a:prstGeom>
          <a:solidFill>
            <a:srgbClr val="0E7A6E"/>
          </a:solidFill>
          <a:ln w="12700">
            <a:solidFill>
              <a:srgbClr val="0E7A6E"/>
            </a:solidFill>
            <a:prstDash val="solid"/>
          </a:ln>
        </p:spPr>
      </p:sp>
      <p:sp>
        <p:nvSpPr>
          <p:cNvPr id="8" name="Text 6"/>
          <p:cNvSpPr txBox="1"/>
          <p:nvPr/>
        </p:nvSpPr>
        <p:spPr>
          <a:xfrm>
            <a:off x="941832" y="2084832"/>
            <a:ext cx="2966618" cy="384048"/>
          </a:xfrm>
          <a:prstGeom prst="rect">
            <a:avLst/>
          </a:prstGeom>
          <a:noFill/>
          <a:ln/>
        </p:spPr>
        <p:txBody>
          <a:bodyPr wrap="square" lIns="0" tIns="0" rIns="0" bIns="0" rtlCol="0" anchor="ctr"/>
          <a:lstStyle/>
          <a:p>
            <a:pPr indent="0" marL="0">
              <a:lnSpc>
                <a:spcPct val="105000"/>
              </a:lnSpc>
              <a:buNone/>
            </a:pPr>
            <a:r>
              <a:rPr lang="en-US" sz="1450" b="1" dirty="0">
                <a:solidFill>
                  <a:srgbClr val="0E7A6E"/>
                </a:solidFill>
                <a:latin typeface="Calibri" pitchFamily="34" charset="0"/>
                <a:ea typeface="Calibri" pitchFamily="34" charset="-122"/>
                <a:cs typeface="Calibri" pitchFamily="34" charset="-120"/>
              </a:rPr>
              <a:t>The problem</a:t>
            </a:r>
            <a:endParaRPr lang="en-US" sz="1450" dirty="0"/>
          </a:p>
        </p:txBody>
      </p:sp>
      <p:sp>
        <p:nvSpPr>
          <p:cNvPr id="9" name="Text 7"/>
          <p:cNvSpPr txBox="1"/>
          <p:nvPr/>
        </p:nvSpPr>
        <p:spPr>
          <a:xfrm>
            <a:off x="941832" y="2487168"/>
            <a:ext cx="2966618" cy="2103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A DISCOM-A prosumer's app and a DISCOM-B buyer's app are built by different teams, on different stacks. Neither can call the other's private API.</a:t>
            </a:r>
            <a:endParaRPr lang="en-US" sz="1150" dirty="0"/>
          </a:p>
        </p:txBody>
      </p:sp>
      <p:sp>
        <p:nvSpPr>
          <p:cNvPr id="10" name="Shape 8"/>
          <p:cNvSpPr/>
          <p:nvPr/>
        </p:nvSpPr>
        <p:spPr>
          <a:xfrm>
            <a:off x="4383938" y="1920240"/>
            <a:ext cx="3423818" cy="2834640"/>
          </a:xfrm>
          <a:prstGeom prst="roundRect">
            <a:avLst>
              <a:gd name="adj" fmla="val 1935"/>
            </a:avLst>
          </a:prstGeom>
          <a:solidFill>
            <a:srgbClr val="E6EEFD"/>
          </a:solidFill>
          <a:ln w="12700">
            <a:solidFill>
              <a:srgbClr val="1D4ED8"/>
            </a:solidFill>
            <a:prstDash val="solid"/>
          </a:ln>
        </p:spPr>
      </p:sp>
      <p:sp>
        <p:nvSpPr>
          <p:cNvPr id="11" name="Shape 9"/>
          <p:cNvSpPr/>
          <p:nvPr/>
        </p:nvSpPr>
        <p:spPr>
          <a:xfrm>
            <a:off x="4383938" y="1920240"/>
            <a:ext cx="50292" cy="2834640"/>
          </a:xfrm>
          <a:prstGeom prst="rect">
            <a:avLst/>
          </a:prstGeom>
          <a:solidFill>
            <a:srgbClr val="1D4ED8"/>
          </a:solidFill>
          <a:ln w="12700">
            <a:solidFill>
              <a:srgbClr val="1D4ED8"/>
            </a:solidFill>
            <a:prstDash val="solid"/>
          </a:ln>
        </p:spPr>
      </p:sp>
      <p:sp>
        <p:nvSpPr>
          <p:cNvPr id="12" name="Text 10"/>
          <p:cNvSpPr txBox="1"/>
          <p:nvPr/>
        </p:nvSpPr>
        <p:spPr>
          <a:xfrm>
            <a:off x="4639970" y="2084832"/>
            <a:ext cx="2966618" cy="384048"/>
          </a:xfrm>
          <a:prstGeom prst="rect">
            <a:avLst/>
          </a:prstGeom>
          <a:noFill/>
          <a:ln/>
        </p:spPr>
        <p:txBody>
          <a:bodyPr wrap="square" lIns="0" tIns="0" rIns="0" bIns="0" rtlCol="0" anchor="ctr"/>
          <a:lstStyle/>
          <a:p>
            <a:pPr indent="0" marL="0">
              <a:lnSpc>
                <a:spcPct val="105000"/>
              </a:lnSpc>
              <a:buNone/>
            </a:pPr>
            <a:r>
              <a:rPr lang="en-US" sz="1450" b="1" dirty="0">
                <a:solidFill>
                  <a:srgbClr val="1D4ED8"/>
                </a:solidFill>
                <a:latin typeface="Calibri" pitchFamily="34" charset="0"/>
                <a:ea typeface="Calibri" pitchFamily="34" charset="-122"/>
                <a:cs typeface="Calibri" pitchFamily="34" charset="-120"/>
              </a:rPr>
              <a:t>Beckn's answer</a:t>
            </a:r>
            <a:endParaRPr lang="en-US" sz="1450" dirty="0"/>
          </a:p>
        </p:txBody>
      </p:sp>
      <p:sp>
        <p:nvSpPr>
          <p:cNvPr id="13" name="Text 11"/>
          <p:cNvSpPr txBox="1"/>
          <p:nvPr/>
        </p:nvSpPr>
        <p:spPr>
          <a:xfrm>
            <a:off x="4639970" y="2487168"/>
            <a:ext cx="2966618" cy="2103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A shared, open message vocabulary (publish, discover, init, confirm...) that any two independent systems can both implement once, and then talk to any counterpart, not just one.</a:t>
            </a:r>
            <a:endParaRPr lang="en-US" sz="1150" dirty="0"/>
          </a:p>
        </p:txBody>
      </p:sp>
      <p:sp>
        <p:nvSpPr>
          <p:cNvPr id="14" name="Shape 12"/>
          <p:cNvSpPr/>
          <p:nvPr/>
        </p:nvSpPr>
        <p:spPr>
          <a:xfrm>
            <a:off x="8082077" y="1920240"/>
            <a:ext cx="3423818" cy="2834640"/>
          </a:xfrm>
          <a:prstGeom prst="roundRect">
            <a:avLst>
              <a:gd name="adj" fmla="val 1935"/>
            </a:avLst>
          </a:prstGeom>
          <a:solidFill>
            <a:srgbClr val="EFE8FA"/>
          </a:solidFill>
          <a:ln w="12700">
            <a:solidFill>
              <a:srgbClr val="6D3BC4"/>
            </a:solidFill>
            <a:prstDash val="solid"/>
          </a:ln>
        </p:spPr>
      </p:sp>
      <p:sp>
        <p:nvSpPr>
          <p:cNvPr id="15" name="Shape 13"/>
          <p:cNvSpPr/>
          <p:nvPr/>
        </p:nvSpPr>
        <p:spPr>
          <a:xfrm>
            <a:off x="8082077" y="1920240"/>
            <a:ext cx="50292" cy="2834640"/>
          </a:xfrm>
          <a:prstGeom prst="rect">
            <a:avLst/>
          </a:prstGeom>
          <a:solidFill>
            <a:srgbClr val="6D3BC4"/>
          </a:solidFill>
          <a:ln w="12700">
            <a:solidFill>
              <a:srgbClr val="6D3BC4"/>
            </a:solidFill>
            <a:prstDash val="solid"/>
          </a:ln>
        </p:spPr>
      </p:sp>
      <p:sp>
        <p:nvSpPr>
          <p:cNvPr id="16" name="Text 14"/>
          <p:cNvSpPr txBox="1"/>
          <p:nvPr/>
        </p:nvSpPr>
        <p:spPr>
          <a:xfrm>
            <a:off x="8338109" y="2084832"/>
            <a:ext cx="2966618" cy="384048"/>
          </a:xfrm>
          <a:prstGeom prst="rect">
            <a:avLst/>
          </a:prstGeom>
          <a:noFill/>
          <a:ln/>
        </p:spPr>
        <p:txBody>
          <a:bodyPr wrap="square" lIns="0" tIns="0" rIns="0" bIns="0" rtlCol="0" anchor="ctr"/>
          <a:lstStyle/>
          <a:p>
            <a:pPr indent="0" marL="0">
              <a:lnSpc>
                <a:spcPct val="105000"/>
              </a:lnSpc>
              <a:buNone/>
            </a:pPr>
            <a:r>
              <a:rPr lang="en-US" sz="1450" b="1" dirty="0">
                <a:solidFill>
                  <a:srgbClr val="6D3BC4"/>
                </a:solidFill>
                <a:latin typeface="Calibri" pitchFamily="34" charset="0"/>
                <a:ea typeface="Calibri" pitchFamily="34" charset="-122"/>
                <a:cs typeface="Calibri" pitchFamily="34" charset="-120"/>
              </a:rPr>
              <a:t>Not a payment rail</a:t>
            </a:r>
            <a:endParaRPr lang="en-US" sz="1450" dirty="0"/>
          </a:p>
        </p:txBody>
      </p:sp>
      <p:sp>
        <p:nvSpPr>
          <p:cNvPr id="17" name="Text 15"/>
          <p:cNvSpPr txBox="1"/>
          <p:nvPr/>
        </p:nvSpPr>
        <p:spPr>
          <a:xfrm>
            <a:off x="8338109" y="2487168"/>
            <a:ext cx="2966618" cy="2103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Beckn doesn't move money or electricity itself — same pattern as ONDC for commerce or UPI for payments: a conversation standard, with each side's own systems doing the real work behind it.</a:t>
            </a:r>
            <a:endParaRPr lang="en-US" sz="1150" dirty="0"/>
          </a:p>
        </p:txBody>
      </p:sp>
      <p:sp>
        <p:nvSpPr>
          <p:cNvPr id="18" name="Text 16"/>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Beckn Protocol open specification; India Energy Stack blueprint (Ministry of Power, v0.3, 2026-03-06)</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E   WHY BECKN, AND THE HOP SEQUENCE</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The hop sequence, decoded</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Shape 3"/>
          <p:cNvSpPr/>
          <p:nvPr/>
        </p:nvSpPr>
        <p:spPr>
          <a:xfrm>
            <a:off x="9219895" y="384048"/>
            <a:ext cx="2286000" cy="292608"/>
          </a:xfrm>
          <a:prstGeom prst="roundRect">
            <a:avLst>
              <a:gd name="adj" fmla="val 50000"/>
            </a:avLst>
          </a:prstGeom>
          <a:solidFill>
            <a:srgbClr val="FFFFFF"/>
          </a:solidFill>
          <a:ln w="15875">
            <a:solidFill>
              <a:srgbClr val="1E7A3C"/>
            </a:solidFill>
            <a:prstDash val="solid"/>
          </a:ln>
        </p:spPr>
      </p:sp>
      <p:sp>
        <p:nvSpPr>
          <p:cNvPr id="6" name="Text 4"/>
          <p:cNvSpPr txBox="1"/>
          <p:nvPr/>
        </p:nvSpPr>
        <p:spPr>
          <a:xfrm>
            <a:off x="9219895" y="384048"/>
            <a:ext cx="2286000" cy="292608"/>
          </a:xfrm>
          <a:prstGeom prst="rect">
            <a:avLst/>
          </a:prstGeom>
          <a:noFill/>
          <a:ln/>
        </p:spPr>
        <p:txBody>
          <a:bodyPr wrap="square" lIns="0" tIns="0" rIns="0" bIns="0" rtlCol="0" anchor="ctr"/>
          <a:lstStyle/>
          <a:p>
            <a:pPr algn="ctr" indent="0" marL="0">
              <a:buNone/>
            </a:pPr>
            <a:r>
              <a:rPr lang="en-US" sz="1000" b="1" dirty="0">
                <a:solidFill>
                  <a:srgbClr val="1E7A3C"/>
                </a:solidFill>
                <a:latin typeface="Calibri" pitchFamily="34" charset="0"/>
                <a:ea typeface="Calibri" pitchFamily="34" charset="-122"/>
                <a:cs typeface="Calibri" pitchFamily="34" charset="-120"/>
              </a:rPr>
              <a:t>VERIFIED — SCHEMA/CODE</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1417320"/>
                <a:gridCol w="1737360"/>
                <a:gridCol w="4572000"/>
                <a:gridCol w="3090672"/>
              </a:tblGrid>
              <a:tr h="621792">
                <a:tc>
                  <a:txBody>
                    <a:bodyPr/>
                    <a:lstStyle/>
                    <a:p>
                      <a:pPr indent="0" marL="0">
                        <a:buNone/>
                      </a:pPr>
                      <a:r>
                        <a:rPr lang="en-US" sz="1050" b="1" dirty="0">
                          <a:solidFill>
                            <a:srgbClr val="FFFFFF"/>
                          </a:solidFill>
                        </a:rPr>
                        <a:t>HOP</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SENT BY</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WHAT IT ACTUALLY MEANS</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TIMING</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r>
              <a:tr h="621792">
                <a:tc>
                  <a:txBody>
                    <a:bodyPr/>
                    <a:lstStyle/>
                    <a:p>
                      <a:pPr indent="0" marL="0">
                        <a:buNone/>
                      </a:pPr>
                      <a:r>
                        <a:rPr lang="en-US" sz="1000" b="1" dirty="0">
                          <a:solidFill>
                            <a:srgbClr val="1A1A1A"/>
                          </a:solidFill>
                        </a:rPr>
                        <a:t>publish</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Seller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“Here's an offer” — pushed to the shared network catalog</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Sync ACK, async effect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21792">
                <a:tc>
                  <a:txBody>
                    <a:bodyPr/>
                    <a:lstStyle/>
                    <a:p>
                      <a:pPr indent="0" marL="0">
                        <a:buNone/>
                      </a:pPr>
                      <a:r>
                        <a:rPr lang="en-US" sz="1000" b="1" dirty="0">
                          <a:solidFill>
                            <a:srgbClr val="1A1A1A"/>
                          </a:solidFill>
                        </a:rPr>
                        <a:t>discover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Buyer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“Show me offers” — broadcast to the network's Gateway</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Async — reply via callback</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21792">
                <a:tc>
                  <a:txBody>
                    <a:bodyPr/>
                    <a:lstStyle/>
                    <a:p>
                      <a:pPr indent="0" marL="0">
                        <a:buNone/>
                      </a:pPr>
                      <a:r>
                        <a:rPr lang="en-US" sz="1000" b="1" dirty="0">
                          <a:solidFill>
                            <a:srgbClr val="1A1A1A"/>
                          </a:solidFill>
                        </a:rPr>
                        <a:t>on_discover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Network → Buyer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The actual matching offers, delivered to a callback URL</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Callback (needs public reachability)</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21792">
                <a:tc>
                  <a:txBody>
                    <a:bodyPr/>
                    <a:lstStyle/>
                    <a:p>
                      <a:pPr indent="0" marL="0">
                        <a:buNone/>
                      </a:pPr>
                      <a:r>
                        <a:rPr lang="en-US" sz="1000" b="1" dirty="0">
                          <a:solidFill>
                            <a:srgbClr val="1A1A1A"/>
                          </a:solidFill>
                        </a:rPr>
                        <a:t>init / confirm</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Buyer → Seller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“I want this” / “I'm really doing this” — direct, not broadcast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Sync ACK, async effect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21792">
                <a:tc>
                  <a:txBody>
                    <a:bodyPr/>
                    <a:lstStyle/>
                    <a:p>
                      <a:pPr indent="0" marL="0">
                        <a:buNone/>
                      </a:pPr>
                      <a:r>
                        <a:rPr lang="en-US" sz="1000" b="1" dirty="0">
                          <a:solidFill>
                            <a:srgbClr val="1A1A1A"/>
                          </a:solidFill>
                        </a:rPr>
                        <a:t>on_init / on_confirm</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Seller → Buyer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Seller's real answer — accept, counter-offer, or confirm back</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Callback, direct (not via Gateway)</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21792">
                <a:tc>
                  <a:txBody>
                    <a:bodyPr/>
                    <a:lstStyle/>
                    <a:p>
                      <a:pPr indent="0" marL="0">
                        <a:buNone/>
                      </a:pPr>
                      <a:r>
                        <a:rPr lang="en-US" sz="1000" b="1" dirty="0">
                          <a:solidFill>
                            <a:srgbClr val="1A1A1A"/>
                          </a:solidFill>
                        </a:rPr>
                        <a:t>status / on_status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Either → other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“What actually got delivered, and what do I owe/am owed” — the real settlement numbers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Callback, after delivery window closes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Beckn Protocol v2.0 core specification; confirmed against this project's own onix/Caddy routing logs</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F   INTEGRATION &amp; WHO BUILDS WHAT</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Who owns each layer, who connects them</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2834640"/>
                <a:gridCol w="3200400"/>
                <a:gridCol w="2743200"/>
                <a:gridCol w="2039112"/>
              </a:tblGrid>
              <a:tr h="658368">
                <a:tc>
                  <a:txBody>
                    <a:bodyPr/>
                    <a:lstStyle/>
                    <a:p>
                      <a:pPr indent="0" marL="0">
                        <a:buNone/>
                      </a:pPr>
                      <a:r>
                        <a:rPr lang="en-US" sz="1050" b="1" dirty="0">
                          <a:solidFill>
                            <a:srgbClr val="FFFFFF"/>
                          </a:solidFill>
                        </a:rPr>
                        <a:t>LAYER</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WHO OWNS IT TODAY</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WHO DOES THE INTEGRATION WORK</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STATUS</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r>
              <a:tr h="658368">
                <a:tc>
                  <a:txBody>
                    <a:bodyPr/>
                    <a:lstStyle/>
                    <a:p>
                      <a:pPr indent="0" marL="0">
                        <a:buNone/>
                      </a:pPr>
                      <a:r>
                        <a:rPr lang="en-US" sz="1000" b="1" dirty="0">
                          <a:solidFill>
                            <a:srgbClr val="1A1A1A"/>
                          </a:solidFill>
                        </a:rPr>
                        <a:t>Physical grid &amp; hardware</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DISCOM + equipment manufacturers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No one — nothing to integrate, it already works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Done</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A1A1A"/>
                          </a:solidFill>
                        </a:rPr>
                        <a:t>Telemetry (AMI/HES/MDM)</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DISCOM (via meter vendor contracts)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This platform's own engineering team, reading an exposed API</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Not started</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A1A1A"/>
                          </a:solidFill>
                        </a:rPr>
                        <a:t>Control &amp; safety (DERMS)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DISCOM (via DERMS vendor)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DISCOM's own systems-integration team, not us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Out of scope for us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A1A1A"/>
                          </a:solidFill>
                        </a:rPr>
                        <a:t>Commercial / settlement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This project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Us — this is the whole devkit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In progress (24 gaps tracked)</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6" name="Shape 3"/>
          <p:cNvSpPr/>
          <p:nvPr/>
        </p:nvSpPr>
        <p:spPr>
          <a:xfrm>
            <a:off x="685800" y="5303520"/>
            <a:ext cx="10820095" cy="914400"/>
          </a:xfrm>
          <a:prstGeom prst="roundRect">
            <a:avLst>
              <a:gd name="adj" fmla="val 6000"/>
            </a:avLst>
          </a:prstGeom>
          <a:solidFill>
            <a:srgbClr val="E6EEFD"/>
          </a:solidFill>
          <a:ln w="12700">
            <a:solidFill>
              <a:srgbClr val="1D4ED8"/>
            </a:solidFill>
            <a:prstDash val="solid"/>
          </a:ln>
        </p:spPr>
      </p:sp>
      <p:sp>
        <p:nvSpPr>
          <p:cNvPr id="7" name="Text 4"/>
          <p:cNvSpPr txBox="1"/>
          <p:nvPr/>
        </p:nvSpPr>
        <p:spPr>
          <a:xfrm>
            <a:off x="960120" y="5440680"/>
            <a:ext cx="10271455" cy="640080"/>
          </a:xfrm>
          <a:prstGeom prst="rect">
            <a:avLst/>
          </a:prstGeom>
          <a:noFill/>
          <a:ln/>
        </p:spPr>
        <p:txBody>
          <a:bodyPr wrap="square" lIns="0" tIns="0" rIns="0" bIns="0" rtlCol="0" anchor="ctr"/>
          <a:lstStyle/>
          <a:p>
            <a:pPr indent="0" marL="0">
              <a:lnSpc>
                <a:spcPct val="125000"/>
              </a:lnSpc>
              <a:buNone/>
            </a:pPr>
            <a:r>
              <a:rPr lang="en-US" sz="1300" b="1" dirty="0">
                <a:solidFill>
                  <a:srgbClr val="1A1A1A"/>
                </a:solidFill>
                <a:latin typeface="Calibri" pitchFamily="34" charset="0"/>
                <a:ea typeface="Calibri" pitchFamily="34" charset="-122"/>
                <a:cs typeface="Calibri" pitchFamily="34" charset="-120"/>
              </a:rPr>
              <a:t>The one integration this project can actually do unilaterally is reading a DISCOM's telemetry/outage feed. Connecting to DERMS or physical hardware is categorically someone else's build — a systems-integration project with each DISCOM, not a code change here.</a:t>
            </a:r>
            <a:endParaRPr lang="en-US" sz="1300" dirty="0"/>
          </a:p>
        </p:txBody>
      </p:sp>
      <p:sp>
        <p:nvSpPr>
          <p:cNvPr id="8" name="Text 5"/>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Responsibility mapped against KNOWLEDGE-BASE.md §8 and the real onix/DISCOM architecture</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F   INTEGRATION &amp; WHO BUILDS WHAT</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The realistic build order</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Shape 3"/>
          <p:cNvSpPr/>
          <p:nvPr/>
        </p:nvSpPr>
        <p:spPr>
          <a:xfrm>
            <a:off x="685800" y="1737360"/>
            <a:ext cx="3436010" cy="2148840"/>
          </a:xfrm>
          <a:prstGeom prst="roundRect">
            <a:avLst>
              <a:gd name="adj" fmla="val 2553"/>
            </a:avLst>
          </a:prstGeom>
          <a:solidFill>
            <a:srgbClr val="E4F3F0"/>
          </a:solidFill>
          <a:ln w="12700">
            <a:solidFill>
              <a:srgbClr val="0E7A6E"/>
            </a:solidFill>
            <a:prstDash val="solid"/>
          </a:ln>
        </p:spPr>
      </p:sp>
      <p:sp>
        <p:nvSpPr>
          <p:cNvPr id="6" name="Shape 4"/>
          <p:cNvSpPr/>
          <p:nvPr/>
        </p:nvSpPr>
        <p:spPr>
          <a:xfrm>
            <a:off x="685800" y="1737360"/>
            <a:ext cx="50292" cy="2148840"/>
          </a:xfrm>
          <a:prstGeom prst="rect">
            <a:avLst/>
          </a:prstGeom>
          <a:solidFill>
            <a:srgbClr val="0E7A6E"/>
          </a:solidFill>
          <a:ln w="12700">
            <a:solidFill>
              <a:srgbClr val="0E7A6E"/>
            </a:solidFill>
            <a:prstDash val="solid"/>
          </a:ln>
        </p:spPr>
      </p:sp>
      <p:sp>
        <p:nvSpPr>
          <p:cNvPr id="7" name="Text 5"/>
          <p:cNvSpPr txBox="1"/>
          <p:nvPr/>
        </p:nvSpPr>
        <p:spPr>
          <a:xfrm>
            <a:off x="941832" y="190195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0E7A6E"/>
                </a:solidFill>
                <a:latin typeface="Calibri" pitchFamily="34" charset="0"/>
                <a:ea typeface="Calibri" pitchFamily="34" charset="-122"/>
                <a:cs typeface="Calibri" pitchFamily="34" charset="-120"/>
              </a:rPr>
              <a:t>1  Harden the commercial layer first</a:t>
            </a:r>
            <a:endParaRPr lang="en-US" sz="1450" dirty="0"/>
          </a:p>
        </p:txBody>
      </p:sp>
      <p:sp>
        <p:nvSpPr>
          <p:cNvPr id="8" name="Text 6"/>
          <p:cNvSpPr txBox="1"/>
          <p:nvPr/>
        </p:nvSpPr>
        <p:spPr>
          <a:xfrm>
            <a:off x="941832" y="230428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Close the 24 tracked gaps — cheapest to fix before any real integration begins.</a:t>
            </a:r>
            <a:endParaRPr lang="en-US" sz="1150" dirty="0"/>
          </a:p>
        </p:txBody>
      </p:sp>
      <p:sp>
        <p:nvSpPr>
          <p:cNvPr id="9" name="Shape 7"/>
          <p:cNvSpPr/>
          <p:nvPr/>
        </p:nvSpPr>
        <p:spPr>
          <a:xfrm>
            <a:off x="4377842" y="1737360"/>
            <a:ext cx="3436010" cy="2148840"/>
          </a:xfrm>
          <a:prstGeom prst="roundRect">
            <a:avLst>
              <a:gd name="adj" fmla="val 2553"/>
            </a:avLst>
          </a:prstGeom>
          <a:solidFill>
            <a:srgbClr val="E6EEFD"/>
          </a:solidFill>
          <a:ln w="12700">
            <a:solidFill>
              <a:srgbClr val="1D4ED8"/>
            </a:solidFill>
            <a:prstDash val="solid"/>
          </a:ln>
        </p:spPr>
      </p:sp>
      <p:sp>
        <p:nvSpPr>
          <p:cNvPr id="10" name="Shape 8"/>
          <p:cNvSpPr/>
          <p:nvPr/>
        </p:nvSpPr>
        <p:spPr>
          <a:xfrm>
            <a:off x="4377842" y="1737360"/>
            <a:ext cx="50292" cy="2148840"/>
          </a:xfrm>
          <a:prstGeom prst="rect">
            <a:avLst/>
          </a:prstGeom>
          <a:solidFill>
            <a:srgbClr val="1D4ED8"/>
          </a:solidFill>
          <a:ln w="12700">
            <a:solidFill>
              <a:srgbClr val="1D4ED8"/>
            </a:solidFill>
            <a:prstDash val="solid"/>
          </a:ln>
        </p:spPr>
      </p:sp>
      <p:sp>
        <p:nvSpPr>
          <p:cNvPr id="11" name="Text 9"/>
          <p:cNvSpPr txBox="1"/>
          <p:nvPr/>
        </p:nvSpPr>
        <p:spPr>
          <a:xfrm>
            <a:off x="4633874" y="190195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1D4ED8"/>
                </a:solidFill>
                <a:latin typeface="Calibri" pitchFamily="34" charset="0"/>
                <a:ea typeface="Calibri" pitchFamily="34" charset="-122"/>
                <a:cs typeface="Calibri" pitchFamily="34" charset="-120"/>
              </a:rPr>
              <a:t>2  Pilot on direct-flow solar only</a:t>
            </a:r>
            <a:endParaRPr lang="en-US" sz="1450" dirty="0"/>
          </a:p>
        </p:txBody>
      </p:sp>
      <p:sp>
        <p:nvSpPr>
          <p:cNvPr id="12" name="Text 10"/>
          <p:cNvSpPr txBox="1"/>
          <p:nvPr/>
        </p:nvSpPr>
        <p:spPr>
          <a:xfrm>
            <a:off x="4633874" y="230428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The one resource type that's already regulator-piloted (DERC/UPERC) — no storage ambiguity.</a:t>
            </a:r>
            <a:endParaRPr lang="en-US" sz="1150" dirty="0"/>
          </a:p>
        </p:txBody>
      </p:sp>
      <p:sp>
        <p:nvSpPr>
          <p:cNvPr id="13" name="Shape 11"/>
          <p:cNvSpPr/>
          <p:nvPr/>
        </p:nvSpPr>
        <p:spPr>
          <a:xfrm>
            <a:off x="8069885" y="1737360"/>
            <a:ext cx="3436010" cy="2148840"/>
          </a:xfrm>
          <a:prstGeom prst="roundRect">
            <a:avLst>
              <a:gd name="adj" fmla="val 2553"/>
            </a:avLst>
          </a:prstGeom>
          <a:solidFill>
            <a:srgbClr val="EFE8FA"/>
          </a:solidFill>
          <a:ln w="12700">
            <a:solidFill>
              <a:srgbClr val="6D3BC4"/>
            </a:solidFill>
            <a:prstDash val="solid"/>
          </a:ln>
        </p:spPr>
      </p:sp>
      <p:sp>
        <p:nvSpPr>
          <p:cNvPr id="14" name="Shape 12"/>
          <p:cNvSpPr/>
          <p:nvPr/>
        </p:nvSpPr>
        <p:spPr>
          <a:xfrm>
            <a:off x="8069885" y="1737360"/>
            <a:ext cx="50292" cy="2148840"/>
          </a:xfrm>
          <a:prstGeom prst="rect">
            <a:avLst/>
          </a:prstGeom>
          <a:solidFill>
            <a:srgbClr val="6D3BC4"/>
          </a:solidFill>
          <a:ln w="12700">
            <a:solidFill>
              <a:srgbClr val="6D3BC4"/>
            </a:solidFill>
            <a:prstDash val="solid"/>
          </a:ln>
        </p:spPr>
      </p:sp>
      <p:sp>
        <p:nvSpPr>
          <p:cNvPr id="15" name="Text 13"/>
          <p:cNvSpPr txBox="1"/>
          <p:nvPr/>
        </p:nvSpPr>
        <p:spPr>
          <a:xfrm>
            <a:off x="8325917" y="190195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6D3BC4"/>
                </a:solidFill>
                <a:latin typeface="Calibri" pitchFamily="34" charset="0"/>
                <a:ea typeface="Calibri" pitchFamily="34" charset="-122"/>
                <a:cs typeface="Calibri" pitchFamily="34" charset="-120"/>
              </a:rPr>
              <a:t>3  Add a read-only telemetry integration</a:t>
            </a:r>
            <a:endParaRPr lang="en-US" sz="1450" dirty="0"/>
          </a:p>
        </p:txBody>
      </p:sp>
      <p:sp>
        <p:nvSpPr>
          <p:cNvPr id="16" name="Text 14"/>
          <p:cNvSpPr txBox="1"/>
          <p:nvPr/>
        </p:nvSpPr>
        <p:spPr>
          <a:xfrm>
            <a:off x="8325917" y="230428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Subscribe to one DISCOM's AMI/HES feed — our own build, no DISCOM dependency to wait on.</a:t>
            </a:r>
            <a:endParaRPr lang="en-US" sz="1150" dirty="0"/>
          </a:p>
        </p:txBody>
      </p:sp>
      <p:sp>
        <p:nvSpPr>
          <p:cNvPr id="17" name="Shape 15"/>
          <p:cNvSpPr/>
          <p:nvPr/>
        </p:nvSpPr>
        <p:spPr>
          <a:xfrm>
            <a:off x="685800" y="4069080"/>
            <a:ext cx="3436010" cy="2148840"/>
          </a:xfrm>
          <a:prstGeom prst="roundRect">
            <a:avLst>
              <a:gd name="adj" fmla="val 2553"/>
            </a:avLst>
          </a:prstGeom>
          <a:solidFill>
            <a:srgbClr val="FCEEDD"/>
          </a:solidFill>
          <a:ln w="12700">
            <a:solidFill>
              <a:srgbClr val="B85C0A"/>
            </a:solidFill>
            <a:prstDash val="solid"/>
          </a:ln>
        </p:spPr>
      </p:sp>
      <p:sp>
        <p:nvSpPr>
          <p:cNvPr id="18" name="Shape 16"/>
          <p:cNvSpPr/>
          <p:nvPr/>
        </p:nvSpPr>
        <p:spPr>
          <a:xfrm>
            <a:off x="685800" y="4069080"/>
            <a:ext cx="50292" cy="2148840"/>
          </a:xfrm>
          <a:prstGeom prst="rect">
            <a:avLst/>
          </a:prstGeom>
          <a:solidFill>
            <a:srgbClr val="B85C0A"/>
          </a:solidFill>
          <a:ln w="12700">
            <a:solidFill>
              <a:srgbClr val="B85C0A"/>
            </a:solidFill>
            <a:prstDash val="solid"/>
          </a:ln>
        </p:spPr>
      </p:sp>
      <p:sp>
        <p:nvSpPr>
          <p:cNvPr id="19" name="Text 17"/>
          <p:cNvSpPr txBox="1"/>
          <p:nvPr/>
        </p:nvSpPr>
        <p:spPr>
          <a:xfrm>
            <a:off x="941832" y="423367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B85C0A"/>
                </a:solidFill>
                <a:latin typeface="Calibri" pitchFamily="34" charset="0"/>
                <a:ea typeface="Calibri" pitchFamily="34" charset="-122"/>
                <a:cs typeface="Calibri" pitchFamily="34" charset="-120"/>
              </a:rPr>
              <a:t>4  Add the capacity/sanctioned-limit check</a:t>
            </a:r>
            <a:endParaRPr lang="en-US" sz="1450" dirty="0"/>
          </a:p>
        </p:txBody>
      </p:sp>
      <p:sp>
        <p:nvSpPr>
          <p:cNvPr id="20" name="Text 18"/>
          <p:cNvSpPr txBox="1"/>
          <p:nvPr/>
        </p:nvSpPr>
        <p:spPr>
          <a:xfrm>
            <a:off x="941832" y="463600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Requires one DISCOM's CIS data — first real external dependency.</a:t>
            </a:r>
            <a:endParaRPr lang="en-US" sz="1150" dirty="0"/>
          </a:p>
        </p:txBody>
      </p:sp>
      <p:sp>
        <p:nvSpPr>
          <p:cNvPr id="21" name="Shape 19"/>
          <p:cNvSpPr/>
          <p:nvPr/>
        </p:nvSpPr>
        <p:spPr>
          <a:xfrm>
            <a:off x="4377842" y="4069080"/>
            <a:ext cx="3436010" cy="2148840"/>
          </a:xfrm>
          <a:prstGeom prst="roundRect">
            <a:avLst>
              <a:gd name="adj" fmla="val 2553"/>
            </a:avLst>
          </a:prstGeom>
          <a:solidFill>
            <a:srgbClr val="FAE6E6"/>
          </a:solidFill>
          <a:ln w="12700">
            <a:solidFill>
              <a:srgbClr val="A82A2A"/>
            </a:solidFill>
            <a:prstDash val="solid"/>
          </a:ln>
        </p:spPr>
      </p:sp>
      <p:sp>
        <p:nvSpPr>
          <p:cNvPr id="22" name="Shape 20"/>
          <p:cNvSpPr/>
          <p:nvPr/>
        </p:nvSpPr>
        <p:spPr>
          <a:xfrm>
            <a:off x="4377842" y="4069080"/>
            <a:ext cx="50292" cy="2148840"/>
          </a:xfrm>
          <a:prstGeom prst="rect">
            <a:avLst/>
          </a:prstGeom>
          <a:solidFill>
            <a:srgbClr val="A82A2A"/>
          </a:solidFill>
          <a:ln w="12700">
            <a:solidFill>
              <a:srgbClr val="A82A2A"/>
            </a:solidFill>
            <a:prstDash val="solid"/>
          </a:ln>
        </p:spPr>
      </p:sp>
      <p:sp>
        <p:nvSpPr>
          <p:cNvPr id="23" name="Text 21"/>
          <p:cNvSpPr txBox="1"/>
          <p:nvPr/>
        </p:nvSpPr>
        <p:spPr>
          <a:xfrm>
            <a:off x="4633874" y="423367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A82A2A"/>
                </a:solidFill>
                <a:latin typeface="Calibri" pitchFamily="34" charset="0"/>
                <a:ea typeface="Calibri" pitchFamily="34" charset="-122"/>
                <a:cs typeface="Calibri" pitchFamily="34" charset="-120"/>
              </a:rPr>
              <a:t>5  Only then: DERMS integration for curtailment</a:t>
            </a:r>
            <a:endParaRPr lang="en-US" sz="1450" dirty="0"/>
          </a:p>
        </p:txBody>
      </p:sp>
      <p:sp>
        <p:nvSpPr>
          <p:cNvPr id="24" name="Text 22"/>
          <p:cNvSpPr txBox="1"/>
          <p:nvPr/>
        </p:nvSpPr>
        <p:spPr>
          <a:xfrm>
            <a:off x="4633874" y="463600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Requires the DISCOM's own systems team — outside this project's control.</a:t>
            </a:r>
            <a:endParaRPr lang="en-US" sz="1150" dirty="0"/>
          </a:p>
        </p:txBody>
      </p:sp>
      <p:sp>
        <p:nvSpPr>
          <p:cNvPr id="25" name="Shape 23"/>
          <p:cNvSpPr/>
          <p:nvPr/>
        </p:nvSpPr>
        <p:spPr>
          <a:xfrm>
            <a:off x="8069885" y="4069080"/>
            <a:ext cx="3436010" cy="2148840"/>
          </a:xfrm>
          <a:prstGeom prst="roundRect">
            <a:avLst>
              <a:gd name="adj" fmla="val 2553"/>
            </a:avLst>
          </a:prstGeom>
          <a:solidFill>
            <a:srgbClr val="E5F3E8"/>
          </a:solidFill>
          <a:ln w="12700">
            <a:solidFill>
              <a:srgbClr val="1E7A3C"/>
            </a:solidFill>
            <a:prstDash val="solid"/>
          </a:ln>
        </p:spPr>
      </p:sp>
      <p:sp>
        <p:nvSpPr>
          <p:cNvPr id="26" name="Shape 24"/>
          <p:cNvSpPr/>
          <p:nvPr/>
        </p:nvSpPr>
        <p:spPr>
          <a:xfrm>
            <a:off x="8069885" y="4069080"/>
            <a:ext cx="50292" cy="2148840"/>
          </a:xfrm>
          <a:prstGeom prst="rect">
            <a:avLst/>
          </a:prstGeom>
          <a:solidFill>
            <a:srgbClr val="1E7A3C"/>
          </a:solidFill>
          <a:ln w="12700">
            <a:solidFill>
              <a:srgbClr val="1E7A3C"/>
            </a:solidFill>
            <a:prstDash val="solid"/>
          </a:ln>
        </p:spPr>
      </p:sp>
      <p:sp>
        <p:nvSpPr>
          <p:cNvPr id="27" name="Text 25"/>
          <p:cNvSpPr txBox="1"/>
          <p:nvPr/>
        </p:nvSpPr>
        <p:spPr>
          <a:xfrm>
            <a:off x="8325917" y="4233672"/>
            <a:ext cx="2978810" cy="384048"/>
          </a:xfrm>
          <a:prstGeom prst="rect">
            <a:avLst/>
          </a:prstGeom>
          <a:noFill/>
          <a:ln/>
        </p:spPr>
        <p:txBody>
          <a:bodyPr wrap="square" lIns="0" tIns="0" rIns="0" bIns="0" rtlCol="0" anchor="ctr"/>
          <a:lstStyle/>
          <a:p>
            <a:pPr indent="0" marL="0">
              <a:lnSpc>
                <a:spcPct val="105000"/>
              </a:lnSpc>
              <a:buNone/>
            </a:pPr>
            <a:r>
              <a:rPr lang="en-US" sz="1450" b="1" dirty="0">
                <a:solidFill>
                  <a:srgbClr val="1E7A3C"/>
                </a:solidFill>
                <a:latin typeface="Calibri" pitchFamily="34" charset="0"/>
                <a:ea typeface="Calibri" pitchFamily="34" charset="-122"/>
                <a:cs typeface="Calibri" pitchFamily="34" charset="-120"/>
              </a:rPr>
              <a:t>6  Only then: stored-energy (BESS) trading</a:t>
            </a:r>
            <a:endParaRPr lang="en-US" sz="1450" dirty="0"/>
          </a:p>
        </p:txBody>
      </p:sp>
      <p:sp>
        <p:nvSpPr>
          <p:cNvPr id="28" name="Text 26"/>
          <p:cNvSpPr txBox="1"/>
          <p:nvPr/>
        </p:nvSpPr>
        <p:spPr>
          <a:xfrm>
            <a:off x="8325917" y="4636008"/>
            <a:ext cx="2978810" cy="14173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Needs the schema gap in Section H fixed first, or FIRM claims stay unverifiable.</a:t>
            </a:r>
            <a:endParaRPr lang="en-US" sz="1150" dirty="0"/>
          </a:p>
        </p:txBody>
      </p:sp>
      <p:sp>
        <p:nvSpPr>
          <p:cNvPr id="29" name="Text 27"/>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Sequenced from dependency analysis of Sections A–H of this deck</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G   BUSINESS VALUE &amp; THE REAL CUSTOMER</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The real customer chain</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Not one paying company — pre-production assurance work on public DPI, same pattern as UPI/ONDC.</a:t>
            </a:r>
            <a:endParaRPr lang="en-US" sz="1350" dirty="0"/>
          </a:p>
        </p:txBody>
      </p:sp>
      <p:sp>
        <p:nvSpPr>
          <p:cNvPr id="6" name="Shape 4"/>
          <p:cNvSpPr/>
          <p:nvPr/>
        </p:nvSpPr>
        <p:spPr>
          <a:xfrm>
            <a:off x="685800" y="1920240"/>
            <a:ext cx="2533574" cy="1828800"/>
          </a:xfrm>
          <a:prstGeom prst="roundRect">
            <a:avLst>
              <a:gd name="adj" fmla="val 3000"/>
            </a:avLst>
          </a:prstGeom>
          <a:solidFill>
            <a:srgbClr val="E6EEFD"/>
          </a:solidFill>
          <a:ln w="12700">
            <a:solidFill>
              <a:srgbClr val="1D4ED8"/>
            </a:solidFill>
            <a:prstDash val="solid"/>
          </a:ln>
        </p:spPr>
      </p:sp>
      <p:sp>
        <p:nvSpPr>
          <p:cNvPr id="7" name="Shape 5"/>
          <p:cNvSpPr/>
          <p:nvPr/>
        </p:nvSpPr>
        <p:spPr>
          <a:xfrm>
            <a:off x="685800" y="1920240"/>
            <a:ext cx="50292" cy="1828800"/>
          </a:xfrm>
          <a:prstGeom prst="rect">
            <a:avLst/>
          </a:prstGeom>
          <a:solidFill>
            <a:srgbClr val="1D4ED8"/>
          </a:solidFill>
          <a:ln w="12700">
            <a:solidFill>
              <a:srgbClr val="1D4ED8"/>
            </a:solidFill>
            <a:prstDash val="solid"/>
          </a:ln>
        </p:spPr>
      </p:sp>
      <p:sp>
        <p:nvSpPr>
          <p:cNvPr id="8" name="Text 6"/>
          <p:cNvSpPr txBox="1"/>
          <p:nvPr/>
        </p:nvSpPr>
        <p:spPr>
          <a:xfrm>
            <a:off x="886968" y="2084832"/>
            <a:ext cx="2131238" cy="274320"/>
          </a:xfrm>
          <a:prstGeom prst="rect">
            <a:avLst/>
          </a:prstGeom>
          <a:noFill/>
          <a:ln/>
        </p:spPr>
        <p:txBody>
          <a:bodyPr wrap="square" lIns="0" tIns="0" rIns="0" bIns="0" rtlCol="0" anchor="ctr"/>
          <a:lstStyle/>
          <a:p>
            <a:pPr indent="0" marL="0">
              <a:buNone/>
            </a:pPr>
            <a:r>
              <a:rPr lang="en-US" sz="950" b="1" spc="50" kern="0" dirty="0">
                <a:solidFill>
                  <a:srgbClr val="1D4ED8"/>
                </a:solidFill>
                <a:latin typeface="Calibri" pitchFamily="34" charset="0"/>
                <a:ea typeface="Calibri" pitchFamily="34" charset="-122"/>
                <a:cs typeface="Calibri" pitchFamily="34" charset="-120"/>
              </a:rPr>
              <a:t>IMMEDIATE</a:t>
            </a:r>
            <a:endParaRPr lang="en-US" sz="950" dirty="0"/>
          </a:p>
        </p:txBody>
      </p:sp>
      <p:sp>
        <p:nvSpPr>
          <p:cNvPr id="9" name="Text 7"/>
          <p:cNvSpPr txBox="1"/>
          <p:nvPr/>
        </p:nvSpPr>
        <p:spPr>
          <a:xfrm>
            <a:off x="886968"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Devkit / protocol team</a:t>
            </a:r>
            <a:endParaRPr lang="en-US" sz="1300" dirty="0"/>
          </a:p>
        </p:txBody>
      </p:sp>
      <p:sp>
        <p:nvSpPr>
          <p:cNvPr id="10" name="Text 8"/>
          <p:cNvSpPr txBox="1"/>
          <p:nvPr/>
        </p:nvSpPr>
        <p:spPr>
          <a:xfrm>
            <a:off x="886968" y="2880360"/>
            <a:ext cx="2131238" cy="68580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The direct consumer of this gap-hunting work</a:t>
            </a:r>
            <a:endParaRPr lang="en-US" sz="1000" dirty="0"/>
          </a:p>
        </p:txBody>
      </p:sp>
      <p:sp>
        <p:nvSpPr>
          <p:cNvPr id="11" name="Shape 9"/>
          <p:cNvSpPr/>
          <p:nvPr/>
        </p:nvSpPr>
        <p:spPr>
          <a:xfrm>
            <a:off x="3228518" y="2734056"/>
            <a:ext cx="201168" cy="201168"/>
          </a:xfrm>
          <a:prstGeom prst="chevron">
            <a:avLst/>
          </a:prstGeom>
          <a:solidFill>
            <a:srgbClr val="9CA3AF"/>
          </a:solidFill>
          <a:ln w="12700">
            <a:solidFill>
              <a:srgbClr val="9CA3AF"/>
            </a:solidFill>
            <a:prstDash val="solid"/>
          </a:ln>
        </p:spPr>
      </p:sp>
      <p:sp>
        <p:nvSpPr>
          <p:cNvPr id="12" name="Shape 10"/>
          <p:cNvSpPr/>
          <p:nvPr/>
        </p:nvSpPr>
        <p:spPr>
          <a:xfrm>
            <a:off x="3447974" y="1920240"/>
            <a:ext cx="2533574" cy="1828800"/>
          </a:xfrm>
          <a:prstGeom prst="roundRect">
            <a:avLst>
              <a:gd name="adj" fmla="val 3000"/>
            </a:avLst>
          </a:prstGeom>
          <a:solidFill>
            <a:srgbClr val="FCEEDD"/>
          </a:solidFill>
          <a:ln w="12700">
            <a:solidFill>
              <a:srgbClr val="B85C0A"/>
            </a:solidFill>
            <a:prstDash val="solid"/>
          </a:ln>
        </p:spPr>
      </p:sp>
      <p:sp>
        <p:nvSpPr>
          <p:cNvPr id="13" name="Shape 11"/>
          <p:cNvSpPr/>
          <p:nvPr/>
        </p:nvSpPr>
        <p:spPr>
          <a:xfrm>
            <a:off x="3447974" y="1920240"/>
            <a:ext cx="50292" cy="1828800"/>
          </a:xfrm>
          <a:prstGeom prst="rect">
            <a:avLst/>
          </a:prstGeom>
          <a:solidFill>
            <a:srgbClr val="B85C0A"/>
          </a:solidFill>
          <a:ln w="12700">
            <a:solidFill>
              <a:srgbClr val="B85C0A"/>
            </a:solidFill>
            <a:prstDash val="solid"/>
          </a:ln>
        </p:spPr>
      </p:sp>
      <p:sp>
        <p:nvSpPr>
          <p:cNvPr id="14" name="Text 12"/>
          <p:cNvSpPr txBox="1"/>
          <p:nvPr/>
        </p:nvSpPr>
        <p:spPr>
          <a:xfrm>
            <a:off x="3649142" y="2084832"/>
            <a:ext cx="2131238" cy="274320"/>
          </a:xfrm>
          <a:prstGeom prst="rect">
            <a:avLst/>
          </a:prstGeom>
          <a:noFill/>
          <a:ln/>
        </p:spPr>
        <p:txBody>
          <a:bodyPr wrap="square" lIns="0" tIns="0" rIns="0" bIns="0" rtlCol="0" anchor="ctr"/>
          <a:lstStyle/>
          <a:p>
            <a:pPr indent="0" marL="0">
              <a:buNone/>
            </a:pPr>
            <a:r>
              <a:rPr lang="en-US" sz="950" b="1" spc="50" kern="0" dirty="0">
                <a:solidFill>
                  <a:srgbClr val="B85C0A"/>
                </a:solidFill>
                <a:latin typeface="Calibri" pitchFamily="34" charset="0"/>
                <a:ea typeface="Calibri" pitchFamily="34" charset="-122"/>
                <a:cs typeface="Calibri" pitchFamily="34" charset="-120"/>
              </a:rPr>
              <a:t>NEXT</a:t>
            </a:r>
            <a:endParaRPr lang="en-US" sz="950" dirty="0"/>
          </a:p>
        </p:txBody>
      </p:sp>
      <p:sp>
        <p:nvSpPr>
          <p:cNvPr id="15" name="Text 13"/>
          <p:cNvSpPr txBox="1"/>
          <p:nvPr/>
        </p:nvSpPr>
        <p:spPr>
          <a:xfrm>
            <a:off x="3649142"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DISCOM engineering</a:t>
            </a:r>
            <a:endParaRPr lang="en-US" sz="1300" dirty="0"/>
          </a:p>
        </p:txBody>
      </p:sp>
      <p:sp>
        <p:nvSpPr>
          <p:cNvPr id="16" name="Text 14"/>
          <p:cNvSpPr txBox="1"/>
          <p:nvPr/>
        </p:nvSpPr>
        <p:spPr>
          <a:xfrm>
            <a:off x="3649142" y="2880360"/>
            <a:ext cx="2131238" cy="68580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Adopts the devkit — inherits whichever gaps did or didn't get fixed</a:t>
            </a:r>
            <a:endParaRPr lang="en-US" sz="1000" dirty="0"/>
          </a:p>
        </p:txBody>
      </p:sp>
      <p:sp>
        <p:nvSpPr>
          <p:cNvPr id="17" name="Shape 15"/>
          <p:cNvSpPr/>
          <p:nvPr/>
        </p:nvSpPr>
        <p:spPr>
          <a:xfrm>
            <a:off x="5990692" y="2734056"/>
            <a:ext cx="201168" cy="201168"/>
          </a:xfrm>
          <a:prstGeom prst="chevron">
            <a:avLst/>
          </a:prstGeom>
          <a:solidFill>
            <a:srgbClr val="9CA3AF"/>
          </a:solidFill>
          <a:ln w="12700">
            <a:solidFill>
              <a:srgbClr val="9CA3AF"/>
            </a:solidFill>
            <a:prstDash val="solid"/>
          </a:ln>
        </p:spPr>
      </p:sp>
      <p:sp>
        <p:nvSpPr>
          <p:cNvPr id="18" name="Shape 16"/>
          <p:cNvSpPr/>
          <p:nvPr/>
        </p:nvSpPr>
        <p:spPr>
          <a:xfrm>
            <a:off x="6210148" y="1920240"/>
            <a:ext cx="2533574" cy="1828800"/>
          </a:xfrm>
          <a:prstGeom prst="roundRect">
            <a:avLst>
              <a:gd name="adj" fmla="val 3000"/>
            </a:avLst>
          </a:prstGeom>
          <a:solidFill>
            <a:srgbClr val="FCEEDD"/>
          </a:solidFill>
          <a:ln w="12700">
            <a:solidFill>
              <a:srgbClr val="B85C0A"/>
            </a:solidFill>
            <a:prstDash val="solid"/>
          </a:ln>
        </p:spPr>
      </p:sp>
      <p:sp>
        <p:nvSpPr>
          <p:cNvPr id="19" name="Shape 17"/>
          <p:cNvSpPr/>
          <p:nvPr/>
        </p:nvSpPr>
        <p:spPr>
          <a:xfrm>
            <a:off x="6210148" y="1920240"/>
            <a:ext cx="50292" cy="1828800"/>
          </a:xfrm>
          <a:prstGeom prst="rect">
            <a:avLst/>
          </a:prstGeom>
          <a:solidFill>
            <a:srgbClr val="B85C0A"/>
          </a:solidFill>
          <a:ln w="12700">
            <a:solidFill>
              <a:srgbClr val="B85C0A"/>
            </a:solidFill>
            <a:prstDash val="solid"/>
          </a:ln>
        </p:spPr>
      </p:sp>
      <p:sp>
        <p:nvSpPr>
          <p:cNvPr id="20" name="Text 18"/>
          <p:cNvSpPr txBox="1"/>
          <p:nvPr/>
        </p:nvSpPr>
        <p:spPr>
          <a:xfrm>
            <a:off x="6411316" y="2084832"/>
            <a:ext cx="2131238" cy="274320"/>
          </a:xfrm>
          <a:prstGeom prst="rect">
            <a:avLst/>
          </a:prstGeom>
          <a:noFill/>
          <a:ln/>
        </p:spPr>
        <p:txBody>
          <a:bodyPr wrap="square" lIns="0" tIns="0" rIns="0" bIns="0" rtlCol="0" anchor="ctr"/>
          <a:lstStyle/>
          <a:p>
            <a:pPr indent="0" marL="0">
              <a:buNone/>
            </a:pPr>
            <a:r>
              <a:rPr lang="en-US" sz="950" b="1" spc="50" kern="0" dirty="0">
                <a:solidFill>
                  <a:srgbClr val="B85C0A"/>
                </a:solidFill>
                <a:latin typeface="Calibri" pitchFamily="34" charset="0"/>
                <a:ea typeface="Calibri" pitchFamily="34" charset="-122"/>
                <a:cs typeface="Calibri" pitchFamily="34" charset="-120"/>
              </a:rPr>
              <a:t>GATEKEEPER</a:t>
            </a:r>
            <a:endParaRPr lang="en-US" sz="950" dirty="0"/>
          </a:p>
        </p:txBody>
      </p:sp>
      <p:sp>
        <p:nvSpPr>
          <p:cNvPr id="21" name="Text 19"/>
          <p:cNvSpPr txBox="1"/>
          <p:nvPr/>
        </p:nvSpPr>
        <p:spPr>
          <a:xfrm>
            <a:off x="6411316"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Regulators (CERC/SERC)</a:t>
            </a:r>
            <a:endParaRPr lang="en-US" sz="1300" dirty="0"/>
          </a:p>
        </p:txBody>
      </p:sp>
      <p:sp>
        <p:nvSpPr>
          <p:cNvPr id="22" name="Text 20"/>
          <p:cNvSpPr txBox="1"/>
          <p:nvPr/>
        </p:nvSpPr>
        <p:spPr>
          <a:xfrm>
            <a:off x="6411316" y="2880360"/>
            <a:ext cx="2131238" cy="68580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Must be convinced this is safe before real money moves</a:t>
            </a:r>
            <a:endParaRPr lang="en-US" sz="1000" dirty="0"/>
          </a:p>
        </p:txBody>
      </p:sp>
      <p:sp>
        <p:nvSpPr>
          <p:cNvPr id="23" name="Shape 21"/>
          <p:cNvSpPr/>
          <p:nvPr/>
        </p:nvSpPr>
        <p:spPr>
          <a:xfrm>
            <a:off x="8752865" y="2734056"/>
            <a:ext cx="201168" cy="201168"/>
          </a:xfrm>
          <a:prstGeom prst="chevron">
            <a:avLst/>
          </a:prstGeom>
          <a:solidFill>
            <a:srgbClr val="9CA3AF"/>
          </a:solidFill>
          <a:ln w="12700">
            <a:solidFill>
              <a:srgbClr val="9CA3AF"/>
            </a:solidFill>
            <a:prstDash val="solid"/>
          </a:ln>
        </p:spPr>
      </p:sp>
      <p:sp>
        <p:nvSpPr>
          <p:cNvPr id="24" name="Shape 22"/>
          <p:cNvSpPr/>
          <p:nvPr/>
        </p:nvSpPr>
        <p:spPr>
          <a:xfrm>
            <a:off x="8972321" y="1920240"/>
            <a:ext cx="2533574" cy="1828800"/>
          </a:xfrm>
          <a:prstGeom prst="roundRect">
            <a:avLst>
              <a:gd name="adj" fmla="val 3000"/>
            </a:avLst>
          </a:prstGeom>
          <a:solidFill>
            <a:srgbClr val="FCEEDD"/>
          </a:solidFill>
          <a:ln w="12700">
            <a:solidFill>
              <a:srgbClr val="B85C0A"/>
            </a:solidFill>
            <a:prstDash val="solid"/>
          </a:ln>
        </p:spPr>
      </p:sp>
      <p:sp>
        <p:nvSpPr>
          <p:cNvPr id="25" name="Shape 23"/>
          <p:cNvSpPr/>
          <p:nvPr/>
        </p:nvSpPr>
        <p:spPr>
          <a:xfrm>
            <a:off x="8972321" y="1920240"/>
            <a:ext cx="50292" cy="1828800"/>
          </a:xfrm>
          <a:prstGeom prst="rect">
            <a:avLst/>
          </a:prstGeom>
          <a:solidFill>
            <a:srgbClr val="B85C0A"/>
          </a:solidFill>
          <a:ln w="12700">
            <a:solidFill>
              <a:srgbClr val="B85C0A"/>
            </a:solidFill>
            <a:prstDash val="solid"/>
          </a:ln>
        </p:spPr>
      </p:sp>
      <p:sp>
        <p:nvSpPr>
          <p:cNvPr id="26" name="Text 24"/>
          <p:cNvSpPr txBox="1"/>
          <p:nvPr/>
        </p:nvSpPr>
        <p:spPr>
          <a:xfrm>
            <a:off x="9173489" y="2084832"/>
            <a:ext cx="2131238" cy="274320"/>
          </a:xfrm>
          <a:prstGeom prst="rect">
            <a:avLst/>
          </a:prstGeom>
          <a:noFill/>
          <a:ln/>
        </p:spPr>
        <p:txBody>
          <a:bodyPr wrap="square" lIns="0" tIns="0" rIns="0" bIns="0" rtlCol="0" anchor="ctr"/>
          <a:lstStyle/>
          <a:p>
            <a:pPr indent="0" marL="0">
              <a:buNone/>
            </a:pPr>
            <a:r>
              <a:rPr lang="en-US" sz="950" b="1" spc="50" kern="0" dirty="0">
                <a:solidFill>
                  <a:srgbClr val="B85C0A"/>
                </a:solidFill>
                <a:latin typeface="Calibri" pitchFamily="34" charset="0"/>
                <a:ea typeface="Calibri" pitchFamily="34" charset="-122"/>
                <a:cs typeface="Calibri" pitchFamily="34" charset="-120"/>
              </a:rPr>
              <a:t>END USER</a:t>
            </a:r>
            <a:endParaRPr lang="en-US" sz="950" dirty="0"/>
          </a:p>
        </p:txBody>
      </p:sp>
      <p:sp>
        <p:nvSpPr>
          <p:cNvPr id="27" name="Text 25"/>
          <p:cNvSpPr txBox="1"/>
          <p:nvPr/>
        </p:nvSpPr>
        <p:spPr>
          <a:xfrm>
            <a:off x="9173489" y="2414016"/>
            <a:ext cx="2131238" cy="457200"/>
          </a:xfrm>
          <a:prstGeom prst="rect">
            <a:avLst/>
          </a:prstGeom>
          <a:noFill/>
          <a:ln/>
        </p:spPr>
        <p:txBody>
          <a:bodyPr wrap="square" lIns="0" tIns="0" rIns="0" bIns="0" rtlCol="0" anchor="ctr"/>
          <a:lstStyle/>
          <a:p>
            <a:pPr indent="0" marL="0">
              <a:lnSpc>
                <a:spcPct val="105000"/>
              </a:lnSpc>
              <a:buNone/>
            </a:pPr>
            <a:r>
              <a:rPr lang="en-US" sz="1300" b="1" dirty="0">
                <a:solidFill>
                  <a:srgbClr val="1A1A1A"/>
                </a:solidFill>
                <a:latin typeface="Calibri" pitchFamily="34" charset="0"/>
                <a:ea typeface="Calibri" pitchFamily="34" charset="-122"/>
                <a:cs typeface="Calibri" pitchFamily="34" charset="-120"/>
              </a:rPr>
              <a:t>Real households</a:t>
            </a:r>
            <a:endParaRPr lang="en-US" sz="1300" dirty="0"/>
          </a:p>
        </p:txBody>
      </p:sp>
      <p:sp>
        <p:nvSpPr>
          <p:cNvPr id="28" name="Text 26"/>
          <p:cNvSpPr txBox="1"/>
          <p:nvPr/>
        </p:nvSpPr>
        <p:spPr>
          <a:xfrm>
            <a:off x="9173489" y="2880360"/>
            <a:ext cx="2131238" cy="685800"/>
          </a:xfrm>
          <a:prstGeom prst="rect">
            <a:avLst/>
          </a:prstGeom>
          <a:noFill/>
          <a:ln/>
        </p:spPr>
        <p:txBody>
          <a:bodyPr wrap="square" lIns="0" tIns="0" rIns="0" bIns="0" rtlCol="0" anchor="ctr"/>
          <a:lstStyle/>
          <a:p>
            <a:pPr indent="0" marL="0">
              <a:lnSpc>
                <a:spcPct val="120000"/>
              </a:lnSpc>
              <a:buNone/>
            </a:pPr>
            <a:r>
              <a:rPr lang="en-US" sz="1000" dirty="0">
                <a:solidFill>
                  <a:srgbClr val="555E6B"/>
                </a:solidFill>
                <a:latin typeface="Calibri" pitchFamily="34" charset="0"/>
                <a:ea typeface="Calibri" pitchFamily="34" charset="-122"/>
                <a:cs typeface="Calibri" pitchFamily="34" charset="-120"/>
              </a:rPr>
              <a:t>The final beneficiary — real money at stake</a:t>
            </a:r>
            <a:endParaRPr lang="en-US" sz="1000" dirty="0"/>
          </a:p>
        </p:txBody>
      </p:sp>
      <p:sp>
        <p:nvSpPr>
          <p:cNvPr id="29" name="Text 27"/>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Pattern consistent with India's own DPI rollout precedent (UPI/ONDC) and IES's REC-as-nodal-agency structure</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G   BUSINESS VALUE &amp; THE REAL CUSTOMER</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What we consume vs. what we change</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85800" y="1920240"/>
          <a:ext cx="10820095" cy="914400"/>
        </p:xfrm>
        <a:graphic>
          <a:graphicData uri="http://schemas.openxmlformats.org/drawingml/2006/table">
            <a:tbl>
              <a:tblPr/>
              <a:tblGrid>
                <a:gridCol w="2377440"/>
                <a:gridCol w="4480560"/>
                <a:gridCol w="3959352"/>
              </a:tblGrid>
              <a:tr h="777240">
                <a:tc>
                  <a:txBody>
                    <a:bodyPr/>
                    <a:lstStyle/>
                    <a:p>
                      <a:pPr indent="0" marL="0">
                        <a:buNone/>
                      </a:pPr>
                      <a:r>
                        <a:rPr lang="en-US" sz="1050" b="1" dirty="0">
                          <a:solidFill>
                            <a:srgbClr val="FFFFFF"/>
                          </a:solidFill>
                        </a:rPr>
                        <a:t>LAYER</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WE CONSUME (existing, untouched)</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WE CHANGE / ADD</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r>
              <a:tr h="777240">
                <a:tc>
                  <a:txBody>
                    <a:bodyPr/>
                    <a:lstStyle/>
                    <a:p>
                      <a:pPr indent="0" marL="0">
                        <a:buNone/>
                      </a:pPr>
                      <a:r>
                        <a:rPr lang="en-US" sz="1000" b="1" dirty="0">
                          <a:solidFill>
                            <a:srgbClr val="1A1A1A"/>
                          </a:solidFill>
                        </a:rPr>
                        <a:t>Physical delivery</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The actual flow of electricity — unaffected by any trade</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Nothing</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777240">
                <a:tc>
                  <a:txBody>
                    <a:bodyPr/>
                    <a:lstStyle/>
                    <a:p>
                      <a:pPr indent="0" marL="0">
                        <a:buNone/>
                      </a:pPr>
                      <a:r>
                        <a:rPr lang="en-US" sz="1000" b="1" dirty="0">
                          <a:solidFill>
                            <a:srgbClr val="1A1A1A"/>
                          </a:solidFill>
                        </a:rPr>
                        <a:t>Metering &amp; telemetry</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Smart meters, AMI, HES, MDM — we only read from these</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How often we read the feed</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777240">
                <a:tc>
                  <a:txBody>
                    <a:bodyPr/>
                    <a:lstStyle/>
                    <a:p>
                      <a:pPr indent="0" marL="0">
                        <a:buNone/>
                      </a:pPr>
                      <a:r>
                        <a:rPr lang="en-US" sz="1000" b="1" dirty="0">
                          <a:solidFill>
                            <a:srgbClr val="1A1A1A"/>
                          </a:solidFill>
                        </a:rPr>
                        <a:t>Hardware control &amp; safety</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DERMS, anti-islanding — we never command a device directly</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Nothing — by design</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777240">
                <a:tc>
                  <a:txBody>
                    <a:bodyPr/>
                    <a:lstStyle/>
                    <a:p>
                      <a:pPr indent="0" marL="0">
                        <a:buNone/>
                      </a:pPr>
                      <a:r>
                        <a:rPr lang="en-US" sz="1000" b="1" dirty="0">
                          <a:solidFill>
                            <a:srgbClr val="1A1A1A"/>
                          </a:solidFill>
                        </a:rPr>
                        <a:t>Commercial rules &amp; trust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The Beckn protocol's message shapes and routing mechanics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Penalties, price bands, disputes, capacity checks (24 gaps)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Section D/G cross-reference, this deck</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G   BUSINESS VALUE &amp; THE REAL CUSTOMER</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Is it worth it?</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24 gaps found across two rounds. The cost asymmetry: catching this now is a pull request; after go-live, it's an incident.</a:t>
            </a:r>
            <a:endParaRPr lang="en-US" sz="1350" dirty="0"/>
          </a:p>
        </p:txBody>
      </p:sp>
      <p:graphicFrame>
        <p:nvGraphicFramePr>
          <p:cNvPr id="6" name="Chart 0" descr=""/>
          <p:cNvGraphicFramePr/>
          <p:nvPr/>
        </p:nvGraphicFramePr>
        <p:xfrm>
          <a:off x="685800" y="2011680"/>
          <a:ext cx="10820095" cy="3291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Tally of all 24 gaps identified and severity-rated across this project's own review documents</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H   STORED VS. DIRECT ENERGY — THE RED FLAG</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Two physically different promises</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This is the differentiation nobody had drawn explicitly yet.</a:t>
            </a:r>
            <a:endParaRPr lang="en-US" sz="1350" dirty="0"/>
          </a:p>
        </p:txBody>
      </p:sp>
      <p:sp>
        <p:nvSpPr>
          <p:cNvPr id="6" name="Shape 4"/>
          <p:cNvSpPr/>
          <p:nvPr/>
        </p:nvSpPr>
        <p:spPr>
          <a:xfrm>
            <a:off x="685800" y="1920240"/>
            <a:ext cx="5272888" cy="2834640"/>
          </a:xfrm>
          <a:prstGeom prst="roundRect">
            <a:avLst>
              <a:gd name="adj" fmla="val 1935"/>
            </a:avLst>
          </a:prstGeom>
          <a:solidFill>
            <a:srgbClr val="E5F3E8"/>
          </a:solidFill>
          <a:ln w="12700">
            <a:solidFill>
              <a:srgbClr val="1E7A3C"/>
            </a:solidFill>
            <a:prstDash val="solid"/>
          </a:ln>
        </p:spPr>
      </p:sp>
      <p:sp>
        <p:nvSpPr>
          <p:cNvPr id="7" name="Shape 5"/>
          <p:cNvSpPr/>
          <p:nvPr/>
        </p:nvSpPr>
        <p:spPr>
          <a:xfrm>
            <a:off x="685800" y="1920240"/>
            <a:ext cx="50292" cy="2834640"/>
          </a:xfrm>
          <a:prstGeom prst="rect">
            <a:avLst/>
          </a:prstGeom>
          <a:solidFill>
            <a:srgbClr val="1E7A3C"/>
          </a:solidFill>
          <a:ln w="12700">
            <a:solidFill>
              <a:srgbClr val="1E7A3C"/>
            </a:solidFill>
            <a:prstDash val="solid"/>
          </a:ln>
        </p:spPr>
      </p:sp>
      <p:sp>
        <p:nvSpPr>
          <p:cNvPr id="8" name="Text 6"/>
          <p:cNvSpPr txBox="1"/>
          <p:nvPr/>
        </p:nvSpPr>
        <p:spPr>
          <a:xfrm>
            <a:off x="960120" y="2103120"/>
            <a:ext cx="4724248" cy="320040"/>
          </a:xfrm>
          <a:prstGeom prst="rect">
            <a:avLst/>
          </a:prstGeom>
          <a:noFill/>
          <a:ln/>
        </p:spPr>
        <p:txBody>
          <a:bodyPr wrap="square" lIns="0" tIns="0" rIns="0" bIns="0" rtlCol="0" anchor="ctr"/>
          <a:lstStyle/>
          <a:p>
            <a:pPr indent="0" marL="0">
              <a:buNone/>
            </a:pPr>
            <a:r>
              <a:rPr lang="en-US" sz="1350" b="1" dirty="0">
                <a:solidFill>
                  <a:srgbClr val="1E7A3C"/>
                </a:solidFill>
                <a:latin typeface="Calibri" pitchFamily="34" charset="0"/>
                <a:ea typeface="Calibri" pitchFamily="34" charset="-122"/>
                <a:cs typeface="Calibri" pitchFamily="34" charset="-120"/>
              </a:rPr>
              <a:t>STORED — BATTERY / BESS</a:t>
            </a:r>
            <a:endParaRPr lang="en-US" sz="1350" dirty="0"/>
          </a:p>
        </p:txBody>
      </p:sp>
      <p:sp>
        <p:nvSpPr>
          <p:cNvPr id="9" name="Text 7"/>
          <p:cNvSpPr txBox="1"/>
          <p:nvPr/>
        </p:nvSpPr>
        <p:spPr>
          <a:xfrm>
            <a:off x="960120" y="2514600"/>
            <a:ext cx="4724248" cy="2057400"/>
          </a:xfrm>
          <a:prstGeom prst="rect">
            <a:avLst/>
          </a:prstGeom>
          <a:noFill/>
          <a:ln/>
        </p:spPr>
        <p:txBody>
          <a:bodyPr wrap="square" lIns="0" tIns="0" rIns="0" bIns="0" rtlCol="0" anchor="ctr"/>
          <a:lstStyle/>
          <a:p>
            <a:pPr indent="0" marL="0">
              <a:lnSpc>
                <a:spcPct val="130000"/>
              </a:lnSpc>
              <a:buNone/>
            </a:pPr>
            <a:r>
              <a:rPr lang="en-US" sz="1250" dirty="0">
                <a:solidFill>
                  <a:srgbClr val="1A1A1A"/>
                </a:solidFill>
                <a:latin typeface="Calibri" pitchFamily="34" charset="0"/>
                <a:ea typeface="Calibri" pitchFamily="34" charset="-122"/>
                <a:cs typeface="Calibri" pitchFamily="34" charset="-120"/>
              </a:rPr>
              <a:t>Energy already sits in the battery. A commitment to deliver 5 kWh at 6pm is a real, checkable promise — state-of-charge can be read right now to verify it's even possible before the trade is confirmed.</a:t>
            </a:r>
            <a:endParaRPr lang="en-US" sz="1250" dirty="0"/>
          </a:p>
        </p:txBody>
      </p:sp>
      <p:sp>
        <p:nvSpPr>
          <p:cNvPr id="10" name="Shape 8"/>
          <p:cNvSpPr/>
          <p:nvPr/>
        </p:nvSpPr>
        <p:spPr>
          <a:xfrm>
            <a:off x="6233008" y="1920240"/>
            <a:ext cx="5272888" cy="2834640"/>
          </a:xfrm>
          <a:prstGeom prst="roundRect">
            <a:avLst>
              <a:gd name="adj" fmla="val 1935"/>
            </a:avLst>
          </a:prstGeom>
          <a:solidFill>
            <a:srgbClr val="FCEEDD"/>
          </a:solidFill>
          <a:ln w="12700">
            <a:solidFill>
              <a:srgbClr val="B85C0A"/>
            </a:solidFill>
            <a:prstDash val="solid"/>
          </a:ln>
        </p:spPr>
      </p:sp>
      <p:sp>
        <p:nvSpPr>
          <p:cNvPr id="11" name="Shape 9"/>
          <p:cNvSpPr/>
          <p:nvPr/>
        </p:nvSpPr>
        <p:spPr>
          <a:xfrm>
            <a:off x="6233008" y="1920240"/>
            <a:ext cx="50292" cy="2834640"/>
          </a:xfrm>
          <a:prstGeom prst="rect">
            <a:avLst/>
          </a:prstGeom>
          <a:solidFill>
            <a:srgbClr val="B85C0A"/>
          </a:solidFill>
          <a:ln w="12700">
            <a:solidFill>
              <a:srgbClr val="B85C0A"/>
            </a:solidFill>
            <a:prstDash val="solid"/>
          </a:ln>
        </p:spPr>
      </p:sp>
      <p:sp>
        <p:nvSpPr>
          <p:cNvPr id="12" name="Text 10"/>
          <p:cNvSpPr txBox="1"/>
          <p:nvPr/>
        </p:nvSpPr>
        <p:spPr>
          <a:xfrm>
            <a:off x="6507328" y="2103120"/>
            <a:ext cx="4724248" cy="320040"/>
          </a:xfrm>
          <a:prstGeom prst="rect">
            <a:avLst/>
          </a:prstGeom>
          <a:noFill/>
          <a:ln/>
        </p:spPr>
        <p:txBody>
          <a:bodyPr wrap="square" lIns="0" tIns="0" rIns="0" bIns="0" rtlCol="0" anchor="ctr"/>
          <a:lstStyle/>
          <a:p>
            <a:pPr indent="0" marL="0">
              <a:buNone/>
            </a:pPr>
            <a:r>
              <a:rPr lang="en-US" sz="1350" b="1" dirty="0">
                <a:solidFill>
                  <a:srgbClr val="B85C0A"/>
                </a:solidFill>
                <a:latin typeface="Calibri" pitchFamily="34" charset="0"/>
                <a:ea typeface="Calibri" pitchFamily="34" charset="-122"/>
                <a:cs typeface="Calibri" pitchFamily="34" charset="-120"/>
              </a:rPr>
              <a:t>DIRECT — SOLAR / GRID-FLOW</a:t>
            </a:r>
            <a:endParaRPr lang="en-US" sz="1350" dirty="0"/>
          </a:p>
        </p:txBody>
      </p:sp>
      <p:sp>
        <p:nvSpPr>
          <p:cNvPr id="13" name="Text 11"/>
          <p:cNvSpPr txBox="1"/>
          <p:nvPr/>
        </p:nvSpPr>
        <p:spPr>
          <a:xfrm>
            <a:off x="6507328" y="2514600"/>
            <a:ext cx="4724248" cy="2057400"/>
          </a:xfrm>
          <a:prstGeom prst="rect">
            <a:avLst/>
          </a:prstGeom>
          <a:noFill/>
          <a:ln/>
        </p:spPr>
        <p:txBody>
          <a:bodyPr wrap="square" lIns="0" tIns="0" rIns="0" bIns="0" rtlCol="0" anchor="ctr"/>
          <a:lstStyle/>
          <a:p>
            <a:pPr indent="0" marL="0">
              <a:lnSpc>
                <a:spcPct val="130000"/>
              </a:lnSpc>
              <a:buNone/>
            </a:pPr>
            <a:r>
              <a:rPr lang="en-US" sz="1250" dirty="0">
                <a:solidFill>
                  <a:srgbClr val="1A1A1A"/>
                </a:solidFill>
                <a:latin typeface="Calibri" pitchFamily="34" charset="0"/>
                <a:ea typeface="Calibri" pitchFamily="34" charset="-122"/>
                <a:cs typeface="Calibri" pitchFamily="34" charset="-120"/>
              </a:rPr>
              <a:t>Energy doesn't exist until the sun makes it. A commitment to deliver 5 kWh at 6pm (after sunset) is physically impossible without storage — it can only ever be a weather-dependent estimate, never a hard promise.</a:t>
            </a:r>
            <a:endParaRPr lang="en-US" sz="1250" dirty="0"/>
          </a:p>
        </p:txBody>
      </p:sp>
      <p:sp>
        <p:nvSpPr>
          <p:cNvPr id="14" name="Text 12"/>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Basic physics of generation vs. storage — independent of any schema or software choice</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H   STORED VS. DIRECT ENERGY — THE RED FLAG</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The schema takes storage seriously — on paper</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Shape 3"/>
          <p:cNvSpPr/>
          <p:nvPr/>
        </p:nvSpPr>
        <p:spPr>
          <a:xfrm>
            <a:off x="9219895" y="384048"/>
            <a:ext cx="2286000" cy="292608"/>
          </a:xfrm>
          <a:prstGeom prst="roundRect">
            <a:avLst>
              <a:gd name="adj" fmla="val 50000"/>
            </a:avLst>
          </a:prstGeom>
          <a:solidFill>
            <a:srgbClr val="FFFFFF"/>
          </a:solidFill>
          <a:ln w="15875">
            <a:solidFill>
              <a:srgbClr val="1E7A3C"/>
            </a:solidFill>
            <a:prstDash val="solid"/>
          </a:ln>
        </p:spPr>
      </p:sp>
      <p:sp>
        <p:nvSpPr>
          <p:cNvPr id="6" name="Text 4"/>
          <p:cNvSpPr txBox="1"/>
          <p:nvPr/>
        </p:nvSpPr>
        <p:spPr>
          <a:xfrm>
            <a:off x="9219895" y="384048"/>
            <a:ext cx="2286000" cy="292608"/>
          </a:xfrm>
          <a:prstGeom prst="rect">
            <a:avLst/>
          </a:prstGeom>
          <a:noFill/>
          <a:ln/>
        </p:spPr>
        <p:txBody>
          <a:bodyPr wrap="square" lIns="0" tIns="0" rIns="0" bIns="0" rtlCol="0" anchor="ctr"/>
          <a:lstStyle/>
          <a:p>
            <a:pPr algn="ctr" indent="0" marL="0">
              <a:buNone/>
            </a:pPr>
            <a:r>
              <a:rPr lang="en-US" sz="1000" b="1" dirty="0">
                <a:solidFill>
                  <a:srgbClr val="1E7A3C"/>
                </a:solidFill>
                <a:latin typeface="Calibri" pitchFamily="34" charset="0"/>
                <a:ea typeface="Calibri" pitchFamily="34" charset="-122"/>
                <a:cs typeface="Calibri" pitchFamily="34" charset="-120"/>
              </a:rPr>
              <a:t>VERIFIED — SCHEMA/CODE</a:t>
            </a:r>
            <a:endParaRPr lang="en-US" sz="1000" dirty="0"/>
          </a:p>
        </p:txBody>
      </p:sp>
      <p:sp>
        <p:nvSpPr>
          <p:cNvPr id="7" name="Text 5"/>
          <p:cNvSpPr txBox="1"/>
          <p:nvPr/>
        </p:nvSpPr>
        <p:spPr>
          <a:xfrm>
            <a:off x="685800" y="1508760"/>
            <a:ext cx="10820095"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EnergyResource/v2.1 models a battery (BESS) as a rich, CIM-aligned, first-class type.</a:t>
            </a:r>
            <a:endParaRPr lang="en-US" sz="13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1920240"/>
          <a:ext cx="10820095" cy="914400"/>
        </p:xfrm>
        <a:graphic>
          <a:graphicData uri="http://schemas.openxmlformats.org/drawingml/2006/table">
            <a:tbl>
              <a:tblPr/>
              <a:tblGrid>
                <a:gridCol w="2743200"/>
                <a:gridCol w="2103120"/>
                <a:gridCol w="5971032"/>
              </a:tblGrid>
              <a:tr h="621792">
                <a:tc>
                  <a:txBody>
                    <a:bodyPr/>
                    <a:lstStyle/>
                    <a:p>
                      <a:pPr indent="0" marL="0">
                        <a:buNone/>
                      </a:pPr>
                      <a:r>
                        <a:rPr lang="en-US" sz="1050" b="1" dirty="0">
                          <a:solidFill>
                            <a:srgbClr val="FFFFFF"/>
                          </a:solidFill>
                        </a:rPr>
                        <a:t>FIELD</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TYPE</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WHAT IT CAPTURES</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r>
              <a:tr h="621792">
                <a:tc>
                  <a:txBody>
                    <a:bodyPr/>
                    <a:lstStyle/>
                    <a:p>
                      <a:pPr indent="0" marL="0">
                        <a:buNone/>
                      </a:pPr>
                      <a:r>
                        <a:rPr lang="en-US" sz="1000" b="1" dirty="0">
                          <a:solidFill>
                            <a:srgbClr val="1A1A1A"/>
                          </a:solidFill>
                        </a:rPr>
                        <a:t>type: “BESS”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enum</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Discriminates a battery from SOLAR_PV, WIND, EV_CHARGER, etc. — CIM BatteryUnit aligned</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21792">
                <a:tc>
                  <a:txBody>
                    <a:bodyPr/>
                    <a:lstStyle/>
                    <a:p>
                      <a:pPr indent="0" marL="0">
                        <a:buNone/>
                      </a:pPr>
                      <a:r>
                        <a:rPr lang="en-US" sz="1000" b="1" dirty="0">
                          <a:solidFill>
                            <a:srgbClr val="1A1A1A"/>
                          </a:solidFill>
                        </a:rPr>
                        <a:t>storageCapacity</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QuantitativeValue (kWh)</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Rated energy capacity — how much it can actually hold</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21792">
                <a:tc>
                  <a:txBody>
                    <a:bodyPr/>
                    <a:lstStyle/>
                    <a:p>
                      <a:pPr indent="0" marL="0">
                        <a:buNone/>
                      </a:pPr>
                      <a:r>
                        <a:rPr lang="en-US" sz="1000" b="1" dirty="0">
                          <a:solidFill>
                            <a:srgbClr val="1A1A1A"/>
                          </a:solidFill>
                        </a:rPr>
                        <a:t>storageType</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enum</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LithiumIon, LeadAcid, FlowBattery, NaS, NiCd, Flywheel</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21792">
                <a:tc>
                  <a:txBody>
                    <a:bodyPr/>
                    <a:lstStyle/>
                    <a:p>
                      <a:pPr indent="0" marL="0">
                        <a:buNone/>
                      </a:pPr>
                      <a:r>
                        <a:rPr lang="en-US" sz="1000" b="1" dirty="0">
                          <a:solidFill>
                            <a:srgbClr val="1A1A1A"/>
                          </a:solidFill>
                        </a:rPr>
                        <a:t>stateOfHealthPct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number 0–100</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Degradation-adjusted real capacity — not just nameplate</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621792">
                <a:tc>
                  <a:txBody>
                    <a:bodyPr/>
                    <a:lstStyle/>
                    <a:p>
                      <a:pPr indent="0" marL="0">
                        <a:buNone/>
                      </a:pPr>
                      <a:r>
                        <a:rPr lang="en-US" sz="1000" b="1" dirty="0">
                          <a:solidFill>
                            <a:srgbClr val="1A1A1A"/>
                          </a:solidFill>
                        </a:rPr>
                        <a:t>roundTripEfficiencyPct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number 0–100</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AC-to-AC efficiency over a full cycle (IEC 62933-2-1)</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ies-devkit/specification/schema/EnergyResource/v2.1/attributes.yaml + README.md — read directly from the real repo</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H   STORED VS. DIRECT ENERGY — THE RED FLAG</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But the trade itself never asks</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Shape 3"/>
          <p:cNvSpPr/>
          <p:nvPr/>
        </p:nvSpPr>
        <p:spPr>
          <a:xfrm>
            <a:off x="9219895" y="384048"/>
            <a:ext cx="2286000" cy="292608"/>
          </a:xfrm>
          <a:prstGeom prst="roundRect">
            <a:avLst>
              <a:gd name="adj" fmla="val 50000"/>
            </a:avLst>
          </a:prstGeom>
          <a:solidFill>
            <a:srgbClr val="FFFFFF"/>
          </a:solidFill>
          <a:ln w="15875">
            <a:solidFill>
              <a:srgbClr val="1E7A3C"/>
            </a:solidFill>
            <a:prstDash val="solid"/>
          </a:ln>
        </p:spPr>
      </p:sp>
      <p:sp>
        <p:nvSpPr>
          <p:cNvPr id="6" name="Text 4"/>
          <p:cNvSpPr txBox="1"/>
          <p:nvPr/>
        </p:nvSpPr>
        <p:spPr>
          <a:xfrm>
            <a:off x="9219895" y="384048"/>
            <a:ext cx="2286000" cy="292608"/>
          </a:xfrm>
          <a:prstGeom prst="rect">
            <a:avLst/>
          </a:prstGeom>
          <a:noFill/>
          <a:ln/>
        </p:spPr>
        <p:txBody>
          <a:bodyPr wrap="square" lIns="0" tIns="0" rIns="0" bIns="0" rtlCol="0" anchor="ctr"/>
          <a:lstStyle/>
          <a:p>
            <a:pPr algn="ctr" indent="0" marL="0">
              <a:buNone/>
            </a:pPr>
            <a:r>
              <a:rPr lang="en-US" sz="1000" b="1" dirty="0">
                <a:solidFill>
                  <a:srgbClr val="1E7A3C"/>
                </a:solidFill>
                <a:latin typeface="Calibri" pitchFamily="34" charset="0"/>
                <a:ea typeface="Calibri" pitchFamily="34" charset="-122"/>
                <a:cs typeface="Calibri" pitchFamily="34" charset="-120"/>
              </a:rPr>
              <a:t>VERIFIED — SCHEMA/CODE</a:t>
            </a:r>
            <a:endParaRPr lang="en-US" sz="1000" dirty="0"/>
          </a:p>
        </p:txBody>
      </p:sp>
      <p:sp>
        <p:nvSpPr>
          <p:cNvPr id="7" name="Shape 5"/>
          <p:cNvSpPr/>
          <p:nvPr/>
        </p:nvSpPr>
        <p:spPr>
          <a:xfrm>
            <a:off x="685800" y="1828800"/>
            <a:ext cx="10820095" cy="1828800"/>
          </a:xfrm>
          <a:prstGeom prst="roundRect">
            <a:avLst>
              <a:gd name="adj" fmla="val 3000"/>
            </a:avLst>
          </a:prstGeom>
          <a:solidFill>
            <a:srgbClr val="FAE6E6"/>
          </a:solidFill>
          <a:ln w="12700">
            <a:solidFill>
              <a:srgbClr val="A82A2A"/>
            </a:solidFill>
            <a:prstDash val="solid"/>
          </a:ln>
        </p:spPr>
      </p:sp>
      <p:sp>
        <p:nvSpPr>
          <p:cNvPr id="8" name="Shape 6"/>
          <p:cNvSpPr/>
          <p:nvPr/>
        </p:nvSpPr>
        <p:spPr>
          <a:xfrm>
            <a:off x="685800" y="1828800"/>
            <a:ext cx="50292" cy="1828800"/>
          </a:xfrm>
          <a:prstGeom prst="rect">
            <a:avLst/>
          </a:prstGeom>
          <a:solidFill>
            <a:srgbClr val="A82A2A"/>
          </a:solidFill>
          <a:ln w="12700">
            <a:solidFill>
              <a:srgbClr val="A82A2A"/>
            </a:solidFill>
            <a:prstDash val="solid"/>
          </a:ln>
        </p:spPr>
      </p:sp>
      <p:sp>
        <p:nvSpPr>
          <p:cNvPr id="9" name="Text 7"/>
          <p:cNvSpPr txBox="1"/>
          <p:nvPr/>
        </p:nvSpPr>
        <p:spPr>
          <a:xfrm>
            <a:off x="960120" y="2011680"/>
            <a:ext cx="10271455" cy="320040"/>
          </a:xfrm>
          <a:prstGeom prst="rect">
            <a:avLst/>
          </a:prstGeom>
          <a:noFill/>
          <a:ln/>
        </p:spPr>
        <p:txBody>
          <a:bodyPr wrap="square" lIns="0" tIns="0" rIns="0" bIns="0" rtlCol="0" anchor="ctr"/>
          <a:lstStyle/>
          <a:p>
            <a:pPr indent="0" marL="0">
              <a:buNone/>
            </a:pPr>
            <a:r>
              <a:rPr lang="en-US" sz="1300" b="1" dirty="0">
                <a:solidFill>
                  <a:srgbClr val="A82A2A"/>
                </a:solidFill>
                <a:latin typeface="Calibri" pitchFamily="34" charset="0"/>
                <a:ea typeface="Calibri" pitchFamily="34" charset="-122"/>
                <a:cs typeface="Calibri" pitchFamily="34" charset="-120"/>
              </a:rPr>
              <a:t>What was actually checked</a:t>
            </a:r>
            <a:endParaRPr lang="en-US" sz="1300" dirty="0"/>
          </a:p>
        </p:txBody>
      </p:sp>
      <p:sp>
        <p:nvSpPr>
          <p:cNvPr id="10" name="Text 8"/>
          <p:cNvSpPr txBox="1"/>
          <p:nvPr/>
        </p:nvSpPr>
        <p:spPr>
          <a:xfrm>
            <a:off x="960120" y="2423160"/>
            <a:ext cx="10271455" cy="1051560"/>
          </a:xfrm>
          <a:prstGeom prst="rect">
            <a:avLst/>
          </a:prstGeom>
          <a:noFill/>
          <a:ln/>
        </p:spPr>
        <p:txBody>
          <a:bodyPr wrap="square" lIns="0" tIns="0" rIns="0" bIns="0" rtlCol="0" anchor="ctr"/>
          <a:lstStyle/>
          <a:p>
            <a:pPr indent="0" marL="0">
              <a:lnSpc>
                <a:spcPct val="125000"/>
              </a:lnSpc>
              <a:buNone/>
            </a:pPr>
            <a:r>
              <a:rPr lang="en-US" sz="1200" dirty="0">
                <a:solidFill>
                  <a:srgbClr val="1A1A1A"/>
                </a:solidFill>
                <a:latin typeface="Calibri" pitchFamily="34" charset="0"/>
                <a:ea typeface="Calibri" pitchFamily="34" charset="-122"/>
                <a:cs typeface="Calibri" pitchFamily="34" charset="-120"/>
              </a:rPr>
              <a:t>EnergyTradeOffer/v2.0 — the schema actually used by every real offer and commitment — has no field referencing an EnergyResource at all. No resourceId, no resourceType. Its only payload types are PRICE_PER_KWH, AVAILABLE_QTY, REQUESTED_QTY, and the discom/FINAL_ALLOC columns — pure commercial bookkeeping, resource-agnostic by design.</a:t>
            </a:r>
            <a:endParaRPr lang="en-US" sz="1200" dirty="0"/>
          </a:p>
        </p:txBody>
      </p:sp>
      <p:sp>
        <p:nvSpPr>
          <p:cNvPr id="11" name="Shape 9"/>
          <p:cNvSpPr/>
          <p:nvPr/>
        </p:nvSpPr>
        <p:spPr>
          <a:xfrm>
            <a:off x="685800" y="3886200"/>
            <a:ext cx="10820095" cy="1554480"/>
          </a:xfrm>
          <a:prstGeom prst="roundRect">
            <a:avLst>
              <a:gd name="adj" fmla="val 3529"/>
            </a:avLst>
          </a:prstGeom>
          <a:solidFill>
            <a:srgbClr val="EFE8FA"/>
          </a:solidFill>
          <a:ln w="12700">
            <a:solidFill>
              <a:srgbClr val="6D3BC4"/>
            </a:solidFill>
            <a:prstDash val="solid"/>
          </a:ln>
        </p:spPr>
      </p:sp>
      <p:sp>
        <p:nvSpPr>
          <p:cNvPr id="12" name="Shape 10"/>
          <p:cNvSpPr/>
          <p:nvPr/>
        </p:nvSpPr>
        <p:spPr>
          <a:xfrm>
            <a:off x="685800" y="3886200"/>
            <a:ext cx="50292" cy="1554480"/>
          </a:xfrm>
          <a:prstGeom prst="rect">
            <a:avLst/>
          </a:prstGeom>
          <a:solidFill>
            <a:srgbClr val="6D3BC4"/>
          </a:solidFill>
          <a:ln w="12700">
            <a:solidFill>
              <a:srgbClr val="6D3BC4"/>
            </a:solidFill>
            <a:prstDash val="solid"/>
          </a:ln>
        </p:spPr>
      </p:sp>
      <p:sp>
        <p:nvSpPr>
          <p:cNvPr id="13" name="Text 11"/>
          <p:cNvSpPr txBox="1"/>
          <p:nvPr/>
        </p:nvSpPr>
        <p:spPr>
          <a:xfrm>
            <a:off x="960120" y="4069080"/>
            <a:ext cx="10271455" cy="320040"/>
          </a:xfrm>
          <a:prstGeom prst="rect">
            <a:avLst/>
          </a:prstGeom>
          <a:noFill/>
          <a:ln/>
        </p:spPr>
        <p:txBody>
          <a:bodyPr wrap="square" lIns="0" tIns="0" rIns="0" bIns="0" rtlCol="0" anchor="ctr"/>
          <a:lstStyle/>
          <a:p>
            <a:pPr indent="0" marL="0">
              <a:buNone/>
            </a:pPr>
            <a:r>
              <a:rPr lang="en-US" sz="1300" b="1" dirty="0">
                <a:solidFill>
                  <a:srgbClr val="6D3BC4"/>
                </a:solidFill>
                <a:latin typeface="Calibri" pitchFamily="34" charset="0"/>
                <a:ea typeface="Calibri" pitchFamily="34" charset="-122"/>
                <a:cs typeface="Calibri" pitchFamily="34" charset="-120"/>
              </a:rPr>
              <a:t>The consequence</a:t>
            </a:r>
            <a:endParaRPr lang="en-US" sz="1300" dirty="0"/>
          </a:p>
        </p:txBody>
      </p:sp>
      <p:sp>
        <p:nvSpPr>
          <p:cNvPr id="14" name="Text 12"/>
          <p:cNvSpPr txBox="1"/>
          <p:nvPr/>
        </p:nvSpPr>
        <p:spPr>
          <a:xfrm>
            <a:off x="960120" y="4434840"/>
            <a:ext cx="10271455" cy="914400"/>
          </a:xfrm>
          <a:prstGeom prst="rect">
            <a:avLst/>
          </a:prstGeom>
          <a:noFill/>
          <a:ln/>
        </p:spPr>
        <p:txBody>
          <a:bodyPr wrap="square" lIns="0" tIns="0" rIns="0" bIns="0" rtlCol="0" anchor="ctr"/>
          <a:lstStyle/>
          <a:p>
            <a:pPr indent="0" marL="0">
              <a:lnSpc>
                <a:spcPct val="125000"/>
              </a:lnSpc>
              <a:buNone/>
            </a:pPr>
            <a:r>
              <a:rPr lang="en-US" sz="1200" dirty="0">
                <a:solidFill>
                  <a:srgbClr val="1A1A1A"/>
                </a:solidFill>
                <a:latin typeface="Calibri" pitchFamily="34" charset="0"/>
                <a:ea typeface="Calibri" pitchFamily="34" charset="-122"/>
                <a:cs typeface="Calibri" pitchFamily="34" charset="-120"/>
              </a:rPr>
              <a:t>The only place “stored vs. direct” shows up at all is the self-declared commitmentType: FIRM | BEST_EFFORT field — and the policy we already ship defaults it to FIRM with zero cross-check against a real resource type or state-of-charge reading. A SOLAR_PV offer can declare FIRM today and nothing catches it.</a:t>
            </a:r>
            <a:endParaRPr lang="en-US" sz="1200" dirty="0"/>
          </a:p>
        </p:txBody>
      </p:sp>
      <p:sp>
        <p:nvSpPr>
          <p:cNvPr id="15" name="Text 13"/>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EnergyTradeOffer/v2.0/attributes.yaml + README.md; p2p-trading-ies-wave2-contractpolicy-local-amended.rego lines 330-333 — read directly</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H   STORED VS. DIRECT ENERGY — THE RED FLAG</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This isn't just our codebase — the real pilots agree</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Shape 3"/>
          <p:cNvSpPr/>
          <p:nvPr/>
        </p:nvSpPr>
        <p:spPr>
          <a:xfrm>
            <a:off x="8854135" y="384048"/>
            <a:ext cx="2651760" cy="292608"/>
          </a:xfrm>
          <a:prstGeom prst="roundRect">
            <a:avLst>
              <a:gd name="adj" fmla="val 50000"/>
            </a:avLst>
          </a:prstGeom>
          <a:solidFill>
            <a:srgbClr val="FFFFFF"/>
          </a:solidFill>
          <a:ln w="15875">
            <a:solidFill>
              <a:srgbClr val="1D4ED8"/>
            </a:solidFill>
            <a:prstDash val="solid"/>
          </a:ln>
        </p:spPr>
      </p:sp>
      <p:sp>
        <p:nvSpPr>
          <p:cNvPr id="6" name="Text 4"/>
          <p:cNvSpPr txBox="1"/>
          <p:nvPr/>
        </p:nvSpPr>
        <p:spPr>
          <a:xfrm>
            <a:off x="8854135" y="384048"/>
            <a:ext cx="2651760" cy="292608"/>
          </a:xfrm>
          <a:prstGeom prst="rect">
            <a:avLst/>
          </a:prstGeom>
          <a:noFill/>
          <a:ln/>
        </p:spPr>
        <p:txBody>
          <a:bodyPr wrap="square" lIns="0" tIns="0" rIns="0" bIns="0"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VERIFIED — EXTERNAL SOURCE</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3017520"/>
                <a:gridCol w="5669280"/>
                <a:gridCol w="2130552"/>
              </a:tblGrid>
              <a:tr h="822960">
                <a:tc>
                  <a:txBody>
                    <a:bodyPr/>
                    <a:lstStyle/>
                    <a:p>
                      <a:pPr indent="0" marL="0">
                        <a:buNone/>
                      </a:pPr>
                      <a:r>
                        <a:rPr lang="en-US" sz="1050" b="1" dirty="0">
                          <a:solidFill>
                            <a:srgbClr val="FFFFFF"/>
                          </a:solidFill>
                        </a:rPr>
                        <a:t>REAL-WORLD FACT</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WHAT IT CONFIRMS</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rPr>
                        <a:t>STATUS</a:t>
                      </a:r>
                      <a:endParaRPr lang="en-US" sz="105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1A1A1A"/>
                    </a:solidFill>
                  </a:tcPr>
                </a:tc>
              </a:tr>
              <a:tr h="822960">
                <a:tc>
                  <a:txBody>
                    <a:bodyPr/>
                    <a:lstStyle/>
                    <a:p>
                      <a:pPr indent="0" marL="0">
                        <a:buNone/>
                      </a:pPr>
                      <a:r>
                        <a:rPr lang="en-US" sz="1000" b="1" dirty="0">
                          <a:solidFill>
                            <a:srgbClr val="1A1A1A"/>
                          </a:solidFill>
                        </a:rPr>
                        <a:t>DERC's live pilot charges ₹0.42/kWh</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Matches this devkit's own platform_charge_cap_per_kwh exactly — not an arbitrary sample number</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VERIFIED</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1A1A1A"/>
                          </a:solidFill>
                        </a:rPr>
                        <a:t>BRPL, TPDDL, PVVNL are real DISCOMs already piloting P2P</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The devkit's approved_discoms allowlist names the actual real pilot participants</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VERIFIED</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1A1A1A"/>
                          </a:solidFill>
                        </a:rPr>
                        <a:t>No storage-specific P2P rule exists in any live pilot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Confirms: direct-flow solar trading is regulator-real today; battery P2P trading is not yet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VERIFIED</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1A1A1A"/>
                          </a:solidFill>
                        </a:rPr>
                        <a:t>IES v0.3 architecture lists P2P trading, not battery trading</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The Ministry of Power's own blueprint doesn't describe storage trading as a use case yet</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indent="0" marL="0">
                        <a:buNone/>
                      </a:pPr>
                      <a:r>
                        <a:rPr lang="en-US" sz="1000" dirty="0">
                          <a:solidFill>
                            <a:srgbClr val="555E6B"/>
                          </a:solidFill>
                        </a:rPr>
                        <a:t>VERIFIED</a:t>
                      </a:r>
                      <a:endParaRPr lang="en-US" sz="1000" dirty="0"/>
                    </a:p>
                  </a:txBody>
                  <a:tcPr marL="101600" marR="101600" marT="50800" marB="508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powerline.net.in, "IES Blueprint" (2026-03-06); evreporter.com, "P2P Energy Trading in India" explainer — both fetched and cross-checked this session</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H   STORED VS. DIRECT ENERGY — THE RED FLAG</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libri" pitchFamily="34" charset="0"/>
                <a:ea typeface="Calibri" pitchFamily="34" charset="-122"/>
                <a:cs typeface="Calibri" pitchFamily="34" charset="-120"/>
              </a:rPr>
              <a:t>The fix is small, and it's already half-designed</a:t>
            </a:r>
            <a:endParaRPr lang="en-US" sz="27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Shape 3"/>
          <p:cNvSpPr/>
          <p:nvPr/>
        </p:nvSpPr>
        <p:spPr>
          <a:xfrm>
            <a:off x="9722815" y="384048"/>
            <a:ext cx="1783080" cy="292608"/>
          </a:xfrm>
          <a:prstGeom prst="roundRect">
            <a:avLst>
              <a:gd name="adj" fmla="val 50000"/>
            </a:avLst>
          </a:prstGeom>
          <a:solidFill>
            <a:srgbClr val="FFFFFF"/>
          </a:solidFill>
          <a:ln w="15875">
            <a:solidFill>
              <a:srgbClr val="B85C0A"/>
            </a:solidFill>
            <a:prstDash val="solid"/>
          </a:ln>
        </p:spPr>
      </p:sp>
      <p:sp>
        <p:nvSpPr>
          <p:cNvPr id="6" name="Text 4"/>
          <p:cNvSpPr txBox="1"/>
          <p:nvPr/>
        </p:nvSpPr>
        <p:spPr>
          <a:xfrm>
            <a:off x="9722815" y="384048"/>
            <a:ext cx="1783080" cy="292608"/>
          </a:xfrm>
          <a:prstGeom prst="rect">
            <a:avLst/>
          </a:prstGeom>
          <a:noFill/>
          <a:ln/>
        </p:spPr>
        <p:txBody>
          <a:bodyPr wrap="square" lIns="0" tIns="0" rIns="0" bIns="0" rtlCol="0" anchor="ctr"/>
          <a:lstStyle/>
          <a:p>
            <a:pPr algn="ctr" indent="0" marL="0">
              <a:buNone/>
            </a:pPr>
            <a:r>
              <a:rPr lang="en-US" sz="1000" b="1" dirty="0">
                <a:solidFill>
                  <a:srgbClr val="B85C0A"/>
                </a:solidFill>
                <a:latin typeface="Calibri" pitchFamily="34" charset="0"/>
                <a:ea typeface="Calibri" pitchFamily="34" charset="-122"/>
                <a:cs typeface="Calibri" pitchFamily="34" charset="-120"/>
              </a:rPr>
              <a:t>OUR INFERENCE</a:t>
            </a:r>
            <a:endParaRPr lang="en-US" sz="1000" dirty="0"/>
          </a:p>
        </p:txBody>
      </p:sp>
      <p:sp>
        <p:nvSpPr>
          <p:cNvPr id="7" name="Shape 5"/>
          <p:cNvSpPr/>
          <p:nvPr/>
        </p:nvSpPr>
        <p:spPr>
          <a:xfrm>
            <a:off x="685800" y="2103120"/>
            <a:ext cx="3423818" cy="2834640"/>
          </a:xfrm>
          <a:prstGeom prst="roundRect">
            <a:avLst>
              <a:gd name="adj" fmla="val 1935"/>
            </a:avLst>
          </a:prstGeom>
          <a:solidFill>
            <a:srgbClr val="E6EEFD"/>
          </a:solidFill>
          <a:ln w="12700">
            <a:solidFill>
              <a:srgbClr val="1D4ED8"/>
            </a:solidFill>
            <a:prstDash val="solid"/>
          </a:ln>
        </p:spPr>
      </p:sp>
      <p:sp>
        <p:nvSpPr>
          <p:cNvPr id="8" name="Shape 6"/>
          <p:cNvSpPr/>
          <p:nvPr/>
        </p:nvSpPr>
        <p:spPr>
          <a:xfrm>
            <a:off x="685800" y="2103120"/>
            <a:ext cx="50292" cy="2834640"/>
          </a:xfrm>
          <a:prstGeom prst="rect">
            <a:avLst/>
          </a:prstGeom>
          <a:solidFill>
            <a:srgbClr val="1D4ED8"/>
          </a:solidFill>
          <a:ln w="12700">
            <a:solidFill>
              <a:srgbClr val="1D4ED8"/>
            </a:solidFill>
            <a:prstDash val="solid"/>
          </a:ln>
        </p:spPr>
      </p:sp>
      <p:sp>
        <p:nvSpPr>
          <p:cNvPr id="9" name="Text 7"/>
          <p:cNvSpPr txBox="1"/>
          <p:nvPr/>
        </p:nvSpPr>
        <p:spPr>
          <a:xfrm>
            <a:off x="941832" y="2267712"/>
            <a:ext cx="2966618" cy="384048"/>
          </a:xfrm>
          <a:prstGeom prst="rect">
            <a:avLst/>
          </a:prstGeom>
          <a:noFill/>
          <a:ln/>
        </p:spPr>
        <p:txBody>
          <a:bodyPr wrap="square" lIns="0" tIns="0" rIns="0" bIns="0" rtlCol="0" anchor="ctr"/>
          <a:lstStyle/>
          <a:p>
            <a:pPr indent="0" marL="0">
              <a:lnSpc>
                <a:spcPct val="105000"/>
              </a:lnSpc>
              <a:buNone/>
            </a:pPr>
            <a:r>
              <a:rPr lang="en-US" sz="1450" b="1" dirty="0">
                <a:solidFill>
                  <a:srgbClr val="1D4ED8"/>
                </a:solidFill>
                <a:latin typeface="Calibri" pitchFamily="34" charset="0"/>
                <a:ea typeface="Calibri" pitchFamily="34" charset="-122"/>
                <a:cs typeface="Calibri" pitchFamily="34" charset="-120"/>
              </a:rPr>
              <a:t>Add a resourceId reference</a:t>
            </a:r>
            <a:endParaRPr lang="en-US" sz="1450" dirty="0"/>
          </a:p>
        </p:txBody>
      </p:sp>
      <p:sp>
        <p:nvSpPr>
          <p:cNvPr id="10" name="Text 8"/>
          <p:cNvSpPr txBox="1"/>
          <p:nvPr/>
        </p:nvSpPr>
        <p:spPr>
          <a:xfrm>
            <a:off x="941832" y="2670048"/>
            <a:ext cx="2966618" cy="2103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One new field on the offer, pointing at the real EnergyResource backing it — schema change only, no new infrastructure.</a:t>
            </a:r>
            <a:endParaRPr lang="en-US" sz="1150" dirty="0"/>
          </a:p>
        </p:txBody>
      </p:sp>
      <p:sp>
        <p:nvSpPr>
          <p:cNvPr id="11" name="Shape 9"/>
          <p:cNvSpPr/>
          <p:nvPr/>
        </p:nvSpPr>
        <p:spPr>
          <a:xfrm>
            <a:off x="4383938" y="2103120"/>
            <a:ext cx="3423818" cy="2834640"/>
          </a:xfrm>
          <a:prstGeom prst="roundRect">
            <a:avLst>
              <a:gd name="adj" fmla="val 1935"/>
            </a:avLst>
          </a:prstGeom>
          <a:solidFill>
            <a:srgbClr val="EFE8FA"/>
          </a:solidFill>
          <a:ln w="12700">
            <a:solidFill>
              <a:srgbClr val="6D3BC4"/>
            </a:solidFill>
            <a:prstDash val="solid"/>
          </a:ln>
        </p:spPr>
      </p:sp>
      <p:sp>
        <p:nvSpPr>
          <p:cNvPr id="12" name="Shape 10"/>
          <p:cNvSpPr/>
          <p:nvPr/>
        </p:nvSpPr>
        <p:spPr>
          <a:xfrm>
            <a:off x="4383938" y="2103120"/>
            <a:ext cx="50292" cy="2834640"/>
          </a:xfrm>
          <a:prstGeom prst="rect">
            <a:avLst/>
          </a:prstGeom>
          <a:solidFill>
            <a:srgbClr val="6D3BC4"/>
          </a:solidFill>
          <a:ln w="12700">
            <a:solidFill>
              <a:srgbClr val="6D3BC4"/>
            </a:solidFill>
            <a:prstDash val="solid"/>
          </a:ln>
        </p:spPr>
      </p:sp>
      <p:sp>
        <p:nvSpPr>
          <p:cNvPr id="13" name="Text 11"/>
          <p:cNvSpPr txBox="1"/>
          <p:nvPr/>
        </p:nvSpPr>
        <p:spPr>
          <a:xfrm>
            <a:off x="4639970" y="2267712"/>
            <a:ext cx="2966618" cy="384048"/>
          </a:xfrm>
          <a:prstGeom prst="rect">
            <a:avLst/>
          </a:prstGeom>
          <a:noFill/>
          <a:ln/>
        </p:spPr>
        <p:txBody>
          <a:bodyPr wrap="square" lIns="0" tIns="0" rIns="0" bIns="0" rtlCol="0" anchor="ctr"/>
          <a:lstStyle/>
          <a:p>
            <a:pPr indent="0" marL="0">
              <a:lnSpc>
                <a:spcPct val="105000"/>
              </a:lnSpc>
              <a:buNone/>
            </a:pPr>
            <a:r>
              <a:rPr lang="en-US" sz="1450" b="1" dirty="0">
                <a:solidFill>
                  <a:srgbClr val="6D3BC4"/>
                </a:solidFill>
                <a:latin typeface="Calibri" pitchFamily="34" charset="0"/>
                <a:ea typeface="Calibri" pitchFamily="34" charset="-122"/>
                <a:cs typeface="Calibri" pitchFamily="34" charset="-120"/>
              </a:rPr>
              <a:t>Gate FIRM on resource type</a:t>
            </a:r>
            <a:endParaRPr lang="en-US" sz="1450" dirty="0"/>
          </a:p>
        </p:txBody>
      </p:sp>
      <p:sp>
        <p:nvSpPr>
          <p:cNvPr id="14" name="Text 12"/>
          <p:cNvSpPr txBox="1"/>
          <p:nvPr/>
        </p:nvSpPr>
        <p:spPr>
          <a:xfrm>
            <a:off x="4639970" y="2670048"/>
            <a:ext cx="2966618" cy="2103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commitmentType: FIRM should require type == BESS (or similar storage) plus a real state-of-charge reading — extends the design Gap 12 already proposed.</a:t>
            </a:r>
            <a:endParaRPr lang="en-US" sz="1150" dirty="0"/>
          </a:p>
        </p:txBody>
      </p:sp>
      <p:sp>
        <p:nvSpPr>
          <p:cNvPr id="15" name="Shape 13"/>
          <p:cNvSpPr/>
          <p:nvPr/>
        </p:nvSpPr>
        <p:spPr>
          <a:xfrm>
            <a:off x="8082077" y="2103120"/>
            <a:ext cx="3423818" cy="2834640"/>
          </a:xfrm>
          <a:prstGeom prst="roundRect">
            <a:avLst>
              <a:gd name="adj" fmla="val 1935"/>
            </a:avLst>
          </a:prstGeom>
          <a:solidFill>
            <a:srgbClr val="FCEEDD"/>
          </a:solidFill>
          <a:ln w="12700">
            <a:solidFill>
              <a:srgbClr val="B85C0A"/>
            </a:solidFill>
            <a:prstDash val="solid"/>
          </a:ln>
        </p:spPr>
      </p:sp>
      <p:sp>
        <p:nvSpPr>
          <p:cNvPr id="16" name="Shape 14"/>
          <p:cNvSpPr/>
          <p:nvPr/>
        </p:nvSpPr>
        <p:spPr>
          <a:xfrm>
            <a:off x="8082077" y="2103120"/>
            <a:ext cx="50292" cy="2834640"/>
          </a:xfrm>
          <a:prstGeom prst="rect">
            <a:avLst/>
          </a:prstGeom>
          <a:solidFill>
            <a:srgbClr val="B85C0A"/>
          </a:solidFill>
          <a:ln w="12700">
            <a:solidFill>
              <a:srgbClr val="B85C0A"/>
            </a:solidFill>
            <a:prstDash val="solid"/>
          </a:ln>
        </p:spPr>
      </p:sp>
      <p:sp>
        <p:nvSpPr>
          <p:cNvPr id="17" name="Text 15"/>
          <p:cNvSpPr txBox="1"/>
          <p:nvPr/>
        </p:nvSpPr>
        <p:spPr>
          <a:xfrm>
            <a:off x="8338109" y="2267712"/>
            <a:ext cx="2966618" cy="384048"/>
          </a:xfrm>
          <a:prstGeom prst="rect">
            <a:avLst/>
          </a:prstGeom>
          <a:noFill/>
          <a:ln/>
        </p:spPr>
        <p:txBody>
          <a:bodyPr wrap="square" lIns="0" tIns="0" rIns="0" bIns="0" rtlCol="0" anchor="ctr"/>
          <a:lstStyle/>
          <a:p>
            <a:pPr indent="0" marL="0">
              <a:lnSpc>
                <a:spcPct val="105000"/>
              </a:lnSpc>
              <a:buNone/>
            </a:pPr>
            <a:r>
              <a:rPr lang="en-US" sz="1450" b="1" dirty="0">
                <a:solidFill>
                  <a:srgbClr val="B85C0A"/>
                </a:solidFill>
                <a:latin typeface="Calibri" pitchFamily="34" charset="0"/>
                <a:ea typeface="Calibri" pitchFamily="34" charset="-122"/>
                <a:cs typeface="Calibri" pitchFamily="34" charset="-120"/>
              </a:rPr>
              <a:t>Leave SOLAR_PV as BEST_EFFORT only</a:t>
            </a:r>
            <a:endParaRPr lang="en-US" sz="1450" dirty="0"/>
          </a:p>
        </p:txBody>
      </p:sp>
      <p:sp>
        <p:nvSpPr>
          <p:cNvPr id="18" name="Text 16"/>
          <p:cNvSpPr txBox="1"/>
          <p:nvPr/>
        </p:nvSpPr>
        <p:spPr>
          <a:xfrm>
            <a:off x="8338109" y="2670048"/>
            <a:ext cx="2966618" cy="21031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Don't ban it — just stop letting it falsely claim FIRM and dodge honest pricing of its own uncertainty.</a:t>
            </a:r>
            <a:endParaRPr lang="en-US" sz="1150" dirty="0"/>
          </a:p>
        </p:txBody>
      </p:sp>
      <p:sp>
        <p:nvSpPr>
          <p:cNvPr id="19" name="Text 17"/>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Direct extension of this project's own Gap 12 design, scoped against the schema evidence above</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85800" y="411480"/>
            <a:ext cx="8442655"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   THE TAKEAWAY</a:t>
            </a:r>
            <a:endParaRPr lang="en-US" sz="1200" dirty="0"/>
          </a:p>
        </p:txBody>
      </p:sp>
      <p:sp>
        <p:nvSpPr>
          <p:cNvPr id="3" name="Text 1"/>
          <p:cNvSpPr txBox="1"/>
          <p:nvPr/>
        </p:nvSpPr>
        <p:spPr>
          <a:xfrm>
            <a:off x="685800" y="685800"/>
            <a:ext cx="10820095" cy="59436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libri" pitchFamily="34" charset="0"/>
                <a:ea typeface="Calibri" pitchFamily="34" charset="-122"/>
                <a:cs typeface="Calibri" pitchFamily="34" charset="-120"/>
              </a:rPr>
              <a:t>We're building the trust layer on a grid that already works</a:t>
            </a:r>
            <a:endParaRPr lang="en-US" sz="3000" dirty="0"/>
          </a:p>
        </p:txBody>
      </p:sp>
      <p:sp>
        <p:nvSpPr>
          <p:cNvPr id="4" name="Shape 2"/>
          <p:cNvSpPr/>
          <p:nvPr/>
        </p:nvSpPr>
        <p:spPr>
          <a:xfrm>
            <a:off x="685800" y="1389888"/>
            <a:ext cx="10820095" cy="0"/>
          </a:xfrm>
          <a:prstGeom prst="line">
            <a:avLst/>
          </a:prstGeom>
          <a:noFill/>
          <a:ln w="12700">
            <a:solidFill>
              <a:srgbClr val="D8DCE2"/>
            </a:solidFill>
            <a:prstDash val="solid"/>
          </a:ln>
        </p:spPr>
      </p:sp>
      <p:sp>
        <p:nvSpPr>
          <p:cNvPr id="5" name="Text 3"/>
          <p:cNvSpPr txBox="1"/>
          <p:nvPr/>
        </p:nvSpPr>
        <p:spPr>
          <a:xfrm>
            <a:off x="685800" y="1737360"/>
            <a:ext cx="9875520" cy="1463040"/>
          </a:xfrm>
          <a:prstGeom prst="rect">
            <a:avLst/>
          </a:prstGeom>
          <a:noFill/>
          <a:ln/>
        </p:spPr>
        <p:txBody>
          <a:bodyPr wrap="square" lIns="0" tIns="0" rIns="0" bIns="0" rtlCol="0" anchor="ctr"/>
          <a:lstStyle/>
          <a:p>
            <a:pPr indent="0" marL="0">
              <a:lnSpc>
                <a:spcPct val="135000"/>
              </a:lnSpc>
              <a:buNone/>
            </a:pPr>
            <a:r>
              <a:rPr lang="en-US" sz="1400" dirty="0">
                <a:solidFill>
                  <a:srgbClr val="1A1A1A"/>
                </a:solidFill>
                <a:latin typeface="Calibri" pitchFamily="34" charset="0"/>
                <a:ea typeface="Calibri" pitchFamily="34" charset="-122"/>
                <a:cs typeface="Calibri" pitchFamily="34" charset="-120"/>
              </a:rPr>
              <a:t>Every physical system — metering, telemetry, hardware control, safety — already exists and keeps working exactly as it does today. What this project adds is the one layer that didn't exist: a shared, trustworthy commercial language so independent companies' systems can transact. The one place that language is still loosely defined is exactly where storage meets direct-flow generation — and that's now a named, scoped, fixable gap instead of an open question.</a:t>
            </a:r>
            <a:endParaRPr lang="en-US" sz="1400" dirty="0"/>
          </a:p>
        </p:txBody>
      </p:sp>
      <p:sp>
        <p:nvSpPr>
          <p:cNvPr id="6" name="Text 4"/>
          <p:cNvSpPr txBox="1"/>
          <p:nvPr/>
        </p:nvSpPr>
        <p:spPr>
          <a:xfrm>
            <a:off x="685800" y="6126480"/>
            <a:ext cx="5486400" cy="274320"/>
          </a:xfrm>
          <a:prstGeom prst="rect">
            <a:avLst/>
          </a:prstGeom>
          <a:noFill/>
          <a:ln/>
        </p:spPr>
        <p:txBody>
          <a:bodyPr wrap="square" lIns="0" tIns="0" rIns="0" bIns="0" rtlCol="0" anchor="ctr"/>
          <a:lstStyle/>
          <a:p>
            <a:pPr indent="0" marL="0">
              <a:buNone/>
            </a:pPr>
            <a:r>
              <a:rPr lang="en-US" sz="1200" dirty="0">
                <a:solidFill>
                  <a:srgbClr val="555E6B"/>
                </a:solidFill>
                <a:latin typeface="Calibri" pitchFamily="34" charset="0"/>
                <a:ea typeface="Calibri" pitchFamily="34" charset="-122"/>
                <a:cs typeface="Calibri" pitchFamily="34" charset="-120"/>
              </a:rPr>
              <a:t>Questions welcome</a:t>
            </a:r>
            <a:endParaRPr lang="en-US" sz="1200" dirty="0"/>
          </a:p>
        </p:txBody>
      </p:sp>
      <p:sp>
        <p:nvSpPr>
          <p:cNvPr id="8" name="Text 5"/>
          <p:cNvSpPr txBox="1"/>
          <p:nvPr/>
        </p:nvSpPr>
        <p:spPr>
          <a:xfrm>
            <a:off x="685800" y="6473952"/>
            <a:ext cx="9601200" cy="274320"/>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Synthesis of Sections A–H, this deck</a:t>
            </a:r>
            <a:endParaRPr lang="en-US" sz="95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1050">
                <a:solidFill>
                  <a:srgbClr val="555E6B"/>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P2P Foundations Light">
  <a:themeElements>
    <a:clrScheme name="P2P Foundations Light">
      <a:dk1>
        <a:srgbClr val="1A1A1A"/>
      </a:dk1>
      <a:lt1>
        <a:srgbClr val="FFFFFF"/>
      </a:lt1>
      <a:dk2>
        <a:srgbClr val="1A1A1A"/>
      </a:dk2>
      <a:lt2>
        <a:srgbClr val="FFFFFF"/>
      </a:lt2>
      <a:accent1>
        <a:srgbClr val="1D4ED8"/>
      </a:accent1>
      <a:accent2>
        <a:srgbClr val="A82A2A"/>
      </a:accent2>
      <a:accent3>
        <a:srgbClr val="555E6B"/>
      </a:accent3>
      <a:accent4>
        <a:srgbClr val="1E7A3C"/>
      </a:accent4>
      <a:accent5>
        <a:srgbClr val="0E7A6E"/>
      </a:accent5>
      <a:accent6>
        <a:srgbClr val="B85C0A"/>
      </a:accent6>
      <a:hlink>
        <a:srgbClr val="1D4ED8"/>
      </a:hlink>
      <a:folHlink>
        <a:srgbClr val="1D4ED8"/>
      </a:folHlink>
    </a:clrScheme>
    <a:fontScheme name="P2P Foundations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2026-10-14T22:09:05Z</dcterms:created>
  <dcterms:modified xsi:type="dcterms:W3CDTF">2026-10-14T22:09:05Z</dcterms:modified>
</cp:coreProperties>
</file>