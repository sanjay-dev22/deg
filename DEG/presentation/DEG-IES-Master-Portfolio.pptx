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Calibri"/>
              </a:rPr>
              <a:t>Digital Energy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Study Summary and Investigations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[Name] .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453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68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1226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The Global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791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India's Real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9544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How IES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1304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The Beckn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7997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The Market 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1032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4690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Current Status - 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7725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C06A15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138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01  </a:t>
            </a:r>
            <a:r>
              <a:rPr sz="1300" b="1">
                <a:solidFill>
                  <a:srgbClr val="C06A15"/>
                </a:solidFill>
                <a:latin typeface="Calibri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India's power sector is mid-transformation.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06040" cy="16002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E7A6E"/>
                </a:solidFill>
                <a:latin typeface="Calibri"/>
              </a:rPr>
              <a:t>429%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growth in rooftop solar capacity by 2035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06040" cy="16002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E7A6E"/>
                </a:solidFill>
                <a:latin typeface="Calibri"/>
              </a:rPr>
              <a:t>$100B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lost worldwide each year to outages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2606040" cy="16002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E7A6E"/>
                </a:solidFill>
                <a:latin typeface="Calibri"/>
              </a:rPr>
              <a:t>748.5M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people still without electricity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286000"/>
            <a:ext cx="2606040" cy="16002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4688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E7A6E"/>
                </a:solidFill>
                <a:latin typeface="Calibri"/>
              </a:rPr>
              <a:t>250M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63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smart meters being deployed under RDSS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11183112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6168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</a:t>
            </a:r>
            <a:r>
              <a:rPr sz="1350">
                <a:solidFill>
                  <a:srgbClr val="1A1A1A"/>
                </a:solidFill>
                <a:latin typeface="Calibri"/>
              </a:rPr>
              <a:t>Rooftop solar, EVs, and batteries turn a one-way grid into a two-way balancing problem.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</a:t>
            </a:r>
            <a:r>
              <a:rPr sz="1350">
                <a:solidFill>
                  <a:srgbClr val="1A1A1A"/>
                </a:solidFill>
                <a:latin typeface="Calibri"/>
              </a:rPr>
              <a:t>Utility software, subsidy portals, and regulatory filings were never built to talk to each other.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02  </a:t>
            </a:r>
            <a:r>
              <a:rPr sz="1300" b="1">
                <a:solidFill>
                  <a:srgbClr val="C06A15"/>
                </a:solidFill>
                <a:latin typeface="Calibri"/>
              </a:rPr>
              <a:t>THE GLOBAL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Digital Energy Grid (DEG): a shared digital language for the power sector, the way UPI gave one to banks.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3611880" cy="22860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0E7A6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Universal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93008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Every asset gets a globally unique ID - a panel, a meter, a utility.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468880"/>
            <a:ext cx="3611880" cy="22860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0E7A6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272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Machine-readable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93008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Tariffs and readings as structured data, not PDFs.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468880"/>
            <a:ext cx="3611880" cy="22860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0E7A6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272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Verifiability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93008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Every record is signed - anyone can confirm it without calling the source.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37760"/>
            <a:ext cx="1118311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Co-authored by FIDE (Nandan Nilekani's nonprofit - same lineage as Aadhaar, UPI, ONDC), with the IEA on part of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03  </a:t>
            </a:r>
            <a:r>
              <a:rPr sz="1300" b="1">
                <a:solidFill>
                  <a:srgbClr val="C06A15"/>
                </a:solidFill>
                <a:latin typeface="Calibri"/>
              </a:rPr>
              <a:t>INDIA'S REAL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India Energy Stack (IES): the government is building DEG for real, as digital public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06040" cy="141732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41448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E7A6E"/>
                </a:solidFill>
                <a:latin typeface="Calibri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43200"/>
            <a:ext cx="22768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Ministry of Power, Government of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06040" cy="141732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441448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E7A6E"/>
                </a:solidFill>
                <a:latin typeface="Calibri"/>
              </a:rPr>
              <a:t>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743200"/>
            <a:ext cx="22768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REC Limited + FSR Global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2606040" cy="141732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441448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E7A6E"/>
                </a:solidFill>
                <a:latin typeface="Calibri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743200"/>
            <a:ext cx="22768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DPI - same class as Aadhaar, UPI, DigiLocker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286000"/>
            <a:ext cx="2606040" cy="141732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441448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E7A6E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743200"/>
            <a:ext cx="22768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Strategy v0.4, March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39"/>
            <a:ext cx="11183112" cy="169164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E7A3C"/>
                </a:solidFill>
                <a:latin typeface="Calibri"/>
              </a:rPr>
              <a:t>Already proven, not theoretical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10607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</a:t>
            </a:r>
            <a:r>
              <a:rPr sz="1300">
                <a:solidFill>
                  <a:srgbClr val="1A1A1A"/>
                </a:solidFill>
                <a:latin typeface="Calibri"/>
              </a:rPr>
              <a:t>4 DISCOMs (UP, AP, Gujarat, Maharashtra) ran live pilots in 30 days.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</a:t>
            </a:r>
            <a:r>
              <a:rPr sz="1300">
                <a:solidFill>
                  <a:srgbClr val="1A1A1A"/>
                </a:solidFill>
                <a:latin typeface="Calibri"/>
              </a:rPr>
              <a:t>A real inter-state trade (Meerut farmer to Delhi shop) was shown publicly at the India AI Impact Summit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04  </a:t>
            </a:r>
            <a:r>
              <a:rPr sz="1300" b="1">
                <a:solidFill>
                  <a:srgbClr val="C06A15"/>
                </a:solidFill>
                <a:latin typeface="Calibri"/>
              </a:rPr>
              <a:t>HOW IES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IES holds no data of its own - exactly like UPI holds no money.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3611880" cy="1965960"/>
          </a:xfrm>
          <a:prstGeom prst="rect">
            <a:avLst/>
          </a:prstGeom>
          <a:solidFill>
            <a:srgbClr val="141F2E"/>
          </a:solidFill>
          <a:ln w="12700">
            <a:solidFill>
              <a:srgbClr val="14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7DE8D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0D9E5"/>
                </a:solidFill>
                <a:latin typeface="Calibri"/>
              </a:rPr>
              <a:t>Get a did:web identity and list it 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3611880" cy="1965960"/>
          </a:xfrm>
          <a:prstGeom prst="rect">
            <a:avLst/>
          </a:prstGeom>
          <a:solidFill>
            <a:srgbClr val="141F2E"/>
          </a:solidFill>
          <a:ln w="12700">
            <a:solidFill>
              <a:srgbClr val="14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420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7DE8D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0156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0D9E5"/>
                </a:solidFill>
                <a:latin typeface="Calibri"/>
              </a:rPr>
              <a:t>Two systems find each other over Beckn.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377440"/>
            <a:ext cx="3611880" cy="1965960"/>
          </a:xfrm>
          <a:prstGeom prst="rect">
            <a:avLst/>
          </a:prstGeom>
          <a:solidFill>
            <a:srgbClr val="141F2E"/>
          </a:solidFill>
          <a:ln w="12700">
            <a:solidFill>
              <a:srgbClr val="14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7DE8D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0156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0D9E5"/>
                </a:solidFill>
                <a:latin typeface="Calibri"/>
              </a:rPr>
              <a:t>Data moves signed, shaped by a published schema.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17720"/>
            <a:ext cx="11183112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</a:t>
            </a:r>
            <a:r>
              <a:rPr sz="1300">
                <a:solidFill>
                  <a:srgbClr val="1A1A1A"/>
                </a:solidFill>
                <a:latin typeface="Calibri"/>
              </a:rPr>
              <a:t>The protocol layer - identity, discovery, signed exchange - is already built. We never write it.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</a:t>
            </a:r>
            <a:r>
              <a:rPr sz="1300">
                <a:solidFill>
                  <a:srgbClr val="1A1A1A"/>
                </a:solidFill>
                <a:latin typeface="Calibri"/>
              </a:rPr>
              <a:t>Our own work sits on top: mapping one data source to IES's schema, usually 200-1,000 lines of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Beckn 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05  </a:t>
            </a:r>
            <a:r>
              <a:rPr sz="1300" b="1">
                <a:solidFill>
                  <a:srgbClr val="C06A15"/>
                </a:solidFill>
                <a:latin typeface="Calibri"/>
              </a:rPr>
              <a:t>THE BECKN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An open protocol for discovery and transaction across independent platforms - IES adopts it, the same way ONDC and Namma Yatri already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5120640" cy="141732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BAP - Beckn Application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requesting side - a consumer app, a buyer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8135" y="2468880"/>
            <a:ext cx="5120640" cy="141732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6735" y="2651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BPP - Beckn Provider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6735" y="303580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fulfilling side - a regulator, a seller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11183112" cy="1965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</a:t>
            </a:r>
            <a:r>
              <a:rPr sz="1350">
                <a:solidFill>
                  <a:srgbClr val="1A1A1A"/>
                </a:solidFill>
                <a:latin typeface="Calibri"/>
              </a:rPr>
              <a:t>The two sides never connect directly - a gateway routes between them.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</a:t>
            </a:r>
            <a:r>
              <a:rPr sz="1350">
                <a:solidFill>
                  <a:srgbClr val="1A1A1A"/>
                </a:solidFill>
                <a:latin typeface="Calibri"/>
              </a:rPr>
              <a:t>Every message is schema-checked and signed by the protocol's own adapter (ONIX). We write no protocol code.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</a:t>
            </a:r>
            <a:r>
              <a:rPr sz="1350">
                <a:solidFill>
                  <a:srgbClr val="1A1A1A"/>
                </a:solidFill>
                <a:latin typeface="Calibri"/>
              </a:rPr>
              <a:t>Beckn's protocol, schemas, and signing method (Ed25519 + W3C DID) are existing open standards, not something built for this internship. Our work is mapping one real use case onto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Beckn 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05  </a:t>
            </a:r>
            <a:r>
              <a:rPr sz="1300" b="1">
                <a:solidFill>
                  <a:srgbClr val="C06A15"/>
                </a:solidFill>
                <a:latin typeface="Calibri"/>
              </a:rPr>
              <a:t>HOW A MESSAGE MOVES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1183112" cy="658368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48255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0E7A6E"/>
                </a:solidFill>
                <a:latin typeface="Consolas"/>
              </a:rPr>
              <a:t>discover -&gt; on_discover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48255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Who has this? Matching BPPs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59"/>
            <a:ext cx="11183112" cy="658368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25495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0E7A6E"/>
                </a:solidFill>
                <a:latin typeface="Consolas"/>
              </a:rPr>
              <a:t>init -&gt; on_init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825495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Exact terms proposed - accept, counter, or decline.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8999"/>
            <a:ext cx="11183112" cy="658368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602735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0E7A6E"/>
                </a:solidFill>
                <a:latin typeface="Consolas"/>
              </a:rPr>
              <a:t>confirm -&gt; on_confirm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602735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Both sides commit.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06239"/>
            <a:ext cx="11183112" cy="658368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379975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0E7A6E"/>
                </a:solidFill>
                <a:latin typeface="Consolas"/>
              </a:rPr>
              <a:t>status -&gt; on_status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79975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Final state - delivered, settled - is recorded.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29199"/>
            <a:ext cx="11183112" cy="5943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166359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1A1A1A"/>
                </a:solidFill>
                <a:latin typeface="Calibri"/>
              </a:rPr>
              <a:t>Every step is asynchronous - the reply never comes back on the same connection. ONIX validates schema and manages signing at every hop.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06  </a:t>
            </a:r>
            <a:r>
              <a:rPr sz="1300" b="1">
                <a:solidFill>
                  <a:srgbClr val="C06A15"/>
                </a:solidFill>
                <a:latin typeface="Calibri"/>
              </a:rPr>
              <a:t>THE MARKET OPENING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The infrastructure is free. Value goes to whoever builds on top - same as UPI and ONDC.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12064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505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What happened with UPI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1635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UPI itself made no company money.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PhonePe, Google Pay, Paytm built billion-dollar businesses on 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8135" y="2286000"/>
            <a:ext cx="512064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4167" y="24505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What happened with ONDC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4167" y="281635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ONDC itself is a free, open network.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Seller apps and Namma Yatri built real revenue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23360"/>
            <a:ext cx="11183112" cy="1600200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C06A15"/>
                </a:solidFill>
                <a:latin typeface="Calibri"/>
              </a:rPr>
              <a:t>How outside teams get in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REC Limited issues open EOIs: here's a problem, submit a working prototype in weeks.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No procurement contract, no licence fee - a public sandbox and a public GitHub feedback channel.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 - Indian Energy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8132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6A15"/>
                </a:solidFill>
                <a:latin typeface="Calibri"/>
              </a:rPr>
              <a:t>07  </a:t>
            </a:r>
            <a:r>
              <a:rPr sz="1300" b="1">
                <a:solidFill>
                  <a:srgbClr val="C06A15"/>
                </a:solidFill>
                <a:latin typeface="Calibri"/>
              </a:rPr>
              <a:t>CURRENT STATUS - IES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440680" cy="56692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P2P Energy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0208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440680" cy="56692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DER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20208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60319"/>
            <a:ext cx="5440680" cy="56692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603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Demand Side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066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560319"/>
            <a:ext cx="5440680" cy="56692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Consumer Energy Passport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27066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19"/>
            <a:ext cx="5440680" cy="56692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461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My Energy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3924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246119"/>
            <a:ext cx="5440680" cy="566928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DISCOM-Regulator Data Exchange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33924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C06A15"/>
                </a:solidFill>
                <a:latin typeface="Calibri"/>
              </a:rPr>
              <a:t>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31919"/>
            <a:ext cx="5440680" cy="566928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9319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Policy as Code / Tariff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0782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C06A15"/>
                </a:solidFill>
                <a:latin typeface="Calibri"/>
              </a:rPr>
              <a:t>OPEN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3931919"/>
            <a:ext cx="5440680" cy="566928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31919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Open Access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4078223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C06A15"/>
                </a:solidFill>
                <a:latin typeface="Calibri"/>
              </a:rPr>
              <a:t>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11183112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1">
                <a:solidFill>
                  <a:srgbClr val="1A1A1A"/>
                </a:solidFill>
                <a:latin typeface="Calibri"/>
              </a:rPr>
              <a:t>Policy as Code (UC3) and P2P Energy Trading are the two use-cases this deck investigates directly.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E7A6E"/>
                </a:solidFill>
                <a:latin typeface="Calibri"/>
              </a:rPr>
              <a:t>IES - Official program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India Energy Stack - technical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66544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ies.recindia.org.in/docs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IES Strategy Document, v0.4 (Mar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96896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recindia.nic.in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Official specification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27248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github.com/India-Energy-Stack/ies-accelerator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15087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E7A6E"/>
                </a:solidFill>
                <a:latin typeface="Calibri"/>
              </a:rPr>
              <a:t>Underlying protocol &amp; global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828800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Beckn Protocol + IES devkits /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66544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github.com/beckn/DEG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359152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Digital Energy Grid vision paper (FIDE / IEA,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96896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energy.becknprotocol.io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570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E7A6E"/>
                </a:solidFill>
                <a:latin typeface="Calibri"/>
              </a:rPr>
              <a:t>Market precedent &amp; programme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77056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IES Expression of Interest (EOI)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14800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recindia.nic.in/ies-expression-of-interest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Ministry of Power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645152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pib.gov.in (PRID 2140416)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02666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E7A6E"/>
                </a:solidFill>
                <a:latin typeface="Calibri"/>
              </a:rPr>
              <a:t>Problem-statement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346704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Electricity Act 2003 - tariff regulation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84448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lawyersclubindia.com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877056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Jaipur Discom Tariff 2026 with FPPAS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14800"/>
            <a:ext cx="53309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onsolas"/>
              </a:rPr>
              <a:t>solarquarter.com, Apr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Investigations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97480"/>
            <a:ext cx="10241280" cy="8229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0E7A6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697480"/>
            <a:ext cx="8686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Establishing BAP - BPP on a local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03320"/>
            <a:ext cx="10241280" cy="82296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703320"/>
            <a:ext cx="8686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Policy as Code / Tariff Intelligence (UC3)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0241280" cy="822960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C06A15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709160"/>
            <a:ext cx="8686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P2P Energy Trading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Establishing BAP - BPP locally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508760"/>
            <a:ext cx="6903720" cy="44805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355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0E7A6E"/>
                </a:solidFill>
                <a:latin typeface="Calibri"/>
              </a:rPr>
              <a:t>What was set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63550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Cloned the official IES devkit (github.com/India-Energy-Stack, github.com/beckn/DEG).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Ran the full protocol stack locally in Docker - BAP, BPP, router, Redis, ledger - real containers, not mocks.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Explored 8 published sandboxes: meter data, regulatory data, tariff policy (UC3), streaming, demand-flex, EV charging, P2P enrollment, P2P trading.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Built a small live visualiser (Node.js + WebSocket) to watch real protocol messages, instead of reading raw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8392" y="1508760"/>
            <a:ext cx="3980383" cy="4480560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64424" y="1691640"/>
            <a:ext cx="3468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C06A15"/>
                </a:solidFill>
                <a:latin typeface="Calibri"/>
              </a:rPr>
              <a:t>Real limitations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4" y="2057400"/>
            <a:ext cx="346831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Callbacks need a public address - a laptop behind a corporate proxy can't receive them without a tunnel.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The real discover service and the catalog-publish service are two different backends - discover doesn't always echo a very recent publish.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Corporate proxies can silently break outbound calls (TLS interception) - needed explicit per-container config.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Policy as Code - Tariff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Publish a tariff once, as signed data, so every billing system reads the same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BUILT &amp; PROVEN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3611880" cy="3200400"/>
          </a:xfrm>
          <a:prstGeom prst="rect">
            <a:avLst/>
          </a:prstGeom>
          <a:solidFill>
            <a:srgbClr val="FCF0F0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3611880" cy="36576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regulator issues a tariff as a PDF - every billing system re-extracts it by hand.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No machine-readable source exists - a real, ongoing cause of billing disputes.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606040"/>
            <a:ext cx="3611880" cy="320040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2194560"/>
            <a:ext cx="3611880" cy="36576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I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signed envelope around IES's own, unmodified IES_Policy schema (Ed25519 / W3C DID - not a custom scheme).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Two independent billing evaluators (Node.js, Python) that agree across 4 real scenarios.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live BPP that signs this fresh, run end-to-end against the real public IES sandbox.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2606040"/>
            <a:ext cx="3611880" cy="320040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2194560"/>
            <a:ext cx="361188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I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3 schema gaps IES's own docs already flag as open - proposed a concrete design for all three.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1 undocumented ambiguity, found only by implementing a billing evaluator.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1">
                <a:solidFill>
                  <a:srgbClr val="555555"/>
                </a:solidFill>
                <a:latin typeface="Calibri"/>
              </a:rPr>
              <a:t>Status: built, tested, pushed publicly to GitHub. The official IES contribution form is not yet submitted.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IES_Policy: the actual schema 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371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IES_Policy itself is never touched. A sibling object carries everything new.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40680" cy="4114800"/>
          </a:xfrm>
          <a:prstGeom prst="rect">
            <a:avLst/>
          </a:prstGeom>
          <a:solidFill>
            <a:srgbClr val="F6F6F4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56816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55555"/>
                </a:solidFill>
                <a:latin typeface="Calibri"/>
              </a:rPr>
              <a:t>BEFORE - IES_Policy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074920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"policyID": "mumbai-res-tariff-01",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"energySlabs": [ ... ],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"surchargeTariffs": [ ... 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// no issuer, no signature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// no currency field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// no amendment / replaces link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28800"/>
            <a:ext cx="5440680" cy="4114800"/>
          </a:xfrm>
          <a:prstGeom prst="rect">
            <a:avLst/>
          </a:prstGeom>
          <a:solidFill>
            <a:srgbClr val="F6F6F4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56816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55555"/>
                </a:solidFill>
                <a:latin typeface="Calibri"/>
              </a:rPr>
              <a:t>AFTER - proposed publication envelope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49424"/>
            <a:ext cx="5074920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"policy": { ...IES_Policy, unchanged... },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"publication": 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"issuer": "did:web:ies.merc.example",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"issuedAt": "2026-09-16T10:00:00Z",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"replaces": null,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"currency": "INR",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"proof": 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"type": "Ed25519Signature2020",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"verificationMethod": "did:web:...#key-1",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"signatureValue": "&lt;base64&gt;"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Policy as Code - Tariff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371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same tariff order gets re-extracted, by hand, by every organisation that needs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120640" cy="4114800"/>
          </a:xfrm>
          <a:prstGeom prst="rect">
            <a:avLst/>
          </a:prstGeom>
          <a:solidFill>
            <a:srgbClr val="FCF0F0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A82A2A"/>
                </a:solidFill>
                <a:latin typeface="Calibri"/>
              </a:rPr>
              <a:t>TODAY - re-read by everyone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2860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SERC Tariff Order (PDF)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743200"/>
            <a:ext cx="0" cy="22860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234440" y="2971800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Comparison app: re-extracted quarterly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2743200"/>
            <a:ext cx="0" cy="740664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34440" y="3483864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483864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Regulator study: re-extracted by hand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0" y="2743200"/>
            <a:ext cx="0" cy="1252728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34440" y="3995928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EV calculator: re-extracted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994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Same document. Re-read from scratch.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737360"/>
            <a:ext cx="5120640" cy="411480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0195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E7A3C"/>
                </a:solidFill>
                <a:latin typeface="Calibri"/>
              </a:rPr>
              <a:t>PROPOSED - read once by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9712" y="22860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228600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SERC Tariff - signed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88352" y="2743200"/>
            <a:ext cx="0" cy="22860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76872" y="2971800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971800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Comparison app: reads it directly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88352" y="2743200"/>
            <a:ext cx="0" cy="740664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976872" y="3483864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3483864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Regulator study: reads it directly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88352" y="2743200"/>
            <a:ext cx="0" cy="1252728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76872" y="3995928"/>
            <a:ext cx="3794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3995928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EV calculator: reads it directly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5994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Same document. Read once, verified.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Same signed source, same result everywhere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2880360"/>
            <a:ext cx="1828800" cy="8229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990088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SERC / Regulator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310128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authors the tariff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3291840"/>
            <a:ext cx="457200" cy="0"/>
          </a:xfrm>
          <a:prstGeom prst="line">
            <a:avLst/>
          </a:prstGeom>
          <a:ln w="15875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88920" y="2880360"/>
            <a:ext cx="2240280" cy="822960"/>
          </a:xfrm>
          <a:prstGeom prst="rect">
            <a:avLst/>
          </a:prstGeom>
          <a:solidFill>
            <a:srgbClr val="141F2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990088"/>
            <a:ext cx="20208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Signed Policy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310128"/>
            <a:ext cx="2020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IES_Policy + publication/proof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15875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0" y="2880360"/>
            <a:ext cx="233172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2990088"/>
            <a:ext cx="21122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Beckn / ONIX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3310128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already built - we don't build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965960"/>
            <a:ext cx="3383280" cy="73152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39112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DISCOM Billing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3172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computes the bill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21854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SAME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818120" y="2331720"/>
            <a:ext cx="457200" cy="96012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75320" y="2880360"/>
            <a:ext cx="3383280" cy="73152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953512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Consumer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4612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estimates the bill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3099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SAME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818120" y="3246120"/>
            <a:ext cx="457200" cy="4572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275320" y="3794760"/>
            <a:ext cx="3383280" cy="731520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867912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Smart Meter Firmware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applies time-of-day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40142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SAME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8120" y="3291840"/>
            <a:ext cx="457200" cy="86868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Proof, not a claim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IES's own claim: multiple billing systems on the same Policy Pack produce identical results. Here it is, tested.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2606040" cy="17373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0E7A6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independent billing evaluators (Node.js + Python)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194560"/>
            <a:ext cx="2606040" cy="17373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5915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0E7A6E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8036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real billing scenarios tested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94560"/>
            <a:ext cx="2606040" cy="17373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5915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0E7A6E"/>
                </a:solidFill>
                <a:latin typeface="Calibri"/>
              </a:rPr>
              <a:t>Rs 2,428.98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036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identical bill, computed 3 ways - including live over the real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194560"/>
            <a:ext cx="2606040" cy="173736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35915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0E7A6E"/>
                </a:solidFill>
                <a:latin typeface="Calibri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88036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ONIX's own validator logged a clean schema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8311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One implementation agreeing with itself proves nothing - two independent ones agreeing is the actual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P2P Energy Trading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17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Two real platforms trade solar energy across two utilities, over the real IES sandbox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Calibri"/>
              </a:rPr>
              <a:t>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3611880" cy="320040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3611880" cy="365760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I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walkthrough of all 31 real protocol hops, with real payloads (Grid Pulse).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live demo app - real bidding, counter-offers, decline - not a fixed-price checkout.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live network view: every real offer, plus our own ledger-verified trades.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606040"/>
            <a:ext cx="3611880" cy="320040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2194560"/>
            <a:ext cx="361188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IT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A full signed lifecycle - publish, discover, init, confirm, settle - every time.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Policy enforces rules live: an unapproved utility gets a real HTTP 400.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Settlement is independently re-checked on a real external ledger.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2606040"/>
            <a:ext cx="3611880" cy="3200400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2194560"/>
            <a:ext cx="3611880" cy="365760"/>
          </a:xfrm>
          <a:prstGeom prst="rect">
            <a:avLst/>
          </a:prstGeom>
          <a:solidFill>
            <a:srgbClr val="C06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194560"/>
            <a:ext cx="3355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78892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Only the two trading platforms ever talk directly.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- </a:t>
            </a:r>
            <a:r>
              <a:rPr sz="1100">
                <a:solidFill>
                  <a:srgbClr val="1A1A1A"/>
                </a:solidFill>
                <a:latin typeface="Calibri"/>
              </a:rPr>
              <a:t>Both utilities are named in the contract data - payment can't bypass either.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trade, briefly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33272" y="2103120"/>
            <a:ext cx="475488" cy="475488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Network</a:t>
            </a:r>
          </a:p>
        </p:txBody>
      </p:sp>
      <p:sp>
        <p:nvSpPr>
          <p:cNvPr id="8" name="Oval 7"/>
          <p:cNvSpPr/>
          <p:nvPr/>
        </p:nvSpPr>
        <p:spPr>
          <a:xfrm>
            <a:off x="2679192" y="2103120"/>
            <a:ext cx="475488" cy="475488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Publish</a:t>
            </a:r>
          </a:p>
        </p:txBody>
      </p:sp>
      <p:sp>
        <p:nvSpPr>
          <p:cNvPr id="10" name="Oval 9"/>
          <p:cNvSpPr/>
          <p:nvPr/>
        </p:nvSpPr>
        <p:spPr>
          <a:xfrm>
            <a:off x="4325112" y="2103120"/>
            <a:ext cx="475488" cy="475488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Discover</a:t>
            </a:r>
          </a:p>
        </p:txBody>
      </p:sp>
      <p:sp>
        <p:nvSpPr>
          <p:cNvPr id="12" name="Oval 11"/>
          <p:cNvSpPr/>
          <p:nvPr/>
        </p:nvSpPr>
        <p:spPr>
          <a:xfrm>
            <a:off x="5971032" y="2103120"/>
            <a:ext cx="475488" cy="475488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Init</a:t>
            </a:r>
          </a:p>
        </p:txBody>
      </p:sp>
      <p:sp>
        <p:nvSpPr>
          <p:cNvPr id="14" name="Oval 13"/>
          <p:cNvSpPr/>
          <p:nvPr/>
        </p:nvSpPr>
        <p:spPr>
          <a:xfrm>
            <a:off x="7616952" y="2103120"/>
            <a:ext cx="475488" cy="475488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Confirm</a:t>
            </a:r>
          </a:p>
        </p:txBody>
      </p:sp>
      <p:sp>
        <p:nvSpPr>
          <p:cNvPr id="16" name="Oval 15"/>
          <p:cNvSpPr/>
          <p:nvPr/>
        </p:nvSpPr>
        <p:spPr>
          <a:xfrm>
            <a:off x="9262872" y="2103120"/>
            <a:ext cx="475488" cy="475488"/>
          </a:xfrm>
          <a:prstGeom prst="ellipse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Settle</a:t>
            </a:r>
          </a:p>
        </p:txBody>
      </p:sp>
      <p:sp>
        <p:nvSpPr>
          <p:cNvPr id="18" name="Oval 17"/>
          <p:cNvSpPr/>
          <p:nvPr/>
        </p:nvSpPr>
        <p:spPr>
          <a:xfrm>
            <a:off x="10908792" y="2103120"/>
            <a:ext cx="475488" cy="475488"/>
          </a:xfrm>
          <a:prstGeom prst="ellipse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74320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0440"/>
            <a:ext cx="11183112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Publish and Discover genuinely leave the machine - real network hops.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Confirm is the real commitment point; Settle is independently re-checked; Rejected proves policy is enforced live.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live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ell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675120" cy="42911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463040"/>
            <a:ext cx="4206240" cy="4297680"/>
          </a:xfrm>
          <a:prstGeom prst="rect">
            <a:avLst/>
          </a:prstGeom>
          <a:solidFill>
            <a:srgbClr val="F1FAF8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664208"/>
            <a:ext cx="3694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0E7A6E"/>
                </a:solidFill>
                <a:latin typeface="Calibri"/>
              </a:rPr>
              <a:t>Seller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084831"/>
            <a:ext cx="369417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Publishes real offers onto the shared network.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Three real choices on a bid: accept, counter, or decline.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Capacity actually depletes as an offer sells - shown live.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Every settled trade is a real, live-computed amount.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live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networ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24582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463040"/>
            <a:ext cx="4206240" cy="4297680"/>
          </a:xfrm>
          <a:prstGeom prst="rect">
            <a:avLst/>
          </a:prstGeom>
          <a:solidFill>
            <a:srgbClr val="F0F4FE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664208"/>
            <a:ext cx="3694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D4ED8"/>
                </a:solidFill>
                <a:latin typeface="Calibri"/>
              </a:rPr>
              <a:t>Network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084831"/>
            <a:ext cx="369417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Every settled trade re-verified on a real external ledger.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28 ledger-verified trades at the time of this screenshot, each with its own hash.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- </a:t>
            </a:r>
            <a:r>
              <a:rPr sz="1250">
                <a:solidFill>
                  <a:srgbClr val="1A1A1A"/>
                </a:solidFill>
                <a:latin typeface="Calibri"/>
              </a:rPr>
              <a:t>The offer pool shows every real participant on the shared network, not just 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Grid Pulse - seeing the network, hop by hop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371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companion tool built to actually see what the protocol is doing, not just read logs.</a:t>
            </a:r>
          </a:p>
        </p:txBody>
      </p:sp>
      <p:pic>
        <p:nvPicPr>
          <p:cNvPr id="7" name="Picture 6" descr="grid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785810" cy="4297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783080"/>
            <a:ext cx="3429000" cy="4114800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011680"/>
            <a:ext cx="2971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Walks through all 31 real hops of one live trade - publish through settle.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Each hop shows the real request, the real processor steps, and the real network diagram.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Live and public: nharuvi.com/beckn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Real engineering, not a scripted demo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554480"/>
            <a:ext cx="11183112" cy="1051560"/>
          </a:xfrm>
          <a:prstGeom prst="rect">
            <a:avLst/>
          </a:prstGeom>
          <a:solidFill>
            <a:srgbClr val="FCF0F0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73152" cy="105156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discover returned nothing, for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6654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3 real causes: a wrong callback address, a wrong action name, one bad catalog entry from another tester. All fixed and verified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11183112" cy="1051560"/>
          </a:xfrm>
          <a:prstGeom prst="rect">
            <a:avLst/>
          </a:prstGeom>
          <a:solidFill>
            <a:srgbClr val="FCF0F0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73152" cy="105156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895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Trades never reached the real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5526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Found by comparing against the original devkit. Trades were only recording locally. Fixed and re-verified.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11183112" cy="1051560"/>
          </a:xfrm>
          <a:prstGeom prst="rect">
            <a:avLst/>
          </a:prstGeom>
          <a:solidFill>
            <a:srgbClr val="FCF0F0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73152" cy="1051560"/>
          </a:xfrm>
          <a:prstGeom prst="rect">
            <a:avLst/>
          </a:prstGeom>
          <a:solidFill>
            <a:srgbClr val="A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07822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An offer could be sold to unlimited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44398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Quantity never depleted as it sold. Added real capacity tracking, with a live rejection once sold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Digital Energy Grid -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Where everything stands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43584"/>
            <a:ext cx="11185855" cy="0"/>
          </a:xfrm>
          <a:prstGeom prst="line">
            <a:avLst/>
          </a:prstGeom>
          <a:ln w="12700">
            <a:solidFill>
              <a:srgbClr val="D8D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508760"/>
            <a:ext cx="11183112" cy="65836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0876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Local BAP - BPP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Set up and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11183112" cy="658368"/>
          </a:xfrm>
          <a:prstGeom prst="rect">
            <a:avLst/>
          </a:prstGeom>
          <a:solidFill>
            <a:srgbClr val="FDF4E9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780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C06A15"/>
                </a:solidFill>
                <a:latin typeface="Calibri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28600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Policy as Code (UC3)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8600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Built, tested, proposed on GitHub - form not yet submitted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11183112" cy="65836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2552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06324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P2P Energy Trading demo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6324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Built, live, actively hardened against real bugs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11183112" cy="658368"/>
          </a:xfrm>
          <a:prstGeom prst="rect">
            <a:avLst/>
          </a:prstGeom>
          <a:solidFill>
            <a:srgbClr val="EFF9F1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03250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Calibri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84048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Grid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84048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Live, hosted, public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54880"/>
            <a:ext cx="11183112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89204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What's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230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Submit the official IES contribution form for the UC3 proposal.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</a:t>
            </a:r>
            <a:r>
              <a:rPr sz="1200">
                <a:solidFill>
                  <a:srgbClr val="1A1A1A"/>
                </a:solidFill>
                <a:latin typeface="Calibri"/>
              </a:rPr>
              <a:t>Continue hardening the P2P demo app as new edge cases turn 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Happy to walk through the demo app, Grid Pulse, or the UC3 proposal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[Name] . [Contact]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