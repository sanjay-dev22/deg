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question, not the acronyms. 'Can a grid ask an EV for help and get a verified answer' is the entire PoC in one sentence -- everything else in this deck explains how we'd show that, concretely.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under a minute of talking. The real citations (EU mandate, real pilots) are in the appendix if anyone wants to dig in -- don't spend the room's attention on market data before they've seen what we'd actually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slide -- it's the whole PoC in plain language, with the two named actors we'll use consistently for the rest of the deck. Read the quote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each box left to right as you narrate the quote from slide 3. The callout box is important -- be precise that the MIDDLE step is real, only the two ends (grid demand, battery) are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this top to bottom, slowly, in the room -- this IS the demo. Every one of these five lines becomes a real, visible, logged event when we actually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payoff slide -- the moment where the team sees the battery gauge visibly change and the status flip to FULFILLED. If the live demo works, this exact screen is what we'll actually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protects credibility. Be precise about the term we're using -- 'software interoperability PoC', not 'V2G system' -- if anyone in the room assumes we're about to plug in a real car, correct that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demonstrating layer A only. Layers B and C already have real, open, working implementations elsewhere -- we're not reinventing car-charger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stages, each a real gate -- we don't move to the next stage unless the previous one genuinely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The ask is deliberately scoped to exactly the one scenario in this deck -- not an open-ended platform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reference slide -- only go here if someone asks for a term definition or a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PROOF OF CONCEPT  ·  DEMONSTRATION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9509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Poppins"/>
              </a:rPr>
              <a:t>Can a Grid Ask an EV for Help —</a:t>
            </a:r>
          </a:p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Poppins"/>
              </a:rPr>
              <a:t>and Get a Verified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8961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A small, self-contained software demonstration of grid-to-EV flexibility,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coordinated through India's open digital energy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391A2"/>
                </a:solidFill>
                <a:latin typeface="Poppins"/>
              </a:rPr>
              <a:t>Prepared for: Team Review  |  Direction &amp; Scope Sign-off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B27"/>
                </a:solidFill>
                <a:latin typeface="Poppins"/>
              </a:rPr>
              <a:t>A parked EV's battery is a mostly-idle resource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Grids need short bursts of extra power; EVs sit charged and unused most of the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920240"/>
            <a:ext cx="1094811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240280"/>
            <a:ext cx="1003371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48576A"/>
                </a:solidFill>
                <a:latin typeface="Poppins"/>
              </a:rPr>
              <a:t>This is called Vehicle-to-Grid (V2G) — a car sends a little power back when the grid is stressed, and the owner gets paid for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004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3200400"/>
            <a:ext cx="1003371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48576A"/>
                </a:solidFill>
                <a:latin typeface="Poppins"/>
              </a:rPr>
              <a:t>It's real and funded: the EU now requires new chargers to support this from 2027; real pilots are already running in China, the Netherlands, and the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1605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4160520"/>
            <a:ext cx="1003371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48576A"/>
                </a:solidFill>
                <a:latin typeface="Poppins"/>
              </a:rPr>
              <a:t>The open question for us: can India's own open energy network (IES, built on the Beckn protocol) actually coordinate this — discovery, agreement, and payment — end to end?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The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B27"/>
                </a:solidFill>
                <a:latin typeface="Poppins"/>
              </a:rPr>
              <a:t>What exactly we'll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One concrete, end-to-end scenario — not a platform, not a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10948111" cy="105156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84832"/>
            <a:ext cx="1030803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Poppins"/>
              </a:rPr>
              <a:t>“A utility needs 5 kW of backup power for 30 minutes. A virtual EV, sitting at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Poppins"/>
              </a:rPr>
              <a:t>80% charge, offers to help — and the whole exchange happens automatically.”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154680"/>
            <a:ext cx="533689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31012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87C1C"/>
                </a:solidFill>
                <a:latin typeface="Poppins"/>
              </a:rPr>
              <a:t>The requester — “Grid-Flex-Requester”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703320"/>
            <a:ext cx="48796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Represents the utility side. Says, in effect: “I need 5 kW of flexibility for the next 30 minutes.”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3154680"/>
            <a:ext cx="533689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3310128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C87C1C"/>
                </a:solidFill>
                <a:latin typeface="Poppins"/>
              </a:rPr>
              <a:t>The provider — “V2G-Energy-Provider”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3703320"/>
            <a:ext cx="48796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Represents an aggregator owning EV-001 — 60 kWh battery, 80% charged, able to safely spare 10 kWh at up to 5 kW.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The Demonstration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B27"/>
                </a:solidFill>
                <a:latin typeface="Poppins"/>
              </a:rPr>
              <a:t>How the four pieces fit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A fully self-contained system — nothing here depends on a real utility or a real car yet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057400"/>
            <a:ext cx="2331720" cy="123444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203704"/>
            <a:ext cx="2057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GRID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8986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Generates the demand signal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7832" y="2057400"/>
            <a:ext cx="2331720" cy="123444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2203704"/>
            <a:ext cx="2057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GRID-FLEX-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REQUESTER (BAP)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28986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Asks the network for help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33872" y="2057400"/>
            <a:ext cx="2331720" cy="123444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2" y="2203704"/>
            <a:ext cx="2057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V2G-ENERGY-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PROVIDER (BPP)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2" y="28986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Owns EV-001, answers the 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39912" y="2057400"/>
            <a:ext cx="2331720" cy="1234440"/>
          </a:xfrm>
          <a:prstGeom prst="round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203704"/>
            <a:ext cx="2057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EV-001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(SIMULATED)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8986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E8A33D"/>
                </a:solidFill>
                <a:latin typeface="Poppins"/>
              </a:rPr>
              <a:t>60 kWh · 80% charged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90088" y="2542032"/>
            <a:ext cx="237744" cy="27432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596128" y="2542032"/>
            <a:ext cx="237744" cy="27432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202168" y="2542032"/>
            <a:ext cx="237744" cy="27432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1188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“I need 5 kW”  →  discovered over the real network  →  “EV-001 can help”  →  discharge simulated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114800"/>
            <a:ext cx="10948111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70248"/>
            <a:ext cx="1039947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middle exchange — Grid-Flex-Requester discovering and contracting with V2G-Energy-Provider — runs over the real, live network. Only the grid demand and the EV's battery are simulated; the digital handshake between them is genuine.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The Demonstration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B27"/>
                </a:solidFill>
                <a:latin typeface="Poppins"/>
              </a:rPr>
              <a:t>The actual conversation,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Five real protocol actions, shown with this scenario's real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1737360" cy="658368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874520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discover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4872" y="1874520"/>
            <a:ext cx="2148840" cy="658368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1874520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Poppins"/>
              </a:rPr>
              <a:t>Grid-Flex-Requester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9431" y="1874520"/>
            <a:ext cx="69704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874520"/>
            <a:ext cx="651327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21B27"/>
                </a:solidFill>
                <a:latin typeface="Poppins"/>
              </a:rPr>
              <a:t>“I need 5 kW, for 30 minutes”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606040"/>
            <a:ext cx="1737360" cy="658368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606040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on_discover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2606040"/>
            <a:ext cx="2148840" cy="658368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4872" y="2606040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Poppins"/>
              </a:rPr>
              <a:t>V2G-Energy-Provider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9431" y="2606040"/>
            <a:ext cx="69704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2" y="2606040"/>
            <a:ext cx="651327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21B27"/>
                </a:solidFill>
                <a:latin typeface="Poppins"/>
              </a:rPr>
              <a:t>“EV-001: 5 kW available, 10 kWh, consent ✓”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337560"/>
            <a:ext cx="1737360" cy="658368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337560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select / init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4872" y="3337560"/>
            <a:ext cx="2148840" cy="658368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04872" y="3337560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Poppins"/>
              </a:rPr>
              <a:t>Grid-Flex-Requester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9431" y="3337560"/>
            <a:ext cx="69704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3337560"/>
            <a:ext cx="651327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21B27"/>
                </a:solidFill>
                <a:latin typeface="Poppins"/>
              </a:rPr>
              <a:t>“I choose EV-001 — 5 kW, 30 minutes”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069080"/>
            <a:ext cx="1737360" cy="658368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069080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confirm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04872" y="4069080"/>
            <a:ext cx="2148840" cy="658368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4069080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Poppins"/>
              </a:rPr>
              <a:t>V2G-Energy-Provider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9431" y="4069080"/>
            <a:ext cx="69704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4069080"/>
            <a:ext cx="651327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21B27"/>
                </a:solidFill>
                <a:latin typeface="Poppins"/>
              </a:rPr>
              <a:t>“Contract CONTRACT-001 is now active”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4800600"/>
            <a:ext cx="1737360" cy="658368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800600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onsolas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04872" y="4800600"/>
            <a:ext cx="2148840" cy="658368"/>
          </a:xfrm>
          <a:prstGeom prst="rect">
            <a:avLst/>
          </a:prstGeom>
          <a:solidFill>
            <a:srgbClr val="12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04872" y="4800600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8A33D"/>
                </a:solidFill>
                <a:latin typeface="Poppins"/>
              </a:rPr>
              <a:t>V2G-Energy-Provider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9431" y="4800600"/>
            <a:ext cx="69704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4800600"/>
            <a:ext cx="651327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121B27"/>
                </a:solidFill>
                <a:latin typeface="Poppins"/>
              </a:rPr>
              <a:t>“FULFILLED — 2.5 kWh delivered”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The Demonstration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Poppins"/>
              </a:rPr>
              <a:t>What success looks like on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28800"/>
            <a:ext cx="10948111" cy="356616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299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331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Demand: HIGH  ·  Flexibility requested: 5 kW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6752" y="2029968"/>
            <a:ext cx="274320" cy="320040"/>
          </a:xfrm>
          <a:prstGeom prst="down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788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CONTRACT-001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9067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5 kW × 30 min = 2.5 kWh  ·  Status: ACTIVE  →  FULFILLED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3794760"/>
            <a:ext cx="3291840" cy="411480"/>
          </a:xfrm>
          <a:prstGeom prst="rect">
            <a:avLst/>
          </a:prstGeom>
          <a:solidFill>
            <a:srgbClr val="222E3C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78992" y="3794760"/>
            <a:ext cx="2633472" cy="41148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5021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oppins"/>
              </a:rPr>
              <a:t>EV-001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26110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SoC 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13048"/>
            <a:ext cx="32918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80%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53712" y="3849624"/>
            <a:ext cx="457200" cy="32004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85232" y="3794760"/>
            <a:ext cx="3291840" cy="411480"/>
          </a:xfrm>
          <a:prstGeom prst="rect">
            <a:avLst/>
          </a:prstGeom>
          <a:solidFill>
            <a:srgbClr val="222E3C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85232" y="3794760"/>
            <a:ext cx="2501798" cy="41148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35021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oppins"/>
              </a:rPr>
              <a:t>EV-001 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426110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SoC ≈ 75.8%  ·  Delivered 2.5 kWh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3813048"/>
            <a:ext cx="32918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76%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75488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E7D4F"/>
                </a:solidFill>
                <a:latin typeface="Poppins"/>
              </a:rPr>
              <a:t>✓ FULFILLED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The Demonstration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SCOPE, STATED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B27"/>
                </a:solidFill>
                <a:latin typeface="Poppins"/>
              </a:rPr>
              <a:t>What this proves — and what it doesn't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74520"/>
            <a:ext cx="5336895" cy="2926080"/>
          </a:xfrm>
          <a:prstGeom prst="rect">
            <a:avLst/>
          </a:prstGeom>
          <a:solidFill>
            <a:srgbClr val="ECF5EE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103120"/>
            <a:ext cx="47882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E7D4F"/>
                </a:solidFill>
                <a:latin typeface="Poppins"/>
              </a:rPr>
              <a:t>Digitally — yes, meaningfully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5603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Poppi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560320"/>
            <a:ext cx="45139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 real energy resource's constraints (battery, consent, timing)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175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017520"/>
            <a:ext cx="45139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Real discovery, agreement, and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4747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Poppi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474720"/>
            <a:ext cx="45139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Real, automatic settlement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93192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7D4F"/>
                </a:solidFill>
                <a:latin typeface="Poppin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931920"/>
            <a:ext cx="45139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The real open-network architecture, not a private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1874520"/>
            <a:ext cx="5336895" cy="2926080"/>
          </a:xfrm>
          <a:prstGeom prst="rect">
            <a:avLst/>
          </a:prstGeom>
          <a:solidFill>
            <a:srgbClr val="FBEEEC"/>
          </a:solidFill>
          <a:ln w="12700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103120"/>
            <a:ext cx="47882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A6483B"/>
                </a:solidFill>
                <a:latin typeface="Poppins"/>
              </a:rPr>
              <a:t>Physically — no, and that's intentional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560320"/>
            <a:ext cx="478825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No real battery, inverter, or grid connection is involved. That requires real hardware, metering, and regulatory approval — a separate, later decision. We are calling this a “software-based V2G interoperability PoC,” deliberately not “a V2G system.”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Scope, Stated Honestly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SCOPE, STATED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B27"/>
                </a:solidFill>
                <a:latin typeface="Poppins"/>
              </a:rPr>
              <a:t>Three separate layers — we're only building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A common source of confusion, worth resolving upfront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920240"/>
            <a:ext cx="640080" cy="9601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1488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7592" y="1920240"/>
            <a:ext cx="10262311" cy="960120"/>
          </a:xfrm>
          <a:prstGeom prst="rect">
            <a:avLst/>
          </a:prstGeom>
          <a:solidFill>
            <a:srgbClr val="FDF3E4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2039112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27"/>
                </a:solidFill>
                <a:latin typeface="Poppins"/>
              </a:rPr>
              <a:t>Business layer (IES / Beckn)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423160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Discovery + agreement — what THIS demo 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035808"/>
            <a:ext cx="640080" cy="960120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26440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07592" y="3035808"/>
            <a:ext cx="1026231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6192" y="3154680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27"/>
                </a:solidFill>
                <a:latin typeface="Poppins"/>
              </a:rPr>
              <a:t>Vehicle layer (ISO 15118-20)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538728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How a real car and charger negotiate power — mature, open, already solved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4151376"/>
            <a:ext cx="640080" cy="960120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37997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07592" y="4151376"/>
            <a:ext cx="1026231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4270248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27"/>
                </a:solidFill>
                <a:latin typeface="Poppins"/>
              </a:rPr>
              <a:t>Backend layer (OCPP)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654296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How a charger reports to its backend — mature, open, already solved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Scope, Stated Honestly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B27"/>
                </a:solidFill>
                <a:latin typeface="Poppins"/>
              </a:rPr>
              <a:t>Proposed roadmap — staged, each step checkable before the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74520"/>
            <a:ext cx="2599867" cy="4572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75104"/>
            <a:ext cx="25998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Stage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331720"/>
            <a:ext cx="2599867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542032"/>
            <a:ext cx="23072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1B27"/>
                </a:solidFill>
                <a:latin typeface="Poppins"/>
              </a:rPr>
              <a:t>Register &amp;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017520"/>
            <a:ext cx="230725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Stand up a real network identity; prove a basic real handshake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4539" y="1874520"/>
            <a:ext cx="2599867" cy="4572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4539" y="1975104"/>
            <a:ext cx="25998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Stage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4539" y="2331720"/>
            <a:ext cx="2599867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0843" y="2542032"/>
            <a:ext cx="23072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1B27"/>
                </a:solidFill>
                <a:latin typeface="Poppins"/>
              </a:rPr>
              <a:t>Build EV-001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843" y="3017520"/>
            <a:ext cx="230725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Author the simulated EV as a real, standard energy-resource object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874520"/>
            <a:ext cx="2599867" cy="4572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1975104"/>
            <a:ext cx="25998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Stage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2331720"/>
            <a:ext cx="2599867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2542032"/>
            <a:ext cx="23072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1B27"/>
                </a:solidFill>
                <a:latin typeface="Poppins"/>
              </a:rPr>
              <a:t>Run the 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3591" y="3017520"/>
            <a:ext cx="230725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Execute the full discover → confirm → status flow from Slide 5, for real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035" y="1874520"/>
            <a:ext cx="2599867" cy="4572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0035" y="1975104"/>
            <a:ext cx="25998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Poppins"/>
              </a:rPr>
              <a:t>Stage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035" y="2331720"/>
            <a:ext cx="2599867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339" y="2542032"/>
            <a:ext cx="23072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1B27"/>
                </a:solidFill>
                <a:latin typeface="Poppins"/>
              </a:rPr>
              <a:t>Report honestly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339" y="3017520"/>
            <a:ext cx="230725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Compare this approach against a conventional integration — either result is valid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Poppins"/>
              </a:rPr>
              <a:t>Approve a bounded technical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Approve 1-2 engineers, part-time, to build exactly the scenario on Slide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Approve minimal infrastructure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Review at a checkpoint before any further 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690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If it works: decide together what comes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E8A33D"/>
                </a:solidFill>
                <a:latin typeface="Poppins"/>
              </a:rPr>
              <a:t>One concrete scenario. A real, checkable result — not a platform commitment.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21B27"/>
                </a:solidFill>
                <a:latin typeface="Poppins"/>
              </a:rPr>
              <a:t>Terms &amp; sources, for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3736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5740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V2G = Vehicle-to-Grid. BAP/BPP = Beckn App/Provider Platform (requester/publisher roles). IES = India Energy Stack, India's open energy network, built on the Beckn protocol.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926080"/>
            <a:ext cx="1094811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19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246119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EU AFIR — bidirectional charging mandate from 1 Jan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657599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657599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Real pilots: China (30 pilots/9 cities), Netherlands (Utrecht, commercial), US (Maryland V2G rules)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069079"/>
            <a:ext cx="228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069079"/>
            <a:ext cx="102165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India Energy Stack — official documentation and accelerator repository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