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full gap inventory" id="{f25efe59-bc43-e35c-2328-f6d43da57ff2}">
          <p14:sldIdLst>
            <p14:sldId id="257"/>
          </p14:sldIdLst>
        </p14:section>
        <p14:section name="Default-1" id="{427f2d03-785b-f3d4-667a-02044457f5a4}">
          <p14:sldIdLst>
            <p14:sldId id="258"/>
            <p14:sldId id="259"/>
            <p14:sldId id="260"/>
            <p14:sldId id="261"/>
            <p14:sldId id="262"/>
            <p14:sldId id="263"/>
            <p14:sldId id="264"/>
            <p14:sldId id="265"/>
            <p14:sldId id="266"/>
            <p14:sldId id="267"/>
            <p14:sldId id="268"/>
            <p14:sldId id="269"/>
            <p14:sldId id="270"/>
          </p14:sldIdLst>
        </p14:section>
        <p14:section name="Live re-verification" id="{a1d394fb-7b72-04a4-c7e1-5b6330110867}">
          <p14:sldIdLst>
            <p14:sldId id="271"/>
          </p14:sldIdLst>
        </p14:section>
        <p14:section name="Default-2" id="{1c910c4e-593b-9190-00fa-fa194ffebfbe}">
          <p14:sldIdLst>
            <p14:sldId id="272"/>
            <p14:sldId id="273"/>
          </p14:sldIdLst>
        </p14:section>
        <p14:section name="What live testing found" id="{ae3e7370-e6db-d67a-601d-2e1e547dc3e2}">
          <p14:sldIdLst>
            <p14:sldId id="274"/>
          </p14:sldIdLst>
        </p14:section>
        <p14:section name="Default-3" id="{be350482-85de-ee26-1ad6-0f8af4c4a50d}">
          <p14:sldIdLst>
            <p14:sldId id="275"/>
            <p14:sldId id="276"/>
            <p14:sldId id="277"/>
          </p14:sldIdLst>
        </p14:section>
        <p14:section name="Feasibility verdict" id="{ac8e83fa-6835-3f5f-7d6f-57d84238e09d}">
          <p14:sldIdLst>
            <p14:sldId id="278"/>
          </p14:sldIdLst>
        </p14:section>
        <p14:section name="Default-4" id="{148c79dd-7dc0-5c80-e11d-d149e7463d6e}">
          <p14:sldIdLst>
            <p14:sldId id="279"/>
          </p14:sldIdLst>
        </p14:section>
        <p14:section name="Prioritized solutions" id="{c6694e60-63b2-4e8d-8ce1-dfcaf4b8c120}">
          <p14:sldIdLst>
            <p14:sldId id="280"/>
          </p14:sldIdLst>
        </p14:section>
        <p14:section name="Default-5" id="{0485c300-dc76-c2e8-d2aa-793ca83d435f}">
          <p14:sldIdLst>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separating the two findings clearly: infrastructure genuinely works (proven by running it), safety rules genuinely don't (also proven, not just read). Point out that feasibility varies gap by gap -- some are a one-field code change, others need a DISCOM's own systems or a multi-party agreement. Invite discussion on the prioritized fix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0151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4F5F7"/>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2011680"/>
            <a:ext cx="10820095" cy="365760"/>
          </a:xfrm>
          <a:prstGeom prst="rect">
            <a:avLst/>
          </a:prstGeom>
          <a:noFill/>
          <a:ln/>
        </p:spPr>
        <p:txBody>
          <a:bodyPr wrap="square" lIns="0" tIns="0" rIns="0" bIns="0" rtlCol="0" anchor="ctr"/>
          <a:lstStyle/>
          <a:p>
            <a:pPr indent="0" marL="0">
              <a:buNone/>
            </a:pPr>
            <a:r>
              <a:rPr lang="en-US" sz="1500" b="1" spc="200" kern="0" dirty="0">
                <a:solidFill>
                  <a:srgbClr val="C07F2A"/>
                </a:solidFill>
                <a:latin typeface="Calibri" pitchFamily="34" charset="0"/>
                <a:ea typeface="Calibri" pitchFamily="34" charset="-122"/>
                <a:cs typeface="Calibri" pitchFamily="34" charset="-120"/>
              </a:rPr>
              <a:t>LIVE-VERIFIED SOFTWARE REVIEW</a:t>
            </a:r>
            <a:endParaRPr lang="en-US" sz="1500" dirty="0"/>
          </a:p>
        </p:txBody>
      </p:sp>
      <p:sp>
        <p:nvSpPr>
          <p:cNvPr id="3" name="Text 1"/>
          <p:cNvSpPr txBox="1"/>
          <p:nvPr/>
        </p:nvSpPr>
        <p:spPr>
          <a:xfrm>
            <a:off x="685800" y="2423160"/>
            <a:ext cx="10820095"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P2P Energy Trading — Software Gaps</a:t>
            </a:r>
            <a:endParaRPr lang="en-US" sz="4600" dirty="0"/>
          </a:p>
        </p:txBody>
      </p:sp>
      <p:sp>
        <p:nvSpPr>
          <p:cNvPr id="4" name="Text 2"/>
          <p:cNvSpPr txBox="1"/>
          <p:nvPr/>
        </p:nvSpPr>
        <p:spPr>
          <a:xfrm>
            <a:off x="685800" y="3520440"/>
            <a:ext cx="10820095" cy="548640"/>
          </a:xfrm>
          <a:prstGeom prst="rect">
            <a:avLst/>
          </a:prstGeom>
          <a:noFill/>
          <a:ln/>
        </p:spPr>
        <p:txBody>
          <a:bodyPr wrap="square" lIns="0" tIns="0" rIns="0" bIns="0" rtlCol="0" anchor="ctr"/>
          <a:lstStyle/>
          <a:p>
            <a:pPr indent="0" marL="0">
              <a:buNone/>
            </a:pPr>
            <a:r>
              <a:rPr lang="en-US" sz="2000" dirty="0">
                <a:solidFill>
                  <a:srgbClr val="C3CAD6"/>
                </a:solidFill>
                <a:latin typeface="Calibri" pitchFamily="34" charset="0"/>
                <a:ea typeface="Calibri" pitchFamily="34" charset="-122"/>
                <a:cs typeface="Calibri" pitchFamily="34" charset="-120"/>
              </a:rPr>
              <a:t>All 12 identified gaps, re-verified against the real, running devkit</a:t>
            </a:r>
            <a:endParaRPr lang="en-US" sz="2000" dirty="0"/>
          </a:p>
        </p:txBody>
      </p:sp>
      <p:sp>
        <p:nvSpPr>
          <p:cNvPr id="5" name="Text 3"/>
          <p:cNvSpPr txBox="1"/>
          <p:nvPr/>
        </p:nvSpPr>
        <p:spPr>
          <a:xfrm>
            <a:off x="685800" y="4114800"/>
            <a:ext cx="9875520" cy="822960"/>
          </a:xfrm>
          <a:prstGeom prst="rect">
            <a:avLst/>
          </a:prstGeom>
          <a:noFill/>
          <a:ln/>
        </p:spPr>
        <p:txBody>
          <a:bodyPr wrap="square" lIns="0" tIns="0" rIns="0" bIns="0" rtlCol="0" anchor="ctr"/>
          <a:lstStyle/>
          <a:p>
            <a:pPr indent="0" marL="0">
              <a:lnSpc>
                <a:spcPct val="130000"/>
              </a:lnSpc>
              <a:buNone/>
            </a:pPr>
            <a:r>
              <a:rPr lang="en-US" sz="1400" dirty="0">
                <a:solidFill>
                  <a:srgbClr val="A9B2C0"/>
                </a:solidFill>
                <a:latin typeface="Calibri" pitchFamily="34" charset="0"/>
                <a:ea typeface="Calibri" pitchFamily="34" charset="-122"/>
                <a:cs typeface="Calibri" pitchFamily="34" charset="-120"/>
              </a:rPr>
              <a:t>Not a re-read of old notes. The real repository was pulled fresh, its real Docker stack was brought up, and real trades were sent through it — every verdict here is backed by something the system actually did, or the current source we actually read today. Each gap below also carries its own honest implementation-feasibility call.</a:t>
            </a:r>
            <a:endParaRPr lang="en-US" sz="1400" dirty="0"/>
          </a:p>
        </p:txBody>
      </p:sp>
      <p:sp>
        <p:nvSpPr>
          <p:cNvPr id="6" name="Text 4"/>
          <p:cNvSpPr txBox="1"/>
          <p:nvPr/>
        </p:nvSpPr>
        <p:spPr>
          <a:xfrm>
            <a:off x="685800" y="6035040"/>
            <a:ext cx="5486400" cy="274320"/>
          </a:xfrm>
          <a:prstGeom prst="rect">
            <a:avLst/>
          </a:prstGeom>
          <a:noFill/>
          <a:ln/>
        </p:spPr>
        <p:txBody>
          <a:bodyPr wrap="square" lIns="0" tIns="0" rIns="0" bIns="0" rtlCol="0" anchor="ctr"/>
          <a:lstStyle/>
          <a:p>
            <a:pPr indent="0" marL="0">
              <a:buNone/>
            </a:pPr>
            <a:r>
              <a:rPr lang="en-US" sz="1300" dirty="0">
                <a:solidFill>
                  <a:srgbClr val="8A94A6"/>
                </a:solidFill>
                <a:latin typeface="Calibri" pitchFamily="34" charset="0"/>
                <a:ea typeface="Calibri" pitchFamily="34" charset="-122"/>
                <a:cs typeface="Calibri" pitchFamily="34" charset="-120"/>
              </a:rPr>
              <a:t>Prepared for: Team Review</a:t>
            </a:r>
            <a:endParaRPr lang="en-US" sz="13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2651760"/>
            <a:ext cx="1828800" cy="457200"/>
          </a:xfrm>
          <a:prstGeom prst="rect">
            <a:avLst/>
          </a:prstGeom>
          <a:noFill/>
          <a:ln/>
        </p:spPr>
        <p:txBody>
          <a:bodyPr wrap="square" lIns="0" tIns="0" rIns="0" bIns="0" rtlCol="0" anchor="ctr"/>
          <a:lstStyle/>
          <a:p>
            <a:pPr indent="0" marL="0">
              <a:buNone/>
            </a:pPr>
            <a:r>
              <a:rPr lang="en-US" sz="2200" b="1" dirty="0">
                <a:solidFill>
                  <a:srgbClr val="C07F2A"/>
                </a:solidFill>
                <a:latin typeface="Calibri" pitchFamily="34" charset="0"/>
                <a:ea typeface="Calibri" pitchFamily="34" charset="-122"/>
                <a:cs typeface="Calibri" pitchFamily="34" charset="-120"/>
              </a:rPr>
              <a:t>01</a:t>
            </a:r>
            <a:endParaRPr lang="en-US" sz="2200" dirty="0"/>
          </a:p>
        </p:txBody>
      </p:sp>
      <p:sp>
        <p:nvSpPr>
          <p:cNvPr id="3" name="Text 1"/>
          <p:cNvSpPr txBox="1"/>
          <p:nvPr/>
        </p:nvSpPr>
        <p:spPr>
          <a:xfrm>
            <a:off x="685800" y="3063240"/>
            <a:ext cx="105156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Full Gap Inventory</a:t>
            </a:r>
            <a:endParaRPr lang="en-US" sz="3800" dirty="0"/>
          </a:p>
        </p:txBody>
      </p:sp>
      <p:sp>
        <p:nvSpPr>
          <p:cNvPr id="4" name="Text 2"/>
          <p:cNvSpPr txBox="1"/>
          <p:nvPr/>
        </p:nvSpPr>
        <p:spPr>
          <a:xfrm>
            <a:off x="685800" y="4114800"/>
            <a:ext cx="9784080" cy="731520"/>
          </a:xfrm>
          <a:prstGeom prst="rect">
            <a:avLst/>
          </a:prstGeom>
          <a:noFill/>
          <a:ln/>
        </p:spPr>
        <p:txBody>
          <a:bodyPr wrap="square" lIns="0" tIns="0" rIns="0" bIns="0" rtlCol="0" anchor="ctr"/>
          <a:lstStyle/>
          <a:p>
            <a:pPr indent="0" marL="0">
              <a:lnSpc>
                <a:spcPct val="130000"/>
              </a:lnSpc>
              <a:buNone/>
            </a:pPr>
            <a:r>
              <a:rPr lang="en-US" sz="1700" dirty="0">
                <a:solidFill>
                  <a:srgbClr val="A9B2C0"/>
                </a:solidFill>
                <a:latin typeface="Calibri" pitchFamily="34" charset="0"/>
                <a:ea typeface="Calibri" pitchFamily="34" charset="-122"/>
                <a:cs typeface="Calibri" pitchFamily="34" charset="-120"/>
              </a:rPr>
              <a:t>Twelve gaps, each on its own slide — what it is, the concrete fix proposed, and how feasible that fix really is to build.</a:t>
            </a:r>
            <a:endParaRPr lang="en-US" sz="17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GAP 1 OF 12</a:t>
            </a:r>
            <a:endParaRPr lang="en-US" sz="1300" dirty="0"/>
          </a:p>
        </p:txBody>
      </p:sp>
      <p:sp>
        <p:nvSpPr>
          <p:cNvPr id="3" name="Shape 1"/>
          <p:cNvSpPr/>
          <p:nvPr/>
        </p:nvSpPr>
        <p:spPr>
          <a:xfrm>
            <a:off x="685800" y="896112"/>
            <a:ext cx="402336" cy="402336"/>
          </a:xfrm>
          <a:prstGeom prst="ellipse">
            <a:avLst/>
          </a:prstGeom>
          <a:solidFill>
            <a:srgbClr val="2A3242"/>
          </a:solidFill>
          <a:ln w="12700">
            <a:solidFill>
              <a:srgbClr val="2A3242"/>
            </a:solidFill>
            <a:prstDash val="solid"/>
          </a:ln>
        </p:spPr>
      </p:sp>
      <p:sp>
        <p:nvSpPr>
          <p:cNvPr id="4" name="Text 2"/>
          <p:cNvSpPr txBox="1"/>
          <p:nvPr/>
        </p:nvSpPr>
        <p:spPr>
          <a:xfrm>
            <a:off x="685800" y="896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34440" y="841248"/>
            <a:ext cx="8716975" cy="868680"/>
          </a:xfrm>
          <a:prstGeom prst="rect">
            <a:avLst/>
          </a:prstGeom>
          <a:noFill/>
          <a:ln/>
        </p:spPr>
        <p:txBody>
          <a:bodyPr wrap="square" lIns="0" tIns="0" rIns="0" bIns="0" rtlCol="0" anchor="ctr"/>
          <a:lstStyle/>
          <a:p>
            <a:pPr indent="0" marL="0">
              <a:lnSpc>
                <a:spcPct val="105000"/>
              </a:lnSpc>
              <a:buNone/>
            </a:pPr>
            <a:r>
              <a:rPr lang="en-US" sz="2300" b="1" dirty="0">
                <a:solidFill>
                  <a:srgbClr val="171B24"/>
                </a:solidFill>
                <a:latin typeface="Cambria" pitchFamily="34" charset="0"/>
                <a:ea typeface="Cambria" pitchFamily="34" charset="-122"/>
                <a:cs typeface="Cambria" pitchFamily="34" charset="-120"/>
              </a:rPr>
              <a:t>No real penalty for breaking a promise</a:t>
            </a:r>
            <a:endParaRPr lang="en-US" sz="2300" dirty="0"/>
          </a:p>
        </p:txBody>
      </p:sp>
      <p:sp>
        <p:nvSpPr>
          <p:cNvPr id="6" name="Shape 4"/>
          <p:cNvSpPr/>
          <p:nvPr/>
        </p:nvSpPr>
        <p:spPr>
          <a:xfrm>
            <a:off x="9997135" y="914400"/>
            <a:ext cx="1280160" cy="384048"/>
          </a:xfrm>
          <a:prstGeom prst="roundRect">
            <a:avLst>
              <a:gd name="adj" fmla="val 50000"/>
            </a:avLst>
          </a:prstGeom>
          <a:solidFill>
            <a:srgbClr val="B23B2E"/>
          </a:solidFill>
          <a:ln w="12700">
            <a:solidFill>
              <a:srgbClr val="B23B2E"/>
            </a:solidFill>
            <a:prstDash val="solid"/>
          </a:ln>
        </p:spPr>
      </p:sp>
      <p:sp>
        <p:nvSpPr>
          <p:cNvPr id="7" name="Text 5"/>
          <p:cNvSpPr txBox="1"/>
          <p:nvPr/>
        </p:nvSpPr>
        <p:spPr>
          <a:xfrm>
            <a:off x="9997135" y="914400"/>
            <a:ext cx="12801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HIGH</a:t>
            </a:r>
            <a:endParaRPr lang="en-US" sz="1300" dirty="0"/>
          </a:p>
        </p:txBody>
      </p:sp>
      <p:sp>
        <p:nvSpPr>
          <p:cNvPr id="8" name="Shape 6"/>
          <p:cNvSpPr/>
          <p:nvPr/>
        </p:nvSpPr>
        <p:spPr>
          <a:xfrm>
            <a:off x="685800" y="1874520"/>
            <a:ext cx="6654359" cy="2011680"/>
          </a:xfrm>
          <a:prstGeom prst="roundRect">
            <a:avLst>
              <a:gd name="adj" fmla="val 3182"/>
            </a:avLst>
          </a:prstGeom>
          <a:solidFill>
            <a:srgbClr val="FFFFFF"/>
          </a:solidFill>
          <a:ln w="12700">
            <a:solidFill>
              <a:srgbClr val="E2E4E8"/>
            </a:solidFill>
            <a:prstDash val="solid"/>
          </a:ln>
        </p:spPr>
      </p:sp>
      <p:sp>
        <p:nvSpPr>
          <p:cNvPr id="9" name="Text 7"/>
          <p:cNvSpPr txBox="1"/>
          <p:nvPr/>
        </p:nvSpPr>
        <p:spPr>
          <a:xfrm>
            <a:off x="960120" y="202082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THE GAP</a:t>
            </a:r>
            <a:endParaRPr lang="en-US" sz="1150" dirty="0"/>
          </a:p>
        </p:txBody>
      </p:sp>
      <p:sp>
        <p:nvSpPr>
          <p:cNvPr id="10" name="Text 8"/>
          <p:cNvSpPr txBox="1"/>
          <p:nvPr/>
        </p:nvSpPr>
        <p:spPr>
          <a:xfrm>
            <a:off x="960120" y="2331720"/>
            <a:ext cx="6105719" cy="138988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The settlement engine can compute a real penalty for under-delivery — the formula works today. But penalty_rate_per_kwh ships hardcoded to zero. A seller who promises 20 kWh and delivers 15 pays nothing extra for the missing 5.</a:t>
            </a:r>
            <a:endParaRPr lang="en-US" sz="1250" dirty="0"/>
          </a:p>
        </p:txBody>
      </p:sp>
      <p:sp>
        <p:nvSpPr>
          <p:cNvPr id="11" name="Shape 9"/>
          <p:cNvSpPr/>
          <p:nvPr/>
        </p:nvSpPr>
        <p:spPr>
          <a:xfrm>
            <a:off x="685800" y="4069080"/>
            <a:ext cx="6654359" cy="2331720"/>
          </a:xfrm>
          <a:prstGeom prst="roundRect">
            <a:avLst>
              <a:gd name="adj" fmla="val 2745"/>
            </a:avLst>
          </a:prstGeom>
          <a:solidFill>
            <a:srgbClr val="FFFFFF"/>
          </a:solidFill>
          <a:ln w="12700">
            <a:solidFill>
              <a:srgbClr val="E2E4E8"/>
            </a:solidFill>
            <a:prstDash val="solid"/>
          </a:ln>
        </p:spPr>
      </p:sp>
      <p:sp>
        <p:nvSpPr>
          <p:cNvPr id="12" name="Text 10"/>
          <p:cNvSpPr txBox="1"/>
          <p:nvPr/>
        </p:nvSpPr>
        <p:spPr>
          <a:xfrm>
            <a:off x="960120" y="421538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CONCEPTUAL FIX</a:t>
            </a:r>
            <a:endParaRPr lang="en-US" sz="1150" dirty="0"/>
          </a:p>
        </p:txBody>
      </p:sp>
      <p:sp>
        <p:nvSpPr>
          <p:cNvPr id="13" name="Text 11"/>
          <p:cNvSpPr txBox="1"/>
          <p:nvPr/>
        </p:nvSpPr>
        <p:spPr>
          <a:xfrm>
            <a:off x="960120" y="4526280"/>
            <a:ext cx="6105719" cy="170992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Make penalty_rate_per_kwh a required field with no safe default for any policy on the production utilityId allow-list. Add a registry-time check that rejects a submission that omits it, or sets it below a SERC-published floor rate.</a:t>
            </a:r>
            <a:endParaRPr lang="en-US" sz="1250" dirty="0"/>
          </a:p>
        </p:txBody>
      </p:sp>
      <p:sp>
        <p:nvSpPr>
          <p:cNvPr id="14" name="Shape 12"/>
          <p:cNvSpPr/>
          <p:nvPr/>
        </p:nvSpPr>
        <p:spPr>
          <a:xfrm>
            <a:off x="7568759" y="1874520"/>
            <a:ext cx="3937137" cy="4526280"/>
          </a:xfrm>
          <a:prstGeom prst="roundRect">
            <a:avLst>
              <a:gd name="adj" fmla="val 1626"/>
            </a:avLst>
          </a:prstGeom>
          <a:solidFill>
            <a:srgbClr val="2A3242"/>
          </a:solidFill>
          <a:ln w="12700">
            <a:solidFill>
              <a:srgbClr val="2A3242"/>
            </a:solidFill>
            <a:prstDash val="solid"/>
          </a:ln>
        </p:spPr>
      </p:sp>
      <p:sp>
        <p:nvSpPr>
          <p:cNvPr id="15" name="Text 13"/>
          <p:cNvSpPr txBox="1"/>
          <p:nvPr/>
        </p:nvSpPr>
        <p:spPr>
          <a:xfrm>
            <a:off x="7843079" y="2075688"/>
            <a:ext cx="3388497" cy="411480"/>
          </a:xfrm>
          <a:prstGeom prst="rect">
            <a:avLst/>
          </a:prstGeom>
          <a:noFill/>
          <a:ln/>
        </p:spPr>
        <p:txBody>
          <a:bodyPr wrap="square" lIns="0" tIns="0" rIns="0" bIns="0" rtlCol="0" anchor="ctr"/>
          <a:lstStyle/>
          <a:p>
            <a:pPr indent="0" marL="0">
              <a:lnSpc>
                <a:spcPct val="110000"/>
              </a:lnSpc>
              <a:buNone/>
            </a:pPr>
            <a:r>
              <a:rPr lang="en-US" sz="1100" b="1" spc="100" kern="0" dirty="0">
                <a:solidFill>
                  <a:srgbClr val="8A94A6"/>
                </a:solidFill>
                <a:latin typeface="Calibri" pitchFamily="34" charset="0"/>
                <a:ea typeface="Calibri" pitchFamily="34" charset="-122"/>
                <a:cs typeface="Calibri" pitchFamily="34" charset="-120"/>
              </a:rPr>
              <a:t>IMPLEMENTATION FEASIBILITY</a:t>
            </a:r>
            <a:endParaRPr lang="en-US" sz="1100" dirty="0"/>
          </a:p>
        </p:txBody>
      </p:sp>
      <p:sp>
        <p:nvSpPr>
          <p:cNvPr id="16" name="Shape 14"/>
          <p:cNvSpPr/>
          <p:nvPr/>
        </p:nvSpPr>
        <p:spPr>
          <a:xfrm>
            <a:off x="7843079" y="2496312"/>
            <a:ext cx="3388497" cy="438912"/>
          </a:xfrm>
          <a:prstGeom prst="roundRect">
            <a:avLst>
              <a:gd name="adj" fmla="val 50000"/>
            </a:avLst>
          </a:prstGeom>
          <a:solidFill>
            <a:srgbClr val="5FC98A"/>
          </a:solidFill>
          <a:ln w="12700">
            <a:solidFill>
              <a:srgbClr val="5FC98A"/>
            </a:solidFill>
            <a:prstDash val="solid"/>
          </a:ln>
        </p:spPr>
      </p:sp>
      <p:sp>
        <p:nvSpPr>
          <p:cNvPr id="17" name="Text 15"/>
          <p:cNvSpPr txBox="1"/>
          <p:nvPr/>
        </p:nvSpPr>
        <p:spPr>
          <a:xfrm>
            <a:off x="7843079" y="2496312"/>
            <a:ext cx="3388497"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EASY</a:t>
            </a:r>
            <a:endParaRPr lang="en-US" sz="1500" dirty="0"/>
          </a:p>
        </p:txBody>
      </p:sp>
      <p:sp>
        <p:nvSpPr>
          <p:cNvPr id="18" name="Text 16"/>
          <p:cNvSpPr txBox="1"/>
          <p:nvPr/>
        </p:nvSpPr>
        <p:spPr>
          <a:xfrm>
            <a:off x="7843079" y="3136392"/>
            <a:ext cx="3388497" cy="1965960"/>
          </a:xfrm>
          <a:prstGeom prst="rect">
            <a:avLst/>
          </a:prstGeom>
          <a:noFill/>
          <a:ln/>
        </p:spPr>
        <p:txBody>
          <a:bodyPr wrap="square" lIns="0" tIns="0" rIns="0" bIns="0" rtlCol="0" anchor="ctr"/>
          <a:lstStyle/>
          <a:p>
            <a:pPr indent="0" marL="0">
              <a:lnSpc>
                <a:spcPct val="125000"/>
              </a:lnSpc>
              <a:buNone/>
            </a:pPr>
            <a:r>
              <a:rPr lang="en-US" sz="1150" dirty="0">
                <a:solidFill>
                  <a:srgbClr val="C3CAD6"/>
                </a:solidFill>
                <a:latin typeface="Calibri" pitchFamily="34" charset="0"/>
                <a:ea typeface="Calibri" pitchFamily="34" charset="-122"/>
                <a:cs typeface="Calibri" pitchFamily="34" charset="-120"/>
              </a:rPr>
              <a:t>Pure validation on top of a formula that already exists and already works. No new external system, no new field type — just removing a default and adding one registry-time check.</a:t>
            </a:r>
            <a:endParaRPr lang="en-US" sz="1150" dirty="0"/>
          </a:p>
        </p:txBody>
      </p:sp>
      <p:sp>
        <p:nvSpPr>
          <p:cNvPr id="19" name="Text 17"/>
          <p:cNvSpPr txBox="1"/>
          <p:nvPr/>
        </p:nvSpPr>
        <p:spPr>
          <a:xfrm>
            <a:off x="7843079" y="5440680"/>
            <a:ext cx="3388497" cy="228600"/>
          </a:xfrm>
          <a:prstGeom prst="rect">
            <a:avLst/>
          </a:prstGeom>
          <a:noFill/>
          <a:ln/>
        </p:spPr>
        <p:txBody>
          <a:bodyPr wrap="square" lIns="0" tIns="0" rIns="0" bIns="0" rtlCol="0" anchor="ctr"/>
          <a:lstStyle/>
          <a:p>
            <a:pPr indent="0" marL="0">
              <a:buNone/>
            </a:pPr>
            <a:r>
              <a:rPr lang="en-US" sz="1000" b="1" spc="100" kern="0" dirty="0">
                <a:solidFill>
                  <a:srgbClr val="8A94A6"/>
                </a:solidFill>
                <a:latin typeface="Calibri" pitchFamily="34" charset="0"/>
                <a:ea typeface="Calibri" pitchFamily="34" charset="-122"/>
                <a:cs typeface="Calibri" pitchFamily="34" charset="-120"/>
              </a:rPr>
              <a:t>REQUIRES</a:t>
            </a:r>
            <a:endParaRPr lang="en-US" sz="1000" dirty="0"/>
          </a:p>
        </p:txBody>
      </p:sp>
      <p:sp>
        <p:nvSpPr>
          <p:cNvPr id="20" name="Text 18"/>
          <p:cNvSpPr txBox="1"/>
          <p:nvPr/>
        </p:nvSpPr>
        <p:spPr>
          <a:xfrm>
            <a:off x="7843079" y="5687568"/>
            <a:ext cx="3388497" cy="621792"/>
          </a:xfrm>
          <a:prstGeom prst="rect">
            <a:avLst/>
          </a:prstGeom>
          <a:noFill/>
          <a:ln/>
        </p:spPr>
        <p:txBody>
          <a:bodyPr wrap="square" lIns="0" tIns="0" rIns="0" bIns="0" rtlCol="0" anchor="ctr"/>
          <a:lstStyle/>
          <a:p>
            <a:pPr indent="0" marL="0">
              <a:lnSpc>
                <a:spcPct val="115000"/>
              </a:lnSpc>
              <a:buNone/>
            </a:pPr>
            <a:r>
              <a:rPr lang="en-US" sz="1100" i="1" dirty="0">
                <a:solidFill>
                  <a:srgbClr val="FFFFFF"/>
                </a:solidFill>
                <a:latin typeface="Calibri" pitchFamily="34" charset="0"/>
                <a:ea typeface="Calibri" pitchFamily="34" charset="-122"/>
                <a:cs typeface="Calibri" pitchFamily="34" charset="-120"/>
              </a:rPr>
              <a:t>Code only + a SERC-published floor rate to check against</a:t>
            </a:r>
            <a:endParaRPr lang="en-US" sz="1100" dirty="0"/>
          </a:p>
        </p:txBody>
      </p:sp>
      <p:sp>
        <p:nvSpPr>
          <p:cNvPr id="21" name="Text 19"/>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01 — The Full Gap Inventory — Gap 1 of 12</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GAP 2 OF 12</a:t>
            </a:r>
            <a:endParaRPr lang="en-US" sz="1300" dirty="0"/>
          </a:p>
        </p:txBody>
      </p:sp>
      <p:sp>
        <p:nvSpPr>
          <p:cNvPr id="3" name="Shape 1"/>
          <p:cNvSpPr/>
          <p:nvPr/>
        </p:nvSpPr>
        <p:spPr>
          <a:xfrm>
            <a:off x="685800" y="896112"/>
            <a:ext cx="402336" cy="402336"/>
          </a:xfrm>
          <a:prstGeom prst="ellipse">
            <a:avLst/>
          </a:prstGeom>
          <a:solidFill>
            <a:srgbClr val="2A3242"/>
          </a:solidFill>
          <a:ln w="12700">
            <a:solidFill>
              <a:srgbClr val="2A3242"/>
            </a:solidFill>
            <a:prstDash val="solid"/>
          </a:ln>
        </p:spPr>
      </p:sp>
      <p:sp>
        <p:nvSpPr>
          <p:cNvPr id="4" name="Text 2"/>
          <p:cNvSpPr txBox="1"/>
          <p:nvPr/>
        </p:nvSpPr>
        <p:spPr>
          <a:xfrm>
            <a:off x="685800" y="896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5" name="Text 3"/>
          <p:cNvSpPr txBox="1"/>
          <p:nvPr/>
        </p:nvSpPr>
        <p:spPr>
          <a:xfrm>
            <a:off x="1234440" y="841248"/>
            <a:ext cx="8716975" cy="868680"/>
          </a:xfrm>
          <a:prstGeom prst="rect">
            <a:avLst/>
          </a:prstGeom>
          <a:noFill/>
          <a:ln/>
        </p:spPr>
        <p:txBody>
          <a:bodyPr wrap="square" lIns="0" tIns="0" rIns="0" bIns="0" rtlCol="0" anchor="ctr"/>
          <a:lstStyle/>
          <a:p>
            <a:pPr indent="0" marL="0">
              <a:lnSpc>
                <a:spcPct val="105000"/>
              </a:lnSpc>
              <a:buNone/>
            </a:pPr>
            <a:r>
              <a:rPr lang="en-US" sz="2300" b="1" dirty="0">
                <a:solidFill>
                  <a:srgbClr val="171B24"/>
                </a:solidFill>
                <a:latin typeface="Cambria" pitchFamily="34" charset="0"/>
                <a:ea typeface="Cambria" pitchFamily="34" charset="-122"/>
                <a:cs typeface="Cambria" pitchFamily="34" charset="-120"/>
              </a:rPr>
              <a:t>A deal can get stuck forever, and nobody notices</a:t>
            </a:r>
            <a:endParaRPr lang="en-US" sz="2300" dirty="0"/>
          </a:p>
        </p:txBody>
      </p:sp>
      <p:sp>
        <p:nvSpPr>
          <p:cNvPr id="6" name="Shape 4"/>
          <p:cNvSpPr/>
          <p:nvPr/>
        </p:nvSpPr>
        <p:spPr>
          <a:xfrm>
            <a:off x="9997135" y="914400"/>
            <a:ext cx="1280160" cy="384048"/>
          </a:xfrm>
          <a:prstGeom prst="roundRect">
            <a:avLst>
              <a:gd name="adj" fmla="val 50000"/>
            </a:avLst>
          </a:prstGeom>
          <a:solidFill>
            <a:srgbClr val="C07F2A"/>
          </a:solidFill>
          <a:ln w="12700">
            <a:solidFill>
              <a:srgbClr val="C07F2A"/>
            </a:solidFill>
            <a:prstDash val="solid"/>
          </a:ln>
        </p:spPr>
      </p:sp>
      <p:sp>
        <p:nvSpPr>
          <p:cNvPr id="7" name="Text 5"/>
          <p:cNvSpPr txBox="1"/>
          <p:nvPr/>
        </p:nvSpPr>
        <p:spPr>
          <a:xfrm>
            <a:off x="9997135" y="914400"/>
            <a:ext cx="12801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MEDIUM</a:t>
            </a:r>
            <a:endParaRPr lang="en-US" sz="1300" dirty="0"/>
          </a:p>
        </p:txBody>
      </p:sp>
      <p:sp>
        <p:nvSpPr>
          <p:cNvPr id="8" name="Shape 6"/>
          <p:cNvSpPr/>
          <p:nvPr/>
        </p:nvSpPr>
        <p:spPr>
          <a:xfrm>
            <a:off x="685800" y="1874520"/>
            <a:ext cx="6654359" cy="2011680"/>
          </a:xfrm>
          <a:prstGeom prst="roundRect">
            <a:avLst>
              <a:gd name="adj" fmla="val 3182"/>
            </a:avLst>
          </a:prstGeom>
          <a:solidFill>
            <a:srgbClr val="FFFFFF"/>
          </a:solidFill>
          <a:ln w="12700">
            <a:solidFill>
              <a:srgbClr val="E2E4E8"/>
            </a:solidFill>
            <a:prstDash val="solid"/>
          </a:ln>
        </p:spPr>
      </p:sp>
      <p:sp>
        <p:nvSpPr>
          <p:cNvPr id="9" name="Text 7"/>
          <p:cNvSpPr txBox="1"/>
          <p:nvPr/>
        </p:nvSpPr>
        <p:spPr>
          <a:xfrm>
            <a:off x="960120" y="202082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THE GAP</a:t>
            </a:r>
            <a:endParaRPr lang="en-US" sz="1150" dirty="0"/>
          </a:p>
        </p:txBody>
      </p:sp>
      <p:sp>
        <p:nvSpPr>
          <p:cNvPr id="10" name="Text 8"/>
          <p:cNvSpPr txBox="1"/>
          <p:nvPr/>
        </p:nvSpPr>
        <p:spPr>
          <a:xfrm>
            <a:off x="960120" y="2331720"/>
            <a:ext cx="6105719" cy="138988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Once a trade is confirmed, nothing times it. If the final “here's what actually happened” step never arrives, the contract just sits as ACTIVE forever, with no alert raised for anyone.</a:t>
            </a:r>
            <a:endParaRPr lang="en-US" sz="1250" dirty="0"/>
          </a:p>
        </p:txBody>
      </p:sp>
      <p:sp>
        <p:nvSpPr>
          <p:cNvPr id="11" name="Shape 9"/>
          <p:cNvSpPr/>
          <p:nvPr/>
        </p:nvSpPr>
        <p:spPr>
          <a:xfrm>
            <a:off x="685800" y="4069080"/>
            <a:ext cx="6654359" cy="2331720"/>
          </a:xfrm>
          <a:prstGeom prst="roundRect">
            <a:avLst>
              <a:gd name="adj" fmla="val 2745"/>
            </a:avLst>
          </a:prstGeom>
          <a:solidFill>
            <a:srgbClr val="FFFFFF"/>
          </a:solidFill>
          <a:ln w="12700">
            <a:solidFill>
              <a:srgbClr val="E2E4E8"/>
            </a:solidFill>
            <a:prstDash val="solid"/>
          </a:ln>
        </p:spPr>
      </p:sp>
      <p:sp>
        <p:nvSpPr>
          <p:cNvPr id="12" name="Text 10"/>
          <p:cNvSpPr txBox="1"/>
          <p:nvPr/>
        </p:nvSpPr>
        <p:spPr>
          <a:xfrm>
            <a:off x="960120" y="421538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CONCEPTUAL FIX</a:t>
            </a:r>
            <a:endParaRPr lang="en-US" sz="1150" dirty="0"/>
          </a:p>
        </p:txBody>
      </p:sp>
      <p:sp>
        <p:nvSpPr>
          <p:cNvPr id="13" name="Text 11"/>
          <p:cNvSpPr txBox="1"/>
          <p:nvPr/>
        </p:nvSpPr>
        <p:spPr>
          <a:xfrm>
            <a:off x="960120" y="4526280"/>
            <a:ext cx="6105719" cy="170992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Add a settlementDeadline timestamp, set automatically at confirm time. A new network-policy rule flags any contract still ACTIVE past its own deadline into a named SETTLEMENT_TIMEOUT state.</a:t>
            </a:r>
            <a:endParaRPr lang="en-US" sz="1250" dirty="0"/>
          </a:p>
        </p:txBody>
      </p:sp>
      <p:sp>
        <p:nvSpPr>
          <p:cNvPr id="14" name="Shape 12"/>
          <p:cNvSpPr/>
          <p:nvPr/>
        </p:nvSpPr>
        <p:spPr>
          <a:xfrm>
            <a:off x="7568759" y="1874520"/>
            <a:ext cx="3937137" cy="4526280"/>
          </a:xfrm>
          <a:prstGeom prst="roundRect">
            <a:avLst>
              <a:gd name="adj" fmla="val 1626"/>
            </a:avLst>
          </a:prstGeom>
          <a:solidFill>
            <a:srgbClr val="2A3242"/>
          </a:solidFill>
          <a:ln w="12700">
            <a:solidFill>
              <a:srgbClr val="2A3242"/>
            </a:solidFill>
            <a:prstDash val="solid"/>
          </a:ln>
        </p:spPr>
      </p:sp>
      <p:sp>
        <p:nvSpPr>
          <p:cNvPr id="15" name="Text 13"/>
          <p:cNvSpPr txBox="1"/>
          <p:nvPr/>
        </p:nvSpPr>
        <p:spPr>
          <a:xfrm>
            <a:off x="7843079" y="2075688"/>
            <a:ext cx="3388497" cy="411480"/>
          </a:xfrm>
          <a:prstGeom prst="rect">
            <a:avLst/>
          </a:prstGeom>
          <a:noFill/>
          <a:ln/>
        </p:spPr>
        <p:txBody>
          <a:bodyPr wrap="square" lIns="0" tIns="0" rIns="0" bIns="0" rtlCol="0" anchor="ctr"/>
          <a:lstStyle/>
          <a:p>
            <a:pPr indent="0" marL="0">
              <a:lnSpc>
                <a:spcPct val="110000"/>
              </a:lnSpc>
              <a:buNone/>
            </a:pPr>
            <a:r>
              <a:rPr lang="en-US" sz="1100" b="1" spc="100" kern="0" dirty="0">
                <a:solidFill>
                  <a:srgbClr val="8A94A6"/>
                </a:solidFill>
                <a:latin typeface="Calibri" pitchFamily="34" charset="0"/>
                <a:ea typeface="Calibri" pitchFamily="34" charset="-122"/>
                <a:cs typeface="Calibri" pitchFamily="34" charset="-120"/>
              </a:rPr>
              <a:t>IMPLEMENTATION FEASIBILITY</a:t>
            </a:r>
            <a:endParaRPr lang="en-US" sz="1100" dirty="0"/>
          </a:p>
        </p:txBody>
      </p:sp>
      <p:sp>
        <p:nvSpPr>
          <p:cNvPr id="16" name="Shape 14"/>
          <p:cNvSpPr/>
          <p:nvPr/>
        </p:nvSpPr>
        <p:spPr>
          <a:xfrm>
            <a:off x="7843079" y="2496312"/>
            <a:ext cx="3388497" cy="438912"/>
          </a:xfrm>
          <a:prstGeom prst="roundRect">
            <a:avLst>
              <a:gd name="adj" fmla="val 50000"/>
            </a:avLst>
          </a:prstGeom>
          <a:solidFill>
            <a:srgbClr val="5FC98A"/>
          </a:solidFill>
          <a:ln w="12700">
            <a:solidFill>
              <a:srgbClr val="5FC98A"/>
            </a:solidFill>
            <a:prstDash val="solid"/>
          </a:ln>
        </p:spPr>
      </p:sp>
      <p:sp>
        <p:nvSpPr>
          <p:cNvPr id="17" name="Text 15"/>
          <p:cNvSpPr txBox="1"/>
          <p:nvPr/>
        </p:nvSpPr>
        <p:spPr>
          <a:xfrm>
            <a:off x="7843079" y="2496312"/>
            <a:ext cx="3388497"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EASY</a:t>
            </a:r>
            <a:endParaRPr lang="en-US" sz="1500" dirty="0"/>
          </a:p>
        </p:txBody>
      </p:sp>
      <p:sp>
        <p:nvSpPr>
          <p:cNvPr id="18" name="Text 16"/>
          <p:cNvSpPr txBox="1"/>
          <p:nvPr/>
        </p:nvSpPr>
        <p:spPr>
          <a:xfrm>
            <a:off x="7843079" y="3136392"/>
            <a:ext cx="3388497" cy="1965960"/>
          </a:xfrm>
          <a:prstGeom prst="rect">
            <a:avLst/>
          </a:prstGeom>
          <a:noFill/>
          <a:ln/>
        </p:spPr>
        <p:txBody>
          <a:bodyPr wrap="square" lIns="0" tIns="0" rIns="0" bIns="0" rtlCol="0" anchor="ctr"/>
          <a:lstStyle/>
          <a:p>
            <a:pPr indent="0" marL="0">
              <a:lnSpc>
                <a:spcPct val="125000"/>
              </a:lnSpc>
              <a:buNone/>
            </a:pPr>
            <a:r>
              <a:rPr lang="en-US" sz="1150" dirty="0">
                <a:solidFill>
                  <a:srgbClr val="C3CAD6"/>
                </a:solidFill>
                <a:latin typeface="Calibri" pitchFamily="34" charset="0"/>
                <a:ea typeface="Calibri" pitchFamily="34" charset="-122"/>
                <a:cs typeface="Calibri" pitchFamily="34" charset="-120"/>
              </a:rPr>
              <a:t>A new field plus one new rule inside the existing contract/rego framework. No new infrastructure — the same daily meter-pull job pattern already running can carry the check.</a:t>
            </a:r>
            <a:endParaRPr lang="en-US" sz="1150" dirty="0"/>
          </a:p>
        </p:txBody>
      </p:sp>
      <p:sp>
        <p:nvSpPr>
          <p:cNvPr id="19" name="Text 17"/>
          <p:cNvSpPr txBox="1"/>
          <p:nvPr/>
        </p:nvSpPr>
        <p:spPr>
          <a:xfrm>
            <a:off x="7843079" y="5440680"/>
            <a:ext cx="3388497" cy="228600"/>
          </a:xfrm>
          <a:prstGeom prst="rect">
            <a:avLst/>
          </a:prstGeom>
          <a:noFill/>
          <a:ln/>
        </p:spPr>
        <p:txBody>
          <a:bodyPr wrap="square" lIns="0" tIns="0" rIns="0" bIns="0" rtlCol="0" anchor="ctr"/>
          <a:lstStyle/>
          <a:p>
            <a:pPr indent="0" marL="0">
              <a:buNone/>
            </a:pPr>
            <a:r>
              <a:rPr lang="en-US" sz="1000" b="1" spc="100" kern="0" dirty="0">
                <a:solidFill>
                  <a:srgbClr val="8A94A6"/>
                </a:solidFill>
                <a:latin typeface="Calibri" pitchFamily="34" charset="0"/>
                <a:ea typeface="Calibri" pitchFamily="34" charset="-122"/>
                <a:cs typeface="Calibri" pitchFamily="34" charset="-120"/>
              </a:rPr>
              <a:t>REQUIRES</a:t>
            </a:r>
            <a:endParaRPr lang="en-US" sz="1000" dirty="0"/>
          </a:p>
        </p:txBody>
      </p:sp>
      <p:sp>
        <p:nvSpPr>
          <p:cNvPr id="20" name="Text 18"/>
          <p:cNvSpPr txBox="1"/>
          <p:nvPr/>
        </p:nvSpPr>
        <p:spPr>
          <a:xfrm>
            <a:off x="7843079" y="5687568"/>
            <a:ext cx="3388497" cy="621792"/>
          </a:xfrm>
          <a:prstGeom prst="rect">
            <a:avLst/>
          </a:prstGeom>
          <a:noFill/>
          <a:ln/>
        </p:spPr>
        <p:txBody>
          <a:bodyPr wrap="square" lIns="0" tIns="0" rIns="0" bIns="0" rtlCol="0" anchor="ctr"/>
          <a:lstStyle/>
          <a:p>
            <a:pPr indent="0" marL="0">
              <a:lnSpc>
                <a:spcPct val="115000"/>
              </a:lnSpc>
              <a:buNone/>
            </a:pPr>
            <a:r>
              <a:rPr lang="en-US" sz="1100" i="1" dirty="0">
                <a:solidFill>
                  <a:srgbClr val="FFFFFF"/>
                </a:solidFill>
                <a:latin typeface="Calibri" pitchFamily="34" charset="0"/>
                <a:ea typeface="Calibri" pitchFamily="34" charset="-122"/>
                <a:cs typeface="Calibri" pitchFamily="34" charset="-120"/>
              </a:rPr>
              <a:t>Code only</a:t>
            </a:r>
            <a:endParaRPr lang="en-US" sz="1100" dirty="0"/>
          </a:p>
        </p:txBody>
      </p:sp>
      <p:sp>
        <p:nvSpPr>
          <p:cNvPr id="21" name="Text 19"/>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01 — The Full Gap Inventory — Gap 2 of 12</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GAP 3 OF 12</a:t>
            </a:r>
            <a:endParaRPr lang="en-US" sz="1300" dirty="0"/>
          </a:p>
        </p:txBody>
      </p:sp>
      <p:sp>
        <p:nvSpPr>
          <p:cNvPr id="3" name="Shape 1"/>
          <p:cNvSpPr/>
          <p:nvPr/>
        </p:nvSpPr>
        <p:spPr>
          <a:xfrm>
            <a:off x="685800" y="896112"/>
            <a:ext cx="402336" cy="402336"/>
          </a:xfrm>
          <a:prstGeom prst="ellipse">
            <a:avLst/>
          </a:prstGeom>
          <a:solidFill>
            <a:srgbClr val="2A3242"/>
          </a:solidFill>
          <a:ln w="12700">
            <a:solidFill>
              <a:srgbClr val="2A3242"/>
            </a:solidFill>
            <a:prstDash val="solid"/>
          </a:ln>
        </p:spPr>
      </p:sp>
      <p:sp>
        <p:nvSpPr>
          <p:cNvPr id="4" name="Text 2"/>
          <p:cNvSpPr txBox="1"/>
          <p:nvPr/>
        </p:nvSpPr>
        <p:spPr>
          <a:xfrm>
            <a:off x="685800" y="896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5" name="Text 3"/>
          <p:cNvSpPr txBox="1"/>
          <p:nvPr/>
        </p:nvSpPr>
        <p:spPr>
          <a:xfrm>
            <a:off x="1234440" y="841248"/>
            <a:ext cx="8716975" cy="868680"/>
          </a:xfrm>
          <a:prstGeom prst="rect">
            <a:avLst/>
          </a:prstGeom>
          <a:noFill/>
          <a:ln/>
        </p:spPr>
        <p:txBody>
          <a:bodyPr wrap="square" lIns="0" tIns="0" rIns="0" bIns="0" rtlCol="0" anchor="ctr"/>
          <a:lstStyle/>
          <a:p>
            <a:pPr indent="0" marL="0">
              <a:lnSpc>
                <a:spcPct val="105000"/>
              </a:lnSpc>
              <a:buNone/>
            </a:pPr>
            <a:r>
              <a:rPr lang="en-US" sz="2300" b="1" dirty="0">
                <a:solidFill>
                  <a:srgbClr val="171B24"/>
                </a:solidFill>
                <a:latin typeface="Cambria" pitchFamily="34" charset="0"/>
                <a:ea typeface="Cambria" pitchFamily="34" charset="-122"/>
                <a:cs typeface="Cambria" pitchFamily="34" charset="-120"/>
              </a:rPr>
              <a:t>No way to dispute a meter reading</a:t>
            </a:r>
            <a:endParaRPr lang="en-US" sz="2300" dirty="0"/>
          </a:p>
        </p:txBody>
      </p:sp>
      <p:sp>
        <p:nvSpPr>
          <p:cNvPr id="6" name="Shape 4"/>
          <p:cNvSpPr/>
          <p:nvPr/>
        </p:nvSpPr>
        <p:spPr>
          <a:xfrm>
            <a:off x="9997135" y="914400"/>
            <a:ext cx="1280160" cy="384048"/>
          </a:xfrm>
          <a:prstGeom prst="roundRect">
            <a:avLst>
              <a:gd name="adj" fmla="val 50000"/>
            </a:avLst>
          </a:prstGeom>
          <a:solidFill>
            <a:srgbClr val="C07F2A"/>
          </a:solidFill>
          <a:ln w="12700">
            <a:solidFill>
              <a:srgbClr val="C07F2A"/>
            </a:solidFill>
            <a:prstDash val="solid"/>
          </a:ln>
        </p:spPr>
      </p:sp>
      <p:sp>
        <p:nvSpPr>
          <p:cNvPr id="7" name="Text 5"/>
          <p:cNvSpPr txBox="1"/>
          <p:nvPr/>
        </p:nvSpPr>
        <p:spPr>
          <a:xfrm>
            <a:off x="9997135" y="914400"/>
            <a:ext cx="12801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MEDIUM</a:t>
            </a:r>
            <a:endParaRPr lang="en-US" sz="1300" dirty="0"/>
          </a:p>
        </p:txBody>
      </p:sp>
      <p:sp>
        <p:nvSpPr>
          <p:cNvPr id="8" name="Shape 6"/>
          <p:cNvSpPr/>
          <p:nvPr/>
        </p:nvSpPr>
        <p:spPr>
          <a:xfrm>
            <a:off x="685800" y="1874520"/>
            <a:ext cx="6654359" cy="2011680"/>
          </a:xfrm>
          <a:prstGeom prst="roundRect">
            <a:avLst>
              <a:gd name="adj" fmla="val 3182"/>
            </a:avLst>
          </a:prstGeom>
          <a:solidFill>
            <a:srgbClr val="FFFFFF"/>
          </a:solidFill>
          <a:ln w="12700">
            <a:solidFill>
              <a:srgbClr val="E2E4E8"/>
            </a:solidFill>
            <a:prstDash val="solid"/>
          </a:ln>
        </p:spPr>
      </p:sp>
      <p:sp>
        <p:nvSpPr>
          <p:cNvPr id="9" name="Text 7"/>
          <p:cNvSpPr txBox="1"/>
          <p:nvPr/>
        </p:nvSpPr>
        <p:spPr>
          <a:xfrm>
            <a:off x="960120" y="202082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THE GAP</a:t>
            </a:r>
            <a:endParaRPr lang="en-US" sz="1150" dirty="0"/>
          </a:p>
        </p:txBody>
      </p:sp>
      <p:sp>
        <p:nvSpPr>
          <p:cNvPr id="10" name="Text 8"/>
          <p:cNvSpPr txBox="1"/>
          <p:nvPr/>
        </p:nvSpPr>
        <p:spPr>
          <a:xfrm>
            <a:off x="960120" y="2331720"/>
            <a:ext cx="6105719" cy="138988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The seller's reported delivery is simply trusted. If the buyer thinks the number is wrong, there is currently no button to press and no process to start — it's final the moment it's reported.</a:t>
            </a:r>
            <a:endParaRPr lang="en-US" sz="1250" dirty="0"/>
          </a:p>
        </p:txBody>
      </p:sp>
      <p:sp>
        <p:nvSpPr>
          <p:cNvPr id="11" name="Shape 9"/>
          <p:cNvSpPr/>
          <p:nvPr/>
        </p:nvSpPr>
        <p:spPr>
          <a:xfrm>
            <a:off x="685800" y="4069080"/>
            <a:ext cx="6654359" cy="2331720"/>
          </a:xfrm>
          <a:prstGeom prst="roundRect">
            <a:avLst>
              <a:gd name="adj" fmla="val 2745"/>
            </a:avLst>
          </a:prstGeom>
          <a:solidFill>
            <a:srgbClr val="FFFFFF"/>
          </a:solidFill>
          <a:ln w="12700">
            <a:solidFill>
              <a:srgbClr val="E2E4E8"/>
            </a:solidFill>
            <a:prstDash val="solid"/>
          </a:ln>
        </p:spPr>
      </p:sp>
      <p:sp>
        <p:nvSpPr>
          <p:cNvPr id="12" name="Text 10"/>
          <p:cNvSpPr txBox="1"/>
          <p:nvPr/>
        </p:nvSpPr>
        <p:spPr>
          <a:xfrm>
            <a:off x="960120" y="421538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CONCEPTUAL FIX</a:t>
            </a:r>
            <a:endParaRPr lang="en-US" sz="1150" dirty="0"/>
          </a:p>
        </p:txBody>
      </p:sp>
      <p:sp>
        <p:nvSpPr>
          <p:cNvPr id="13" name="Text 11"/>
          <p:cNvSpPr txBox="1"/>
          <p:nvPr/>
        </p:nvSpPr>
        <p:spPr>
          <a:xfrm>
            <a:off x="960120" y="4526280"/>
            <a:ext cx="6105719" cy="170992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Add a disputeStatus object to the settlement record, with resolutionRef pointing at a case number in the SERC's own existing consumer-grievance system — deliberately no new resolution engine invented.</a:t>
            </a:r>
            <a:endParaRPr lang="en-US" sz="1250" dirty="0"/>
          </a:p>
        </p:txBody>
      </p:sp>
      <p:sp>
        <p:nvSpPr>
          <p:cNvPr id="14" name="Shape 12"/>
          <p:cNvSpPr/>
          <p:nvPr/>
        </p:nvSpPr>
        <p:spPr>
          <a:xfrm>
            <a:off x="7568759" y="1874520"/>
            <a:ext cx="3937137" cy="4526280"/>
          </a:xfrm>
          <a:prstGeom prst="roundRect">
            <a:avLst>
              <a:gd name="adj" fmla="val 1626"/>
            </a:avLst>
          </a:prstGeom>
          <a:solidFill>
            <a:srgbClr val="2A3242"/>
          </a:solidFill>
          <a:ln w="12700">
            <a:solidFill>
              <a:srgbClr val="2A3242"/>
            </a:solidFill>
            <a:prstDash val="solid"/>
          </a:ln>
        </p:spPr>
      </p:sp>
      <p:sp>
        <p:nvSpPr>
          <p:cNvPr id="15" name="Text 13"/>
          <p:cNvSpPr txBox="1"/>
          <p:nvPr/>
        </p:nvSpPr>
        <p:spPr>
          <a:xfrm>
            <a:off x="7843079" y="2075688"/>
            <a:ext cx="3388497" cy="411480"/>
          </a:xfrm>
          <a:prstGeom prst="rect">
            <a:avLst/>
          </a:prstGeom>
          <a:noFill/>
          <a:ln/>
        </p:spPr>
        <p:txBody>
          <a:bodyPr wrap="square" lIns="0" tIns="0" rIns="0" bIns="0" rtlCol="0" anchor="ctr"/>
          <a:lstStyle/>
          <a:p>
            <a:pPr indent="0" marL="0">
              <a:lnSpc>
                <a:spcPct val="110000"/>
              </a:lnSpc>
              <a:buNone/>
            </a:pPr>
            <a:r>
              <a:rPr lang="en-US" sz="1100" b="1" spc="100" kern="0" dirty="0">
                <a:solidFill>
                  <a:srgbClr val="8A94A6"/>
                </a:solidFill>
                <a:latin typeface="Calibri" pitchFamily="34" charset="0"/>
                <a:ea typeface="Calibri" pitchFamily="34" charset="-122"/>
                <a:cs typeface="Calibri" pitchFamily="34" charset="-120"/>
              </a:rPr>
              <a:t>IMPLEMENTATION FEASIBILITY</a:t>
            </a:r>
            <a:endParaRPr lang="en-US" sz="1100" dirty="0"/>
          </a:p>
        </p:txBody>
      </p:sp>
      <p:sp>
        <p:nvSpPr>
          <p:cNvPr id="16" name="Shape 14"/>
          <p:cNvSpPr/>
          <p:nvPr/>
        </p:nvSpPr>
        <p:spPr>
          <a:xfrm>
            <a:off x="7843079" y="2496312"/>
            <a:ext cx="3388497" cy="438912"/>
          </a:xfrm>
          <a:prstGeom prst="roundRect">
            <a:avLst>
              <a:gd name="adj" fmla="val 50000"/>
            </a:avLst>
          </a:prstGeom>
          <a:solidFill>
            <a:srgbClr val="C07F2A"/>
          </a:solidFill>
          <a:ln w="12700">
            <a:solidFill>
              <a:srgbClr val="C07F2A"/>
            </a:solidFill>
            <a:prstDash val="solid"/>
          </a:ln>
        </p:spPr>
      </p:sp>
      <p:sp>
        <p:nvSpPr>
          <p:cNvPr id="17" name="Text 15"/>
          <p:cNvSpPr txBox="1"/>
          <p:nvPr/>
        </p:nvSpPr>
        <p:spPr>
          <a:xfrm>
            <a:off x="7843079" y="2496312"/>
            <a:ext cx="3388497"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MEDIUM</a:t>
            </a:r>
            <a:endParaRPr lang="en-US" sz="1500" dirty="0"/>
          </a:p>
        </p:txBody>
      </p:sp>
      <p:sp>
        <p:nvSpPr>
          <p:cNvPr id="18" name="Text 16"/>
          <p:cNvSpPr txBox="1"/>
          <p:nvPr/>
        </p:nvSpPr>
        <p:spPr>
          <a:xfrm>
            <a:off x="7843079" y="3136392"/>
            <a:ext cx="3388497" cy="1965960"/>
          </a:xfrm>
          <a:prstGeom prst="rect">
            <a:avLst/>
          </a:prstGeom>
          <a:noFill/>
          <a:ln/>
        </p:spPr>
        <p:txBody>
          <a:bodyPr wrap="square" lIns="0" tIns="0" rIns="0" bIns="0" rtlCol="0" anchor="ctr"/>
          <a:lstStyle/>
          <a:p>
            <a:pPr indent="0" marL="0">
              <a:lnSpc>
                <a:spcPct val="125000"/>
              </a:lnSpc>
              <a:buNone/>
            </a:pPr>
            <a:r>
              <a:rPr lang="en-US" sz="1150" dirty="0">
                <a:solidFill>
                  <a:srgbClr val="C3CAD6"/>
                </a:solidFill>
                <a:latin typeface="Calibri" pitchFamily="34" charset="0"/>
                <a:ea typeface="Calibri" pitchFamily="34" charset="-122"/>
                <a:cs typeface="Calibri" pitchFamily="34" charset="-120"/>
              </a:rPr>
              <a:t>The field itself is trivial. The real resolution step depends on each SERC's grievance system actually existing, being reachable, and accepting this case type — outside this codebase's control.</a:t>
            </a:r>
            <a:endParaRPr lang="en-US" sz="1150" dirty="0"/>
          </a:p>
        </p:txBody>
      </p:sp>
      <p:sp>
        <p:nvSpPr>
          <p:cNvPr id="19" name="Text 17"/>
          <p:cNvSpPr txBox="1"/>
          <p:nvPr/>
        </p:nvSpPr>
        <p:spPr>
          <a:xfrm>
            <a:off x="7843079" y="5440680"/>
            <a:ext cx="3388497" cy="228600"/>
          </a:xfrm>
          <a:prstGeom prst="rect">
            <a:avLst/>
          </a:prstGeom>
          <a:noFill/>
          <a:ln/>
        </p:spPr>
        <p:txBody>
          <a:bodyPr wrap="square" lIns="0" tIns="0" rIns="0" bIns="0" rtlCol="0" anchor="ctr"/>
          <a:lstStyle/>
          <a:p>
            <a:pPr indent="0" marL="0">
              <a:buNone/>
            </a:pPr>
            <a:r>
              <a:rPr lang="en-US" sz="1000" b="1" spc="100" kern="0" dirty="0">
                <a:solidFill>
                  <a:srgbClr val="8A94A6"/>
                </a:solidFill>
                <a:latin typeface="Calibri" pitchFamily="34" charset="0"/>
                <a:ea typeface="Calibri" pitchFamily="34" charset="-122"/>
                <a:cs typeface="Calibri" pitchFamily="34" charset="-120"/>
              </a:rPr>
              <a:t>REQUIRES</a:t>
            </a:r>
            <a:endParaRPr lang="en-US" sz="1000" dirty="0"/>
          </a:p>
        </p:txBody>
      </p:sp>
      <p:sp>
        <p:nvSpPr>
          <p:cNvPr id="20" name="Text 18"/>
          <p:cNvSpPr txBox="1"/>
          <p:nvPr/>
        </p:nvSpPr>
        <p:spPr>
          <a:xfrm>
            <a:off x="7843079" y="5687568"/>
            <a:ext cx="3388497" cy="621792"/>
          </a:xfrm>
          <a:prstGeom prst="rect">
            <a:avLst/>
          </a:prstGeom>
          <a:noFill/>
          <a:ln/>
        </p:spPr>
        <p:txBody>
          <a:bodyPr wrap="square" lIns="0" tIns="0" rIns="0" bIns="0" rtlCol="0" anchor="ctr"/>
          <a:lstStyle/>
          <a:p>
            <a:pPr indent="0" marL="0">
              <a:lnSpc>
                <a:spcPct val="115000"/>
              </a:lnSpc>
              <a:buNone/>
            </a:pPr>
            <a:r>
              <a:rPr lang="en-US" sz="1100" i="1" dirty="0">
                <a:solidFill>
                  <a:srgbClr val="FFFFFF"/>
                </a:solidFill>
                <a:latin typeface="Calibri" pitchFamily="34" charset="0"/>
                <a:ea typeface="Calibri" pitchFamily="34" charset="-122"/>
                <a:cs typeface="Calibri" pitchFamily="34" charset="-120"/>
              </a:rPr>
              <a:t>Code + a working link into each SERC's own grievance system</a:t>
            </a:r>
            <a:endParaRPr lang="en-US" sz="1100" dirty="0"/>
          </a:p>
        </p:txBody>
      </p:sp>
      <p:sp>
        <p:nvSpPr>
          <p:cNvPr id="21" name="Text 19"/>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01 — The Full Gap Inventory — Gap 3 of 12</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GAP 4 OF 12</a:t>
            </a:r>
            <a:endParaRPr lang="en-US" sz="1300" dirty="0"/>
          </a:p>
        </p:txBody>
      </p:sp>
      <p:sp>
        <p:nvSpPr>
          <p:cNvPr id="3" name="Shape 1"/>
          <p:cNvSpPr/>
          <p:nvPr/>
        </p:nvSpPr>
        <p:spPr>
          <a:xfrm>
            <a:off x="685800" y="896112"/>
            <a:ext cx="402336" cy="402336"/>
          </a:xfrm>
          <a:prstGeom prst="ellipse">
            <a:avLst/>
          </a:prstGeom>
          <a:solidFill>
            <a:srgbClr val="2A3242"/>
          </a:solidFill>
          <a:ln w="12700">
            <a:solidFill>
              <a:srgbClr val="2A3242"/>
            </a:solidFill>
            <a:prstDash val="solid"/>
          </a:ln>
        </p:spPr>
      </p:sp>
      <p:sp>
        <p:nvSpPr>
          <p:cNvPr id="4" name="Text 2"/>
          <p:cNvSpPr txBox="1"/>
          <p:nvPr/>
        </p:nvSpPr>
        <p:spPr>
          <a:xfrm>
            <a:off x="685800" y="896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5" name="Text 3"/>
          <p:cNvSpPr txBox="1"/>
          <p:nvPr/>
        </p:nvSpPr>
        <p:spPr>
          <a:xfrm>
            <a:off x="1234440" y="841248"/>
            <a:ext cx="8716975" cy="868680"/>
          </a:xfrm>
          <a:prstGeom prst="rect">
            <a:avLst/>
          </a:prstGeom>
          <a:noFill/>
          <a:ln/>
        </p:spPr>
        <p:txBody>
          <a:bodyPr wrap="square" lIns="0" tIns="0" rIns="0" bIns="0" rtlCol="0" anchor="ctr"/>
          <a:lstStyle/>
          <a:p>
            <a:pPr indent="0" marL="0">
              <a:lnSpc>
                <a:spcPct val="105000"/>
              </a:lnSpc>
              <a:buNone/>
            </a:pPr>
            <a:r>
              <a:rPr lang="en-US" sz="2300" b="1" dirty="0">
                <a:solidFill>
                  <a:srgbClr val="171B24"/>
                </a:solidFill>
                <a:latin typeface="Cambria" pitchFamily="34" charset="0"/>
                <a:ea typeface="Cambria" pitchFamily="34" charset="-122"/>
                <a:cs typeface="Cambria" pitchFamily="34" charset="-120"/>
              </a:rPr>
              <a:t>Nothing stops an obviously wrong price</a:t>
            </a:r>
            <a:endParaRPr lang="en-US" sz="2300" dirty="0"/>
          </a:p>
        </p:txBody>
      </p:sp>
      <p:sp>
        <p:nvSpPr>
          <p:cNvPr id="6" name="Shape 4"/>
          <p:cNvSpPr/>
          <p:nvPr/>
        </p:nvSpPr>
        <p:spPr>
          <a:xfrm>
            <a:off x="9997135" y="914400"/>
            <a:ext cx="1280160" cy="384048"/>
          </a:xfrm>
          <a:prstGeom prst="roundRect">
            <a:avLst>
              <a:gd name="adj" fmla="val 50000"/>
            </a:avLst>
          </a:prstGeom>
          <a:solidFill>
            <a:srgbClr val="B23B2E"/>
          </a:solidFill>
          <a:ln w="12700">
            <a:solidFill>
              <a:srgbClr val="B23B2E"/>
            </a:solidFill>
            <a:prstDash val="solid"/>
          </a:ln>
        </p:spPr>
      </p:sp>
      <p:sp>
        <p:nvSpPr>
          <p:cNvPr id="7" name="Text 5"/>
          <p:cNvSpPr txBox="1"/>
          <p:nvPr/>
        </p:nvSpPr>
        <p:spPr>
          <a:xfrm>
            <a:off x="9997135" y="914400"/>
            <a:ext cx="12801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HIGH</a:t>
            </a:r>
            <a:endParaRPr lang="en-US" sz="1300" dirty="0"/>
          </a:p>
        </p:txBody>
      </p:sp>
      <p:sp>
        <p:nvSpPr>
          <p:cNvPr id="8" name="Shape 6"/>
          <p:cNvSpPr/>
          <p:nvPr/>
        </p:nvSpPr>
        <p:spPr>
          <a:xfrm>
            <a:off x="685800" y="1874520"/>
            <a:ext cx="6654359" cy="2011680"/>
          </a:xfrm>
          <a:prstGeom prst="roundRect">
            <a:avLst>
              <a:gd name="adj" fmla="val 3182"/>
            </a:avLst>
          </a:prstGeom>
          <a:solidFill>
            <a:srgbClr val="FFFFFF"/>
          </a:solidFill>
          <a:ln w="12700">
            <a:solidFill>
              <a:srgbClr val="E2E4E8"/>
            </a:solidFill>
            <a:prstDash val="solid"/>
          </a:ln>
        </p:spPr>
      </p:sp>
      <p:sp>
        <p:nvSpPr>
          <p:cNvPr id="9" name="Text 7"/>
          <p:cNvSpPr txBox="1"/>
          <p:nvPr/>
        </p:nvSpPr>
        <p:spPr>
          <a:xfrm>
            <a:off x="960120" y="202082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THE GAP</a:t>
            </a:r>
            <a:endParaRPr lang="en-US" sz="1150" dirty="0"/>
          </a:p>
        </p:txBody>
      </p:sp>
      <p:sp>
        <p:nvSpPr>
          <p:cNvPr id="10" name="Text 8"/>
          <p:cNvSpPr txBox="1"/>
          <p:nvPr/>
        </p:nvSpPr>
        <p:spPr>
          <a:xfrm>
            <a:off x="960120" y="2331720"/>
            <a:ext cx="6105719" cy="138988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The system checks a price is present and in rupees, but never whether it's reasonable. Now proven live: a real ₹0.01/kWh trade cleared every real check with zero complaints.</a:t>
            </a:r>
            <a:endParaRPr lang="en-US" sz="1250" dirty="0"/>
          </a:p>
        </p:txBody>
      </p:sp>
      <p:sp>
        <p:nvSpPr>
          <p:cNvPr id="11" name="Shape 9"/>
          <p:cNvSpPr/>
          <p:nvPr/>
        </p:nvSpPr>
        <p:spPr>
          <a:xfrm>
            <a:off x="685800" y="4069080"/>
            <a:ext cx="6654359" cy="2331720"/>
          </a:xfrm>
          <a:prstGeom prst="roundRect">
            <a:avLst>
              <a:gd name="adj" fmla="val 2745"/>
            </a:avLst>
          </a:prstGeom>
          <a:solidFill>
            <a:srgbClr val="FFFFFF"/>
          </a:solidFill>
          <a:ln w="12700">
            <a:solidFill>
              <a:srgbClr val="E2E4E8"/>
            </a:solidFill>
            <a:prstDash val="solid"/>
          </a:ln>
        </p:spPr>
      </p:sp>
      <p:sp>
        <p:nvSpPr>
          <p:cNvPr id="12" name="Text 10"/>
          <p:cNvSpPr txBox="1"/>
          <p:nvPr/>
        </p:nvSpPr>
        <p:spPr>
          <a:xfrm>
            <a:off x="960120" y="421538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CONCEPTUAL FIX</a:t>
            </a:r>
            <a:endParaRPr lang="en-US" sz="1150" dirty="0"/>
          </a:p>
        </p:txBody>
      </p:sp>
      <p:sp>
        <p:nvSpPr>
          <p:cNvPr id="13" name="Text 11"/>
          <p:cNvSpPr txBox="1"/>
          <p:nvPr/>
        </p:nvSpPr>
        <p:spPr>
          <a:xfrm>
            <a:off x="960120" y="4526280"/>
            <a:ext cx="6105719" cy="170992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Add a tariffBandRef pointing at a SERC-published min/max band for that area and period, plus one new network-policy rule that rejects any PRICE_PER_KWH outside that band.</a:t>
            </a:r>
            <a:endParaRPr lang="en-US" sz="1250" dirty="0"/>
          </a:p>
        </p:txBody>
      </p:sp>
      <p:sp>
        <p:nvSpPr>
          <p:cNvPr id="14" name="Shape 12"/>
          <p:cNvSpPr/>
          <p:nvPr/>
        </p:nvSpPr>
        <p:spPr>
          <a:xfrm>
            <a:off x="7568759" y="1874520"/>
            <a:ext cx="3937137" cy="4526280"/>
          </a:xfrm>
          <a:prstGeom prst="roundRect">
            <a:avLst>
              <a:gd name="adj" fmla="val 1626"/>
            </a:avLst>
          </a:prstGeom>
          <a:solidFill>
            <a:srgbClr val="2A3242"/>
          </a:solidFill>
          <a:ln w="12700">
            <a:solidFill>
              <a:srgbClr val="2A3242"/>
            </a:solidFill>
            <a:prstDash val="solid"/>
          </a:ln>
        </p:spPr>
      </p:sp>
      <p:sp>
        <p:nvSpPr>
          <p:cNvPr id="15" name="Text 13"/>
          <p:cNvSpPr txBox="1"/>
          <p:nvPr/>
        </p:nvSpPr>
        <p:spPr>
          <a:xfrm>
            <a:off x="7843079" y="2075688"/>
            <a:ext cx="3388497" cy="411480"/>
          </a:xfrm>
          <a:prstGeom prst="rect">
            <a:avLst/>
          </a:prstGeom>
          <a:noFill/>
          <a:ln/>
        </p:spPr>
        <p:txBody>
          <a:bodyPr wrap="square" lIns="0" tIns="0" rIns="0" bIns="0" rtlCol="0" anchor="ctr"/>
          <a:lstStyle/>
          <a:p>
            <a:pPr indent="0" marL="0">
              <a:lnSpc>
                <a:spcPct val="110000"/>
              </a:lnSpc>
              <a:buNone/>
            </a:pPr>
            <a:r>
              <a:rPr lang="en-US" sz="1100" b="1" spc="100" kern="0" dirty="0">
                <a:solidFill>
                  <a:srgbClr val="8A94A6"/>
                </a:solidFill>
                <a:latin typeface="Calibri" pitchFamily="34" charset="0"/>
                <a:ea typeface="Calibri" pitchFamily="34" charset="-122"/>
                <a:cs typeface="Calibri" pitchFamily="34" charset="-120"/>
              </a:rPr>
              <a:t>IMPLEMENTATION FEASIBILITY</a:t>
            </a:r>
            <a:endParaRPr lang="en-US" sz="1100" dirty="0"/>
          </a:p>
        </p:txBody>
      </p:sp>
      <p:sp>
        <p:nvSpPr>
          <p:cNvPr id="16" name="Shape 14"/>
          <p:cNvSpPr/>
          <p:nvPr/>
        </p:nvSpPr>
        <p:spPr>
          <a:xfrm>
            <a:off x="7843079" y="2496312"/>
            <a:ext cx="3388497" cy="438912"/>
          </a:xfrm>
          <a:prstGeom prst="roundRect">
            <a:avLst>
              <a:gd name="adj" fmla="val 50000"/>
            </a:avLst>
          </a:prstGeom>
          <a:solidFill>
            <a:srgbClr val="C07F2A"/>
          </a:solidFill>
          <a:ln w="12700">
            <a:solidFill>
              <a:srgbClr val="C07F2A"/>
            </a:solidFill>
            <a:prstDash val="solid"/>
          </a:ln>
        </p:spPr>
      </p:sp>
      <p:sp>
        <p:nvSpPr>
          <p:cNvPr id="17" name="Text 15"/>
          <p:cNvSpPr txBox="1"/>
          <p:nvPr/>
        </p:nvSpPr>
        <p:spPr>
          <a:xfrm>
            <a:off x="7843079" y="2496312"/>
            <a:ext cx="3388497"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MEDIUM</a:t>
            </a:r>
            <a:endParaRPr lang="en-US" sz="1500" dirty="0"/>
          </a:p>
        </p:txBody>
      </p:sp>
      <p:sp>
        <p:nvSpPr>
          <p:cNvPr id="18" name="Text 16"/>
          <p:cNvSpPr txBox="1"/>
          <p:nvPr/>
        </p:nvSpPr>
        <p:spPr>
          <a:xfrm>
            <a:off x="7843079" y="3136392"/>
            <a:ext cx="3388497" cy="1965960"/>
          </a:xfrm>
          <a:prstGeom prst="rect">
            <a:avLst/>
          </a:prstGeom>
          <a:noFill/>
          <a:ln/>
        </p:spPr>
        <p:txBody>
          <a:bodyPr wrap="square" lIns="0" tIns="0" rIns="0" bIns="0" rtlCol="0" anchor="ctr"/>
          <a:lstStyle/>
          <a:p>
            <a:pPr indent="0" marL="0">
              <a:lnSpc>
                <a:spcPct val="125000"/>
              </a:lnSpc>
              <a:buNone/>
            </a:pPr>
            <a:r>
              <a:rPr lang="en-US" sz="1150" dirty="0">
                <a:solidFill>
                  <a:srgbClr val="C3CAD6"/>
                </a:solidFill>
                <a:latin typeface="Calibri" pitchFamily="34" charset="0"/>
                <a:ea typeface="Calibri" pitchFamily="34" charset="-122"/>
                <a:cs typeface="Calibri" pitchFamily="34" charset="-120"/>
              </a:rPr>
              <a:t>The rule itself is simple. The real blocker is data: a live, machine-readable, per-area tariff band to check against — and prices stay private between counterparties by design, so this has to live at the network-policy layer, not the client.</a:t>
            </a:r>
            <a:endParaRPr lang="en-US" sz="1150" dirty="0"/>
          </a:p>
        </p:txBody>
      </p:sp>
      <p:sp>
        <p:nvSpPr>
          <p:cNvPr id="19" name="Text 17"/>
          <p:cNvSpPr txBox="1"/>
          <p:nvPr/>
        </p:nvSpPr>
        <p:spPr>
          <a:xfrm>
            <a:off x="7843079" y="5440680"/>
            <a:ext cx="3388497" cy="228600"/>
          </a:xfrm>
          <a:prstGeom prst="rect">
            <a:avLst/>
          </a:prstGeom>
          <a:noFill/>
          <a:ln/>
        </p:spPr>
        <p:txBody>
          <a:bodyPr wrap="square" lIns="0" tIns="0" rIns="0" bIns="0" rtlCol="0" anchor="ctr"/>
          <a:lstStyle/>
          <a:p>
            <a:pPr indent="0" marL="0">
              <a:buNone/>
            </a:pPr>
            <a:r>
              <a:rPr lang="en-US" sz="1000" b="1" spc="100" kern="0" dirty="0">
                <a:solidFill>
                  <a:srgbClr val="8A94A6"/>
                </a:solidFill>
                <a:latin typeface="Calibri" pitchFamily="34" charset="0"/>
                <a:ea typeface="Calibri" pitchFamily="34" charset="-122"/>
                <a:cs typeface="Calibri" pitchFamily="34" charset="-120"/>
              </a:rPr>
              <a:t>REQUIRES</a:t>
            </a:r>
            <a:endParaRPr lang="en-US" sz="1000" dirty="0"/>
          </a:p>
        </p:txBody>
      </p:sp>
      <p:sp>
        <p:nvSpPr>
          <p:cNvPr id="20" name="Text 18"/>
          <p:cNvSpPr txBox="1"/>
          <p:nvPr/>
        </p:nvSpPr>
        <p:spPr>
          <a:xfrm>
            <a:off x="7843079" y="5687568"/>
            <a:ext cx="3388497" cy="621792"/>
          </a:xfrm>
          <a:prstGeom prst="rect">
            <a:avLst/>
          </a:prstGeom>
          <a:noFill/>
          <a:ln/>
        </p:spPr>
        <p:txBody>
          <a:bodyPr wrap="square" lIns="0" tIns="0" rIns="0" bIns="0" rtlCol="0" anchor="ctr"/>
          <a:lstStyle/>
          <a:p>
            <a:pPr indent="0" marL="0">
              <a:lnSpc>
                <a:spcPct val="115000"/>
              </a:lnSpc>
              <a:buNone/>
            </a:pPr>
            <a:r>
              <a:rPr lang="en-US" sz="1100" i="1" dirty="0">
                <a:solidFill>
                  <a:srgbClr val="FFFFFF"/>
                </a:solidFill>
                <a:latin typeface="Calibri" pitchFamily="34" charset="0"/>
                <a:ea typeface="Calibri" pitchFamily="34" charset="-122"/>
                <a:cs typeface="Calibri" pitchFamily="34" charset="-120"/>
              </a:rPr>
              <a:t>Code + a real, published, machine-readable tariff-band source</a:t>
            </a:r>
            <a:endParaRPr lang="en-US" sz="1100" dirty="0"/>
          </a:p>
        </p:txBody>
      </p:sp>
      <p:sp>
        <p:nvSpPr>
          <p:cNvPr id="21" name="Text 19"/>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01 — The Full Gap Inventory — Gap 4 of 12</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GAP 5 OF 12</a:t>
            </a:r>
            <a:endParaRPr lang="en-US" sz="1300" dirty="0"/>
          </a:p>
        </p:txBody>
      </p:sp>
      <p:sp>
        <p:nvSpPr>
          <p:cNvPr id="3" name="Shape 1"/>
          <p:cNvSpPr/>
          <p:nvPr/>
        </p:nvSpPr>
        <p:spPr>
          <a:xfrm>
            <a:off x="685800" y="896112"/>
            <a:ext cx="402336" cy="402336"/>
          </a:xfrm>
          <a:prstGeom prst="ellipse">
            <a:avLst/>
          </a:prstGeom>
          <a:solidFill>
            <a:srgbClr val="2A3242"/>
          </a:solidFill>
          <a:ln w="12700">
            <a:solidFill>
              <a:srgbClr val="2A3242"/>
            </a:solidFill>
            <a:prstDash val="solid"/>
          </a:ln>
        </p:spPr>
      </p:sp>
      <p:sp>
        <p:nvSpPr>
          <p:cNvPr id="4" name="Text 2"/>
          <p:cNvSpPr txBox="1"/>
          <p:nvPr/>
        </p:nvSpPr>
        <p:spPr>
          <a:xfrm>
            <a:off x="685800" y="896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5" name="Text 3"/>
          <p:cNvSpPr txBox="1"/>
          <p:nvPr/>
        </p:nvSpPr>
        <p:spPr>
          <a:xfrm>
            <a:off x="1234440" y="841248"/>
            <a:ext cx="8716975" cy="868680"/>
          </a:xfrm>
          <a:prstGeom prst="rect">
            <a:avLst/>
          </a:prstGeom>
          <a:noFill/>
          <a:ln/>
        </p:spPr>
        <p:txBody>
          <a:bodyPr wrap="square" lIns="0" tIns="0" rIns="0" bIns="0" rtlCol="0" anchor="ctr"/>
          <a:lstStyle/>
          <a:p>
            <a:pPr indent="0" marL="0">
              <a:lnSpc>
                <a:spcPct val="105000"/>
              </a:lnSpc>
              <a:buNone/>
            </a:pPr>
            <a:r>
              <a:rPr lang="en-US" sz="2300" b="1" dirty="0">
                <a:solidFill>
                  <a:srgbClr val="171B24"/>
                </a:solidFill>
                <a:latin typeface="Cambria" pitchFamily="34" charset="0"/>
                <a:ea typeface="Cambria" pitchFamily="34" charset="-122"/>
                <a:cs typeface="Cambria" pitchFamily="34" charset="-120"/>
              </a:rPr>
              <a:t>Cancelling a deal has no defined money rules</a:t>
            </a:r>
            <a:endParaRPr lang="en-US" sz="2300" dirty="0"/>
          </a:p>
        </p:txBody>
      </p:sp>
      <p:sp>
        <p:nvSpPr>
          <p:cNvPr id="6" name="Shape 4"/>
          <p:cNvSpPr/>
          <p:nvPr/>
        </p:nvSpPr>
        <p:spPr>
          <a:xfrm>
            <a:off x="9997135" y="914400"/>
            <a:ext cx="1280160" cy="384048"/>
          </a:xfrm>
          <a:prstGeom prst="roundRect">
            <a:avLst>
              <a:gd name="adj" fmla="val 50000"/>
            </a:avLst>
          </a:prstGeom>
          <a:solidFill>
            <a:srgbClr val="C07F2A"/>
          </a:solidFill>
          <a:ln w="12700">
            <a:solidFill>
              <a:srgbClr val="C07F2A"/>
            </a:solidFill>
            <a:prstDash val="solid"/>
          </a:ln>
        </p:spPr>
      </p:sp>
      <p:sp>
        <p:nvSpPr>
          <p:cNvPr id="7" name="Text 5"/>
          <p:cNvSpPr txBox="1"/>
          <p:nvPr/>
        </p:nvSpPr>
        <p:spPr>
          <a:xfrm>
            <a:off x="9997135" y="914400"/>
            <a:ext cx="12801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MEDIUM</a:t>
            </a:r>
            <a:endParaRPr lang="en-US" sz="1300" dirty="0"/>
          </a:p>
        </p:txBody>
      </p:sp>
      <p:sp>
        <p:nvSpPr>
          <p:cNvPr id="8" name="Shape 6"/>
          <p:cNvSpPr/>
          <p:nvPr/>
        </p:nvSpPr>
        <p:spPr>
          <a:xfrm>
            <a:off x="685800" y="1874520"/>
            <a:ext cx="6654359" cy="2011680"/>
          </a:xfrm>
          <a:prstGeom prst="roundRect">
            <a:avLst>
              <a:gd name="adj" fmla="val 3182"/>
            </a:avLst>
          </a:prstGeom>
          <a:solidFill>
            <a:srgbClr val="FFFFFF"/>
          </a:solidFill>
          <a:ln w="12700">
            <a:solidFill>
              <a:srgbClr val="E2E4E8"/>
            </a:solidFill>
            <a:prstDash val="solid"/>
          </a:ln>
        </p:spPr>
      </p:sp>
      <p:sp>
        <p:nvSpPr>
          <p:cNvPr id="9" name="Text 7"/>
          <p:cNvSpPr txBox="1"/>
          <p:nvPr/>
        </p:nvSpPr>
        <p:spPr>
          <a:xfrm>
            <a:off x="960120" y="202082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THE GAP</a:t>
            </a:r>
            <a:endParaRPr lang="en-US" sz="1150" dirty="0"/>
          </a:p>
        </p:txBody>
      </p:sp>
      <p:sp>
        <p:nvSpPr>
          <p:cNvPr id="10" name="Text 8"/>
          <p:cNvSpPr txBox="1"/>
          <p:nvPr/>
        </p:nvSpPr>
        <p:spPr>
          <a:xfrm>
            <a:off x="960120" y="2331720"/>
            <a:ext cx="6105719" cy="138988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Cancel works as a message. But nowhere does it say what happens to the money if a deal is cancelled after some electricity has already been genuinely delivered.</a:t>
            </a:r>
            <a:endParaRPr lang="en-US" sz="1250" dirty="0"/>
          </a:p>
        </p:txBody>
      </p:sp>
      <p:sp>
        <p:nvSpPr>
          <p:cNvPr id="11" name="Shape 9"/>
          <p:cNvSpPr/>
          <p:nvPr/>
        </p:nvSpPr>
        <p:spPr>
          <a:xfrm>
            <a:off x="685800" y="4069080"/>
            <a:ext cx="6654359" cy="2331720"/>
          </a:xfrm>
          <a:prstGeom prst="roundRect">
            <a:avLst>
              <a:gd name="adj" fmla="val 2745"/>
            </a:avLst>
          </a:prstGeom>
          <a:solidFill>
            <a:srgbClr val="FFFFFF"/>
          </a:solidFill>
          <a:ln w="12700">
            <a:solidFill>
              <a:srgbClr val="E2E4E8"/>
            </a:solidFill>
            <a:prstDash val="solid"/>
          </a:ln>
        </p:spPr>
      </p:sp>
      <p:sp>
        <p:nvSpPr>
          <p:cNvPr id="12" name="Text 10"/>
          <p:cNvSpPr txBox="1"/>
          <p:nvPr/>
        </p:nvSpPr>
        <p:spPr>
          <a:xfrm>
            <a:off x="960120" y="421538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CONCEPTUAL FIX</a:t>
            </a:r>
            <a:endParaRPr lang="en-US" sz="1150" dirty="0"/>
          </a:p>
        </p:txBody>
      </p:sp>
      <p:sp>
        <p:nvSpPr>
          <p:cNvPr id="13" name="Text 11"/>
          <p:cNvSpPr txBox="1"/>
          <p:nvPr/>
        </p:nvSpPr>
        <p:spPr>
          <a:xfrm>
            <a:off x="960120" y="4526280"/>
            <a:ext cx="6105719" cy="170992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Add a cancellationSettlement branch that reuses the existing FINAL_ALLOC × PRICE_PER_KWH formula on whatever performance data already exists at cancel time, tagged settlementReason: CANCELLED_PARTIAL.</a:t>
            </a:r>
            <a:endParaRPr lang="en-US" sz="1250" dirty="0"/>
          </a:p>
        </p:txBody>
      </p:sp>
      <p:sp>
        <p:nvSpPr>
          <p:cNvPr id="14" name="Shape 12"/>
          <p:cNvSpPr/>
          <p:nvPr/>
        </p:nvSpPr>
        <p:spPr>
          <a:xfrm>
            <a:off x="7568759" y="1874520"/>
            <a:ext cx="3937137" cy="4526280"/>
          </a:xfrm>
          <a:prstGeom prst="roundRect">
            <a:avLst>
              <a:gd name="adj" fmla="val 1626"/>
            </a:avLst>
          </a:prstGeom>
          <a:solidFill>
            <a:srgbClr val="2A3242"/>
          </a:solidFill>
          <a:ln w="12700">
            <a:solidFill>
              <a:srgbClr val="2A3242"/>
            </a:solidFill>
            <a:prstDash val="solid"/>
          </a:ln>
        </p:spPr>
      </p:sp>
      <p:sp>
        <p:nvSpPr>
          <p:cNvPr id="15" name="Text 13"/>
          <p:cNvSpPr txBox="1"/>
          <p:nvPr/>
        </p:nvSpPr>
        <p:spPr>
          <a:xfrm>
            <a:off x="7843079" y="2075688"/>
            <a:ext cx="3388497" cy="411480"/>
          </a:xfrm>
          <a:prstGeom prst="rect">
            <a:avLst/>
          </a:prstGeom>
          <a:noFill/>
          <a:ln/>
        </p:spPr>
        <p:txBody>
          <a:bodyPr wrap="square" lIns="0" tIns="0" rIns="0" bIns="0" rtlCol="0" anchor="ctr"/>
          <a:lstStyle/>
          <a:p>
            <a:pPr indent="0" marL="0">
              <a:lnSpc>
                <a:spcPct val="110000"/>
              </a:lnSpc>
              <a:buNone/>
            </a:pPr>
            <a:r>
              <a:rPr lang="en-US" sz="1100" b="1" spc="100" kern="0" dirty="0">
                <a:solidFill>
                  <a:srgbClr val="8A94A6"/>
                </a:solidFill>
                <a:latin typeface="Calibri" pitchFamily="34" charset="0"/>
                <a:ea typeface="Calibri" pitchFamily="34" charset="-122"/>
                <a:cs typeface="Calibri" pitchFamily="34" charset="-120"/>
              </a:rPr>
              <a:t>IMPLEMENTATION FEASIBILITY</a:t>
            </a:r>
            <a:endParaRPr lang="en-US" sz="1100" dirty="0"/>
          </a:p>
        </p:txBody>
      </p:sp>
      <p:sp>
        <p:nvSpPr>
          <p:cNvPr id="16" name="Shape 14"/>
          <p:cNvSpPr/>
          <p:nvPr/>
        </p:nvSpPr>
        <p:spPr>
          <a:xfrm>
            <a:off x="7843079" y="2496312"/>
            <a:ext cx="3388497" cy="438912"/>
          </a:xfrm>
          <a:prstGeom prst="roundRect">
            <a:avLst>
              <a:gd name="adj" fmla="val 50000"/>
            </a:avLst>
          </a:prstGeom>
          <a:solidFill>
            <a:srgbClr val="5FC98A"/>
          </a:solidFill>
          <a:ln w="12700">
            <a:solidFill>
              <a:srgbClr val="5FC98A"/>
            </a:solidFill>
            <a:prstDash val="solid"/>
          </a:ln>
        </p:spPr>
      </p:sp>
      <p:sp>
        <p:nvSpPr>
          <p:cNvPr id="17" name="Text 15"/>
          <p:cNvSpPr txBox="1"/>
          <p:nvPr/>
        </p:nvSpPr>
        <p:spPr>
          <a:xfrm>
            <a:off x="7843079" y="2496312"/>
            <a:ext cx="3388497"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EASY</a:t>
            </a:r>
            <a:endParaRPr lang="en-US" sz="1500" dirty="0"/>
          </a:p>
        </p:txBody>
      </p:sp>
      <p:sp>
        <p:nvSpPr>
          <p:cNvPr id="18" name="Text 16"/>
          <p:cNvSpPr txBox="1"/>
          <p:nvPr/>
        </p:nvSpPr>
        <p:spPr>
          <a:xfrm>
            <a:off x="7843079" y="3136392"/>
            <a:ext cx="3388497" cy="1965960"/>
          </a:xfrm>
          <a:prstGeom prst="rect">
            <a:avLst/>
          </a:prstGeom>
          <a:noFill/>
          <a:ln/>
        </p:spPr>
        <p:txBody>
          <a:bodyPr wrap="square" lIns="0" tIns="0" rIns="0" bIns="0" rtlCol="0" anchor="ctr"/>
          <a:lstStyle/>
          <a:p>
            <a:pPr indent="0" marL="0">
              <a:lnSpc>
                <a:spcPct val="125000"/>
              </a:lnSpc>
              <a:buNone/>
            </a:pPr>
            <a:r>
              <a:rPr lang="en-US" sz="1150" dirty="0">
                <a:solidFill>
                  <a:srgbClr val="C3CAD6"/>
                </a:solidFill>
                <a:latin typeface="Calibri" pitchFamily="34" charset="0"/>
                <a:ea typeface="Calibri" pitchFamily="34" charset="-122"/>
                <a:cs typeface="Calibri" pitchFamily="34" charset="-120"/>
              </a:rPr>
              <a:t>Reuses a formula that already exists and already works, just triggered at a different point in the flow. No new data source, no new external dependency.</a:t>
            </a:r>
            <a:endParaRPr lang="en-US" sz="1150" dirty="0"/>
          </a:p>
        </p:txBody>
      </p:sp>
      <p:sp>
        <p:nvSpPr>
          <p:cNvPr id="19" name="Text 17"/>
          <p:cNvSpPr txBox="1"/>
          <p:nvPr/>
        </p:nvSpPr>
        <p:spPr>
          <a:xfrm>
            <a:off x="7843079" y="5440680"/>
            <a:ext cx="3388497" cy="228600"/>
          </a:xfrm>
          <a:prstGeom prst="rect">
            <a:avLst/>
          </a:prstGeom>
          <a:noFill/>
          <a:ln/>
        </p:spPr>
        <p:txBody>
          <a:bodyPr wrap="square" lIns="0" tIns="0" rIns="0" bIns="0" rtlCol="0" anchor="ctr"/>
          <a:lstStyle/>
          <a:p>
            <a:pPr indent="0" marL="0">
              <a:buNone/>
            </a:pPr>
            <a:r>
              <a:rPr lang="en-US" sz="1000" b="1" spc="100" kern="0" dirty="0">
                <a:solidFill>
                  <a:srgbClr val="8A94A6"/>
                </a:solidFill>
                <a:latin typeface="Calibri" pitchFamily="34" charset="0"/>
                <a:ea typeface="Calibri" pitchFamily="34" charset="-122"/>
                <a:cs typeface="Calibri" pitchFamily="34" charset="-120"/>
              </a:rPr>
              <a:t>REQUIRES</a:t>
            </a:r>
            <a:endParaRPr lang="en-US" sz="1000" dirty="0"/>
          </a:p>
        </p:txBody>
      </p:sp>
      <p:sp>
        <p:nvSpPr>
          <p:cNvPr id="20" name="Text 18"/>
          <p:cNvSpPr txBox="1"/>
          <p:nvPr/>
        </p:nvSpPr>
        <p:spPr>
          <a:xfrm>
            <a:off x="7843079" y="5687568"/>
            <a:ext cx="3388497" cy="621792"/>
          </a:xfrm>
          <a:prstGeom prst="rect">
            <a:avLst/>
          </a:prstGeom>
          <a:noFill/>
          <a:ln/>
        </p:spPr>
        <p:txBody>
          <a:bodyPr wrap="square" lIns="0" tIns="0" rIns="0" bIns="0" rtlCol="0" anchor="ctr"/>
          <a:lstStyle/>
          <a:p>
            <a:pPr indent="0" marL="0">
              <a:lnSpc>
                <a:spcPct val="115000"/>
              </a:lnSpc>
              <a:buNone/>
            </a:pPr>
            <a:r>
              <a:rPr lang="en-US" sz="1100" i="1" dirty="0">
                <a:solidFill>
                  <a:srgbClr val="FFFFFF"/>
                </a:solidFill>
                <a:latin typeface="Calibri" pitchFamily="34" charset="0"/>
                <a:ea typeface="Calibri" pitchFamily="34" charset="-122"/>
                <a:cs typeface="Calibri" pitchFamily="34" charset="-120"/>
              </a:rPr>
              <a:t>Code only</a:t>
            </a:r>
            <a:endParaRPr lang="en-US" sz="1100" dirty="0"/>
          </a:p>
        </p:txBody>
      </p:sp>
      <p:sp>
        <p:nvSpPr>
          <p:cNvPr id="21" name="Text 19"/>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01 — The Full Gap Inventory — Gap 5 of 12</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GAP 6 OF 12</a:t>
            </a:r>
            <a:endParaRPr lang="en-US" sz="1300" dirty="0"/>
          </a:p>
        </p:txBody>
      </p:sp>
      <p:sp>
        <p:nvSpPr>
          <p:cNvPr id="3" name="Shape 1"/>
          <p:cNvSpPr/>
          <p:nvPr/>
        </p:nvSpPr>
        <p:spPr>
          <a:xfrm>
            <a:off x="685800" y="896112"/>
            <a:ext cx="402336" cy="402336"/>
          </a:xfrm>
          <a:prstGeom prst="ellipse">
            <a:avLst/>
          </a:prstGeom>
          <a:solidFill>
            <a:srgbClr val="2A3242"/>
          </a:solidFill>
          <a:ln w="12700">
            <a:solidFill>
              <a:srgbClr val="2A3242"/>
            </a:solidFill>
            <a:prstDash val="solid"/>
          </a:ln>
        </p:spPr>
      </p:sp>
      <p:sp>
        <p:nvSpPr>
          <p:cNvPr id="4" name="Text 2"/>
          <p:cNvSpPr txBox="1"/>
          <p:nvPr/>
        </p:nvSpPr>
        <p:spPr>
          <a:xfrm>
            <a:off x="685800" y="896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5" name="Text 3"/>
          <p:cNvSpPr txBox="1"/>
          <p:nvPr/>
        </p:nvSpPr>
        <p:spPr>
          <a:xfrm>
            <a:off x="1234440" y="841248"/>
            <a:ext cx="8716975" cy="868680"/>
          </a:xfrm>
          <a:prstGeom prst="rect">
            <a:avLst/>
          </a:prstGeom>
          <a:noFill/>
          <a:ln/>
        </p:spPr>
        <p:txBody>
          <a:bodyPr wrap="square" lIns="0" tIns="0" rIns="0" bIns="0" rtlCol="0" anchor="ctr"/>
          <a:lstStyle/>
          <a:p>
            <a:pPr indent="0" marL="0">
              <a:lnSpc>
                <a:spcPct val="105000"/>
              </a:lnSpc>
              <a:buNone/>
            </a:pPr>
            <a:r>
              <a:rPr lang="en-US" sz="2300" b="1" dirty="0">
                <a:solidFill>
                  <a:srgbClr val="171B24"/>
                </a:solidFill>
                <a:latin typeface="Cambria" pitchFamily="34" charset="0"/>
                <a:ea typeface="Cambria" pitchFamily="34" charset="-122"/>
                <a:cs typeface="Cambria" pitchFamily="34" charset="-120"/>
              </a:rPr>
              <a:t>The whole network leans on one single company</a:t>
            </a:r>
            <a:endParaRPr lang="en-US" sz="2300" dirty="0"/>
          </a:p>
        </p:txBody>
      </p:sp>
      <p:sp>
        <p:nvSpPr>
          <p:cNvPr id="6" name="Shape 4"/>
          <p:cNvSpPr/>
          <p:nvPr/>
        </p:nvSpPr>
        <p:spPr>
          <a:xfrm>
            <a:off x="9997135" y="914400"/>
            <a:ext cx="1280160" cy="384048"/>
          </a:xfrm>
          <a:prstGeom prst="roundRect">
            <a:avLst>
              <a:gd name="adj" fmla="val 50000"/>
            </a:avLst>
          </a:prstGeom>
          <a:solidFill>
            <a:srgbClr val="C07F2A"/>
          </a:solidFill>
          <a:ln w="12700">
            <a:solidFill>
              <a:srgbClr val="C07F2A"/>
            </a:solidFill>
            <a:prstDash val="solid"/>
          </a:ln>
        </p:spPr>
      </p:sp>
      <p:sp>
        <p:nvSpPr>
          <p:cNvPr id="7" name="Text 5"/>
          <p:cNvSpPr txBox="1"/>
          <p:nvPr/>
        </p:nvSpPr>
        <p:spPr>
          <a:xfrm>
            <a:off x="9997135" y="914400"/>
            <a:ext cx="12801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MEDIUM</a:t>
            </a:r>
            <a:endParaRPr lang="en-US" sz="1300" dirty="0"/>
          </a:p>
        </p:txBody>
      </p:sp>
      <p:sp>
        <p:nvSpPr>
          <p:cNvPr id="8" name="Shape 6"/>
          <p:cNvSpPr/>
          <p:nvPr/>
        </p:nvSpPr>
        <p:spPr>
          <a:xfrm>
            <a:off x="685800" y="1874520"/>
            <a:ext cx="6654359" cy="2011680"/>
          </a:xfrm>
          <a:prstGeom prst="roundRect">
            <a:avLst>
              <a:gd name="adj" fmla="val 3182"/>
            </a:avLst>
          </a:prstGeom>
          <a:solidFill>
            <a:srgbClr val="FFFFFF"/>
          </a:solidFill>
          <a:ln w="12700">
            <a:solidFill>
              <a:srgbClr val="E2E4E8"/>
            </a:solidFill>
            <a:prstDash val="solid"/>
          </a:ln>
        </p:spPr>
      </p:sp>
      <p:sp>
        <p:nvSpPr>
          <p:cNvPr id="9" name="Text 7"/>
          <p:cNvSpPr txBox="1"/>
          <p:nvPr/>
        </p:nvSpPr>
        <p:spPr>
          <a:xfrm>
            <a:off x="960120" y="202082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THE GAP</a:t>
            </a:r>
            <a:endParaRPr lang="en-US" sz="1150" dirty="0"/>
          </a:p>
        </p:txBody>
      </p:sp>
      <p:sp>
        <p:nvSpPr>
          <p:cNvPr id="10" name="Text 8"/>
          <p:cNvSpPr txBox="1"/>
          <p:nvPr/>
        </p:nvSpPr>
        <p:spPr>
          <a:xfrm>
            <a:off x="960120" y="2331720"/>
            <a:ext cx="6105719" cy="138988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Every platform today routes through one shared Ledger Provider, even though the architecture is built to let each DISCOM run its own. One outage there stops every trade, everywhere, at once.</a:t>
            </a:r>
            <a:endParaRPr lang="en-US" sz="1250" dirty="0"/>
          </a:p>
        </p:txBody>
      </p:sp>
      <p:sp>
        <p:nvSpPr>
          <p:cNvPr id="11" name="Shape 9"/>
          <p:cNvSpPr/>
          <p:nvPr/>
        </p:nvSpPr>
        <p:spPr>
          <a:xfrm>
            <a:off x="685800" y="4069080"/>
            <a:ext cx="6654359" cy="2331720"/>
          </a:xfrm>
          <a:prstGeom prst="roundRect">
            <a:avLst>
              <a:gd name="adj" fmla="val 2745"/>
            </a:avLst>
          </a:prstGeom>
          <a:solidFill>
            <a:srgbClr val="FFFFFF"/>
          </a:solidFill>
          <a:ln w="12700">
            <a:solidFill>
              <a:srgbClr val="E2E4E8"/>
            </a:solidFill>
            <a:prstDash val="solid"/>
          </a:ln>
        </p:spPr>
      </p:sp>
      <p:sp>
        <p:nvSpPr>
          <p:cNvPr id="12" name="Text 10"/>
          <p:cNvSpPr txBox="1"/>
          <p:nvPr/>
        </p:nvSpPr>
        <p:spPr>
          <a:xfrm>
            <a:off x="960120" y="421538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CONCEPTUAL FIX</a:t>
            </a:r>
            <a:endParaRPr lang="en-US" sz="1150" dirty="0"/>
          </a:p>
        </p:txBody>
      </p:sp>
      <p:sp>
        <p:nvSpPr>
          <p:cNvPr id="13" name="Text 11"/>
          <p:cNvSpPr txBox="1"/>
          <p:nvPr/>
        </p:nvSpPr>
        <p:spPr>
          <a:xfrm>
            <a:off x="960120" y="4526280"/>
            <a:ext cx="6105719" cy="170992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Add a line to the existing production-readiness checklist: each participating DISCOM must operate its own Ledger Provider instance before production sign-off; a shared LP is permitted on the test network only.</a:t>
            </a:r>
            <a:endParaRPr lang="en-US" sz="1250" dirty="0"/>
          </a:p>
        </p:txBody>
      </p:sp>
      <p:sp>
        <p:nvSpPr>
          <p:cNvPr id="14" name="Shape 12"/>
          <p:cNvSpPr/>
          <p:nvPr/>
        </p:nvSpPr>
        <p:spPr>
          <a:xfrm>
            <a:off x="7568759" y="1874520"/>
            <a:ext cx="3937137" cy="4526280"/>
          </a:xfrm>
          <a:prstGeom prst="roundRect">
            <a:avLst>
              <a:gd name="adj" fmla="val 1626"/>
            </a:avLst>
          </a:prstGeom>
          <a:solidFill>
            <a:srgbClr val="2A3242"/>
          </a:solidFill>
          <a:ln w="12700">
            <a:solidFill>
              <a:srgbClr val="2A3242"/>
            </a:solidFill>
            <a:prstDash val="solid"/>
          </a:ln>
        </p:spPr>
      </p:sp>
      <p:sp>
        <p:nvSpPr>
          <p:cNvPr id="15" name="Text 13"/>
          <p:cNvSpPr txBox="1"/>
          <p:nvPr/>
        </p:nvSpPr>
        <p:spPr>
          <a:xfrm>
            <a:off x="7843079" y="2075688"/>
            <a:ext cx="3388497" cy="411480"/>
          </a:xfrm>
          <a:prstGeom prst="rect">
            <a:avLst/>
          </a:prstGeom>
          <a:noFill/>
          <a:ln/>
        </p:spPr>
        <p:txBody>
          <a:bodyPr wrap="square" lIns="0" tIns="0" rIns="0" bIns="0" rtlCol="0" anchor="ctr"/>
          <a:lstStyle/>
          <a:p>
            <a:pPr indent="0" marL="0">
              <a:lnSpc>
                <a:spcPct val="110000"/>
              </a:lnSpc>
              <a:buNone/>
            </a:pPr>
            <a:r>
              <a:rPr lang="en-US" sz="1100" b="1" spc="100" kern="0" dirty="0">
                <a:solidFill>
                  <a:srgbClr val="8A94A6"/>
                </a:solidFill>
                <a:latin typeface="Calibri" pitchFamily="34" charset="0"/>
                <a:ea typeface="Calibri" pitchFamily="34" charset="-122"/>
                <a:cs typeface="Calibri" pitchFamily="34" charset="-120"/>
              </a:rPr>
              <a:t>IMPLEMENTATION FEASIBILITY</a:t>
            </a:r>
            <a:endParaRPr lang="en-US" sz="1100" dirty="0"/>
          </a:p>
        </p:txBody>
      </p:sp>
      <p:sp>
        <p:nvSpPr>
          <p:cNvPr id="16" name="Shape 14"/>
          <p:cNvSpPr/>
          <p:nvPr/>
        </p:nvSpPr>
        <p:spPr>
          <a:xfrm>
            <a:off x="7843079" y="2496312"/>
            <a:ext cx="3388497" cy="438912"/>
          </a:xfrm>
          <a:prstGeom prst="roundRect">
            <a:avLst>
              <a:gd name="adj" fmla="val 50000"/>
            </a:avLst>
          </a:prstGeom>
          <a:solidFill>
            <a:srgbClr val="B23B2E"/>
          </a:solidFill>
          <a:ln w="12700">
            <a:solidFill>
              <a:srgbClr val="B23B2E"/>
            </a:solidFill>
            <a:prstDash val="solid"/>
          </a:ln>
        </p:spPr>
      </p:sp>
      <p:sp>
        <p:nvSpPr>
          <p:cNvPr id="17" name="Text 15"/>
          <p:cNvSpPr txBox="1"/>
          <p:nvPr/>
        </p:nvSpPr>
        <p:spPr>
          <a:xfrm>
            <a:off x="7843079" y="2496312"/>
            <a:ext cx="3388497"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HARD</a:t>
            </a:r>
            <a:endParaRPr lang="en-US" sz="1500" dirty="0"/>
          </a:p>
        </p:txBody>
      </p:sp>
      <p:sp>
        <p:nvSpPr>
          <p:cNvPr id="18" name="Text 16"/>
          <p:cNvSpPr txBox="1"/>
          <p:nvPr/>
        </p:nvSpPr>
        <p:spPr>
          <a:xfrm>
            <a:off x="7843079" y="3136392"/>
            <a:ext cx="3388497" cy="1965960"/>
          </a:xfrm>
          <a:prstGeom prst="rect">
            <a:avLst/>
          </a:prstGeom>
          <a:noFill/>
          <a:ln/>
        </p:spPr>
        <p:txBody>
          <a:bodyPr wrap="square" lIns="0" tIns="0" rIns="0" bIns="0" rtlCol="0" anchor="ctr"/>
          <a:lstStyle/>
          <a:p>
            <a:pPr indent="0" marL="0">
              <a:lnSpc>
                <a:spcPct val="125000"/>
              </a:lnSpc>
              <a:buNone/>
            </a:pPr>
            <a:r>
              <a:rPr lang="en-US" sz="1150" dirty="0">
                <a:solidFill>
                  <a:srgbClr val="C3CAD6"/>
                </a:solidFill>
                <a:latin typeface="Calibri" pitchFamily="34" charset="0"/>
                <a:ea typeface="Calibri" pitchFamily="34" charset="-122"/>
                <a:cs typeface="Calibri" pitchFamily="34" charset="-120"/>
              </a:rPr>
              <a:t>Technically this already works — two separate ledgers run in the local stack today. The real work is each DISCOM actually standing up, operating, and funding its own instance: an operational and cost decision, not a missing capability.</a:t>
            </a:r>
            <a:endParaRPr lang="en-US" sz="1150" dirty="0"/>
          </a:p>
        </p:txBody>
      </p:sp>
      <p:sp>
        <p:nvSpPr>
          <p:cNvPr id="19" name="Text 17"/>
          <p:cNvSpPr txBox="1"/>
          <p:nvPr/>
        </p:nvSpPr>
        <p:spPr>
          <a:xfrm>
            <a:off x="7843079" y="5440680"/>
            <a:ext cx="3388497" cy="228600"/>
          </a:xfrm>
          <a:prstGeom prst="rect">
            <a:avLst/>
          </a:prstGeom>
          <a:noFill/>
          <a:ln/>
        </p:spPr>
        <p:txBody>
          <a:bodyPr wrap="square" lIns="0" tIns="0" rIns="0" bIns="0" rtlCol="0" anchor="ctr"/>
          <a:lstStyle/>
          <a:p>
            <a:pPr indent="0" marL="0">
              <a:buNone/>
            </a:pPr>
            <a:r>
              <a:rPr lang="en-US" sz="1000" b="1" spc="100" kern="0" dirty="0">
                <a:solidFill>
                  <a:srgbClr val="8A94A6"/>
                </a:solidFill>
                <a:latin typeface="Calibri" pitchFamily="34" charset="0"/>
                <a:ea typeface="Calibri" pitchFamily="34" charset="-122"/>
                <a:cs typeface="Calibri" pitchFamily="34" charset="-120"/>
              </a:rPr>
              <a:t>REQUIRES</a:t>
            </a:r>
            <a:endParaRPr lang="en-US" sz="1000" dirty="0"/>
          </a:p>
        </p:txBody>
      </p:sp>
      <p:sp>
        <p:nvSpPr>
          <p:cNvPr id="20" name="Text 18"/>
          <p:cNvSpPr txBox="1"/>
          <p:nvPr/>
        </p:nvSpPr>
        <p:spPr>
          <a:xfrm>
            <a:off x="7843079" y="5687568"/>
            <a:ext cx="3388497" cy="621792"/>
          </a:xfrm>
          <a:prstGeom prst="rect">
            <a:avLst/>
          </a:prstGeom>
          <a:noFill/>
          <a:ln/>
        </p:spPr>
        <p:txBody>
          <a:bodyPr wrap="square" lIns="0" tIns="0" rIns="0" bIns="0" rtlCol="0" anchor="ctr"/>
          <a:lstStyle/>
          <a:p>
            <a:pPr indent="0" marL="0">
              <a:lnSpc>
                <a:spcPct val="115000"/>
              </a:lnSpc>
              <a:buNone/>
            </a:pPr>
            <a:r>
              <a:rPr lang="en-US" sz="1100" i="1" dirty="0">
                <a:solidFill>
                  <a:srgbClr val="FFFFFF"/>
                </a:solidFill>
                <a:latin typeface="Calibri" pitchFamily="34" charset="0"/>
                <a:ea typeface="Calibri" pitchFamily="34" charset="-122"/>
                <a:cs typeface="Calibri" pitchFamily="34" charset="-120"/>
              </a:rPr>
              <a:t>No new code — a rollout decision + each DISCOM provisioning real infrastructure</a:t>
            </a:r>
            <a:endParaRPr lang="en-US" sz="1100" dirty="0"/>
          </a:p>
        </p:txBody>
      </p:sp>
      <p:sp>
        <p:nvSpPr>
          <p:cNvPr id="21" name="Text 19"/>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01 — The Full Gap Inventory — Gap 6 of 12</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GAP 7 OF 12</a:t>
            </a:r>
            <a:endParaRPr lang="en-US" sz="1300" dirty="0"/>
          </a:p>
        </p:txBody>
      </p:sp>
      <p:sp>
        <p:nvSpPr>
          <p:cNvPr id="3" name="Shape 1"/>
          <p:cNvSpPr/>
          <p:nvPr/>
        </p:nvSpPr>
        <p:spPr>
          <a:xfrm>
            <a:off x="685800" y="896112"/>
            <a:ext cx="402336" cy="402336"/>
          </a:xfrm>
          <a:prstGeom prst="ellipse">
            <a:avLst/>
          </a:prstGeom>
          <a:solidFill>
            <a:srgbClr val="2A3242"/>
          </a:solidFill>
          <a:ln w="12700">
            <a:solidFill>
              <a:srgbClr val="2A3242"/>
            </a:solidFill>
            <a:prstDash val="solid"/>
          </a:ln>
        </p:spPr>
      </p:sp>
      <p:sp>
        <p:nvSpPr>
          <p:cNvPr id="4" name="Text 2"/>
          <p:cNvSpPr txBox="1"/>
          <p:nvPr/>
        </p:nvSpPr>
        <p:spPr>
          <a:xfrm>
            <a:off x="685800" y="896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5" name="Text 3"/>
          <p:cNvSpPr txBox="1"/>
          <p:nvPr/>
        </p:nvSpPr>
        <p:spPr>
          <a:xfrm>
            <a:off x="1234440" y="841248"/>
            <a:ext cx="8716975" cy="868680"/>
          </a:xfrm>
          <a:prstGeom prst="rect">
            <a:avLst/>
          </a:prstGeom>
          <a:noFill/>
          <a:ln/>
        </p:spPr>
        <p:txBody>
          <a:bodyPr wrap="square" lIns="0" tIns="0" rIns="0" bIns="0" rtlCol="0" anchor="ctr"/>
          <a:lstStyle/>
          <a:p>
            <a:pPr indent="0" marL="0">
              <a:lnSpc>
                <a:spcPct val="105000"/>
              </a:lnSpc>
              <a:buNone/>
            </a:pPr>
            <a:r>
              <a:rPr lang="en-US" sz="2300" b="1" dirty="0">
                <a:solidFill>
                  <a:srgbClr val="171B24"/>
                </a:solidFill>
                <a:latin typeface="Cambria" pitchFamily="34" charset="0"/>
                <a:ea typeface="Cambria" pitchFamily="34" charset="-122"/>
                <a:cs typeface="Cambria" pitchFamily="34" charset="-120"/>
              </a:rPr>
              <a:t>The same unit of electricity could be promised twice</a:t>
            </a:r>
            <a:endParaRPr lang="en-US" sz="2300" dirty="0"/>
          </a:p>
        </p:txBody>
      </p:sp>
      <p:sp>
        <p:nvSpPr>
          <p:cNvPr id="6" name="Shape 4"/>
          <p:cNvSpPr/>
          <p:nvPr/>
        </p:nvSpPr>
        <p:spPr>
          <a:xfrm>
            <a:off x="9997135" y="914400"/>
            <a:ext cx="1280160" cy="384048"/>
          </a:xfrm>
          <a:prstGeom prst="roundRect">
            <a:avLst>
              <a:gd name="adj" fmla="val 50000"/>
            </a:avLst>
          </a:prstGeom>
          <a:solidFill>
            <a:srgbClr val="C07F2A"/>
          </a:solidFill>
          <a:ln w="12700">
            <a:solidFill>
              <a:srgbClr val="C07F2A"/>
            </a:solidFill>
            <a:prstDash val="solid"/>
          </a:ln>
        </p:spPr>
      </p:sp>
      <p:sp>
        <p:nvSpPr>
          <p:cNvPr id="7" name="Text 5"/>
          <p:cNvSpPr txBox="1"/>
          <p:nvPr/>
        </p:nvSpPr>
        <p:spPr>
          <a:xfrm>
            <a:off x="9997135" y="914400"/>
            <a:ext cx="12801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MEDIUM</a:t>
            </a:r>
            <a:endParaRPr lang="en-US" sz="1300" dirty="0"/>
          </a:p>
        </p:txBody>
      </p:sp>
      <p:sp>
        <p:nvSpPr>
          <p:cNvPr id="8" name="Shape 6"/>
          <p:cNvSpPr/>
          <p:nvPr/>
        </p:nvSpPr>
        <p:spPr>
          <a:xfrm>
            <a:off x="685800" y="1874520"/>
            <a:ext cx="6654359" cy="2011680"/>
          </a:xfrm>
          <a:prstGeom prst="roundRect">
            <a:avLst>
              <a:gd name="adj" fmla="val 3182"/>
            </a:avLst>
          </a:prstGeom>
          <a:solidFill>
            <a:srgbClr val="FFFFFF"/>
          </a:solidFill>
          <a:ln w="12700">
            <a:solidFill>
              <a:srgbClr val="E2E4E8"/>
            </a:solidFill>
            <a:prstDash val="solid"/>
          </a:ln>
        </p:spPr>
      </p:sp>
      <p:sp>
        <p:nvSpPr>
          <p:cNvPr id="9" name="Text 7"/>
          <p:cNvSpPr txBox="1"/>
          <p:nvPr/>
        </p:nvSpPr>
        <p:spPr>
          <a:xfrm>
            <a:off x="960120" y="202082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THE GAP</a:t>
            </a:r>
            <a:endParaRPr lang="en-US" sz="1150" dirty="0"/>
          </a:p>
        </p:txBody>
      </p:sp>
      <p:sp>
        <p:nvSpPr>
          <p:cNvPr id="10" name="Text 8"/>
          <p:cNvSpPr txBox="1"/>
          <p:nvPr/>
        </p:nvSpPr>
        <p:spPr>
          <a:xfrm>
            <a:off x="960120" y="2331720"/>
            <a:ext cx="6105719" cy="138988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Nothing currently checks whether the same meter's energy, at the same moment, has already been promised to a different deal — say, a P2P trade and a separate demand-response program at once.</a:t>
            </a:r>
            <a:endParaRPr lang="en-US" sz="1250" dirty="0"/>
          </a:p>
        </p:txBody>
      </p:sp>
      <p:sp>
        <p:nvSpPr>
          <p:cNvPr id="11" name="Shape 9"/>
          <p:cNvSpPr/>
          <p:nvPr/>
        </p:nvSpPr>
        <p:spPr>
          <a:xfrm>
            <a:off x="685800" y="4069080"/>
            <a:ext cx="6654359" cy="2331720"/>
          </a:xfrm>
          <a:prstGeom prst="roundRect">
            <a:avLst>
              <a:gd name="adj" fmla="val 2745"/>
            </a:avLst>
          </a:prstGeom>
          <a:solidFill>
            <a:srgbClr val="FFFFFF"/>
          </a:solidFill>
          <a:ln w="12700">
            <a:solidFill>
              <a:srgbClr val="E2E4E8"/>
            </a:solidFill>
            <a:prstDash val="solid"/>
          </a:ln>
        </p:spPr>
      </p:sp>
      <p:sp>
        <p:nvSpPr>
          <p:cNvPr id="12" name="Text 10"/>
          <p:cNvSpPr txBox="1"/>
          <p:nvPr/>
        </p:nvSpPr>
        <p:spPr>
          <a:xfrm>
            <a:off x="960120" y="421538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CONCEPTUAL FIX</a:t>
            </a:r>
            <a:endParaRPr lang="en-US" sz="1150" dirty="0"/>
          </a:p>
        </p:txBody>
      </p:sp>
      <p:sp>
        <p:nvSpPr>
          <p:cNvPr id="13" name="Text 11"/>
          <p:cNvSpPr txBox="1"/>
          <p:nvPr/>
        </p:nvSpPr>
        <p:spPr>
          <a:xfrm>
            <a:off x="960120" y="4526280"/>
            <a:ext cx="6105719" cy="170992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Full fix: a shared, DeDi-hosted claim registry keyed by (meterId, interval), checked before accepting any reading. Fallback: a simple exclusiveEnrollment flag enforced by the DISCOM's own CIS at enrollment time.</a:t>
            </a:r>
            <a:endParaRPr lang="en-US" sz="1250" dirty="0"/>
          </a:p>
        </p:txBody>
      </p:sp>
      <p:sp>
        <p:nvSpPr>
          <p:cNvPr id="14" name="Shape 12"/>
          <p:cNvSpPr/>
          <p:nvPr/>
        </p:nvSpPr>
        <p:spPr>
          <a:xfrm>
            <a:off x="7568759" y="1874520"/>
            <a:ext cx="3937137" cy="4526280"/>
          </a:xfrm>
          <a:prstGeom prst="roundRect">
            <a:avLst>
              <a:gd name="adj" fmla="val 1626"/>
            </a:avLst>
          </a:prstGeom>
          <a:solidFill>
            <a:srgbClr val="2A3242"/>
          </a:solidFill>
          <a:ln w="12700">
            <a:solidFill>
              <a:srgbClr val="2A3242"/>
            </a:solidFill>
            <a:prstDash val="solid"/>
          </a:ln>
        </p:spPr>
      </p:sp>
      <p:sp>
        <p:nvSpPr>
          <p:cNvPr id="15" name="Text 13"/>
          <p:cNvSpPr txBox="1"/>
          <p:nvPr/>
        </p:nvSpPr>
        <p:spPr>
          <a:xfrm>
            <a:off x="7843079" y="2075688"/>
            <a:ext cx="3388497" cy="411480"/>
          </a:xfrm>
          <a:prstGeom prst="rect">
            <a:avLst/>
          </a:prstGeom>
          <a:noFill/>
          <a:ln/>
        </p:spPr>
        <p:txBody>
          <a:bodyPr wrap="square" lIns="0" tIns="0" rIns="0" bIns="0" rtlCol="0" anchor="ctr"/>
          <a:lstStyle/>
          <a:p>
            <a:pPr indent="0" marL="0">
              <a:lnSpc>
                <a:spcPct val="110000"/>
              </a:lnSpc>
              <a:buNone/>
            </a:pPr>
            <a:r>
              <a:rPr lang="en-US" sz="1100" b="1" spc="100" kern="0" dirty="0">
                <a:solidFill>
                  <a:srgbClr val="8A94A6"/>
                </a:solidFill>
                <a:latin typeface="Calibri" pitchFamily="34" charset="0"/>
                <a:ea typeface="Calibri" pitchFamily="34" charset="-122"/>
                <a:cs typeface="Calibri" pitchFamily="34" charset="-120"/>
              </a:rPr>
              <a:t>IMPLEMENTATION FEASIBILITY</a:t>
            </a:r>
            <a:endParaRPr lang="en-US" sz="1100" dirty="0"/>
          </a:p>
        </p:txBody>
      </p:sp>
      <p:sp>
        <p:nvSpPr>
          <p:cNvPr id="16" name="Shape 14"/>
          <p:cNvSpPr/>
          <p:nvPr/>
        </p:nvSpPr>
        <p:spPr>
          <a:xfrm>
            <a:off x="7843079" y="2496312"/>
            <a:ext cx="3388497" cy="438912"/>
          </a:xfrm>
          <a:prstGeom prst="roundRect">
            <a:avLst>
              <a:gd name="adj" fmla="val 50000"/>
            </a:avLst>
          </a:prstGeom>
          <a:solidFill>
            <a:srgbClr val="B23B2E"/>
          </a:solidFill>
          <a:ln w="12700">
            <a:solidFill>
              <a:srgbClr val="B23B2E"/>
            </a:solidFill>
            <a:prstDash val="solid"/>
          </a:ln>
        </p:spPr>
      </p:sp>
      <p:sp>
        <p:nvSpPr>
          <p:cNvPr id="17" name="Text 15"/>
          <p:cNvSpPr txBox="1"/>
          <p:nvPr/>
        </p:nvSpPr>
        <p:spPr>
          <a:xfrm>
            <a:off x="7843079" y="2496312"/>
            <a:ext cx="3388497"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HARD</a:t>
            </a:r>
            <a:endParaRPr lang="en-US" sz="1500" dirty="0"/>
          </a:p>
        </p:txBody>
      </p:sp>
      <p:sp>
        <p:nvSpPr>
          <p:cNvPr id="18" name="Text 16"/>
          <p:cNvSpPr txBox="1"/>
          <p:nvPr/>
        </p:nvSpPr>
        <p:spPr>
          <a:xfrm>
            <a:off x="7843079" y="3136392"/>
            <a:ext cx="3388497" cy="1965960"/>
          </a:xfrm>
          <a:prstGeom prst="rect">
            <a:avLst/>
          </a:prstGeom>
          <a:noFill/>
          <a:ln/>
        </p:spPr>
        <p:txBody>
          <a:bodyPr wrap="square" lIns="0" tIns="0" rIns="0" bIns="0" rtlCol="0" anchor="ctr"/>
          <a:lstStyle/>
          <a:p>
            <a:pPr indent="0" marL="0">
              <a:lnSpc>
                <a:spcPct val="125000"/>
              </a:lnSpc>
              <a:buNone/>
            </a:pPr>
            <a:r>
              <a:rPr lang="en-US" sz="1150" dirty="0">
                <a:solidFill>
                  <a:srgbClr val="C3CAD6"/>
                </a:solidFill>
                <a:latin typeface="Calibri" pitchFamily="34" charset="0"/>
                <a:ea typeface="Calibri" pitchFamily="34" charset="-122"/>
                <a:cs typeface="Calibri" pitchFamily="34" charset="-120"/>
              </a:rPr>
              <a:t>The full shared-registry fix needs cross-platform governance — every BAP/BPP on the network would need to honor one shared index, a coordination problem bigger than this codebase. The fallback flag is real and shippable now, just weaker.</a:t>
            </a:r>
            <a:endParaRPr lang="en-US" sz="1150" dirty="0"/>
          </a:p>
        </p:txBody>
      </p:sp>
      <p:sp>
        <p:nvSpPr>
          <p:cNvPr id="19" name="Text 17"/>
          <p:cNvSpPr txBox="1"/>
          <p:nvPr/>
        </p:nvSpPr>
        <p:spPr>
          <a:xfrm>
            <a:off x="7843079" y="5440680"/>
            <a:ext cx="3388497" cy="228600"/>
          </a:xfrm>
          <a:prstGeom prst="rect">
            <a:avLst/>
          </a:prstGeom>
          <a:noFill/>
          <a:ln/>
        </p:spPr>
        <p:txBody>
          <a:bodyPr wrap="square" lIns="0" tIns="0" rIns="0" bIns="0" rtlCol="0" anchor="ctr"/>
          <a:lstStyle/>
          <a:p>
            <a:pPr indent="0" marL="0">
              <a:buNone/>
            </a:pPr>
            <a:r>
              <a:rPr lang="en-US" sz="1000" b="1" spc="100" kern="0" dirty="0">
                <a:solidFill>
                  <a:srgbClr val="8A94A6"/>
                </a:solidFill>
                <a:latin typeface="Calibri" pitchFamily="34" charset="0"/>
                <a:ea typeface="Calibri" pitchFamily="34" charset="-122"/>
                <a:cs typeface="Calibri" pitchFamily="34" charset="-120"/>
              </a:rPr>
              <a:t>REQUIRES</a:t>
            </a:r>
            <a:endParaRPr lang="en-US" sz="1000" dirty="0"/>
          </a:p>
        </p:txBody>
      </p:sp>
      <p:sp>
        <p:nvSpPr>
          <p:cNvPr id="20" name="Text 18"/>
          <p:cNvSpPr txBox="1"/>
          <p:nvPr/>
        </p:nvSpPr>
        <p:spPr>
          <a:xfrm>
            <a:off x="7843079" y="5687568"/>
            <a:ext cx="3388497" cy="621792"/>
          </a:xfrm>
          <a:prstGeom prst="rect">
            <a:avLst/>
          </a:prstGeom>
          <a:noFill/>
          <a:ln/>
        </p:spPr>
        <p:txBody>
          <a:bodyPr wrap="square" lIns="0" tIns="0" rIns="0" bIns="0" rtlCol="0" anchor="ctr"/>
          <a:lstStyle/>
          <a:p>
            <a:pPr indent="0" marL="0">
              <a:lnSpc>
                <a:spcPct val="115000"/>
              </a:lnSpc>
              <a:buNone/>
            </a:pPr>
            <a:r>
              <a:rPr lang="en-US" sz="1100" i="1" dirty="0">
                <a:solidFill>
                  <a:srgbClr val="FFFFFF"/>
                </a:solidFill>
                <a:latin typeface="Calibri" pitchFamily="34" charset="0"/>
                <a:ea typeface="Calibri" pitchFamily="34" charset="-122"/>
                <a:cs typeface="Calibri" pitchFamily="34" charset="-120"/>
              </a:rPr>
              <a:t>Fallback: code only. Full fix: a new shared registry + a multi-party governance agreement</a:t>
            </a:r>
            <a:endParaRPr lang="en-US" sz="1100" dirty="0"/>
          </a:p>
        </p:txBody>
      </p:sp>
      <p:sp>
        <p:nvSpPr>
          <p:cNvPr id="21" name="Text 19"/>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01 — The Full Gap Inventory — Gap 7 of 12</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GAP 8 OF 12</a:t>
            </a:r>
            <a:endParaRPr lang="en-US" sz="1300" dirty="0"/>
          </a:p>
        </p:txBody>
      </p:sp>
      <p:sp>
        <p:nvSpPr>
          <p:cNvPr id="3" name="Shape 1"/>
          <p:cNvSpPr/>
          <p:nvPr/>
        </p:nvSpPr>
        <p:spPr>
          <a:xfrm>
            <a:off x="685800" y="896112"/>
            <a:ext cx="402336" cy="402336"/>
          </a:xfrm>
          <a:prstGeom prst="ellipse">
            <a:avLst/>
          </a:prstGeom>
          <a:solidFill>
            <a:srgbClr val="2A3242"/>
          </a:solidFill>
          <a:ln w="12700">
            <a:solidFill>
              <a:srgbClr val="2A3242"/>
            </a:solidFill>
            <a:prstDash val="solid"/>
          </a:ln>
        </p:spPr>
      </p:sp>
      <p:sp>
        <p:nvSpPr>
          <p:cNvPr id="4" name="Text 2"/>
          <p:cNvSpPr txBox="1"/>
          <p:nvPr/>
        </p:nvSpPr>
        <p:spPr>
          <a:xfrm>
            <a:off x="685800" y="896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5" name="Text 3"/>
          <p:cNvSpPr txBox="1"/>
          <p:nvPr/>
        </p:nvSpPr>
        <p:spPr>
          <a:xfrm>
            <a:off x="1234440" y="841248"/>
            <a:ext cx="8716975" cy="868680"/>
          </a:xfrm>
          <a:prstGeom prst="rect">
            <a:avLst/>
          </a:prstGeom>
          <a:noFill/>
          <a:ln/>
        </p:spPr>
        <p:txBody>
          <a:bodyPr wrap="square" lIns="0" tIns="0" rIns="0" bIns="0" rtlCol="0" anchor="ctr"/>
          <a:lstStyle/>
          <a:p>
            <a:pPr indent="0" marL="0">
              <a:lnSpc>
                <a:spcPct val="105000"/>
              </a:lnSpc>
              <a:buNone/>
            </a:pPr>
            <a:r>
              <a:rPr lang="en-US" sz="2300" b="1" dirty="0">
                <a:solidFill>
                  <a:srgbClr val="171B24"/>
                </a:solidFill>
                <a:latin typeface="Cambria" pitchFamily="34" charset="0"/>
                <a:ea typeface="Cambria" pitchFamily="34" charset="-122"/>
                <a:cs typeface="Cambria" pitchFamily="34" charset="-120"/>
              </a:rPr>
              <a:t>The software has no idea whether the real wires can handle it</a:t>
            </a:r>
            <a:endParaRPr lang="en-US" sz="2300" dirty="0"/>
          </a:p>
        </p:txBody>
      </p:sp>
      <p:sp>
        <p:nvSpPr>
          <p:cNvPr id="6" name="Shape 4"/>
          <p:cNvSpPr/>
          <p:nvPr/>
        </p:nvSpPr>
        <p:spPr>
          <a:xfrm>
            <a:off x="9997135" y="914400"/>
            <a:ext cx="1280160" cy="384048"/>
          </a:xfrm>
          <a:prstGeom prst="roundRect">
            <a:avLst>
              <a:gd name="adj" fmla="val 50000"/>
            </a:avLst>
          </a:prstGeom>
          <a:solidFill>
            <a:srgbClr val="B23B2E"/>
          </a:solidFill>
          <a:ln w="12700">
            <a:solidFill>
              <a:srgbClr val="B23B2E"/>
            </a:solidFill>
            <a:prstDash val="solid"/>
          </a:ln>
        </p:spPr>
      </p:sp>
      <p:sp>
        <p:nvSpPr>
          <p:cNvPr id="7" name="Text 5"/>
          <p:cNvSpPr txBox="1"/>
          <p:nvPr/>
        </p:nvSpPr>
        <p:spPr>
          <a:xfrm>
            <a:off x="9997135" y="914400"/>
            <a:ext cx="12801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HIGH</a:t>
            </a:r>
            <a:endParaRPr lang="en-US" sz="1300" dirty="0"/>
          </a:p>
        </p:txBody>
      </p:sp>
      <p:sp>
        <p:nvSpPr>
          <p:cNvPr id="8" name="Shape 6"/>
          <p:cNvSpPr/>
          <p:nvPr/>
        </p:nvSpPr>
        <p:spPr>
          <a:xfrm>
            <a:off x="685800" y="1874520"/>
            <a:ext cx="6654359" cy="2011680"/>
          </a:xfrm>
          <a:prstGeom prst="roundRect">
            <a:avLst>
              <a:gd name="adj" fmla="val 3182"/>
            </a:avLst>
          </a:prstGeom>
          <a:solidFill>
            <a:srgbClr val="FFFFFF"/>
          </a:solidFill>
          <a:ln w="12700">
            <a:solidFill>
              <a:srgbClr val="E2E4E8"/>
            </a:solidFill>
            <a:prstDash val="solid"/>
          </a:ln>
        </p:spPr>
      </p:sp>
      <p:sp>
        <p:nvSpPr>
          <p:cNvPr id="9" name="Text 7"/>
          <p:cNvSpPr txBox="1"/>
          <p:nvPr/>
        </p:nvSpPr>
        <p:spPr>
          <a:xfrm>
            <a:off x="960120" y="202082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THE GAP</a:t>
            </a:r>
            <a:endParaRPr lang="en-US" sz="1150" dirty="0"/>
          </a:p>
        </p:txBody>
      </p:sp>
      <p:sp>
        <p:nvSpPr>
          <p:cNvPr id="10" name="Text 8"/>
          <p:cNvSpPr txBox="1"/>
          <p:nvPr/>
        </p:nvSpPr>
        <p:spPr>
          <a:xfrm>
            <a:off x="960120" y="2331720"/>
            <a:ext cx="6105719" cy="138988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Every number in this system — prices, quantities, penalties — is pure bookkeeping. Nothing checks whether the real distribution wires between buyer and seller could physically carry what's being agreed.</a:t>
            </a:r>
            <a:endParaRPr lang="en-US" sz="1250" dirty="0"/>
          </a:p>
        </p:txBody>
      </p:sp>
      <p:sp>
        <p:nvSpPr>
          <p:cNvPr id="11" name="Shape 9"/>
          <p:cNvSpPr/>
          <p:nvPr/>
        </p:nvSpPr>
        <p:spPr>
          <a:xfrm>
            <a:off x="685800" y="4069080"/>
            <a:ext cx="6654359" cy="2331720"/>
          </a:xfrm>
          <a:prstGeom prst="roundRect">
            <a:avLst>
              <a:gd name="adj" fmla="val 2745"/>
            </a:avLst>
          </a:prstGeom>
          <a:solidFill>
            <a:srgbClr val="FFFFFF"/>
          </a:solidFill>
          <a:ln w="12700">
            <a:solidFill>
              <a:srgbClr val="E2E4E8"/>
            </a:solidFill>
            <a:prstDash val="solid"/>
          </a:ln>
        </p:spPr>
      </p:sp>
      <p:sp>
        <p:nvSpPr>
          <p:cNvPr id="12" name="Text 10"/>
          <p:cNvSpPr txBox="1"/>
          <p:nvPr/>
        </p:nvSpPr>
        <p:spPr>
          <a:xfrm>
            <a:off x="960120" y="421538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CONCEPTUAL FIX</a:t>
            </a:r>
            <a:endParaRPr lang="en-US" sz="1150" dirty="0"/>
          </a:p>
        </p:txBody>
      </p:sp>
      <p:sp>
        <p:nvSpPr>
          <p:cNvPr id="13" name="Text 11"/>
          <p:cNvSpPr txBox="1"/>
          <p:nvPr/>
        </p:nvSpPr>
        <p:spPr>
          <a:xfrm>
            <a:off x="960120" y="4526280"/>
            <a:ext cx="6105719" cy="170992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Add a required congestionCheck object populated by the seller-DISCOM's own grid-management system — IES only carries the result, never computes it. confirm is blocked unless it's present, unexpired, and CLEAR.</a:t>
            </a:r>
            <a:endParaRPr lang="en-US" sz="1250" dirty="0"/>
          </a:p>
        </p:txBody>
      </p:sp>
      <p:sp>
        <p:nvSpPr>
          <p:cNvPr id="14" name="Shape 12"/>
          <p:cNvSpPr/>
          <p:nvPr/>
        </p:nvSpPr>
        <p:spPr>
          <a:xfrm>
            <a:off x="7568759" y="1874520"/>
            <a:ext cx="3937137" cy="4526280"/>
          </a:xfrm>
          <a:prstGeom prst="roundRect">
            <a:avLst>
              <a:gd name="adj" fmla="val 1626"/>
            </a:avLst>
          </a:prstGeom>
          <a:solidFill>
            <a:srgbClr val="2A3242"/>
          </a:solidFill>
          <a:ln w="12700">
            <a:solidFill>
              <a:srgbClr val="2A3242"/>
            </a:solidFill>
            <a:prstDash val="solid"/>
          </a:ln>
        </p:spPr>
      </p:sp>
      <p:sp>
        <p:nvSpPr>
          <p:cNvPr id="15" name="Text 13"/>
          <p:cNvSpPr txBox="1"/>
          <p:nvPr/>
        </p:nvSpPr>
        <p:spPr>
          <a:xfrm>
            <a:off x="7843079" y="2075688"/>
            <a:ext cx="3388497" cy="411480"/>
          </a:xfrm>
          <a:prstGeom prst="rect">
            <a:avLst/>
          </a:prstGeom>
          <a:noFill/>
          <a:ln/>
        </p:spPr>
        <p:txBody>
          <a:bodyPr wrap="square" lIns="0" tIns="0" rIns="0" bIns="0" rtlCol="0" anchor="ctr"/>
          <a:lstStyle/>
          <a:p>
            <a:pPr indent="0" marL="0">
              <a:lnSpc>
                <a:spcPct val="110000"/>
              </a:lnSpc>
              <a:buNone/>
            </a:pPr>
            <a:r>
              <a:rPr lang="en-US" sz="1100" b="1" spc="100" kern="0" dirty="0">
                <a:solidFill>
                  <a:srgbClr val="8A94A6"/>
                </a:solidFill>
                <a:latin typeface="Calibri" pitchFamily="34" charset="0"/>
                <a:ea typeface="Calibri" pitchFamily="34" charset="-122"/>
                <a:cs typeface="Calibri" pitchFamily="34" charset="-120"/>
              </a:rPr>
              <a:t>IMPLEMENTATION FEASIBILITY</a:t>
            </a:r>
            <a:endParaRPr lang="en-US" sz="1100" dirty="0"/>
          </a:p>
        </p:txBody>
      </p:sp>
      <p:sp>
        <p:nvSpPr>
          <p:cNvPr id="16" name="Shape 14"/>
          <p:cNvSpPr/>
          <p:nvPr/>
        </p:nvSpPr>
        <p:spPr>
          <a:xfrm>
            <a:off x="7843079" y="2496312"/>
            <a:ext cx="3388497" cy="438912"/>
          </a:xfrm>
          <a:prstGeom prst="roundRect">
            <a:avLst>
              <a:gd name="adj" fmla="val 50000"/>
            </a:avLst>
          </a:prstGeom>
          <a:solidFill>
            <a:srgbClr val="B23B2E"/>
          </a:solidFill>
          <a:ln w="12700">
            <a:solidFill>
              <a:srgbClr val="B23B2E"/>
            </a:solidFill>
            <a:prstDash val="solid"/>
          </a:ln>
        </p:spPr>
      </p:sp>
      <p:sp>
        <p:nvSpPr>
          <p:cNvPr id="17" name="Text 15"/>
          <p:cNvSpPr txBox="1"/>
          <p:nvPr/>
        </p:nvSpPr>
        <p:spPr>
          <a:xfrm>
            <a:off x="7843079" y="2496312"/>
            <a:ext cx="3388497"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HARD</a:t>
            </a:r>
            <a:endParaRPr lang="en-US" sz="1500" dirty="0"/>
          </a:p>
        </p:txBody>
      </p:sp>
      <p:sp>
        <p:nvSpPr>
          <p:cNvPr id="18" name="Text 16"/>
          <p:cNvSpPr txBox="1"/>
          <p:nvPr/>
        </p:nvSpPr>
        <p:spPr>
          <a:xfrm>
            <a:off x="7843079" y="3136392"/>
            <a:ext cx="3388497" cy="1965960"/>
          </a:xfrm>
          <a:prstGeom prst="rect">
            <a:avLst/>
          </a:prstGeom>
          <a:noFill/>
          <a:ln/>
        </p:spPr>
        <p:txBody>
          <a:bodyPr wrap="square" lIns="0" tIns="0" rIns="0" bIns="0" rtlCol="0" anchor="ctr"/>
          <a:lstStyle/>
          <a:p>
            <a:pPr indent="0" marL="0">
              <a:lnSpc>
                <a:spcPct val="125000"/>
              </a:lnSpc>
              <a:buNone/>
            </a:pPr>
            <a:r>
              <a:rPr lang="en-US" sz="1150" dirty="0">
                <a:solidFill>
                  <a:srgbClr val="C3CAD6"/>
                </a:solidFill>
                <a:latin typeface="Calibri" pitchFamily="34" charset="0"/>
                <a:ea typeface="Calibri" pitchFamily="34" charset="-122"/>
                <a:cs typeface="Calibri" pitchFamily="34" charset="-120"/>
              </a:rPr>
              <a:t>The schema field is trivial to add. The real work is a live integration with each DISCOM's own SCADA/grid-management system — a systems-integration project outside this codebase, and one every DISCOM would expose differently.</a:t>
            </a:r>
            <a:endParaRPr lang="en-US" sz="1150" dirty="0"/>
          </a:p>
        </p:txBody>
      </p:sp>
      <p:sp>
        <p:nvSpPr>
          <p:cNvPr id="19" name="Text 17"/>
          <p:cNvSpPr txBox="1"/>
          <p:nvPr/>
        </p:nvSpPr>
        <p:spPr>
          <a:xfrm>
            <a:off x="7843079" y="5440680"/>
            <a:ext cx="3388497" cy="228600"/>
          </a:xfrm>
          <a:prstGeom prst="rect">
            <a:avLst/>
          </a:prstGeom>
          <a:noFill/>
          <a:ln/>
        </p:spPr>
        <p:txBody>
          <a:bodyPr wrap="square" lIns="0" tIns="0" rIns="0" bIns="0" rtlCol="0" anchor="ctr"/>
          <a:lstStyle/>
          <a:p>
            <a:pPr indent="0" marL="0">
              <a:buNone/>
            </a:pPr>
            <a:r>
              <a:rPr lang="en-US" sz="1000" b="1" spc="100" kern="0" dirty="0">
                <a:solidFill>
                  <a:srgbClr val="8A94A6"/>
                </a:solidFill>
                <a:latin typeface="Calibri" pitchFamily="34" charset="0"/>
                <a:ea typeface="Calibri" pitchFamily="34" charset="-122"/>
                <a:cs typeface="Calibri" pitchFamily="34" charset="-120"/>
              </a:rPr>
              <a:t>REQUIRES</a:t>
            </a:r>
            <a:endParaRPr lang="en-US" sz="1000" dirty="0"/>
          </a:p>
        </p:txBody>
      </p:sp>
      <p:sp>
        <p:nvSpPr>
          <p:cNvPr id="20" name="Text 18"/>
          <p:cNvSpPr txBox="1"/>
          <p:nvPr/>
        </p:nvSpPr>
        <p:spPr>
          <a:xfrm>
            <a:off x="7843079" y="5687568"/>
            <a:ext cx="3388497" cy="621792"/>
          </a:xfrm>
          <a:prstGeom prst="rect">
            <a:avLst/>
          </a:prstGeom>
          <a:noFill/>
          <a:ln/>
        </p:spPr>
        <p:txBody>
          <a:bodyPr wrap="square" lIns="0" tIns="0" rIns="0" bIns="0" rtlCol="0" anchor="ctr"/>
          <a:lstStyle/>
          <a:p>
            <a:pPr indent="0" marL="0">
              <a:lnSpc>
                <a:spcPct val="115000"/>
              </a:lnSpc>
              <a:buNone/>
            </a:pPr>
            <a:r>
              <a:rPr lang="en-US" sz="1100" i="1" dirty="0">
                <a:solidFill>
                  <a:srgbClr val="FFFFFF"/>
                </a:solidFill>
                <a:latin typeface="Calibri" pitchFamily="34" charset="0"/>
                <a:ea typeface="Calibri" pitchFamily="34" charset="-122"/>
                <a:cs typeface="Calibri" pitchFamily="34" charset="-120"/>
              </a:rPr>
              <a:t>Code + a real-time feed from each DISCOM's own grid-management system</a:t>
            </a:r>
            <a:endParaRPr lang="en-US" sz="1100" dirty="0"/>
          </a:p>
        </p:txBody>
      </p:sp>
      <p:sp>
        <p:nvSpPr>
          <p:cNvPr id="21" name="Text 19"/>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01 — The Full Gap Inventory — Gap 8 of 12</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GAP 9 OF 12</a:t>
            </a:r>
            <a:endParaRPr lang="en-US" sz="1300" dirty="0"/>
          </a:p>
        </p:txBody>
      </p:sp>
      <p:sp>
        <p:nvSpPr>
          <p:cNvPr id="3" name="Shape 1"/>
          <p:cNvSpPr/>
          <p:nvPr/>
        </p:nvSpPr>
        <p:spPr>
          <a:xfrm>
            <a:off x="685800" y="896112"/>
            <a:ext cx="402336" cy="402336"/>
          </a:xfrm>
          <a:prstGeom prst="ellipse">
            <a:avLst/>
          </a:prstGeom>
          <a:solidFill>
            <a:srgbClr val="2A3242"/>
          </a:solidFill>
          <a:ln w="12700">
            <a:solidFill>
              <a:srgbClr val="2A3242"/>
            </a:solidFill>
            <a:prstDash val="solid"/>
          </a:ln>
        </p:spPr>
      </p:sp>
      <p:sp>
        <p:nvSpPr>
          <p:cNvPr id="4" name="Text 2"/>
          <p:cNvSpPr txBox="1"/>
          <p:nvPr/>
        </p:nvSpPr>
        <p:spPr>
          <a:xfrm>
            <a:off x="685800" y="896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5" name="Text 3"/>
          <p:cNvSpPr txBox="1"/>
          <p:nvPr/>
        </p:nvSpPr>
        <p:spPr>
          <a:xfrm>
            <a:off x="1234440" y="841248"/>
            <a:ext cx="8716975" cy="868680"/>
          </a:xfrm>
          <a:prstGeom prst="rect">
            <a:avLst/>
          </a:prstGeom>
          <a:noFill/>
          <a:ln/>
        </p:spPr>
        <p:txBody>
          <a:bodyPr wrap="square" lIns="0" tIns="0" rIns="0" bIns="0" rtlCol="0" anchor="ctr"/>
          <a:lstStyle/>
          <a:p>
            <a:pPr indent="0" marL="0">
              <a:lnSpc>
                <a:spcPct val="105000"/>
              </a:lnSpc>
              <a:buNone/>
            </a:pPr>
            <a:r>
              <a:rPr lang="en-US" sz="2300" b="1" dirty="0">
                <a:solidFill>
                  <a:srgbClr val="171B24"/>
                </a:solidFill>
                <a:latin typeface="Cambria" pitchFamily="34" charset="0"/>
                <a:ea typeface="Cambria" pitchFamily="34" charset="-122"/>
                <a:cs typeface="Cambria" pitchFamily="34" charset="-120"/>
              </a:rPr>
              <a:t>Every shortfall punished the same, fraud or genuine fault</a:t>
            </a:r>
            <a:endParaRPr lang="en-US" sz="2300" dirty="0"/>
          </a:p>
        </p:txBody>
      </p:sp>
      <p:sp>
        <p:nvSpPr>
          <p:cNvPr id="6" name="Shape 4"/>
          <p:cNvSpPr/>
          <p:nvPr/>
        </p:nvSpPr>
        <p:spPr>
          <a:xfrm>
            <a:off x="9997135" y="914400"/>
            <a:ext cx="1280160" cy="384048"/>
          </a:xfrm>
          <a:prstGeom prst="roundRect">
            <a:avLst>
              <a:gd name="adj" fmla="val 50000"/>
            </a:avLst>
          </a:prstGeom>
          <a:solidFill>
            <a:srgbClr val="C07F2A"/>
          </a:solidFill>
          <a:ln w="12700">
            <a:solidFill>
              <a:srgbClr val="C07F2A"/>
            </a:solidFill>
            <a:prstDash val="solid"/>
          </a:ln>
        </p:spPr>
      </p:sp>
      <p:sp>
        <p:nvSpPr>
          <p:cNvPr id="7" name="Text 5"/>
          <p:cNvSpPr txBox="1"/>
          <p:nvPr/>
        </p:nvSpPr>
        <p:spPr>
          <a:xfrm>
            <a:off x="9997135" y="914400"/>
            <a:ext cx="12801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MEDIUM</a:t>
            </a:r>
            <a:endParaRPr lang="en-US" sz="1300" dirty="0"/>
          </a:p>
        </p:txBody>
      </p:sp>
      <p:sp>
        <p:nvSpPr>
          <p:cNvPr id="8" name="Shape 6"/>
          <p:cNvSpPr/>
          <p:nvPr/>
        </p:nvSpPr>
        <p:spPr>
          <a:xfrm>
            <a:off x="685800" y="1874520"/>
            <a:ext cx="6654359" cy="2011680"/>
          </a:xfrm>
          <a:prstGeom prst="roundRect">
            <a:avLst>
              <a:gd name="adj" fmla="val 3182"/>
            </a:avLst>
          </a:prstGeom>
          <a:solidFill>
            <a:srgbClr val="FFFFFF"/>
          </a:solidFill>
          <a:ln w="12700">
            <a:solidFill>
              <a:srgbClr val="E2E4E8"/>
            </a:solidFill>
            <a:prstDash val="solid"/>
          </a:ln>
        </p:spPr>
      </p:sp>
      <p:sp>
        <p:nvSpPr>
          <p:cNvPr id="9" name="Text 7"/>
          <p:cNvSpPr txBox="1"/>
          <p:nvPr/>
        </p:nvSpPr>
        <p:spPr>
          <a:xfrm>
            <a:off x="960120" y="202082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THE GAP</a:t>
            </a:r>
            <a:endParaRPr lang="en-US" sz="1150" dirty="0"/>
          </a:p>
        </p:txBody>
      </p:sp>
      <p:sp>
        <p:nvSpPr>
          <p:cNvPr id="10" name="Text 8"/>
          <p:cNvSpPr txBox="1"/>
          <p:nvPr/>
        </p:nvSpPr>
        <p:spPr>
          <a:xfrm>
            <a:off x="960120" y="2331720"/>
            <a:ext cx="6105719" cy="138988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If a seller delivers short because of a real equipment fault or a genuine grid outage, the settlement logic fines them exactly as harshly as someone who simply didn't bother to deliver.</a:t>
            </a:r>
            <a:endParaRPr lang="en-US" sz="1250" dirty="0"/>
          </a:p>
        </p:txBody>
      </p:sp>
      <p:sp>
        <p:nvSpPr>
          <p:cNvPr id="11" name="Shape 9"/>
          <p:cNvSpPr/>
          <p:nvPr/>
        </p:nvSpPr>
        <p:spPr>
          <a:xfrm>
            <a:off x="685800" y="4069080"/>
            <a:ext cx="6654359" cy="2331720"/>
          </a:xfrm>
          <a:prstGeom prst="roundRect">
            <a:avLst>
              <a:gd name="adj" fmla="val 2745"/>
            </a:avLst>
          </a:prstGeom>
          <a:solidFill>
            <a:srgbClr val="FFFFFF"/>
          </a:solidFill>
          <a:ln w="12700">
            <a:solidFill>
              <a:srgbClr val="E2E4E8"/>
            </a:solidFill>
            <a:prstDash val="solid"/>
          </a:ln>
        </p:spPr>
      </p:sp>
      <p:sp>
        <p:nvSpPr>
          <p:cNvPr id="12" name="Text 10"/>
          <p:cNvSpPr txBox="1"/>
          <p:nvPr/>
        </p:nvSpPr>
        <p:spPr>
          <a:xfrm>
            <a:off x="960120" y="421538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CONCEPTUAL FIX</a:t>
            </a:r>
            <a:endParaRPr lang="en-US" sz="1150" dirty="0"/>
          </a:p>
        </p:txBody>
      </p:sp>
      <p:sp>
        <p:nvSpPr>
          <p:cNvPr id="13" name="Text 11"/>
          <p:cNvSpPr txBox="1"/>
          <p:nvPr/>
        </p:nvSpPr>
        <p:spPr>
          <a:xfrm>
            <a:off x="960120" y="4526280"/>
            <a:ext cx="6105719" cy="170992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Add nonDeliveryReason with category GRID_OUTAGE (auto-verified against the DISCOM's own outage log) or EQUIPMENT_FAULT (allowed but capped per seller per quarter, mirroring real capacity-market forced-outage accounting).</a:t>
            </a:r>
            <a:endParaRPr lang="en-US" sz="1250" dirty="0"/>
          </a:p>
        </p:txBody>
      </p:sp>
      <p:sp>
        <p:nvSpPr>
          <p:cNvPr id="14" name="Shape 12"/>
          <p:cNvSpPr/>
          <p:nvPr/>
        </p:nvSpPr>
        <p:spPr>
          <a:xfrm>
            <a:off x="7568759" y="1874520"/>
            <a:ext cx="3937137" cy="4526280"/>
          </a:xfrm>
          <a:prstGeom prst="roundRect">
            <a:avLst>
              <a:gd name="adj" fmla="val 1626"/>
            </a:avLst>
          </a:prstGeom>
          <a:solidFill>
            <a:srgbClr val="2A3242"/>
          </a:solidFill>
          <a:ln w="12700">
            <a:solidFill>
              <a:srgbClr val="2A3242"/>
            </a:solidFill>
            <a:prstDash val="solid"/>
          </a:ln>
        </p:spPr>
      </p:sp>
      <p:sp>
        <p:nvSpPr>
          <p:cNvPr id="15" name="Text 13"/>
          <p:cNvSpPr txBox="1"/>
          <p:nvPr/>
        </p:nvSpPr>
        <p:spPr>
          <a:xfrm>
            <a:off x="7843079" y="2075688"/>
            <a:ext cx="3388497" cy="411480"/>
          </a:xfrm>
          <a:prstGeom prst="rect">
            <a:avLst/>
          </a:prstGeom>
          <a:noFill/>
          <a:ln/>
        </p:spPr>
        <p:txBody>
          <a:bodyPr wrap="square" lIns="0" tIns="0" rIns="0" bIns="0" rtlCol="0" anchor="ctr"/>
          <a:lstStyle/>
          <a:p>
            <a:pPr indent="0" marL="0">
              <a:lnSpc>
                <a:spcPct val="110000"/>
              </a:lnSpc>
              <a:buNone/>
            </a:pPr>
            <a:r>
              <a:rPr lang="en-US" sz="1100" b="1" spc="100" kern="0" dirty="0">
                <a:solidFill>
                  <a:srgbClr val="8A94A6"/>
                </a:solidFill>
                <a:latin typeface="Calibri" pitchFamily="34" charset="0"/>
                <a:ea typeface="Calibri" pitchFamily="34" charset="-122"/>
                <a:cs typeface="Calibri" pitchFamily="34" charset="-120"/>
              </a:rPr>
              <a:t>IMPLEMENTATION FEASIBILITY</a:t>
            </a:r>
            <a:endParaRPr lang="en-US" sz="1100" dirty="0"/>
          </a:p>
        </p:txBody>
      </p:sp>
      <p:sp>
        <p:nvSpPr>
          <p:cNvPr id="16" name="Shape 14"/>
          <p:cNvSpPr/>
          <p:nvPr/>
        </p:nvSpPr>
        <p:spPr>
          <a:xfrm>
            <a:off x="7843079" y="2496312"/>
            <a:ext cx="3388497" cy="438912"/>
          </a:xfrm>
          <a:prstGeom prst="roundRect">
            <a:avLst>
              <a:gd name="adj" fmla="val 50000"/>
            </a:avLst>
          </a:prstGeom>
          <a:solidFill>
            <a:srgbClr val="C07F2A"/>
          </a:solidFill>
          <a:ln w="12700">
            <a:solidFill>
              <a:srgbClr val="C07F2A"/>
            </a:solidFill>
            <a:prstDash val="solid"/>
          </a:ln>
        </p:spPr>
      </p:sp>
      <p:sp>
        <p:nvSpPr>
          <p:cNvPr id="17" name="Text 15"/>
          <p:cNvSpPr txBox="1"/>
          <p:nvPr/>
        </p:nvSpPr>
        <p:spPr>
          <a:xfrm>
            <a:off x="7843079" y="2496312"/>
            <a:ext cx="3388497"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MEDIUM</a:t>
            </a:r>
            <a:endParaRPr lang="en-US" sz="1500" dirty="0"/>
          </a:p>
        </p:txBody>
      </p:sp>
      <p:sp>
        <p:nvSpPr>
          <p:cNvPr id="18" name="Text 16"/>
          <p:cNvSpPr txBox="1"/>
          <p:nvPr/>
        </p:nvSpPr>
        <p:spPr>
          <a:xfrm>
            <a:off x="7843079" y="3136392"/>
            <a:ext cx="3388497" cy="1965960"/>
          </a:xfrm>
          <a:prstGeom prst="rect">
            <a:avLst/>
          </a:prstGeom>
          <a:noFill/>
          <a:ln/>
        </p:spPr>
        <p:txBody>
          <a:bodyPr wrap="square" lIns="0" tIns="0" rIns="0" bIns="0" rtlCol="0" anchor="ctr"/>
          <a:lstStyle/>
          <a:p>
            <a:pPr indent="0" marL="0">
              <a:lnSpc>
                <a:spcPct val="125000"/>
              </a:lnSpc>
              <a:buNone/>
            </a:pPr>
            <a:r>
              <a:rPr lang="en-US" sz="1150" dirty="0">
                <a:solidFill>
                  <a:srgbClr val="C3CAD6"/>
                </a:solidFill>
                <a:latin typeface="Calibri" pitchFamily="34" charset="0"/>
                <a:ea typeface="Calibri" pitchFamily="34" charset="-122"/>
                <a:cs typeface="Calibri" pitchFamily="34" charset="-120"/>
              </a:rPr>
              <a:t>GRID_OUTAGE verification is mostly code, if the DISCOM's outage log is reachable. EQUIPMENT_FAULT's quarterly cap needs new stateful tracking per seller — a real but moderate build, not a new external system.</a:t>
            </a:r>
            <a:endParaRPr lang="en-US" sz="1150" dirty="0"/>
          </a:p>
        </p:txBody>
      </p:sp>
      <p:sp>
        <p:nvSpPr>
          <p:cNvPr id="19" name="Text 17"/>
          <p:cNvSpPr txBox="1"/>
          <p:nvPr/>
        </p:nvSpPr>
        <p:spPr>
          <a:xfrm>
            <a:off x="7843079" y="5440680"/>
            <a:ext cx="3388497" cy="228600"/>
          </a:xfrm>
          <a:prstGeom prst="rect">
            <a:avLst/>
          </a:prstGeom>
          <a:noFill/>
          <a:ln/>
        </p:spPr>
        <p:txBody>
          <a:bodyPr wrap="square" lIns="0" tIns="0" rIns="0" bIns="0" rtlCol="0" anchor="ctr"/>
          <a:lstStyle/>
          <a:p>
            <a:pPr indent="0" marL="0">
              <a:buNone/>
            </a:pPr>
            <a:r>
              <a:rPr lang="en-US" sz="1000" b="1" spc="100" kern="0" dirty="0">
                <a:solidFill>
                  <a:srgbClr val="8A94A6"/>
                </a:solidFill>
                <a:latin typeface="Calibri" pitchFamily="34" charset="0"/>
                <a:ea typeface="Calibri" pitchFamily="34" charset="-122"/>
                <a:cs typeface="Calibri" pitchFamily="34" charset="-120"/>
              </a:rPr>
              <a:t>REQUIRES</a:t>
            </a:r>
            <a:endParaRPr lang="en-US" sz="1000" dirty="0"/>
          </a:p>
        </p:txBody>
      </p:sp>
      <p:sp>
        <p:nvSpPr>
          <p:cNvPr id="20" name="Text 18"/>
          <p:cNvSpPr txBox="1"/>
          <p:nvPr/>
        </p:nvSpPr>
        <p:spPr>
          <a:xfrm>
            <a:off x="7843079" y="5687568"/>
            <a:ext cx="3388497" cy="621792"/>
          </a:xfrm>
          <a:prstGeom prst="rect">
            <a:avLst/>
          </a:prstGeom>
          <a:noFill/>
          <a:ln/>
        </p:spPr>
        <p:txBody>
          <a:bodyPr wrap="square" lIns="0" tIns="0" rIns="0" bIns="0" rtlCol="0" anchor="ctr"/>
          <a:lstStyle/>
          <a:p>
            <a:pPr indent="0" marL="0">
              <a:lnSpc>
                <a:spcPct val="115000"/>
              </a:lnSpc>
              <a:buNone/>
            </a:pPr>
            <a:r>
              <a:rPr lang="en-US" sz="1100" i="1" dirty="0">
                <a:solidFill>
                  <a:srgbClr val="FFFFFF"/>
                </a:solidFill>
                <a:latin typeface="Calibri" pitchFamily="34" charset="0"/>
                <a:ea typeface="Calibri" pitchFamily="34" charset="-122"/>
                <a:cs typeface="Calibri" pitchFamily="34" charset="-120"/>
              </a:rPr>
              <a:t>Code + read access to the DISCOM's own outage log</a:t>
            </a:r>
            <a:endParaRPr lang="en-US" sz="1100" dirty="0"/>
          </a:p>
        </p:txBody>
      </p:sp>
      <p:sp>
        <p:nvSpPr>
          <p:cNvPr id="21" name="Text 19"/>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01 — The Full Gap Inventory — Gap 9 of 12</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GAP 10 OF 12</a:t>
            </a:r>
            <a:endParaRPr lang="en-US" sz="1300" dirty="0"/>
          </a:p>
        </p:txBody>
      </p:sp>
      <p:sp>
        <p:nvSpPr>
          <p:cNvPr id="3" name="Shape 1"/>
          <p:cNvSpPr/>
          <p:nvPr/>
        </p:nvSpPr>
        <p:spPr>
          <a:xfrm>
            <a:off x="685800" y="896112"/>
            <a:ext cx="402336" cy="402336"/>
          </a:xfrm>
          <a:prstGeom prst="ellipse">
            <a:avLst/>
          </a:prstGeom>
          <a:solidFill>
            <a:srgbClr val="2A3242"/>
          </a:solidFill>
          <a:ln w="12700">
            <a:solidFill>
              <a:srgbClr val="2A3242"/>
            </a:solidFill>
            <a:prstDash val="solid"/>
          </a:ln>
        </p:spPr>
      </p:sp>
      <p:sp>
        <p:nvSpPr>
          <p:cNvPr id="4" name="Text 2"/>
          <p:cNvSpPr txBox="1"/>
          <p:nvPr/>
        </p:nvSpPr>
        <p:spPr>
          <a:xfrm>
            <a:off x="685800" y="896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5" name="Text 3"/>
          <p:cNvSpPr txBox="1"/>
          <p:nvPr/>
        </p:nvSpPr>
        <p:spPr>
          <a:xfrm>
            <a:off x="1234440" y="841248"/>
            <a:ext cx="8716975" cy="868680"/>
          </a:xfrm>
          <a:prstGeom prst="rect">
            <a:avLst/>
          </a:prstGeom>
          <a:noFill/>
          <a:ln/>
        </p:spPr>
        <p:txBody>
          <a:bodyPr wrap="square" lIns="0" tIns="0" rIns="0" bIns="0" rtlCol="0" anchor="ctr"/>
          <a:lstStyle/>
          <a:p>
            <a:pPr indent="0" marL="0">
              <a:lnSpc>
                <a:spcPct val="105000"/>
              </a:lnSpc>
              <a:buNone/>
            </a:pPr>
            <a:r>
              <a:rPr lang="en-US" sz="2300" b="1" dirty="0">
                <a:solidFill>
                  <a:srgbClr val="171B24"/>
                </a:solidFill>
                <a:latin typeface="Cambria" pitchFamily="34" charset="0"/>
                <a:ea typeface="Cambria" pitchFamily="34" charset="-122"/>
                <a:cs typeface="Cambria" pitchFamily="34" charset="-120"/>
              </a:rPr>
              <a:t>A lost connection looks exactly like a lost delivery</a:t>
            </a:r>
            <a:endParaRPr lang="en-US" sz="2300" dirty="0"/>
          </a:p>
        </p:txBody>
      </p:sp>
      <p:sp>
        <p:nvSpPr>
          <p:cNvPr id="6" name="Shape 4"/>
          <p:cNvSpPr/>
          <p:nvPr/>
        </p:nvSpPr>
        <p:spPr>
          <a:xfrm>
            <a:off x="9997135" y="914400"/>
            <a:ext cx="1280160" cy="384048"/>
          </a:xfrm>
          <a:prstGeom prst="roundRect">
            <a:avLst>
              <a:gd name="adj" fmla="val 50000"/>
            </a:avLst>
          </a:prstGeom>
          <a:solidFill>
            <a:srgbClr val="8A94A6"/>
          </a:solidFill>
          <a:ln w="12700">
            <a:solidFill>
              <a:srgbClr val="8A94A6"/>
            </a:solidFill>
            <a:prstDash val="solid"/>
          </a:ln>
        </p:spPr>
      </p:sp>
      <p:sp>
        <p:nvSpPr>
          <p:cNvPr id="7" name="Text 5"/>
          <p:cNvSpPr txBox="1"/>
          <p:nvPr/>
        </p:nvSpPr>
        <p:spPr>
          <a:xfrm>
            <a:off x="9997135" y="914400"/>
            <a:ext cx="12801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LOW</a:t>
            </a:r>
            <a:endParaRPr lang="en-US" sz="1300" dirty="0"/>
          </a:p>
        </p:txBody>
      </p:sp>
      <p:sp>
        <p:nvSpPr>
          <p:cNvPr id="8" name="Shape 6"/>
          <p:cNvSpPr/>
          <p:nvPr/>
        </p:nvSpPr>
        <p:spPr>
          <a:xfrm>
            <a:off x="685800" y="1874520"/>
            <a:ext cx="6654359" cy="2011680"/>
          </a:xfrm>
          <a:prstGeom prst="roundRect">
            <a:avLst>
              <a:gd name="adj" fmla="val 3182"/>
            </a:avLst>
          </a:prstGeom>
          <a:solidFill>
            <a:srgbClr val="FFFFFF"/>
          </a:solidFill>
          <a:ln w="12700">
            <a:solidFill>
              <a:srgbClr val="E2E4E8"/>
            </a:solidFill>
            <a:prstDash val="solid"/>
          </a:ln>
        </p:spPr>
      </p:sp>
      <p:sp>
        <p:nvSpPr>
          <p:cNvPr id="9" name="Text 7"/>
          <p:cNvSpPr txBox="1"/>
          <p:nvPr/>
        </p:nvSpPr>
        <p:spPr>
          <a:xfrm>
            <a:off x="960120" y="202082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THE GAP</a:t>
            </a:r>
            <a:endParaRPr lang="en-US" sz="1150" dirty="0"/>
          </a:p>
        </p:txBody>
      </p:sp>
      <p:sp>
        <p:nvSpPr>
          <p:cNvPr id="10" name="Text 8"/>
          <p:cNvSpPr txBox="1"/>
          <p:nvPr/>
        </p:nvSpPr>
        <p:spPr>
          <a:xfrm>
            <a:off x="960120" y="2331720"/>
            <a:ext cx="6105719" cy="138988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If a meter's connectivity drops mid-delivery, the missing reading looks identical to zero delivered to the settlement software — even though the power itself never actually stopped.</a:t>
            </a:r>
            <a:endParaRPr lang="en-US" sz="1250" dirty="0"/>
          </a:p>
        </p:txBody>
      </p:sp>
      <p:sp>
        <p:nvSpPr>
          <p:cNvPr id="11" name="Shape 9"/>
          <p:cNvSpPr/>
          <p:nvPr/>
        </p:nvSpPr>
        <p:spPr>
          <a:xfrm>
            <a:off x="685800" y="4069080"/>
            <a:ext cx="6654359" cy="2331720"/>
          </a:xfrm>
          <a:prstGeom prst="roundRect">
            <a:avLst>
              <a:gd name="adj" fmla="val 2745"/>
            </a:avLst>
          </a:prstGeom>
          <a:solidFill>
            <a:srgbClr val="FFFFFF"/>
          </a:solidFill>
          <a:ln w="12700">
            <a:solidFill>
              <a:srgbClr val="E2E4E8"/>
            </a:solidFill>
            <a:prstDash val="solid"/>
          </a:ln>
        </p:spPr>
      </p:sp>
      <p:sp>
        <p:nvSpPr>
          <p:cNvPr id="12" name="Text 10"/>
          <p:cNvSpPr txBox="1"/>
          <p:nvPr/>
        </p:nvSpPr>
        <p:spPr>
          <a:xfrm>
            <a:off x="960120" y="421538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CONCEPTUAL FIX</a:t>
            </a:r>
            <a:endParaRPr lang="en-US" sz="1150" dirty="0"/>
          </a:p>
        </p:txBody>
      </p:sp>
      <p:sp>
        <p:nvSpPr>
          <p:cNvPr id="13" name="Text 11"/>
          <p:cNvSpPr txBox="1"/>
          <p:nvPr/>
        </p:nvSpPr>
        <p:spPr>
          <a:xfrm>
            <a:off x="960120" y="4526280"/>
            <a:ext cx="6105719" cy="170992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On a missing reading, hold settlement in AWAITING_TELEMETRY_RECOVERY for a bounded grace period, recovering from the meter's own offline log, the buyer's meter, or the DISCOM's check-meter record before ever defaulting to zero.</a:t>
            </a:r>
            <a:endParaRPr lang="en-US" sz="1250" dirty="0"/>
          </a:p>
        </p:txBody>
      </p:sp>
      <p:sp>
        <p:nvSpPr>
          <p:cNvPr id="14" name="Shape 12"/>
          <p:cNvSpPr/>
          <p:nvPr/>
        </p:nvSpPr>
        <p:spPr>
          <a:xfrm>
            <a:off x="7568759" y="1874520"/>
            <a:ext cx="3937137" cy="4526280"/>
          </a:xfrm>
          <a:prstGeom prst="roundRect">
            <a:avLst>
              <a:gd name="adj" fmla="val 1626"/>
            </a:avLst>
          </a:prstGeom>
          <a:solidFill>
            <a:srgbClr val="2A3242"/>
          </a:solidFill>
          <a:ln w="12700">
            <a:solidFill>
              <a:srgbClr val="2A3242"/>
            </a:solidFill>
            <a:prstDash val="solid"/>
          </a:ln>
        </p:spPr>
      </p:sp>
      <p:sp>
        <p:nvSpPr>
          <p:cNvPr id="15" name="Text 13"/>
          <p:cNvSpPr txBox="1"/>
          <p:nvPr/>
        </p:nvSpPr>
        <p:spPr>
          <a:xfrm>
            <a:off x="7843079" y="2075688"/>
            <a:ext cx="3388497" cy="411480"/>
          </a:xfrm>
          <a:prstGeom prst="rect">
            <a:avLst/>
          </a:prstGeom>
          <a:noFill/>
          <a:ln/>
        </p:spPr>
        <p:txBody>
          <a:bodyPr wrap="square" lIns="0" tIns="0" rIns="0" bIns="0" rtlCol="0" anchor="ctr"/>
          <a:lstStyle/>
          <a:p>
            <a:pPr indent="0" marL="0">
              <a:lnSpc>
                <a:spcPct val="110000"/>
              </a:lnSpc>
              <a:buNone/>
            </a:pPr>
            <a:r>
              <a:rPr lang="en-US" sz="1100" b="1" spc="100" kern="0" dirty="0">
                <a:solidFill>
                  <a:srgbClr val="8A94A6"/>
                </a:solidFill>
                <a:latin typeface="Calibri" pitchFamily="34" charset="0"/>
                <a:ea typeface="Calibri" pitchFamily="34" charset="-122"/>
                <a:cs typeface="Calibri" pitchFamily="34" charset="-120"/>
              </a:rPr>
              <a:t>IMPLEMENTATION FEASIBILITY</a:t>
            </a:r>
            <a:endParaRPr lang="en-US" sz="1100" dirty="0"/>
          </a:p>
        </p:txBody>
      </p:sp>
      <p:sp>
        <p:nvSpPr>
          <p:cNvPr id="16" name="Shape 14"/>
          <p:cNvSpPr/>
          <p:nvPr/>
        </p:nvSpPr>
        <p:spPr>
          <a:xfrm>
            <a:off x="7843079" y="2496312"/>
            <a:ext cx="3388497" cy="438912"/>
          </a:xfrm>
          <a:prstGeom prst="roundRect">
            <a:avLst>
              <a:gd name="adj" fmla="val 50000"/>
            </a:avLst>
          </a:prstGeom>
          <a:solidFill>
            <a:srgbClr val="C07F2A"/>
          </a:solidFill>
          <a:ln w="12700">
            <a:solidFill>
              <a:srgbClr val="C07F2A"/>
            </a:solidFill>
            <a:prstDash val="solid"/>
          </a:ln>
        </p:spPr>
      </p:sp>
      <p:sp>
        <p:nvSpPr>
          <p:cNvPr id="17" name="Text 15"/>
          <p:cNvSpPr txBox="1"/>
          <p:nvPr/>
        </p:nvSpPr>
        <p:spPr>
          <a:xfrm>
            <a:off x="7843079" y="2496312"/>
            <a:ext cx="3388497"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MEDIUM</a:t>
            </a:r>
            <a:endParaRPr lang="en-US" sz="1500" dirty="0"/>
          </a:p>
        </p:txBody>
      </p:sp>
      <p:sp>
        <p:nvSpPr>
          <p:cNvPr id="18" name="Text 16"/>
          <p:cNvSpPr txBox="1"/>
          <p:nvPr/>
        </p:nvSpPr>
        <p:spPr>
          <a:xfrm>
            <a:off x="7843079" y="3136392"/>
            <a:ext cx="3388497" cy="1965960"/>
          </a:xfrm>
          <a:prstGeom prst="rect">
            <a:avLst/>
          </a:prstGeom>
          <a:noFill/>
          <a:ln/>
        </p:spPr>
        <p:txBody>
          <a:bodyPr wrap="square" lIns="0" tIns="0" rIns="0" bIns="0" rtlCol="0" anchor="ctr"/>
          <a:lstStyle/>
          <a:p>
            <a:pPr indent="0" marL="0">
              <a:lnSpc>
                <a:spcPct val="125000"/>
              </a:lnSpc>
              <a:buNone/>
            </a:pPr>
            <a:r>
              <a:rPr lang="en-US" sz="1150" dirty="0">
                <a:solidFill>
                  <a:srgbClr val="C3CAD6"/>
                </a:solidFill>
                <a:latin typeface="Calibri" pitchFamily="34" charset="0"/>
                <a:ea typeface="Calibri" pitchFamily="34" charset="-122"/>
                <a:cs typeface="Calibri" pitchFamily="34" charset="-120"/>
              </a:rPr>
              <a:t>The status/grace-period logic is straightforward software. Real recovery depends on deployed meter hardware actually logging offline and syncing later — common, but not something this codebase can guarantee for every device.</a:t>
            </a:r>
            <a:endParaRPr lang="en-US" sz="1150" dirty="0"/>
          </a:p>
        </p:txBody>
      </p:sp>
      <p:sp>
        <p:nvSpPr>
          <p:cNvPr id="19" name="Text 17"/>
          <p:cNvSpPr txBox="1"/>
          <p:nvPr/>
        </p:nvSpPr>
        <p:spPr>
          <a:xfrm>
            <a:off x="7843079" y="5440680"/>
            <a:ext cx="3388497" cy="228600"/>
          </a:xfrm>
          <a:prstGeom prst="rect">
            <a:avLst/>
          </a:prstGeom>
          <a:noFill/>
          <a:ln/>
        </p:spPr>
        <p:txBody>
          <a:bodyPr wrap="square" lIns="0" tIns="0" rIns="0" bIns="0" rtlCol="0" anchor="ctr"/>
          <a:lstStyle/>
          <a:p>
            <a:pPr indent="0" marL="0">
              <a:buNone/>
            </a:pPr>
            <a:r>
              <a:rPr lang="en-US" sz="1000" b="1" spc="100" kern="0" dirty="0">
                <a:solidFill>
                  <a:srgbClr val="8A94A6"/>
                </a:solidFill>
                <a:latin typeface="Calibri" pitchFamily="34" charset="0"/>
                <a:ea typeface="Calibri" pitchFamily="34" charset="-122"/>
                <a:cs typeface="Calibri" pitchFamily="34" charset="-120"/>
              </a:rPr>
              <a:t>REQUIRES</a:t>
            </a:r>
            <a:endParaRPr lang="en-US" sz="1000" dirty="0"/>
          </a:p>
        </p:txBody>
      </p:sp>
      <p:sp>
        <p:nvSpPr>
          <p:cNvPr id="20" name="Text 18"/>
          <p:cNvSpPr txBox="1"/>
          <p:nvPr/>
        </p:nvSpPr>
        <p:spPr>
          <a:xfrm>
            <a:off x="7843079" y="5687568"/>
            <a:ext cx="3388497" cy="621792"/>
          </a:xfrm>
          <a:prstGeom prst="rect">
            <a:avLst/>
          </a:prstGeom>
          <a:noFill/>
          <a:ln/>
        </p:spPr>
        <p:txBody>
          <a:bodyPr wrap="square" lIns="0" tIns="0" rIns="0" bIns="0" rtlCol="0" anchor="ctr"/>
          <a:lstStyle/>
          <a:p>
            <a:pPr indent="0" marL="0">
              <a:lnSpc>
                <a:spcPct val="115000"/>
              </a:lnSpc>
              <a:buNone/>
            </a:pPr>
            <a:r>
              <a:rPr lang="en-US" sz="1100" i="1" dirty="0">
                <a:solidFill>
                  <a:srgbClr val="FFFFFF"/>
                </a:solidFill>
                <a:latin typeface="Calibri" pitchFamily="34" charset="0"/>
                <a:ea typeface="Calibri" pitchFamily="34" charset="-122"/>
                <a:cs typeface="Calibri" pitchFamily="34" charset="-120"/>
              </a:rPr>
              <a:t>Code + confirmation that deployed meters support offline logging</a:t>
            </a:r>
            <a:endParaRPr lang="en-US" sz="1100" dirty="0"/>
          </a:p>
        </p:txBody>
      </p:sp>
      <p:sp>
        <p:nvSpPr>
          <p:cNvPr id="21" name="Text 19"/>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01 — The Full Gap Inventory — Gap 10 of 12</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GAP 11 OF 12</a:t>
            </a:r>
            <a:endParaRPr lang="en-US" sz="1300" dirty="0"/>
          </a:p>
        </p:txBody>
      </p:sp>
      <p:sp>
        <p:nvSpPr>
          <p:cNvPr id="3" name="Shape 1"/>
          <p:cNvSpPr/>
          <p:nvPr/>
        </p:nvSpPr>
        <p:spPr>
          <a:xfrm>
            <a:off x="685800" y="896112"/>
            <a:ext cx="402336" cy="402336"/>
          </a:xfrm>
          <a:prstGeom prst="ellipse">
            <a:avLst/>
          </a:prstGeom>
          <a:solidFill>
            <a:srgbClr val="2A3242"/>
          </a:solidFill>
          <a:ln w="12700">
            <a:solidFill>
              <a:srgbClr val="2A3242"/>
            </a:solidFill>
            <a:prstDash val="solid"/>
          </a:ln>
        </p:spPr>
      </p:sp>
      <p:sp>
        <p:nvSpPr>
          <p:cNvPr id="4" name="Text 2"/>
          <p:cNvSpPr txBox="1"/>
          <p:nvPr/>
        </p:nvSpPr>
        <p:spPr>
          <a:xfrm>
            <a:off x="685800" y="896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5" name="Text 3"/>
          <p:cNvSpPr txBox="1"/>
          <p:nvPr/>
        </p:nvSpPr>
        <p:spPr>
          <a:xfrm>
            <a:off x="1234440" y="841248"/>
            <a:ext cx="8716975" cy="868680"/>
          </a:xfrm>
          <a:prstGeom prst="rect">
            <a:avLst/>
          </a:prstGeom>
          <a:noFill/>
          <a:ln/>
        </p:spPr>
        <p:txBody>
          <a:bodyPr wrap="square" lIns="0" tIns="0" rIns="0" bIns="0" rtlCol="0" anchor="ctr"/>
          <a:lstStyle/>
          <a:p>
            <a:pPr indent="0" marL="0">
              <a:lnSpc>
                <a:spcPct val="105000"/>
              </a:lnSpc>
              <a:buNone/>
            </a:pPr>
            <a:r>
              <a:rPr lang="en-US" sz="2300" b="1" dirty="0">
                <a:solidFill>
                  <a:srgbClr val="171B24"/>
                </a:solidFill>
                <a:latin typeface="Cambria" pitchFamily="34" charset="0"/>
                <a:ea typeface="Cambria" pitchFamily="34" charset="-122"/>
                <a:cs typeface="Cambria" pitchFamily="34" charset="-120"/>
              </a:rPr>
              <a:t>Delivering faster than promised earns nothing extra</a:t>
            </a:r>
            <a:endParaRPr lang="en-US" sz="2300" dirty="0"/>
          </a:p>
        </p:txBody>
      </p:sp>
      <p:sp>
        <p:nvSpPr>
          <p:cNvPr id="6" name="Shape 4"/>
          <p:cNvSpPr/>
          <p:nvPr/>
        </p:nvSpPr>
        <p:spPr>
          <a:xfrm>
            <a:off x="9997135" y="914400"/>
            <a:ext cx="1280160" cy="384048"/>
          </a:xfrm>
          <a:prstGeom prst="roundRect">
            <a:avLst>
              <a:gd name="adj" fmla="val 50000"/>
            </a:avLst>
          </a:prstGeom>
          <a:solidFill>
            <a:srgbClr val="8A94A6"/>
          </a:solidFill>
          <a:ln w="12700">
            <a:solidFill>
              <a:srgbClr val="8A94A6"/>
            </a:solidFill>
            <a:prstDash val="solid"/>
          </a:ln>
        </p:spPr>
      </p:sp>
      <p:sp>
        <p:nvSpPr>
          <p:cNvPr id="7" name="Text 5"/>
          <p:cNvSpPr txBox="1"/>
          <p:nvPr/>
        </p:nvSpPr>
        <p:spPr>
          <a:xfrm>
            <a:off x="9997135" y="914400"/>
            <a:ext cx="12801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LOW</a:t>
            </a:r>
            <a:endParaRPr lang="en-US" sz="1300" dirty="0"/>
          </a:p>
        </p:txBody>
      </p:sp>
      <p:sp>
        <p:nvSpPr>
          <p:cNvPr id="8" name="Shape 6"/>
          <p:cNvSpPr/>
          <p:nvPr/>
        </p:nvSpPr>
        <p:spPr>
          <a:xfrm>
            <a:off x="685800" y="1874520"/>
            <a:ext cx="6654359" cy="2011680"/>
          </a:xfrm>
          <a:prstGeom prst="roundRect">
            <a:avLst>
              <a:gd name="adj" fmla="val 3182"/>
            </a:avLst>
          </a:prstGeom>
          <a:solidFill>
            <a:srgbClr val="FFFFFF"/>
          </a:solidFill>
          <a:ln w="12700">
            <a:solidFill>
              <a:srgbClr val="E2E4E8"/>
            </a:solidFill>
            <a:prstDash val="solid"/>
          </a:ln>
        </p:spPr>
      </p:sp>
      <p:sp>
        <p:nvSpPr>
          <p:cNvPr id="9" name="Text 7"/>
          <p:cNvSpPr txBox="1"/>
          <p:nvPr/>
        </p:nvSpPr>
        <p:spPr>
          <a:xfrm>
            <a:off x="960120" y="202082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THE GAP</a:t>
            </a:r>
            <a:endParaRPr lang="en-US" sz="1150" dirty="0"/>
          </a:p>
        </p:txBody>
      </p:sp>
      <p:sp>
        <p:nvSpPr>
          <p:cNvPr id="10" name="Text 8"/>
          <p:cNvSpPr txBox="1"/>
          <p:nvPr/>
        </p:nvSpPr>
        <p:spPr>
          <a:xfrm>
            <a:off x="960120" y="2331720"/>
            <a:ext cx="6105719" cy="138988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A battery that can respond in seconds and one that takes the full delivery window are paid exactly the same for the same total kWh. Response speed is never recorded, so it's never valued.</a:t>
            </a:r>
            <a:endParaRPr lang="en-US" sz="1250" dirty="0"/>
          </a:p>
        </p:txBody>
      </p:sp>
      <p:sp>
        <p:nvSpPr>
          <p:cNvPr id="11" name="Shape 9"/>
          <p:cNvSpPr/>
          <p:nvPr/>
        </p:nvSpPr>
        <p:spPr>
          <a:xfrm>
            <a:off x="685800" y="4069080"/>
            <a:ext cx="6654359" cy="2331720"/>
          </a:xfrm>
          <a:prstGeom prst="roundRect">
            <a:avLst>
              <a:gd name="adj" fmla="val 2745"/>
            </a:avLst>
          </a:prstGeom>
          <a:solidFill>
            <a:srgbClr val="FFFFFF"/>
          </a:solidFill>
          <a:ln w="12700">
            <a:solidFill>
              <a:srgbClr val="E2E4E8"/>
            </a:solidFill>
            <a:prstDash val="solid"/>
          </a:ln>
        </p:spPr>
      </p:sp>
      <p:sp>
        <p:nvSpPr>
          <p:cNvPr id="12" name="Text 10"/>
          <p:cNvSpPr txBox="1"/>
          <p:nvPr/>
        </p:nvSpPr>
        <p:spPr>
          <a:xfrm>
            <a:off x="960120" y="421538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CONCEPTUAL FIX</a:t>
            </a:r>
            <a:endParaRPr lang="en-US" sz="1150" dirty="0"/>
          </a:p>
        </p:txBody>
      </p:sp>
      <p:sp>
        <p:nvSpPr>
          <p:cNvPr id="13" name="Text 11"/>
          <p:cNvSpPr txBox="1"/>
          <p:nvPr/>
        </p:nvSpPr>
        <p:spPr>
          <a:xfrm>
            <a:off x="960120" y="4526280"/>
            <a:ext cx="6105719" cy="170992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Add a RAMP_RATE_KW_PER_MIN telemetry type and an optional fastResponsePremium on the offer, paid only if the measured ramp rate clears a published threshold — a separate, honest add-on to the normal energy price.</a:t>
            </a:r>
            <a:endParaRPr lang="en-US" sz="1250" dirty="0"/>
          </a:p>
        </p:txBody>
      </p:sp>
      <p:sp>
        <p:nvSpPr>
          <p:cNvPr id="14" name="Shape 12"/>
          <p:cNvSpPr/>
          <p:nvPr/>
        </p:nvSpPr>
        <p:spPr>
          <a:xfrm>
            <a:off x="7568759" y="1874520"/>
            <a:ext cx="3937137" cy="4526280"/>
          </a:xfrm>
          <a:prstGeom prst="roundRect">
            <a:avLst>
              <a:gd name="adj" fmla="val 1626"/>
            </a:avLst>
          </a:prstGeom>
          <a:solidFill>
            <a:srgbClr val="2A3242"/>
          </a:solidFill>
          <a:ln w="12700">
            <a:solidFill>
              <a:srgbClr val="2A3242"/>
            </a:solidFill>
            <a:prstDash val="solid"/>
          </a:ln>
        </p:spPr>
      </p:sp>
      <p:sp>
        <p:nvSpPr>
          <p:cNvPr id="15" name="Text 13"/>
          <p:cNvSpPr txBox="1"/>
          <p:nvPr/>
        </p:nvSpPr>
        <p:spPr>
          <a:xfrm>
            <a:off x="7843079" y="2075688"/>
            <a:ext cx="3388497" cy="411480"/>
          </a:xfrm>
          <a:prstGeom prst="rect">
            <a:avLst/>
          </a:prstGeom>
          <a:noFill/>
          <a:ln/>
        </p:spPr>
        <p:txBody>
          <a:bodyPr wrap="square" lIns="0" tIns="0" rIns="0" bIns="0" rtlCol="0" anchor="ctr"/>
          <a:lstStyle/>
          <a:p>
            <a:pPr indent="0" marL="0">
              <a:lnSpc>
                <a:spcPct val="110000"/>
              </a:lnSpc>
              <a:buNone/>
            </a:pPr>
            <a:r>
              <a:rPr lang="en-US" sz="1100" b="1" spc="100" kern="0" dirty="0">
                <a:solidFill>
                  <a:srgbClr val="8A94A6"/>
                </a:solidFill>
                <a:latin typeface="Calibri" pitchFamily="34" charset="0"/>
                <a:ea typeface="Calibri" pitchFamily="34" charset="-122"/>
                <a:cs typeface="Calibri" pitchFamily="34" charset="-120"/>
              </a:rPr>
              <a:t>IMPLEMENTATION FEASIBILITY</a:t>
            </a:r>
            <a:endParaRPr lang="en-US" sz="1100" dirty="0"/>
          </a:p>
        </p:txBody>
      </p:sp>
      <p:sp>
        <p:nvSpPr>
          <p:cNvPr id="16" name="Shape 14"/>
          <p:cNvSpPr/>
          <p:nvPr/>
        </p:nvSpPr>
        <p:spPr>
          <a:xfrm>
            <a:off x="7843079" y="2496312"/>
            <a:ext cx="3388497" cy="438912"/>
          </a:xfrm>
          <a:prstGeom prst="roundRect">
            <a:avLst>
              <a:gd name="adj" fmla="val 50000"/>
            </a:avLst>
          </a:prstGeom>
          <a:solidFill>
            <a:srgbClr val="5FC98A"/>
          </a:solidFill>
          <a:ln w="12700">
            <a:solidFill>
              <a:srgbClr val="5FC98A"/>
            </a:solidFill>
            <a:prstDash val="solid"/>
          </a:ln>
        </p:spPr>
      </p:sp>
      <p:sp>
        <p:nvSpPr>
          <p:cNvPr id="17" name="Text 15"/>
          <p:cNvSpPr txBox="1"/>
          <p:nvPr/>
        </p:nvSpPr>
        <p:spPr>
          <a:xfrm>
            <a:off x="7843079" y="2496312"/>
            <a:ext cx="3388497"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EASY</a:t>
            </a:r>
            <a:endParaRPr lang="en-US" sz="1500" dirty="0"/>
          </a:p>
        </p:txBody>
      </p:sp>
      <p:sp>
        <p:nvSpPr>
          <p:cNvPr id="18" name="Text 16"/>
          <p:cNvSpPr txBox="1"/>
          <p:nvPr/>
        </p:nvSpPr>
        <p:spPr>
          <a:xfrm>
            <a:off x="7843079" y="3136392"/>
            <a:ext cx="3388497" cy="1965960"/>
          </a:xfrm>
          <a:prstGeom prst="rect">
            <a:avLst/>
          </a:prstGeom>
          <a:noFill/>
          <a:ln/>
        </p:spPr>
        <p:txBody>
          <a:bodyPr wrap="square" lIns="0" tIns="0" rIns="0" bIns="0" rtlCol="0" anchor="ctr"/>
          <a:lstStyle/>
          <a:p>
            <a:pPr indent="0" marL="0">
              <a:lnSpc>
                <a:spcPct val="125000"/>
              </a:lnSpc>
              <a:buNone/>
            </a:pPr>
            <a:r>
              <a:rPr lang="en-US" sz="1150" dirty="0">
                <a:solidFill>
                  <a:srgbClr val="C3CAD6"/>
                </a:solidFill>
                <a:latin typeface="Calibri" pitchFamily="34" charset="0"/>
                <a:ea typeface="Calibri" pitchFamily="34" charset="-122"/>
                <a:cs typeface="Calibri" pitchFamily="34" charset="-120"/>
              </a:rPr>
              <a:t>Fully self-contained: one new optional telemetry type and one additive pricing field. No new external dependency, opt-in by the seller — the lowest-risk gap on this list to actually ship.</a:t>
            </a:r>
            <a:endParaRPr lang="en-US" sz="1150" dirty="0"/>
          </a:p>
        </p:txBody>
      </p:sp>
      <p:sp>
        <p:nvSpPr>
          <p:cNvPr id="19" name="Text 17"/>
          <p:cNvSpPr txBox="1"/>
          <p:nvPr/>
        </p:nvSpPr>
        <p:spPr>
          <a:xfrm>
            <a:off x="7843079" y="5440680"/>
            <a:ext cx="3388497" cy="228600"/>
          </a:xfrm>
          <a:prstGeom prst="rect">
            <a:avLst/>
          </a:prstGeom>
          <a:noFill/>
          <a:ln/>
        </p:spPr>
        <p:txBody>
          <a:bodyPr wrap="square" lIns="0" tIns="0" rIns="0" bIns="0" rtlCol="0" anchor="ctr"/>
          <a:lstStyle/>
          <a:p>
            <a:pPr indent="0" marL="0">
              <a:buNone/>
            </a:pPr>
            <a:r>
              <a:rPr lang="en-US" sz="1000" b="1" spc="100" kern="0" dirty="0">
                <a:solidFill>
                  <a:srgbClr val="8A94A6"/>
                </a:solidFill>
                <a:latin typeface="Calibri" pitchFamily="34" charset="0"/>
                <a:ea typeface="Calibri" pitchFamily="34" charset="-122"/>
                <a:cs typeface="Calibri" pitchFamily="34" charset="-120"/>
              </a:rPr>
              <a:t>REQUIRES</a:t>
            </a:r>
            <a:endParaRPr lang="en-US" sz="1000" dirty="0"/>
          </a:p>
        </p:txBody>
      </p:sp>
      <p:sp>
        <p:nvSpPr>
          <p:cNvPr id="20" name="Text 18"/>
          <p:cNvSpPr txBox="1"/>
          <p:nvPr/>
        </p:nvSpPr>
        <p:spPr>
          <a:xfrm>
            <a:off x="7843079" y="5687568"/>
            <a:ext cx="3388497" cy="621792"/>
          </a:xfrm>
          <a:prstGeom prst="rect">
            <a:avLst/>
          </a:prstGeom>
          <a:noFill/>
          <a:ln/>
        </p:spPr>
        <p:txBody>
          <a:bodyPr wrap="square" lIns="0" tIns="0" rIns="0" bIns="0" rtlCol="0" anchor="ctr"/>
          <a:lstStyle/>
          <a:p>
            <a:pPr indent="0" marL="0">
              <a:lnSpc>
                <a:spcPct val="115000"/>
              </a:lnSpc>
              <a:buNone/>
            </a:pPr>
            <a:r>
              <a:rPr lang="en-US" sz="1100" i="1" dirty="0">
                <a:solidFill>
                  <a:srgbClr val="FFFFFF"/>
                </a:solidFill>
                <a:latin typeface="Calibri" pitchFamily="34" charset="0"/>
                <a:ea typeface="Calibri" pitchFamily="34" charset="-122"/>
                <a:cs typeface="Calibri" pitchFamily="34" charset="-120"/>
              </a:rPr>
              <a:t>Code only</a:t>
            </a:r>
            <a:endParaRPr lang="en-US" sz="1100" dirty="0"/>
          </a:p>
        </p:txBody>
      </p:sp>
      <p:sp>
        <p:nvSpPr>
          <p:cNvPr id="21" name="Text 19"/>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01 — The Full Gap Inventory — Gap 11 of 12</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GAP 12 OF 12</a:t>
            </a:r>
            <a:endParaRPr lang="en-US" sz="1300" dirty="0"/>
          </a:p>
        </p:txBody>
      </p:sp>
      <p:sp>
        <p:nvSpPr>
          <p:cNvPr id="3" name="Shape 1"/>
          <p:cNvSpPr/>
          <p:nvPr/>
        </p:nvSpPr>
        <p:spPr>
          <a:xfrm>
            <a:off x="685800" y="896112"/>
            <a:ext cx="402336" cy="402336"/>
          </a:xfrm>
          <a:prstGeom prst="ellipse">
            <a:avLst/>
          </a:prstGeom>
          <a:solidFill>
            <a:srgbClr val="2A3242"/>
          </a:solidFill>
          <a:ln w="12700">
            <a:solidFill>
              <a:srgbClr val="2A3242"/>
            </a:solidFill>
            <a:prstDash val="solid"/>
          </a:ln>
        </p:spPr>
      </p:sp>
      <p:sp>
        <p:nvSpPr>
          <p:cNvPr id="4" name="Text 2"/>
          <p:cNvSpPr txBox="1"/>
          <p:nvPr/>
        </p:nvSpPr>
        <p:spPr>
          <a:xfrm>
            <a:off x="685800" y="896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5" name="Text 3"/>
          <p:cNvSpPr txBox="1"/>
          <p:nvPr/>
        </p:nvSpPr>
        <p:spPr>
          <a:xfrm>
            <a:off x="1234440" y="841248"/>
            <a:ext cx="8716975" cy="868680"/>
          </a:xfrm>
          <a:prstGeom prst="rect">
            <a:avLst/>
          </a:prstGeom>
          <a:noFill/>
          <a:ln/>
        </p:spPr>
        <p:txBody>
          <a:bodyPr wrap="square" lIns="0" tIns="0" rIns="0" bIns="0" rtlCol="0" anchor="ctr"/>
          <a:lstStyle/>
          <a:p>
            <a:pPr indent="0" marL="0">
              <a:lnSpc>
                <a:spcPct val="105000"/>
              </a:lnSpc>
              <a:buNone/>
            </a:pPr>
            <a:r>
              <a:rPr lang="en-US" sz="2300" b="1" dirty="0">
                <a:solidFill>
                  <a:srgbClr val="171B24"/>
                </a:solidFill>
                <a:latin typeface="Cambria" pitchFamily="34" charset="0"/>
                <a:ea typeface="Cambria" pitchFamily="34" charset="-122"/>
                <a:cs typeface="Cambria" pitchFamily="34" charset="-120"/>
              </a:rPr>
              <a:t>No way to tell a firm promise from a best-effort forecast</a:t>
            </a:r>
            <a:endParaRPr lang="en-US" sz="2300" dirty="0"/>
          </a:p>
        </p:txBody>
      </p:sp>
      <p:sp>
        <p:nvSpPr>
          <p:cNvPr id="6" name="Shape 4"/>
          <p:cNvSpPr/>
          <p:nvPr/>
        </p:nvSpPr>
        <p:spPr>
          <a:xfrm>
            <a:off x="9997135" y="914400"/>
            <a:ext cx="1280160" cy="384048"/>
          </a:xfrm>
          <a:prstGeom prst="roundRect">
            <a:avLst>
              <a:gd name="adj" fmla="val 50000"/>
            </a:avLst>
          </a:prstGeom>
          <a:solidFill>
            <a:srgbClr val="C07F2A"/>
          </a:solidFill>
          <a:ln w="12700">
            <a:solidFill>
              <a:srgbClr val="C07F2A"/>
            </a:solidFill>
            <a:prstDash val="solid"/>
          </a:ln>
        </p:spPr>
      </p:sp>
      <p:sp>
        <p:nvSpPr>
          <p:cNvPr id="7" name="Text 5"/>
          <p:cNvSpPr txBox="1"/>
          <p:nvPr/>
        </p:nvSpPr>
        <p:spPr>
          <a:xfrm>
            <a:off x="9997135" y="914400"/>
            <a:ext cx="12801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MEDIUM</a:t>
            </a:r>
            <a:endParaRPr lang="en-US" sz="1300" dirty="0"/>
          </a:p>
        </p:txBody>
      </p:sp>
      <p:sp>
        <p:nvSpPr>
          <p:cNvPr id="8" name="Shape 6"/>
          <p:cNvSpPr/>
          <p:nvPr/>
        </p:nvSpPr>
        <p:spPr>
          <a:xfrm>
            <a:off x="685800" y="1874520"/>
            <a:ext cx="6654359" cy="2011680"/>
          </a:xfrm>
          <a:prstGeom prst="roundRect">
            <a:avLst>
              <a:gd name="adj" fmla="val 3182"/>
            </a:avLst>
          </a:prstGeom>
          <a:solidFill>
            <a:srgbClr val="FFFFFF"/>
          </a:solidFill>
          <a:ln w="12700">
            <a:solidFill>
              <a:srgbClr val="E2E4E8"/>
            </a:solidFill>
            <a:prstDash val="solid"/>
          </a:ln>
        </p:spPr>
      </p:sp>
      <p:sp>
        <p:nvSpPr>
          <p:cNvPr id="9" name="Text 7"/>
          <p:cNvSpPr txBox="1"/>
          <p:nvPr/>
        </p:nvSpPr>
        <p:spPr>
          <a:xfrm>
            <a:off x="960120" y="202082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THE GAP</a:t>
            </a:r>
            <a:endParaRPr lang="en-US" sz="1150" dirty="0"/>
          </a:p>
        </p:txBody>
      </p:sp>
      <p:sp>
        <p:nvSpPr>
          <p:cNvPr id="10" name="Text 8"/>
          <p:cNvSpPr txBox="1"/>
          <p:nvPr/>
        </p:nvSpPr>
        <p:spPr>
          <a:xfrm>
            <a:off x="960120" y="2331720"/>
            <a:ext cx="6105719" cy="138988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A battery's known, stored 4 kWh and solar's weather-driven guess of “~4 kWh” are scored by the exact same shortfall-penalty math — punishing solar for clouds as if it had simply broken a promise.</a:t>
            </a:r>
            <a:endParaRPr lang="en-US" sz="1250" dirty="0"/>
          </a:p>
        </p:txBody>
      </p:sp>
      <p:sp>
        <p:nvSpPr>
          <p:cNvPr id="11" name="Shape 9"/>
          <p:cNvSpPr/>
          <p:nvPr/>
        </p:nvSpPr>
        <p:spPr>
          <a:xfrm>
            <a:off x="685800" y="4069080"/>
            <a:ext cx="6654359" cy="2331720"/>
          </a:xfrm>
          <a:prstGeom prst="roundRect">
            <a:avLst>
              <a:gd name="adj" fmla="val 2745"/>
            </a:avLst>
          </a:prstGeom>
          <a:solidFill>
            <a:srgbClr val="FFFFFF"/>
          </a:solidFill>
          <a:ln w="12700">
            <a:solidFill>
              <a:srgbClr val="E2E4E8"/>
            </a:solidFill>
            <a:prstDash val="solid"/>
          </a:ln>
        </p:spPr>
      </p:sp>
      <p:sp>
        <p:nvSpPr>
          <p:cNvPr id="12" name="Text 10"/>
          <p:cNvSpPr txBox="1"/>
          <p:nvPr/>
        </p:nvSpPr>
        <p:spPr>
          <a:xfrm>
            <a:off x="960120" y="4215384"/>
            <a:ext cx="6105719" cy="256032"/>
          </a:xfrm>
          <a:prstGeom prst="rect">
            <a:avLst/>
          </a:prstGeom>
          <a:noFill/>
          <a:ln/>
        </p:spPr>
        <p:txBody>
          <a:bodyPr wrap="square" lIns="0" tIns="0" rIns="0" bIns="0" rtlCol="0" anchor="ctr"/>
          <a:lstStyle/>
          <a:p>
            <a:pPr indent="0" marL="0">
              <a:buNone/>
            </a:pPr>
            <a:r>
              <a:rPr lang="en-US" sz="1150" b="1" spc="100" kern="0" dirty="0">
                <a:solidFill>
                  <a:srgbClr val="C07F2A"/>
                </a:solidFill>
                <a:latin typeface="Calibri" pitchFamily="34" charset="0"/>
                <a:ea typeface="Calibri" pitchFamily="34" charset="-122"/>
                <a:cs typeface="Calibri" pitchFamily="34" charset="-120"/>
              </a:rPr>
              <a:t>CONCEPTUAL FIX</a:t>
            </a:r>
            <a:endParaRPr lang="en-US" sz="1150" dirty="0"/>
          </a:p>
        </p:txBody>
      </p:sp>
      <p:sp>
        <p:nvSpPr>
          <p:cNvPr id="13" name="Text 11"/>
          <p:cNvSpPr txBox="1"/>
          <p:nvPr/>
        </p:nvSpPr>
        <p:spPr>
          <a:xfrm>
            <a:off x="960120" y="4526280"/>
            <a:ext cx="6105719" cy="1709928"/>
          </a:xfrm>
          <a:prstGeom prst="rect">
            <a:avLst/>
          </a:prstGeom>
          <a:noFill/>
          <a:ln/>
        </p:spPr>
        <p:txBody>
          <a:bodyPr wrap="square" lIns="0" tIns="0" rIns="0" bIns="0" rtlCol="0" anchor="ctr"/>
          <a:lstStyle/>
          <a:p>
            <a:pPr indent="0" marL="0">
              <a:lnSpc>
                <a:spcPct val="122000"/>
              </a:lnSpc>
              <a:buNone/>
            </a:pPr>
            <a:r>
              <a:rPr lang="en-US" sz="1250" dirty="0">
                <a:solidFill>
                  <a:srgbClr val="5A6472"/>
                </a:solidFill>
                <a:latin typeface="Calibri" pitchFamily="34" charset="0"/>
                <a:ea typeface="Calibri" pitchFamily="34" charset="-122"/>
                <a:cs typeface="Calibri" pitchFamily="34" charset="-120"/>
              </a:rPr>
              <a:t>Add commitmentType: FIRM | BEST_EFFORT to the offer. FIRM requires verifiable evidence (e.g. battery state-of-charge); BEST_EFFORT is required for ungoverned generation. Gap 1's penalty only ever applies when FIRM.</a:t>
            </a:r>
            <a:endParaRPr lang="en-US" sz="1250" dirty="0"/>
          </a:p>
        </p:txBody>
      </p:sp>
      <p:sp>
        <p:nvSpPr>
          <p:cNvPr id="14" name="Shape 12"/>
          <p:cNvSpPr/>
          <p:nvPr/>
        </p:nvSpPr>
        <p:spPr>
          <a:xfrm>
            <a:off x="7568759" y="1874520"/>
            <a:ext cx="3937137" cy="4526280"/>
          </a:xfrm>
          <a:prstGeom prst="roundRect">
            <a:avLst>
              <a:gd name="adj" fmla="val 1626"/>
            </a:avLst>
          </a:prstGeom>
          <a:solidFill>
            <a:srgbClr val="2A3242"/>
          </a:solidFill>
          <a:ln w="12700">
            <a:solidFill>
              <a:srgbClr val="2A3242"/>
            </a:solidFill>
            <a:prstDash val="solid"/>
          </a:ln>
        </p:spPr>
      </p:sp>
      <p:sp>
        <p:nvSpPr>
          <p:cNvPr id="15" name="Text 13"/>
          <p:cNvSpPr txBox="1"/>
          <p:nvPr/>
        </p:nvSpPr>
        <p:spPr>
          <a:xfrm>
            <a:off x="7843079" y="2075688"/>
            <a:ext cx="3388497" cy="411480"/>
          </a:xfrm>
          <a:prstGeom prst="rect">
            <a:avLst/>
          </a:prstGeom>
          <a:noFill/>
          <a:ln/>
        </p:spPr>
        <p:txBody>
          <a:bodyPr wrap="square" lIns="0" tIns="0" rIns="0" bIns="0" rtlCol="0" anchor="ctr"/>
          <a:lstStyle/>
          <a:p>
            <a:pPr indent="0" marL="0">
              <a:lnSpc>
                <a:spcPct val="110000"/>
              </a:lnSpc>
              <a:buNone/>
            </a:pPr>
            <a:r>
              <a:rPr lang="en-US" sz="1100" b="1" spc="100" kern="0" dirty="0">
                <a:solidFill>
                  <a:srgbClr val="8A94A6"/>
                </a:solidFill>
                <a:latin typeface="Calibri" pitchFamily="34" charset="0"/>
                <a:ea typeface="Calibri" pitchFamily="34" charset="-122"/>
                <a:cs typeface="Calibri" pitchFamily="34" charset="-120"/>
              </a:rPr>
              <a:t>IMPLEMENTATION FEASIBILITY</a:t>
            </a:r>
            <a:endParaRPr lang="en-US" sz="1100" dirty="0"/>
          </a:p>
        </p:txBody>
      </p:sp>
      <p:sp>
        <p:nvSpPr>
          <p:cNvPr id="16" name="Shape 14"/>
          <p:cNvSpPr/>
          <p:nvPr/>
        </p:nvSpPr>
        <p:spPr>
          <a:xfrm>
            <a:off x="7843079" y="2496312"/>
            <a:ext cx="3388497" cy="438912"/>
          </a:xfrm>
          <a:prstGeom prst="roundRect">
            <a:avLst>
              <a:gd name="adj" fmla="val 50000"/>
            </a:avLst>
          </a:prstGeom>
          <a:solidFill>
            <a:srgbClr val="5FC98A"/>
          </a:solidFill>
          <a:ln w="12700">
            <a:solidFill>
              <a:srgbClr val="5FC98A"/>
            </a:solidFill>
            <a:prstDash val="solid"/>
          </a:ln>
        </p:spPr>
      </p:sp>
      <p:sp>
        <p:nvSpPr>
          <p:cNvPr id="17" name="Text 15"/>
          <p:cNvSpPr txBox="1"/>
          <p:nvPr/>
        </p:nvSpPr>
        <p:spPr>
          <a:xfrm>
            <a:off x="7843079" y="2496312"/>
            <a:ext cx="3388497"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EASY</a:t>
            </a:r>
            <a:endParaRPr lang="en-US" sz="1500" dirty="0"/>
          </a:p>
        </p:txBody>
      </p:sp>
      <p:sp>
        <p:nvSpPr>
          <p:cNvPr id="18" name="Text 16"/>
          <p:cNvSpPr txBox="1"/>
          <p:nvPr/>
        </p:nvSpPr>
        <p:spPr>
          <a:xfrm>
            <a:off x="7843079" y="3136392"/>
            <a:ext cx="3388497" cy="1965960"/>
          </a:xfrm>
          <a:prstGeom prst="rect">
            <a:avLst/>
          </a:prstGeom>
          <a:noFill/>
          <a:ln/>
        </p:spPr>
        <p:txBody>
          <a:bodyPr wrap="square" lIns="0" tIns="0" rIns="0" bIns="0" rtlCol="0" anchor="ctr"/>
          <a:lstStyle/>
          <a:p>
            <a:pPr indent="0" marL="0">
              <a:lnSpc>
                <a:spcPct val="125000"/>
              </a:lnSpc>
              <a:buNone/>
            </a:pPr>
            <a:r>
              <a:rPr lang="en-US" sz="1150" dirty="0">
                <a:solidFill>
                  <a:srgbClr val="C3CAD6"/>
                </a:solidFill>
                <a:latin typeface="Calibri" pitchFamily="34" charset="0"/>
                <a:ea typeface="Calibri" pitchFamily="34" charset="-122"/>
                <a:cs typeface="Calibri" pitchFamily="34" charset="-120"/>
              </a:rPr>
              <a:t>A schema enum plus one conditional in the existing penalty logic. The FIRM evidence requirement reuses data — state-of-charge — that battery/V2G systems already report today.</a:t>
            </a:r>
            <a:endParaRPr lang="en-US" sz="1150" dirty="0"/>
          </a:p>
        </p:txBody>
      </p:sp>
      <p:sp>
        <p:nvSpPr>
          <p:cNvPr id="19" name="Text 17"/>
          <p:cNvSpPr txBox="1"/>
          <p:nvPr/>
        </p:nvSpPr>
        <p:spPr>
          <a:xfrm>
            <a:off x="7843079" y="5440680"/>
            <a:ext cx="3388497" cy="228600"/>
          </a:xfrm>
          <a:prstGeom prst="rect">
            <a:avLst/>
          </a:prstGeom>
          <a:noFill/>
          <a:ln/>
        </p:spPr>
        <p:txBody>
          <a:bodyPr wrap="square" lIns="0" tIns="0" rIns="0" bIns="0" rtlCol="0" anchor="ctr"/>
          <a:lstStyle/>
          <a:p>
            <a:pPr indent="0" marL="0">
              <a:buNone/>
            </a:pPr>
            <a:r>
              <a:rPr lang="en-US" sz="1000" b="1" spc="100" kern="0" dirty="0">
                <a:solidFill>
                  <a:srgbClr val="8A94A6"/>
                </a:solidFill>
                <a:latin typeface="Calibri" pitchFamily="34" charset="0"/>
                <a:ea typeface="Calibri" pitchFamily="34" charset="-122"/>
                <a:cs typeface="Calibri" pitchFamily="34" charset="-120"/>
              </a:rPr>
              <a:t>REQUIRES</a:t>
            </a:r>
            <a:endParaRPr lang="en-US" sz="1000" dirty="0"/>
          </a:p>
        </p:txBody>
      </p:sp>
      <p:sp>
        <p:nvSpPr>
          <p:cNvPr id="20" name="Text 18"/>
          <p:cNvSpPr txBox="1"/>
          <p:nvPr/>
        </p:nvSpPr>
        <p:spPr>
          <a:xfrm>
            <a:off x="7843079" y="5687568"/>
            <a:ext cx="3388497" cy="621792"/>
          </a:xfrm>
          <a:prstGeom prst="rect">
            <a:avLst/>
          </a:prstGeom>
          <a:noFill/>
          <a:ln/>
        </p:spPr>
        <p:txBody>
          <a:bodyPr wrap="square" lIns="0" tIns="0" rIns="0" bIns="0" rtlCol="0" anchor="ctr"/>
          <a:lstStyle/>
          <a:p>
            <a:pPr indent="0" marL="0">
              <a:lnSpc>
                <a:spcPct val="115000"/>
              </a:lnSpc>
              <a:buNone/>
            </a:pPr>
            <a:r>
              <a:rPr lang="en-US" sz="1100" i="1" dirty="0">
                <a:solidFill>
                  <a:srgbClr val="FFFFFF"/>
                </a:solidFill>
                <a:latin typeface="Calibri" pitchFamily="34" charset="0"/>
                <a:ea typeface="Calibri" pitchFamily="34" charset="-122"/>
                <a:cs typeface="Calibri" pitchFamily="34" charset="-120"/>
              </a:rPr>
              <a:t>Code only</a:t>
            </a:r>
            <a:endParaRPr lang="en-US" sz="1100" dirty="0"/>
          </a:p>
        </p:txBody>
      </p:sp>
      <p:sp>
        <p:nvSpPr>
          <p:cNvPr id="21" name="Text 19"/>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01 — The Full Gap Inventory — Gap 12 of 12</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01 · THE FULL GAP INVENTORY</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2800" b="1" dirty="0">
                <a:solidFill>
                  <a:srgbClr val="171B24"/>
                </a:solidFill>
                <a:latin typeface="Cambria" pitchFamily="34" charset="0"/>
                <a:ea typeface="Cambria" pitchFamily="34" charset="-122"/>
                <a:cs typeface="Cambria" pitchFamily="34" charset="-120"/>
              </a:rPr>
              <a:t>Feasibility at a glance</a:t>
            </a:r>
            <a:endParaRPr lang="en-US" sz="2800" dirty="0"/>
          </a:p>
        </p:txBody>
      </p:sp>
      <p:sp>
        <p:nvSpPr>
          <p:cNvPr id="4" name="Text 2"/>
          <p:cNvSpPr txBox="1"/>
          <p:nvPr/>
        </p:nvSpPr>
        <p:spPr>
          <a:xfrm>
            <a:off x="685800" y="1691640"/>
            <a:ext cx="10820095" cy="548640"/>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Every gap is fixable — but “fixable” ranges from a one-field code change to a multi-party governance decision.</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2331720"/>
          <a:ext cx="10820095" cy="914400"/>
        </p:xfrm>
        <a:graphic>
          <a:graphicData uri="http://schemas.openxmlformats.org/drawingml/2006/table">
            <a:tbl>
              <a:tblPr/>
              <a:tblGrid>
                <a:gridCol w="548640"/>
                <a:gridCol w="6949440"/>
                <a:gridCol w="1737360"/>
                <a:gridCol w="1810512"/>
              </a:tblGrid>
              <a:tr h="315468">
                <a:tc>
                  <a:txBody>
                    <a:bodyPr/>
                    <a:lstStyle/>
                    <a:p>
                      <a:pPr algn="ctr" indent="0" marL="0">
                        <a:buNone/>
                      </a:pPr>
                      <a:r>
                        <a:rPr lang="en-US" sz="1100" b="1" dirty="0">
                          <a:solidFill>
                            <a:srgbClr val="FFFFFF"/>
                          </a:solidFill>
                        </a:rPr>
                        <a:t>#</a:t>
                      </a:r>
                      <a:endParaRPr lang="en-US" sz="110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2A3242"/>
                    </a:solidFill>
                  </a:tcPr>
                </a:tc>
                <a:tc>
                  <a:txBody>
                    <a:bodyPr/>
                    <a:lstStyle/>
                    <a:p>
                      <a:pPr indent="0" marL="0">
                        <a:buNone/>
                      </a:pPr>
                      <a:r>
                        <a:rPr lang="en-US" sz="1100" b="1" dirty="0">
                          <a:solidFill>
                            <a:srgbClr val="FFFFFF"/>
                          </a:solidFill>
                        </a:rPr>
                        <a:t>GAP</a:t>
                      </a:r>
                      <a:endParaRPr lang="en-US" sz="110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2A3242"/>
                    </a:solidFill>
                  </a:tcPr>
                </a:tc>
                <a:tc>
                  <a:txBody>
                    <a:bodyPr/>
                    <a:lstStyle/>
                    <a:p>
                      <a:pPr algn="ctr" indent="0" marL="0">
                        <a:buNone/>
                      </a:pPr>
                      <a:r>
                        <a:rPr lang="en-US" sz="1100" b="1" dirty="0">
                          <a:solidFill>
                            <a:srgbClr val="FFFFFF"/>
                          </a:solidFill>
                        </a:rPr>
                        <a:t>SEVERITY</a:t>
                      </a:r>
                      <a:endParaRPr lang="en-US" sz="110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2A3242"/>
                    </a:solidFill>
                  </a:tcPr>
                </a:tc>
                <a:tc>
                  <a:txBody>
                    <a:bodyPr/>
                    <a:lstStyle/>
                    <a:p>
                      <a:pPr algn="ctr" indent="0" marL="0">
                        <a:buNone/>
                      </a:pPr>
                      <a:r>
                        <a:rPr lang="en-US" sz="1100" b="1" dirty="0">
                          <a:solidFill>
                            <a:srgbClr val="FFFFFF"/>
                          </a:solidFill>
                        </a:rPr>
                        <a:t>FEASIBILITY</a:t>
                      </a:r>
                      <a:endParaRPr lang="en-US" sz="110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2A3242"/>
                    </a:solidFill>
                  </a:tcPr>
                </a:tc>
              </a:tr>
              <a:tr h="315468">
                <a:tc>
                  <a:txBody>
                    <a:bodyPr/>
                    <a:lstStyle/>
                    <a:p>
                      <a:pPr algn="ctr" indent="0" marL="0">
                        <a:buNone/>
                      </a:pPr>
                      <a:r>
                        <a:rPr lang="en-US" sz="1050" dirty="0">
                          <a:solidFill>
                            <a:srgbClr val="5A6472"/>
                          </a:solidFill>
                        </a:rPr>
                        <a:t>1</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171B24"/>
                          </a:solidFill>
                        </a:rPr>
                        <a:t>No real penalty for breaking a promise</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23B2E"/>
                          </a:solidFill>
                        </a:rPr>
                        <a:t>HIGH</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FC98A"/>
                          </a:solidFill>
                        </a:rPr>
                        <a:t>EASY</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315468">
                <a:tc>
                  <a:txBody>
                    <a:bodyPr/>
                    <a:lstStyle/>
                    <a:p>
                      <a:pPr algn="ctr" indent="0" marL="0">
                        <a:buNone/>
                      </a:pPr>
                      <a:r>
                        <a:rPr lang="en-US" sz="1050" dirty="0">
                          <a:solidFill>
                            <a:srgbClr val="5A6472"/>
                          </a:solidFill>
                        </a:rPr>
                        <a:t>2</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171B24"/>
                          </a:solidFill>
                        </a:rPr>
                        <a:t>A deal can get stuck forever, and nobody notices</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F2A"/>
                          </a:solidFill>
                        </a:rPr>
                        <a:t>MEDIUM</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FC98A"/>
                          </a:solidFill>
                        </a:rPr>
                        <a:t>EASY</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315468">
                <a:tc>
                  <a:txBody>
                    <a:bodyPr/>
                    <a:lstStyle/>
                    <a:p>
                      <a:pPr algn="ctr" indent="0" marL="0">
                        <a:buNone/>
                      </a:pPr>
                      <a:r>
                        <a:rPr lang="en-US" sz="1050" dirty="0">
                          <a:solidFill>
                            <a:srgbClr val="5A6472"/>
                          </a:solidFill>
                        </a:rPr>
                        <a:t>3</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171B24"/>
                          </a:solidFill>
                        </a:rPr>
                        <a:t>No way to dispute a meter reading</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F2A"/>
                          </a:solidFill>
                        </a:rPr>
                        <a:t>MEDIUM</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F2A"/>
                          </a:solidFill>
                        </a:rPr>
                        <a:t>MEDIUM</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315468">
                <a:tc>
                  <a:txBody>
                    <a:bodyPr/>
                    <a:lstStyle/>
                    <a:p>
                      <a:pPr algn="ctr" indent="0" marL="0">
                        <a:buNone/>
                      </a:pPr>
                      <a:r>
                        <a:rPr lang="en-US" sz="1050" dirty="0">
                          <a:solidFill>
                            <a:srgbClr val="5A6472"/>
                          </a:solidFill>
                        </a:rPr>
                        <a:t>4</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171B24"/>
                          </a:solidFill>
                        </a:rPr>
                        <a:t>Nothing stops an obviously wrong price</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23B2E"/>
                          </a:solidFill>
                        </a:rPr>
                        <a:t>HIGH</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F2A"/>
                          </a:solidFill>
                        </a:rPr>
                        <a:t>MEDIUM</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315468">
                <a:tc>
                  <a:txBody>
                    <a:bodyPr/>
                    <a:lstStyle/>
                    <a:p>
                      <a:pPr algn="ctr" indent="0" marL="0">
                        <a:buNone/>
                      </a:pPr>
                      <a:r>
                        <a:rPr lang="en-US" sz="1050" dirty="0">
                          <a:solidFill>
                            <a:srgbClr val="5A6472"/>
                          </a:solidFill>
                        </a:rPr>
                        <a:t>5</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171B24"/>
                          </a:solidFill>
                        </a:rPr>
                        <a:t>Cancelling a deal has no defined money rules</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F2A"/>
                          </a:solidFill>
                        </a:rPr>
                        <a:t>MEDIUM</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FC98A"/>
                          </a:solidFill>
                        </a:rPr>
                        <a:t>EASY</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315468">
                <a:tc>
                  <a:txBody>
                    <a:bodyPr/>
                    <a:lstStyle/>
                    <a:p>
                      <a:pPr algn="ctr" indent="0" marL="0">
                        <a:buNone/>
                      </a:pPr>
                      <a:r>
                        <a:rPr lang="en-US" sz="1050" dirty="0">
                          <a:solidFill>
                            <a:srgbClr val="5A6472"/>
                          </a:solidFill>
                        </a:rPr>
                        <a:t>6</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171B24"/>
                          </a:solidFill>
                        </a:rPr>
                        <a:t>The whole network leans on one single company</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F2A"/>
                          </a:solidFill>
                        </a:rPr>
                        <a:t>MEDIUM</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23B2E"/>
                          </a:solidFill>
                        </a:rPr>
                        <a:t>HARD</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315468">
                <a:tc>
                  <a:txBody>
                    <a:bodyPr/>
                    <a:lstStyle/>
                    <a:p>
                      <a:pPr algn="ctr" indent="0" marL="0">
                        <a:buNone/>
                      </a:pPr>
                      <a:r>
                        <a:rPr lang="en-US" sz="1050" dirty="0">
                          <a:solidFill>
                            <a:srgbClr val="5A6472"/>
                          </a:solidFill>
                        </a:rPr>
                        <a:t>7</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171B24"/>
                          </a:solidFill>
                        </a:rPr>
                        <a:t>The same unit of electricity could be promised twice</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F2A"/>
                          </a:solidFill>
                        </a:rPr>
                        <a:t>MEDIUM</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23B2E"/>
                          </a:solidFill>
                        </a:rPr>
                        <a:t>HARD</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315468">
                <a:tc>
                  <a:txBody>
                    <a:bodyPr/>
                    <a:lstStyle/>
                    <a:p>
                      <a:pPr algn="ctr" indent="0" marL="0">
                        <a:buNone/>
                      </a:pPr>
                      <a:r>
                        <a:rPr lang="en-US" sz="1050" dirty="0">
                          <a:solidFill>
                            <a:srgbClr val="5A6472"/>
                          </a:solidFill>
                        </a:rPr>
                        <a:t>8</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171B24"/>
                          </a:solidFill>
                        </a:rPr>
                        <a:t>The software has no idea whether the real wires can handle it</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23B2E"/>
                          </a:solidFill>
                        </a:rPr>
                        <a:t>HIGH</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23B2E"/>
                          </a:solidFill>
                        </a:rPr>
                        <a:t>HARD</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315468">
                <a:tc>
                  <a:txBody>
                    <a:bodyPr/>
                    <a:lstStyle/>
                    <a:p>
                      <a:pPr algn="ctr" indent="0" marL="0">
                        <a:buNone/>
                      </a:pPr>
                      <a:r>
                        <a:rPr lang="en-US" sz="1050" dirty="0">
                          <a:solidFill>
                            <a:srgbClr val="5A6472"/>
                          </a:solidFill>
                        </a:rPr>
                        <a:t>9</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171B24"/>
                          </a:solidFill>
                        </a:rPr>
                        <a:t>Every shortfall punished the same, fraud or genuine fault</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F2A"/>
                          </a:solidFill>
                        </a:rPr>
                        <a:t>MEDIUM</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F2A"/>
                          </a:solidFill>
                        </a:rPr>
                        <a:t>MEDIUM</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315468">
                <a:tc>
                  <a:txBody>
                    <a:bodyPr/>
                    <a:lstStyle/>
                    <a:p>
                      <a:pPr algn="ctr" indent="0" marL="0">
                        <a:buNone/>
                      </a:pPr>
                      <a:r>
                        <a:rPr lang="en-US" sz="1050" dirty="0">
                          <a:solidFill>
                            <a:srgbClr val="5A6472"/>
                          </a:solidFill>
                        </a:rPr>
                        <a:t>10</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171B24"/>
                          </a:solidFill>
                        </a:rPr>
                        <a:t>A lost connection looks exactly like a lost delivery</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8A94A6"/>
                          </a:solidFill>
                        </a:rPr>
                        <a:t>LOW</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F2A"/>
                          </a:solidFill>
                        </a:rPr>
                        <a:t>MEDIUM</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315468">
                <a:tc>
                  <a:txBody>
                    <a:bodyPr/>
                    <a:lstStyle/>
                    <a:p>
                      <a:pPr algn="ctr" indent="0" marL="0">
                        <a:buNone/>
                      </a:pPr>
                      <a:r>
                        <a:rPr lang="en-US" sz="1050" dirty="0">
                          <a:solidFill>
                            <a:srgbClr val="5A6472"/>
                          </a:solidFill>
                        </a:rPr>
                        <a:t>11</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171B24"/>
                          </a:solidFill>
                        </a:rPr>
                        <a:t>Delivering faster than promised earns nothing extra</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8A94A6"/>
                          </a:solidFill>
                        </a:rPr>
                        <a:t>LOW</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FC98A"/>
                          </a:solidFill>
                        </a:rPr>
                        <a:t>EASY</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315468">
                <a:tc>
                  <a:txBody>
                    <a:bodyPr/>
                    <a:lstStyle/>
                    <a:p>
                      <a:pPr algn="ctr" indent="0" marL="0">
                        <a:buNone/>
                      </a:pPr>
                      <a:r>
                        <a:rPr lang="en-US" sz="1050" dirty="0">
                          <a:solidFill>
                            <a:srgbClr val="5A6472"/>
                          </a:solidFill>
                        </a:rPr>
                        <a:t>12</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171B24"/>
                          </a:solidFill>
                        </a:rPr>
                        <a:t>No way to tell a firm promise from a best-effort forecast</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F2A"/>
                          </a:solidFill>
                        </a:rPr>
                        <a:t>MEDIUM</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FC98A"/>
                          </a:solidFill>
                        </a:rPr>
                        <a:t>EASY</a:t>
                      </a:r>
                      <a:endParaRPr lang="en-US" sz="1050" dirty="0"/>
                    </a:p>
                  </a:txBody>
                  <a:tcPr marL="76200" marR="76200" marT="25400" marB="254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01 — The Full Gap Inventory — Feasibility summary</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85800" y="2651760"/>
            <a:ext cx="1828800" cy="457200"/>
          </a:xfrm>
          <a:prstGeom prst="rect">
            <a:avLst/>
          </a:prstGeom>
          <a:noFill/>
          <a:ln/>
        </p:spPr>
        <p:txBody>
          <a:bodyPr wrap="square" lIns="0" tIns="0" rIns="0" bIns="0" rtlCol="0" anchor="ctr"/>
          <a:lstStyle/>
          <a:p>
            <a:pPr indent="0" marL="0">
              <a:buNone/>
            </a:pPr>
            <a:r>
              <a:rPr lang="en-US" sz="2200" b="1" dirty="0">
                <a:solidFill>
                  <a:srgbClr val="C07F2A"/>
                </a:solidFill>
                <a:latin typeface="Calibri" pitchFamily="34" charset="0"/>
                <a:ea typeface="Calibri" pitchFamily="34" charset="-122"/>
                <a:cs typeface="Calibri" pitchFamily="34" charset="-120"/>
              </a:rPr>
              <a:t>02</a:t>
            </a:r>
            <a:endParaRPr lang="en-US" sz="2200" dirty="0"/>
          </a:p>
        </p:txBody>
      </p:sp>
      <p:sp>
        <p:nvSpPr>
          <p:cNvPr id="3" name="Text 1"/>
          <p:cNvSpPr txBox="1"/>
          <p:nvPr/>
        </p:nvSpPr>
        <p:spPr>
          <a:xfrm>
            <a:off x="685800" y="3063240"/>
            <a:ext cx="105156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Live Re-Verification</a:t>
            </a:r>
            <a:endParaRPr lang="en-US" sz="3800" dirty="0"/>
          </a:p>
        </p:txBody>
      </p:sp>
      <p:sp>
        <p:nvSpPr>
          <p:cNvPr id="4" name="Text 2"/>
          <p:cNvSpPr txBox="1"/>
          <p:nvPr/>
        </p:nvSpPr>
        <p:spPr>
          <a:xfrm>
            <a:off x="685800" y="4114800"/>
            <a:ext cx="9784080" cy="731520"/>
          </a:xfrm>
          <a:prstGeom prst="rect">
            <a:avLst/>
          </a:prstGeom>
          <a:noFill/>
          <a:ln/>
        </p:spPr>
        <p:txBody>
          <a:bodyPr wrap="square" lIns="0" tIns="0" rIns="0" bIns="0" rtlCol="0" anchor="ctr"/>
          <a:lstStyle/>
          <a:p>
            <a:pPr indent="0" marL="0">
              <a:lnSpc>
                <a:spcPct val="130000"/>
              </a:lnSpc>
              <a:buNone/>
            </a:pPr>
            <a:r>
              <a:rPr lang="en-US" sz="1700" dirty="0">
                <a:solidFill>
                  <a:srgbClr val="A9B2C0"/>
                </a:solidFill>
                <a:latin typeface="Calibri" pitchFamily="34" charset="0"/>
                <a:ea typeface="Calibri" pitchFamily="34" charset="-122"/>
                <a:cs typeface="Calibri" pitchFamily="34" charset="-120"/>
              </a:rPr>
              <a:t>Did we get it right the first time? We went back and actually ran the real system to find out.</a:t>
            </a:r>
            <a:endParaRPr lang="en-US" sz="17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02 · LIVE RE-VERIFICATION</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3000" b="1" dirty="0">
                <a:solidFill>
                  <a:srgbClr val="171B24"/>
                </a:solidFill>
                <a:latin typeface="Cambria" pitchFamily="34" charset="0"/>
                <a:ea typeface="Cambria" pitchFamily="34" charset="-122"/>
                <a:cs typeface="Cambria" pitchFamily="34" charset="-120"/>
              </a:rPr>
              <a:t>What we actually did, not just read</a:t>
            </a:r>
            <a:endParaRPr lang="en-US" sz="3000" dirty="0"/>
          </a:p>
        </p:txBody>
      </p:sp>
      <p:sp>
        <p:nvSpPr>
          <p:cNvPr id="4" name="Shape 2"/>
          <p:cNvSpPr/>
          <p:nvPr/>
        </p:nvSpPr>
        <p:spPr>
          <a:xfrm>
            <a:off x="685800" y="2377440"/>
            <a:ext cx="10820095" cy="621792"/>
          </a:xfrm>
          <a:prstGeom prst="roundRect">
            <a:avLst>
              <a:gd name="adj" fmla="val 10294"/>
            </a:avLst>
          </a:prstGeom>
          <a:solidFill>
            <a:srgbClr val="FFFFFF"/>
          </a:solidFill>
          <a:ln w="12700">
            <a:solidFill>
              <a:srgbClr val="E2E4E8"/>
            </a:solidFill>
            <a:prstDash val="solid"/>
          </a:ln>
        </p:spPr>
      </p:sp>
      <p:sp>
        <p:nvSpPr>
          <p:cNvPr id="5" name="Shape 3"/>
          <p:cNvSpPr/>
          <p:nvPr/>
        </p:nvSpPr>
        <p:spPr>
          <a:xfrm>
            <a:off x="960120" y="2560320"/>
            <a:ext cx="256032" cy="256032"/>
          </a:xfrm>
          <a:prstGeom prst="ellipse">
            <a:avLst/>
          </a:prstGeom>
          <a:solidFill>
            <a:srgbClr val="C07F2A"/>
          </a:solidFill>
          <a:ln w="12700">
            <a:solidFill>
              <a:srgbClr val="C07F2A"/>
            </a:solidFill>
            <a:prstDash val="solid"/>
          </a:ln>
        </p:spPr>
      </p:sp>
      <p:sp>
        <p:nvSpPr>
          <p:cNvPr id="6" name="Text 4"/>
          <p:cNvSpPr txBox="1"/>
          <p:nvPr/>
        </p:nvSpPr>
        <p:spPr>
          <a:xfrm>
            <a:off x="1371600" y="2377440"/>
            <a:ext cx="9814255" cy="621792"/>
          </a:xfrm>
          <a:prstGeom prst="rect">
            <a:avLst/>
          </a:prstGeom>
          <a:noFill/>
          <a:ln/>
        </p:spPr>
        <p:txBody>
          <a:bodyPr wrap="square" lIns="0" tIns="0" rIns="0" bIns="0" rtlCol="0" anchor="ctr"/>
          <a:lstStyle/>
          <a:p>
            <a:pPr indent="0" marL="0">
              <a:buNone/>
            </a:pPr>
            <a:r>
              <a:rPr lang="en-US" sz="1500" dirty="0">
                <a:solidFill>
                  <a:srgbClr val="171B24"/>
                </a:solidFill>
                <a:latin typeface="Calibri" pitchFamily="34" charset="0"/>
                <a:ea typeface="Calibri" pitchFamily="34" charset="-122"/>
                <a:cs typeface="Calibri" pitchFamily="34" charset="-120"/>
              </a:rPr>
              <a:t>Pulled the real beckn/DEG repository fresh — confirmed at the current upstream commit</a:t>
            </a:r>
            <a:endParaRPr lang="en-US" sz="1500" dirty="0"/>
          </a:p>
        </p:txBody>
      </p:sp>
      <p:sp>
        <p:nvSpPr>
          <p:cNvPr id="7" name="Shape 5"/>
          <p:cNvSpPr/>
          <p:nvPr/>
        </p:nvSpPr>
        <p:spPr>
          <a:xfrm>
            <a:off x="685800" y="2999232"/>
            <a:ext cx="10820095" cy="621792"/>
          </a:xfrm>
          <a:prstGeom prst="roundRect">
            <a:avLst>
              <a:gd name="adj" fmla="val 10294"/>
            </a:avLst>
          </a:prstGeom>
          <a:solidFill>
            <a:srgbClr val="FFFFFF"/>
          </a:solidFill>
          <a:ln w="12700">
            <a:solidFill>
              <a:srgbClr val="E2E4E8"/>
            </a:solidFill>
            <a:prstDash val="solid"/>
          </a:ln>
        </p:spPr>
      </p:sp>
      <p:sp>
        <p:nvSpPr>
          <p:cNvPr id="8" name="Shape 6"/>
          <p:cNvSpPr/>
          <p:nvPr/>
        </p:nvSpPr>
        <p:spPr>
          <a:xfrm>
            <a:off x="960120" y="3182112"/>
            <a:ext cx="256032" cy="256032"/>
          </a:xfrm>
          <a:prstGeom prst="ellipse">
            <a:avLst/>
          </a:prstGeom>
          <a:solidFill>
            <a:srgbClr val="C07F2A"/>
          </a:solidFill>
          <a:ln w="12700">
            <a:solidFill>
              <a:srgbClr val="C07F2A"/>
            </a:solidFill>
            <a:prstDash val="solid"/>
          </a:ln>
        </p:spPr>
      </p:sp>
      <p:sp>
        <p:nvSpPr>
          <p:cNvPr id="9" name="Text 7"/>
          <p:cNvSpPr txBox="1"/>
          <p:nvPr/>
        </p:nvSpPr>
        <p:spPr>
          <a:xfrm>
            <a:off x="1371600" y="2999232"/>
            <a:ext cx="9814255" cy="621792"/>
          </a:xfrm>
          <a:prstGeom prst="rect">
            <a:avLst/>
          </a:prstGeom>
          <a:noFill/>
          <a:ln/>
        </p:spPr>
        <p:txBody>
          <a:bodyPr wrap="square" lIns="0" tIns="0" rIns="0" bIns="0" rtlCol="0" anchor="ctr"/>
          <a:lstStyle/>
          <a:p>
            <a:pPr indent="0" marL="0">
              <a:buNone/>
            </a:pPr>
            <a:r>
              <a:rPr lang="en-US" sz="1500" dirty="0">
                <a:solidFill>
                  <a:srgbClr val="171B24"/>
                </a:solidFill>
                <a:latin typeface="Calibri" pitchFamily="34" charset="0"/>
                <a:ea typeface="Calibri" pitchFamily="34" charset="-122"/>
                <a:cs typeface="Calibri" pitchFamily="34" charset="-120"/>
              </a:rPr>
              <a:t>Brought up the real Docker stack: 16 containers, including separate ledger services per DISCOM</a:t>
            </a:r>
            <a:endParaRPr lang="en-US" sz="1500" dirty="0"/>
          </a:p>
        </p:txBody>
      </p:sp>
      <p:sp>
        <p:nvSpPr>
          <p:cNvPr id="10" name="Shape 8"/>
          <p:cNvSpPr/>
          <p:nvPr/>
        </p:nvSpPr>
        <p:spPr>
          <a:xfrm>
            <a:off x="685800" y="3621024"/>
            <a:ext cx="10820095" cy="621792"/>
          </a:xfrm>
          <a:prstGeom prst="roundRect">
            <a:avLst>
              <a:gd name="adj" fmla="val 10294"/>
            </a:avLst>
          </a:prstGeom>
          <a:solidFill>
            <a:srgbClr val="FFFFFF"/>
          </a:solidFill>
          <a:ln w="12700">
            <a:solidFill>
              <a:srgbClr val="E2E4E8"/>
            </a:solidFill>
            <a:prstDash val="solid"/>
          </a:ln>
        </p:spPr>
      </p:sp>
      <p:sp>
        <p:nvSpPr>
          <p:cNvPr id="11" name="Shape 9"/>
          <p:cNvSpPr/>
          <p:nvPr/>
        </p:nvSpPr>
        <p:spPr>
          <a:xfrm>
            <a:off x="960120" y="3803904"/>
            <a:ext cx="256032" cy="256032"/>
          </a:xfrm>
          <a:prstGeom prst="ellipse">
            <a:avLst/>
          </a:prstGeom>
          <a:solidFill>
            <a:srgbClr val="C07F2A"/>
          </a:solidFill>
          <a:ln w="12700">
            <a:solidFill>
              <a:srgbClr val="C07F2A"/>
            </a:solidFill>
            <a:prstDash val="solid"/>
          </a:ln>
        </p:spPr>
      </p:sp>
      <p:sp>
        <p:nvSpPr>
          <p:cNvPr id="12" name="Text 10"/>
          <p:cNvSpPr txBox="1"/>
          <p:nvPr/>
        </p:nvSpPr>
        <p:spPr>
          <a:xfrm>
            <a:off x="1371600" y="3621024"/>
            <a:ext cx="9814255" cy="621792"/>
          </a:xfrm>
          <a:prstGeom prst="rect">
            <a:avLst/>
          </a:prstGeom>
          <a:noFill/>
          <a:ln/>
        </p:spPr>
        <p:txBody>
          <a:bodyPr wrap="square" lIns="0" tIns="0" rIns="0" bIns="0" rtlCol="0" anchor="ctr"/>
          <a:lstStyle/>
          <a:p>
            <a:pPr indent="0" marL="0">
              <a:buNone/>
            </a:pPr>
            <a:r>
              <a:rPr lang="en-US" sz="1500" dirty="0">
                <a:solidFill>
                  <a:srgbClr val="171B24"/>
                </a:solidFill>
                <a:latin typeface="Calibri" pitchFamily="34" charset="0"/>
                <a:ea typeface="Calibri" pitchFamily="34" charset="-122"/>
                <a:cs typeface="Calibri" pitchFamily="34" charset="-120"/>
              </a:rPr>
              <a:t>Ran the devkit's own built-in test workflows against the real, signed, policy-enforced pipeline</a:t>
            </a:r>
            <a:endParaRPr lang="en-US" sz="1500" dirty="0"/>
          </a:p>
        </p:txBody>
      </p:sp>
      <p:sp>
        <p:nvSpPr>
          <p:cNvPr id="13" name="Shape 11"/>
          <p:cNvSpPr/>
          <p:nvPr/>
        </p:nvSpPr>
        <p:spPr>
          <a:xfrm>
            <a:off x="685800" y="4242816"/>
            <a:ext cx="10820095" cy="621792"/>
          </a:xfrm>
          <a:prstGeom prst="roundRect">
            <a:avLst>
              <a:gd name="adj" fmla="val 10294"/>
            </a:avLst>
          </a:prstGeom>
          <a:solidFill>
            <a:srgbClr val="FFFFFF"/>
          </a:solidFill>
          <a:ln w="12700">
            <a:solidFill>
              <a:srgbClr val="E2E4E8"/>
            </a:solidFill>
            <a:prstDash val="solid"/>
          </a:ln>
        </p:spPr>
      </p:sp>
      <p:sp>
        <p:nvSpPr>
          <p:cNvPr id="14" name="Shape 12"/>
          <p:cNvSpPr/>
          <p:nvPr/>
        </p:nvSpPr>
        <p:spPr>
          <a:xfrm>
            <a:off x="960120" y="4425696"/>
            <a:ext cx="256032" cy="256032"/>
          </a:xfrm>
          <a:prstGeom prst="ellipse">
            <a:avLst/>
          </a:prstGeom>
          <a:solidFill>
            <a:srgbClr val="C07F2A"/>
          </a:solidFill>
          <a:ln w="12700">
            <a:solidFill>
              <a:srgbClr val="C07F2A"/>
            </a:solidFill>
            <a:prstDash val="solid"/>
          </a:ln>
        </p:spPr>
      </p:sp>
      <p:sp>
        <p:nvSpPr>
          <p:cNvPr id="15" name="Text 13"/>
          <p:cNvSpPr txBox="1"/>
          <p:nvPr/>
        </p:nvSpPr>
        <p:spPr>
          <a:xfrm>
            <a:off x="1371600" y="4242816"/>
            <a:ext cx="9814255" cy="621792"/>
          </a:xfrm>
          <a:prstGeom prst="rect">
            <a:avLst/>
          </a:prstGeom>
          <a:noFill/>
          <a:ln/>
        </p:spPr>
        <p:txBody>
          <a:bodyPr wrap="square" lIns="0" tIns="0" rIns="0" bIns="0" rtlCol="0" anchor="ctr"/>
          <a:lstStyle/>
          <a:p>
            <a:pPr indent="0" marL="0">
              <a:buNone/>
            </a:pPr>
            <a:r>
              <a:rPr lang="en-US" sz="1500" dirty="0">
                <a:solidFill>
                  <a:srgbClr val="171B24"/>
                </a:solidFill>
                <a:latin typeface="Calibri" pitchFamily="34" charset="0"/>
                <a:ea typeface="Calibri" pitchFamily="34" charset="-122"/>
                <a:cs typeface="Calibri" pitchFamily="34" charset="-120"/>
              </a:rPr>
              <a:t>Hand-crafted a real ₹0.01/kWh trade and sent it through the real system to test price sanity directly</a:t>
            </a:r>
            <a:endParaRPr lang="en-US" sz="1500" dirty="0"/>
          </a:p>
        </p:txBody>
      </p:sp>
      <p:sp>
        <p:nvSpPr>
          <p:cNvPr id="16" name="Shape 14"/>
          <p:cNvSpPr/>
          <p:nvPr/>
        </p:nvSpPr>
        <p:spPr>
          <a:xfrm>
            <a:off x="685800" y="4864608"/>
            <a:ext cx="10820095" cy="621792"/>
          </a:xfrm>
          <a:prstGeom prst="roundRect">
            <a:avLst>
              <a:gd name="adj" fmla="val 10294"/>
            </a:avLst>
          </a:prstGeom>
          <a:solidFill>
            <a:srgbClr val="FFFFFF"/>
          </a:solidFill>
          <a:ln w="12700">
            <a:solidFill>
              <a:srgbClr val="E2E4E8"/>
            </a:solidFill>
            <a:prstDash val="solid"/>
          </a:ln>
        </p:spPr>
      </p:sp>
      <p:sp>
        <p:nvSpPr>
          <p:cNvPr id="17" name="Shape 15"/>
          <p:cNvSpPr/>
          <p:nvPr/>
        </p:nvSpPr>
        <p:spPr>
          <a:xfrm>
            <a:off x="960120" y="5047488"/>
            <a:ext cx="256032" cy="256032"/>
          </a:xfrm>
          <a:prstGeom prst="ellipse">
            <a:avLst/>
          </a:prstGeom>
          <a:solidFill>
            <a:srgbClr val="C07F2A"/>
          </a:solidFill>
          <a:ln w="12700">
            <a:solidFill>
              <a:srgbClr val="C07F2A"/>
            </a:solidFill>
            <a:prstDash val="solid"/>
          </a:ln>
        </p:spPr>
      </p:sp>
      <p:sp>
        <p:nvSpPr>
          <p:cNvPr id="18" name="Text 16"/>
          <p:cNvSpPr txBox="1"/>
          <p:nvPr/>
        </p:nvSpPr>
        <p:spPr>
          <a:xfrm>
            <a:off x="1371600" y="4864608"/>
            <a:ext cx="9814255" cy="621792"/>
          </a:xfrm>
          <a:prstGeom prst="rect">
            <a:avLst/>
          </a:prstGeom>
          <a:noFill/>
          <a:ln/>
        </p:spPr>
        <p:txBody>
          <a:bodyPr wrap="square" lIns="0" tIns="0" rIns="0" bIns="0" rtlCol="0" anchor="ctr"/>
          <a:lstStyle/>
          <a:p>
            <a:pPr indent="0" marL="0">
              <a:buNone/>
            </a:pPr>
            <a:r>
              <a:rPr lang="en-US" sz="1500" dirty="0">
                <a:solidFill>
                  <a:srgbClr val="171B24"/>
                </a:solidFill>
                <a:latin typeface="Calibri" pitchFamily="34" charset="0"/>
                <a:ea typeface="Calibri" pitchFamily="34" charset="-122"/>
                <a:cs typeface="Calibri" pitchFamily="34" charset="-120"/>
              </a:rPr>
              <a:t>Tried an unsigned request and a disallowed counterparty, on purpose, to confirm real rejections</a:t>
            </a:r>
            <a:endParaRPr lang="en-US" sz="1500" dirty="0"/>
          </a:p>
        </p:txBody>
      </p:sp>
      <p:sp>
        <p:nvSpPr>
          <p:cNvPr id="19" name="Text 17"/>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02 — Live Re-Verification</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02 · LIVE RE-VERIFICATION</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3000" b="1" dirty="0">
                <a:solidFill>
                  <a:srgbClr val="171B24"/>
                </a:solidFill>
                <a:latin typeface="Cambria" pitchFamily="34" charset="0"/>
                <a:ea typeface="Cambria" pitchFamily="34" charset="-122"/>
                <a:cs typeface="Cambria" pitchFamily="34" charset="-120"/>
              </a:rPr>
              <a:t>The verdict: zero false alarms</a:t>
            </a:r>
            <a:endParaRPr lang="en-US" sz="3000" dirty="0"/>
          </a:p>
        </p:txBody>
      </p:sp>
      <p:sp>
        <p:nvSpPr>
          <p:cNvPr id="4" name="Text 2"/>
          <p:cNvSpPr txBox="1"/>
          <p:nvPr/>
        </p:nvSpPr>
        <p:spPr>
          <a:xfrm>
            <a:off x="685800" y="1783080"/>
            <a:ext cx="10820095" cy="548640"/>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Of 12 original gaps, re-checked against the current live code and, where possible, the real running system.</a:t>
            </a:r>
            <a:endParaRPr lang="en-US" sz="1500" dirty="0"/>
          </a:p>
        </p:txBody>
      </p:sp>
      <p:sp>
        <p:nvSpPr>
          <p:cNvPr id="5" name="Shape 3"/>
          <p:cNvSpPr/>
          <p:nvPr/>
        </p:nvSpPr>
        <p:spPr>
          <a:xfrm>
            <a:off x="685800" y="2514600"/>
            <a:ext cx="10820095" cy="868680"/>
          </a:xfrm>
          <a:prstGeom prst="roundRect">
            <a:avLst>
              <a:gd name="adj" fmla="val 7368"/>
            </a:avLst>
          </a:prstGeom>
          <a:solidFill>
            <a:srgbClr val="FFFFFF"/>
          </a:solidFill>
          <a:ln w="12700">
            <a:solidFill>
              <a:srgbClr val="E2E4E8"/>
            </a:solidFill>
            <a:prstDash val="solid"/>
          </a:ln>
        </p:spPr>
      </p:sp>
      <p:sp>
        <p:nvSpPr>
          <p:cNvPr id="6" name="Shape 4"/>
          <p:cNvSpPr/>
          <p:nvPr/>
        </p:nvSpPr>
        <p:spPr>
          <a:xfrm>
            <a:off x="960120" y="2747772"/>
            <a:ext cx="2377440" cy="402336"/>
          </a:xfrm>
          <a:prstGeom prst="roundRect">
            <a:avLst>
              <a:gd name="adj" fmla="val 50000"/>
            </a:avLst>
          </a:prstGeom>
          <a:solidFill>
            <a:srgbClr val="2F7A4F"/>
          </a:solidFill>
          <a:ln w="12700">
            <a:solidFill>
              <a:srgbClr val="2F7A4F"/>
            </a:solidFill>
            <a:prstDash val="solid"/>
          </a:ln>
        </p:spPr>
      </p:sp>
      <p:sp>
        <p:nvSpPr>
          <p:cNvPr id="7" name="Text 5"/>
          <p:cNvSpPr txBox="1"/>
          <p:nvPr/>
        </p:nvSpPr>
        <p:spPr>
          <a:xfrm>
            <a:off x="960120" y="2747772"/>
            <a:ext cx="237744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CONFIRMED</a:t>
            </a:r>
            <a:endParaRPr lang="en-US" sz="1200" dirty="0"/>
          </a:p>
        </p:txBody>
      </p:sp>
      <p:sp>
        <p:nvSpPr>
          <p:cNvPr id="8" name="Text 6"/>
          <p:cNvSpPr txBox="1"/>
          <p:nvPr/>
        </p:nvSpPr>
        <p:spPr>
          <a:xfrm>
            <a:off x="3520440" y="2624328"/>
            <a:ext cx="2103120" cy="274320"/>
          </a:xfrm>
          <a:prstGeom prst="rect">
            <a:avLst/>
          </a:prstGeom>
          <a:noFill/>
          <a:ln/>
        </p:spPr>
        <p:txBody>
          <a:bodyPr wrap="square" lIns="0" tIns="0" rIns="0" bIns="0" rtlCol="0" anchor="ctr"/>
          <a:lstStyle/>
          <a:p>
            <a:pPr indent="0" marL="0">
              <a:buNone/>
            </a:pPr>
            <a:r>
              <a:rPr lang="en-US" sz="1300" b="1" dirty="0">
                <a:solidFill>
                  <a:srgbClr val="171B24"/>
                </a:solidFill>
                <a:latin typeface="Calibri" pitchFamily="34" charset="0"/>
                <a:ea typeface="Calibri" pitchFamily="34" charset="-122"/>
                <a:cs typeface="Calibri" pitchFamily="34" charset="-120"/>
              </a:rPr>
              <a:t>10 gaps</a:t>
            </a:r>
            <a:endParaRPr lang="en-US" sz="1300" dirty="0"/>
          </a:p>
        </p:txBody>
      </p:sp>
      <p:sp>
        <p:nvSpPr>
          <p:cNvPr id="9" name="Text 7"/>
          <p:cNvSpPr txBox="1"/>
          <p:nvPr/>
        </p:nvSpPr>
        <p:spPr>
          <a:xfrm>
            <a:off x="3520440" y="2916936"/>
            <a:ext cx="7711135" cy="411480"/>
          </a:xfrm>
          <a:prstGeom prst="rect">
            <a:avLst/>
          </a:prstGeom>
          <a:noFill/>
          <a:ln/>
        </p:spPr>
        <p:txBody>
          <a:bodyPr wrap="square" lIns="0" tIns="0" rIns="0" bIns="0" rtlCol="0" anchor="ctr"/>
          <a:lstStyle/>
          <a:p>
            <a:pPr indent="0" marL="0">
              <a:lnSpc>
                <a:spcPct val="115000"/>
              </a:lnSpc>
              <a:buNone/>
            </a:pPr>
            <a:r>
              <a:rPr lang="en-US" sz="1250" dirty="0">
                <a:solidFill>
                  <a:srgbClr val="5A6472"/>
                </a:solidFill>
                <a:latin typeface="Calibri" pitchFamily="34" charset="0"/>
                <a:ea typeface="Calibri" pitchFamily="34" charset="-122"/>
                <a:cs typeface="Calibri" pitchFamily="34" charset="-120"/>
              </a:rPr>
              <a:t>Exactly as originally described — still true in the current code</a:t>
            </a:r>
            <a:endParaRPr lang="en-US" sz="1250" dirty="0"/>
          </a:p>
        </p:txBody>
      </p:sp>
      <p:sp>
        <p:nvSpPr>
          <p:cNvPr id="10" name="Shape 8"/>
          <p:cNvSpPr/>
          <p:nvPr/>
        </p:nvSpPr>
        <p:spPr>
          <a:xfrm>
            <a:off x="685800" y="3547872"/>
            <a:ext cx="10820095" cy="868680"/>
          </a:xfrm>
          <a:prstGeom prst="roundRect">
            <a:avLst>
              <a:gd name="adj" fmla="val 7368"/>
            </a:avLst>
          </a:prstGeom>
          <a:solidFill>
            <a:srgbClr val="FFFFFF"/>
          </a:solidFill>
          <a:ln w="12700">
            <a:solidFill>
              <a:srgbClr val="E2E4E8"/>
            </a:solidFill>
            <a:prstDash val="solid"/>
          </a:ln>
        </p:spPr>
      </p:sp>
      <p:sp>
        <p:nvSpPr>
          <p:cNvPr id="11" name="Shape 9"/>
          <p:cNvSpPr/>
          <p:nvPr/>
        </p:nvSpPr>
        <p:spPr>
          <a:xfrm>
            <a:off x="960120" y="3781044"/>
            <a:ext cx="2377440" cy="402336"/>
          </a:xfrm>
          <a:prstGeom prst="roundRect">
            <a:avLst>
              <a:gd name="adj" fmla="val 50000"/>
            </a:avLst>
          </a:prstGeom>
          <a:solidFill>
            <a:srgbClr val="B23B2E"/>
          </a:solidFill>
          <a:ln w="12700">
            <a:solidFill>
              <a:srgbClr val="B23B2E"/>
            </a:solidFill>
            <a:prstDash val="solid"/>
          </a:ln>
        </p:spPr>
      </p:sp>
      <p:sp>
        <p:nvSpPr>
          <p:cNvPr id="12" name="Text 10"/>
          <p:cNvSpPr txBox="1"/>
          <p:nvPr/>
        </p:nvSpPr>
        <p:spPr>
          <a:xfrm>
            <a:off x="960120" y="3781044"/>
            <a:ext cx="237744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CONFIRMED LIVE</a:t>
            </a:r>
            <a:endParaRPr lang="en-US" sz="1200" dirty="0"/>
          </a:p>
        </p:txBody>
      </p:sp>
      <p:sp>
        <p:nvSpPr>
          <p:cNvPr id="13" name="Text 11"/>
          <p:cNvSpPr txBox="1"/>
          <p:nvPr/>
        </p:nvSpPr>
        <p:spPr>
          <a:xfrm>
            <a:off x="3520440" y="3657600"/>
            <a:ext cx="2103120" cy="274320"/>
          </a:xfrm>
          <a:prstGeom prst="rect">
            <a:avLst/>
          </a:prstGeom>
          <a:noFill/>
          <a:ln/>
        </p:spPr>
        <p:txBody>
          <a:bodyPr wrap="square" lIns="0" tIns="0" rIns="0" bIns="0" rtlCol="0" anchor="ctr"/>
          <a:lstStyle/>
          <a:p>
            <a:pPr indent="0" marL="0">
              <a:buNone/>
            </a:pPr>
            <a:r>
              <a:rPr lang="en-US" sz="1300" b="1" dirty="0">
                <a:solidFill>
                  <a:srgbClr val="171B24"/>
                </a:solidFill>
                <a:latin typeface="Calibri" pitchFamily="34" charset="0"/>
                <a:ea typeface="Calibri" pitchFamily="34" charset="-122"/>
                <a:cs typeface="Calibri" pitchFamily="34" charset="-120"/>
              </a:rPr>
              <a:t>1 gap (price sanity)</a:t>
            </a:r>
            <a:endParaRPr lang="en-US" sz="1300" dirty="0"/>
          </a:p>
        </p:txBody>
      </p:sp>
      <p:sp>
        <p:nvSpPr>
          <p:cNvPr id="14" name="Text 12"/>
          <p:cNvSpPr txBox="1"/>
          <p:nvPr/>
        </p:nvSpPr>
        <p:spPr>
          <a:xfrm>
            <a:off x="3520440" y="3950208"/>
            <a:ext cx="7711135" cy="411480"/>
          </a:xfrm>
          <a:prstGeom prst="rect">
            <a:avLst/>
          </a:prstGeom>
          <a:noFill/>
          <a:ln/>
        </p:spPr>
        <p:txBody>
          <a:bodyPr wrap="square" lIns="0" tIns="0" rIns="0" bIns="0" rtlCol="0" anchor="ctr"/>
          <a:lstStyle/>
          <a:p>
            <a:pPr indent="0" marL="0">
              <a:lnSpc>
                <a:spcPct val="115000"/>
              </a:lnSpc>
              <a:buNone/>
            </a:pPr>
            <a:r>
              <a:rPr lang="en-US" sz="1250" dirty="0">
                <a:solidFill>
                  <a:srgbClr val="5A6472"/>
                </a:solidFill>
                <a:latin typeface="Calibri" pitchFamily="34" charset="0"/>
                <a:ea typeface="Calibri" pitchFamily="34" charset="-122"/>
                <a:cs typeface="Calibri" pitchFamily="34" charset="-120"/>
              </a:rPr>
              <a:t>Proven by actually sending a real ₹0.01/kWh trade through the real pipeline</a:t>
            </a:r>
            <a:endParaRPr lang="en-US" sz="1250" dirty="0"/>
          </a:p>
        </p:txBody>
      </p:sp>
      <p:sp>
        <p:nvSpPr>
          <p:cNvPr id="15" name="Shape 13"/>
          <p:cNvSpPr/>
          <p:nvPr/>
        </p:nvSpPr>
        <p:spPr>
          <a:xfrm>
            <a:off x="685800" y="4581144"/>
            <a:ext cx="10820095" cy="868680"/>
          </a:xfrm>
          <a:prstGeom prst="roundRect">
            <a:avLst>
              <a:gd name="adj" fmla="val 7368"/>
            </a:avLst>
          </a:prstGeom>
          <a:solidFill>
            <a:srgbClr val="FFFFFF"/>
          </a:solidFill>
          <a:ln w="12700">
            <a:solidFill>
              <a:srgbClr val="E2E4E8"/>
            </a:solidFill>
            <a:prstDash val="solid"/>
          </a:ln>
        </p:spPr>
      </p:sp>
      <p:sp>
        <p:nvSpPr>
          <p:cNvPr id="16" name="Shape 14"/>
          <p:cNvSpPr/>
          <p:nvPr/>
        </p:nvSpPr>
        <p:spPr>
          <a:xfrm>
            <a:off x="960120" y="4814316"/>
            <a:ext cx="2377440" cy="402336"/>
          </a:xfrm>
          <a:prstGeom prst="roundRect">
            <a:avLst>
              <a:gd name="adj" fmla="val 50000"/>
            </a:avLst>
          </a:prstGeom>
          <a:solidFill>
            <a:srgbClr val="C07F2A"/>
          </a:solidFill>
          <a:ln w="12700">
            <a:solidFill>
              <a:srgbClr val="C07F2A"/>
            </a:solidFill>
            <a:prstDash val="solid"/>
          </a:ln>
        </p:spPr>
      </p:sp>
      <p:sp>
        <p:nvSpPr>
          <p:cNvPr id="17" name="Text 15"/>
          <p:cNvSpPr txBox="1"/>
          <p:nvPr/>
        </p:nvSpPr>
        <p:spPr>
          <a:xfrm>
            <a:off x="960120" y="4814316"/>
            <a:ext cx="237744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MORE MITIGATED</a:t>
            </a:r>
            <a:endParaRPr lang="en-US" sz="1200" dirty="0"/>
          </a:p>
        </p:txBody>
      </p:sp>
      <p:sp>
        <p:nvSpPr>
          <p:cNvPr id="18" name="Text 16"/>
          <p:cNvSpPr txBox="1"/>
          <p:nvPr/>
        </p:nvSpPr>
        <p:spPr>
          <a:xfrm>
            <a:off x="3520440" y="4690872"/>
            <a:ext cx="2103120" cy="274320"/>
          </a:xfrm>
          <a:prstGeom prst="rect">
            <a:avLst/>
          </a:prstGeom>
          <a:noFill/>
          <a:ln/>
        </p:spPr>
        <p:txBody>
          <a:bodyPr wrap="square" lIns="0" tIns="0" rIns="0" bIns="0" rtlCol="0" anchor="ctr"/>
          <a:lstStyle/>
          <a:p>
            <a:pPr indent="0" marL="0">
              <a:buNone/>
            </a:pPr>
            <a:r>
              <a:rPr lang="en-US" sz="1300" b="1" dirty="0">
                <a:solidFill>
                  <a:srgbClr val="171B24"/>
                </a:solidFill>
                <a:latin typeface="Calibri" pitchFamily="34" charset="0"/>
                <a:ea typeface="Calibri" pitchFamily="34" charset="-122"/>
                <a:cs typeface="Calibri" pitchFamily="34" charset="-120"/>
              </a:rPr>
              <a:t>2 gaps (dispute, ledger)</a:t>
            </a:r>
            <a:endParaRPr lang="en-US" sz="1300" dirty="0"/>
          </a:p>
        </p:txBody>
      </p:sp>
      <p:sp>
        <p:nvSpPr>
          <p:cNvPr id="19" name="Text 17"/>
          <p:cNvSpPr txBox="1"/>
          <p:nvPr/>
        </p:nvSpPr>
        <p:spPr>
          <a:xfrm>
            <a:off x="3520440" y="4983480"/>
            <a:ext cx="7711135" cy="411480"/>
          </a:xfrm>
          <a:prstGeom prst="rect">
            <a:avLst/>
          </a:prstGeom>
          <a:noFill/>
          <a:ln/>
        </p:spPr>
        <p:txBody>
          <a:bodyPr wrap="square" lIns="0" tIns="0" rIns="0" bIns="0" rtlCol="0" anchor="ctr"/>
          <a:lstStyle/>
          <a:p>
            <a:pPr indent="0" marL="0">
              <a:lnSpc>
                <a:spcPct val="115000"/>
              </a:lnSpc>
              <a:buNone/>
            </a:pPr>
            <a:r>
              <a:rPr lang="en-US" sz="1250" dirty="0">
                <a:solidFill>
                  <a:srgbClr val="5A6472"/>
                </a:solidFill>
                <a:latin typeface="Calibri" pitchFamily="34" charset="0"/>
                <a:ea typeface="Calibri" pitchFamily="34" charset="-122"/>
                <a:cs typeface="Calibri" pitchFamily="34" charset="-120"/>
              </a:rPr>
              <a:t>The real architecture already supports the right fix — it's a rollout decision, not a missing capability</a:t>
            </a:r>
            <a:endParaRPr lang="en-US" sz="1250" dirty="0"/>
          </a:p>
        </p:txBody>
      </p:sp>
      <p:sp>
        <p:nvSpPr>
          <p:cNvPr id="20" name="Shape 18"/>
          <p:cNvSpPr/>
          <p:nvPr/>
        </p:nvSpPr>
        <p:spPr>
          <a:xfrm>
            <a:off x="685800" y="5614416"/>
            <a:ext cx="10820095" cy="868680"/>
          </a:xfrm>
          <a:prstGeom prst="roundRect">
            <a:avLst>
              <a:gd name="adj" fmla="val 7368"/>
            </a:avLst>
          </a:prstGeom>
          <a:solidFill>
            <a:srgbClr val="FFFFFF"/>
          </a:solidFill>
          <a:ln w="12700">
            <a:solidFill>
              <a:srgbClr val="E2E4E8"/>
            </a:solidFill>
            <a:prstDash val="solid"/>
          </a:ln>
        </p:spPr>
      </p:sp>
      <p:sp>
        <p:nvSpPr>
          <p:cNvPr id="21" name="Shape 19"/>
          <p:cNvSpPr/>
          <p:nvPr/>
        </p:nvSpPr>
        <p:spPr>
          <a:xfrm>
            <a:off x="960120" y="5847588"/>
            <a:ext cx="2377440" cy="402336"/>
          </a:xfrm>
          <a:prstGeom prst="roundRect">
            <a:avLst>
              <a:gd name="adj" fmla="val 50000"/>
            </a:avLst>
          </a:prstGeom>
          <a:solidFill>
            <a:srgbClr val="8A94A6"/>
          </a:solidFill>
          <a:ln w="12700">
            <a:solidFill>
              <a:srgbClr val="8A94A6"/>
            </a:solidFill>
            <a:prstDash val="solid"/>
          </a:ln>
        </p:spPr>
      </p:sp>
      <p:sp>
        <p:nvSpPr>
          <p:cNvPr id="22" name="Text 20"/>
          <p:cNvSpPr txBox="1"/>
          <p:nvPr/>
        </p:nvSpPr>
        <p:spPr>
          <a:xfrm>
            <a:off x="960120" y="5847588"/>
            <a:ext cx="237744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OVERSTATED</a:t>
            </a:r>
            <a:endParaRPr lang="en-US" sz="1200" dirty="0"/>
          </a:p>
        </p:txBody>
      </p:sp>
      <p:sp>
        <p:nvSpPr>
          <p:cNvPr id="23" name="Text 21"/>
          <p:cNvSpPr txBox="1"/>
          <p:nvPr/>
        </p:nvSpPr>
        <p:spPr>
          <a:xfrm>
            <a:off x="3520440" y="5724144"/>
            <a:ext cx="2103120" cy="274320"/>
          </a:xfrm>
          <a:prstGeom prst="rect">
            <a:avLst/>
          </a:prstGeom>
          <a:noFill/>
          <a:ln/>
        </p:spPr>
        <p:txBody>
          <a:bodyPr wrap="square" lIns="0" tIns="0" rIns="0" bIns="0" rtlCol="0" anchor="ctr"/>
          <a:lstStyle/>
          <a:p>
            <a:pPr indent="0" marL="0">
              <a:buNone/>
            </a:pPr>
            <a:r>
              <a:rPr lang="en-US" sz="1300" b="1" dirty="0">
                <a:solidFill>
                  <a:srgbClr val="171B24"/>
                </a:solidFill>
                <a:latin typeface="Calibri" pitchFamily="34" charset="0"/>
                <a:ea typeface="Calibri" pitchFamily="34" charset="-122"/>
                <a:cs typeface="Calibri" pitchFamily="34" charset="-120"/>
              </a:rPr>
              <a:t>0 gaps</a:t>
            </a:r>
            <a:endParaRPr lang="en-US" sz="1300" dirty="0"/>
          </a:p>
        </p:txBody>
      </p:sp>
      <p:sp>
        <p:nvSpPr>
          <p:cNvPr id="24" name="Text 22"/>
          <p:cNvSpPr txBox="1"/>
          <p:nvPr/>
        </p:nvSpPr>
        <p:spPr>
          <a:xfrm>
            <a:off x="3520440" y="6016752"/>
            <a:ext cx="7711135" cy="411480"/>
          </a:xfrm>
          <a:prstGeom prst="rect">
            <a:avLst/>
          </a:prstGeom>
          <a:noFill/>
          <a:ln/>
        </p:spPr>
        <p:txBody>
          <a:bodyPr wrap="square" lIns="0" tIns="0" rIns="0" bIns="0" rtlCol="0" anchor="ctr"/>
          <a:lstStyle/>
          <a:p>
            <a:pPr indent="0" marL="0">
              <a:lnSpc>
                <a:spcPct val="115000"/>
              </a:lnSpc>
              <a:buNone/>
            </a:pPr>
            <a:r>
              <a:rPr lang="en-US" sz="1250" dirty="0">
                <a:solidFill>
                  <a:srgbClr val="5A6472"/>
                </a:solidFill>
                <a:latin typeface="Calibri" pitchFamily="34" charset="0"/>
                <a:ea typeface="Calibri" pitchFamily="34" charset="-122"/>
                <a:cs typeface="Calibri" pitchFamily="34" charset="-120"/>
              </a:rPr>
              <a:t>Nothing in the original review turned out to be wrong or exaggerated</a:t>
            </a:r>
            <a:endParaRPr lang="en-US" sz="1250" dirty="0"/>
          </a:p>
        </p:txBody>
      </p:sp>
      <p:sp>
        <p:nvSpPr>
          <p:cNvPr id="25" name="Text 23"/>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02 — Live Re-Verification</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85800" y="2651760"/>
            <a:ext cx="1828800" cy="457200"/>
          </a:xfrm>
          <a:prstGeom prst="rect">
            <a:avLst/>
          </a:prstGeom>
          <a:noFill/>
          <a:ln/>
        </p:spPr>
        <p:txBody>
          <a:bodyPr wrap="square" lIns="0" tIns="0" rIns="0" bIns="0" rtlCol="0" anchor="ctr"/>
          <a:lstStyle/>
          <a:p>
            <a:pPr indent="0" marL="0">
              <a:buNone/>
            </a:pPr>
            <a:r>
              <a:rPr lang="en-US" sz="2200" b="1" dirty="0">
                <a:solidFill>
                  <a:srgbClr val="C07F2A"/>
                </a:solidFill>
                <a:latin typeface="Calibri" pitchFamily="34" charset="0"/>
                <a:ea typeface="Calibri" pitchFamily="34" charset="-122"/>
                <a:cs typeface="Calibri" pitchFamily="34" charset="-120"/>
              </a:rPr>
              <a:t>03</a:t>
            </a:r>
            <a:endParaRPr lang="en-US" sz="2200" dirty="0"/>
          </a:p>
        </p:txBody>
      </p:sp>
      <p:sp>
        <p:nvSpPr>
          <p:cNvPr id="3" name="Text 1"/>
          <p:cNvSpPr txBox="1"/>
          <p:nvPr/>
        </p:nvSpPr>
        <p:spPr>
          <a:xfrm>
            <a:off x="685800" y="3063240"/>
            <a:ext cx="105156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Live Testing Found That Reading Code Didn't</a:t>
            </a:r>
            <a:endParaRPr lang="en-US" sz="3800" dirty="0"/>
          </a:p>
        </p:txBody>
      </p:sp>
      <p:sp>
        <p:nvSpPr>
          <p:cNvPr id="4" name="Text 2"/>
          <p:cNvSpPr txBox="1"/>
          <p:nvPr/>
        </p:nvSpPr>
        <p:spPr>
          <a:xfrm>
            <a:off x="685800" y="4114800"/>
            <a:ext cx="9784080" cy="731520"/>
          </a:xfrm>
          <a:prstGeom prst="rect">
            <a:avLst/>
          </a:prstGeom>
          <a:noFill/>
          <a:ln/>
        </p:spPr>
        <p:txBody>
          <a:bodyPr wrap="square" lIns="0" tIns="0" rIns="0" bIns="0" rtlCol="0" anchor="ctr"/>
          <a:lstStyle/>
          <a:p>
            <a:pPr indent="0" marL="0">
              <a:lnSpc>
                <a:spcPct val="130000"/>
              </a:lnSpc>
              <a:buNone/>
            </a:pPr>
            <a:r>
              <a:rPr lang="en-US" sz="1700" dirty="0">
                <a:solidFill>
                  <a:srgbClr val="A9B2C0"/>
                </a:solidFill>
                <a:latin typeface="Calibri" pitchFamily="34" charset="0"/>
                <a:ea typeface="Calibri" pitchFamily="34" charset="-122"/>
                <a:cs typeface="Calibri" pitchFamily="34" charset="-120"/>
              </a:rPr>
              <a:t>Two genuine surprises — one false alarm corrected, one suspicion proven.</a:t>
            </a:r>
            <a:endParaRPr lang="en-US" sz="17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03 · WHAT LIVE TESTING FOUND</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3000" b="1" dirty="0">
                <a:solidFill>
                  <a:srgbClr val="171B24"/>
                </a:solidFill>
                <a:latin typeface="Cambria" pitchFamily="34" charset="0"/>
                <a:ea typeface="Cambria" pitchFamily="34" charset="-122"/>
                <a:cs typeface="Cambria" pitchFamily="34" charset="-120"/>
              </a:rPr>
              <a:t>A false alarm, corrected by actually testing it</a:t>
            </a:r>
            <a:endParaRPr lang="en-US" sz="3000" dirty="0"/>
          </a:p>
        </p:txBody>
      </p:sp>
      <p:sp>
        <p:nvSpPr>
          <p:cNvPr id="4" name="Shape 2"/>
          <p:cNvSpPr/>
          <p:nvPr/>
        </p:nvSpPr>
        <p:spPr>
          <a:xfrm>
            <a:off x="685800" y="2103120"/>
            <a:ext cx="54864" cy="1005840"/>
          </a:xfrm>
          <a:prstGeom prst="rect">
            <a:avLst/>
          </a:prstGeom>
          <a:solidFill>
            <a:srgbClr val="B23B2E"/>
          </a:solidFill>
          <a:ln w="12700">
            <a:solidFill>
              <a:srgbClr val="B23B2E"/>
            </a:solidFill>
            <a:prstDash val="solid"/>
          </a:ln>
        </p:spPr>
      </p:sp>
      <p:sp>
        <p:nvSpPr>
          <p:cNvPr id="5" name="Shape 3"/>
          <p:cNvSpPr/>
          <p:nvPr/>
        </p:nvSpPr>
        <p:spPr>
          <a:xfrm>
            <a:off x="740664" y="2103120"/>
            <a:ext cx="10765231" cy="1005840"/>
          </a:xfrm>
          <a:prstGeom prst="roundRect">
            <a:avLst>
              <a:gd name="adj" fmla="val 6364"/>
            </a:avLst>
          </a:prstGeom>
          <a:solidFill>
            <a:srgbClr val="FFFFFF"/>
          </a:solidFill>
          <a:ln w="12700">
            <a:solidFill>
              <a:srgbClr val="FFFFFF"/>
            </a:solidFill>
            <a:prstDash val="solid"/>
          </a:ln>
        </p:spPr>
      </p:sp>
      <p:sp>
        <p:nvSpPr>
          <p:cNvPr id="6" name="Text 4"/>
          <p:cNvSpPr txBox="1"/>
          <p:nvPr/>
        </p:nvSpPr>
        <p:spPr>
          <a:xfrm>
            <a:off x="1005840" y="2176272"/>
            <a:ext cx="10225735" cy="548640"/>
          </a:xfrm>
          <a:prstGeom prst="rect">
            <a:avLst/>
          </a:prstGeom>
          <a:noFill/>
          <a:ln/>
        </p:spPr>
        <p:txBody>
          <a:bodyPr wrap="square" lIns="0" tIns="0" rIns="0" bIns="0" rtlCol="0" anchor="ctr"/>
          <a:lstStyle/>
          <a:p>
            <a:pPr indent="0" marL="0">
              <a:lnSpc>
                <a:spcPct val="115000"/>
              </a:lnSpc>
              <a:buNone/>
            </a:pPr>
            <a:r>
              <a:rPr lang="en-US" sz="1350" i="1" dirty="0">
                <a:solidFill>
                  <a:srgbClr val="171B24"/>
                </a:solidFill>
                <a:latin typeface="Calibri" pitchFamily="34" charset="0"/>
                <a:ea typeface="Calibri" pitchFamily="34" charset="-122"/>
                <a:cs typeface="Calibri" pitchFamily="34" charset="-120"/>
              </a:rPr>
              <a:t>“Record not found” — the devkit's own README points at a DeDi policy URL that genuinely 404s.</a:t>
            </a:r>
            <a:endParaRPr lang="en-US" sz="1350" dirty="0"/>
          </a:p>
        </p:txBody>
      </p:sp>
      <p:sp>
        <p:nvSpPr>
          <p:cNvPr id="7" name="Text 5"/>
          <p:cNvSpPr txBox="1"/>
          <p:nvPr/>
        </p:nvSpPr>
        <p:spPr>
          <a:xfrm>
            <a:off x="1005840" y="2788920"/>
            <a:ext cx="10225735" cy="274320"/>
          </a:xfrm>
          <a:prstGeom prst="rect">
            <a:avLst/>
          </a:prstGeom>
          <a:noFill/>
          <a:ln/>
        </p:spPr>
        <p:txBody>
          <a:bodyPr wrap="square" lIns="0" tIns="0" rIns="0" bIns="0" rtlCol="0" anchor="ctr"/>
          <a:lstStyle/>
          <a:p>
            <a:pPr indent="0" marL="0">
              <a:buNone/>
            </a:pPr>
            <a:r>
              <a:rPr lang="en-US" sz="1050" dirty="0">
                <a:solidFill>
                  <a:srgbClr val="8A94A6"/>
                </a:solidFill>
                <a:latin typeface="Calibri" pitchFamily="34" charset="0"/>
                <a:ea typeface="Calibri" pitchFamily="34" charset="-122"/>
                <a:cs typeface="Calibri" pitchFamily="34" charset="-120"/>
              </a:rPr>
              <a:t>First test: the README-documented URL</a:t>
            </a:r>
            <a:endParaRPr lang="en-US" sz="1050" dirty="0"/>
          </a:p>
        </p:txBody>
      </p:sp>
      <p:sp>
        <p:nvSpPr>
          <p:cNvPr id="8" name="Shape 6"/>
          <p:cNvSpPr/>
          <p:nvPr/>
        </p:nvSpPr>
        <p:spPr>
          <a:xfrm>
            <a:off x="685800" y="3246120"/>
            <a:ext cx="54864" cy="1005840"/>
          </a:xfrm>
          <a:prstGeom prst="rect">
            <a:avLst/>
          </a:prstGeom>
          <a:solidFill>
            <a:srgbClr val="2F7A4F"/>
          </a:solidFill>
          <a:ln w="12700">
            <a:solidFill>
              <a:srgbClr val="2F7A4F"/>
            </a:solidFill>
            <a:prstDash val="solid"/>
          </a:ln>
        </p:spPr>
      </p:sp>
      <p:sp>
        <p:nvSpPr>
          <p:cNvPr id="9" name="Shape 7"/>
          <p:cNvSpPr/>
          <p:nvPr/>
        </p:nvSpPr>
        <p:spPr>
          <a:xfrm>
            <a:off x="740664" y="3246120"/>
            <a:ext cx="10765231" cy="1005840"/>
          </a:xfrm>
          <a:prstGeom prst="roundRect">
            <a:avLst>
              <a:gd name="adj" fmla="val 6364"/>
            </a:avLst>
          </a:prstGeom>
          <a:solidFill>
            <a:srgbClr val="FFFFFF"/>
          </a:solidFill>
          <a:ln w="12700">
            <a:solidFill>
              <a:srgbClr val="FFFFFF"/>
            </a:solidFill>
            <a:prstDash val="solid"/>
          </a:ln>
        </p:spPr>
      </p:sp>
      <p:sp>
        <p:nvSpPr>
          <p:cNvPr id="10" name="Text 8"/>
          <p:cNvSpPr txBox="1"/>
          <p:nvPr/>
        </p:nvSpPr>
        <p:spPr>
          <a:xfrm>
            <a:off x="1005840" y="3319272"/>
            <a:ext cx="10225735" cy="548640"/>
          </a:xfrm>
          <a:prstGeom prst="rect">
            <a:avLst/>
          </a:prstGeom>
          <a:noFill/>
          <a:ln/>
        </p:spPr>
        <p:txBody>
          <a:bodyPr wrap="square" lIns="0" tIns="0" rIns="0" bIns="0" rtlCol="0" anchor="ctr"/>
          <a:lstStyle/>
          <a:p>
            <a:pPr indent="0" marL="0">
              <a:lnSpc>
                <a:spcPct val="115000"/>
              </a:lnSpc>
              <a:buNone/>
            </a:pPr>
            <a:r>
              <a:rPr lang="en-US" sz="1350" i="1" dirty="0">
                <a:solidFill>
                  <a:srgbClr val="171B24"/>
                </a:solidFill>
                <a:latin typeface="Calibri" pitchFamily="34" charset="0"/>
                <a:ea typeface="Calibri" pitchFamily="34" charset="-122"/>
                <a:cs typeface="Calibri" pitchFamily="34" charset="-120"/>
              </a:rPr>
              <a:t>The real code actually uses a different, live, cryptographically signed record — confirmed HTTP 200, pointing at the real current rego file on GitHub.</a:t>
            </a:r>
            <a:endParaRPr lang="en-US" sz="1350" dirty="0"/>
          </a:p>
        </p:txBody>
      </p:sp>
      <p:sp>
        <p:nvSpPr>
          <p:cNvPr id="11" name="Text 9"/>
          <p:cNvSpPr txBox="1"/>
          <p:nvPr/>
        </p:nvSpPr>
        <p:spPr>
          <a:xfrm>
            <a:off x="1005840" y="3931920"/>
            <a:ext cx="10225735" cy="274320"/>
          </a:xfrm>
          <a:prstGeom prst="rect">
            <a:avLst/>
          </a:prstGeom>
          <a:noFill/>
          <a:ln/>
        </p:spPr>
        <p:txBody>
          <a:bodyPr wrap="square" lIns="0" tIns="0" rIns="0" bIns="0" rtlCol="0" anchor="ctr"/>
          <a:lstStyle/>
          <a:p>
            <a:pPr indent="0" marL="0">
              <a:buNone/>
            </a:pPr>
            <a:r>
              <a:rPr lang="en-US" sz="1050" dirty="0">
                <a:solidFill>
                  <a:srgbClr val="8A94A6"/>
                </a:solidFill>
                <a:latin typeface="Calibri" pitchFamily="34" charset="0"/>
                <a:ea typeface="Calibri" pitchFamily="34" charset="-122"/>
                <a:cs typeface="Calibri" pitchFamily="34" charset="-120"/>
              </a:rPr>
              <a:t>Second test: the URL the real payloads actually use</a:t>
            </a:r>
            <a:endParaRPr lang="en-US" sz="1050" dirty="0"/>
          </a:p>
        </p:txBody>
      </p:sp>
      <p:sp>
        <p:nvSpPr>
          <p:cNvPr id="12" name="Shape 10"/>
          <p:cNvSpPr/>
          <p:nvPr/>
        </p:nvSpPr>
        <p:spPr>
          <a:xfrm>
            <a:off x="685800" y="4526280"/>
            <a:ext cx="10820095" cy="1097280"/>
          </a:xfrm>
          <a:prstGeom prst="roundRect">
            <a:avLst>
              <a:gd name="adj" fmla="val 5833"/>
            </a:avLst>
          </a:prstGeom>
          <a:solidFill>
            <a:srgbClr val="2A3242"/>
          </a:solidFill>
          <a:ln w="12700">
            <a:solidFill>
              <a:srgbClr val="2A3242"/>
            </a:solidFill>
            <a:prstDash val="solid"/>
          </a:ln>
        </p:spPr>
      </p:sp>
      <p:sp>
        <p:nvSpPr>
          <p:cNvPr id="13" name="Text 11"/>
          <p:cNvSpPr txBox="1"/>
          <p:nvPr/>
        </p:nvSpPr>
        <p:spPr>
          <a:xfrm>
            <a:off x="1005840" y="4663440"/>
            <a:ext cx="10180015" cy="868680"/>
          </a:xfrm>
          <a:prstGeom prst="rect">
            <a:avLst/>
          </a:prstGeom>
          <a:noFill/>
          <a:ln/>
        </p:spPr>
        <p:txBody>
          <a:bodyPr wrap="square" lIns="0" tIns="0" rIns="0" bIns="0" rtlCol="0" anchor="ctr"/>
          <a:lstStyle/>
          <a:p>
            <a:pPr indent="0" marL="0">
              <a:lnSpc>
                <a:spcPct val="125000"/>
              </a:lnSpc>
              <a:buNone/>
            </a:pPr>
            <a:r>
              <a:rPr lang="en-US" sz="1500" b="1" dirty="0">
                <a:solidFill>
                  <a:srgbClr val="FFFFFF"/>
                </a:solidFill>
                <a:latin typeface="Calibri" pitchFamily="34" charset="0"/>
                <a:ea typeface="Calibri" pitchFamily="34" charset="-122"/>
                <a:cs typeface="Calibri" pitchFamily="34" charset="-120"/>
              </a:rPr>
              <a:t>The real India Energy Stack policy registry genuinely works today — live, signed, operating. The bug was a stale URL in one README, not broken infrastructure. Worth fixing (10 minutes), and worth remembering: reading docs and running code can disagree.</a:t>
            </a:r>
            <a:endParaRPr lang="en-US" sz="1500" dirty="0"/>
          </a:p>
        </p:txBody>
      </p:sp>
      <p:sp>
        <p:nvSpPr>
          <p:cNvPr id="14" name="Text 12"/>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03 — What Live Testing Found</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03 · WHAT LIVE TESTING FOUND</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A suspicion, proven true by execution</a:t>
            </a:r>
            <a:endParaRPr lang="en-US" sz="3000" dirty="0"/>
          </a:p>
        </p:txBody>
      </p:sp>
      <p:sp>
        <p:nvSpPr>
          <p:cNvPr id="4" name="Shape 2"/>
          <p:cNvSpPr/>
          <p:nvPr/>
        </p:nvSpPr>
        <p:spPr>
          <a:xfrm>
            <a:off x="685800" y="2377440"/>
            <a:ext cx="5250028" cy="2103120"/>
          </a:xfrm>
          <a:prstGeom prst="roundRect">
            <a:avLst>
              <a:gd name="adj" fmla="val 3043"/>
            </a:avLst>
          </a:prstGeom>
          <a:solidFill>
            <a:srgbClr val="2A3242"/>
          </a:solidFill>
          <a:ln w="12700">
            <a:solidFill>
              <a:srgbClr val="2A3242"/>
            </a:solidFill>
            <a:prstDash val="solid"/>
          </a:ln>
        </p:spPr>
      </p:sp>
      <p:sp>
        <p:nvSpPr>
          <p:cNvPr id="5" name="Text 3"/>
          <p:cNvSpPr txBox="1"/>
          <p:nvPr/>
        </p:nvSpPr>
        <p:spPr>
          <a:xfrm>
            <a:off x="960120" y="2560320"/>
            <a:ext cx="4701388"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What we sent</a:t>
            </a:r>
            <a:endParaRPr lang="en-US" sz="1700" dirty="0"/>
          </a:p>
        </p:txBody>
      </p:sp>
      <p:sp>
        <p:nvSpPr>
          <p:cNvPr id="6" name="Text 4"/>
          <p:cNvSpPr txBox="1"/>
          <p:nvPr/>
        </p:nvSpPr>
        <p:spPr>
          <a:xfrm>
            <a:off x="960120" y="2971800"/>
            <a:ext cx="4701388" cy="1280160"/>
          </a:xfrm>
          <a:prstGeom prst="rect">
            <a:avLst/>
          </a:prstGeom>
          <a:noFill/>
          <a:ln/>
        </p:spPr>
        <p:txBody>
          <a:bodyPr wrap="square" lIns="0" tIns="0" rIns="0" bIns="0" rtlCol="0" anchor="ctr"/>
          <a:lstStyle/>
          <a:p>
            <a:pPr indent="0" marL="0">
              <a:lnSpc>
                <a:spcPct val="130000"/>
              </a:lnSpc>
              <a:buNone/>
            </a:pPr>
            <a:r>
              <a:rPr lang="en-US" sz="1400" dirty="0">
                <a:solidFill>
                  <a:srgbClr val="C3CAD6"/>
                </a:solidFill>
                <a:latin typeface="Calibri" pitchFamily="34" charset="0"/>
                <a:ea typeface="Calibri" pitchFamily="34" charset="-122"/>
                <a:cs typeface="Calibri" pitchFamily="34" charset="-120"/>
              </a:rPr>
              <a:t>A real trade offer, signed and routed through the real pipeline, with one field changed: price set to ₹0.01 per kWh.</a:t>
            </a:r>
            <a:endParaRPr lang="en-US" sz="1400" dirty="0"/>
          </a:p>
        </p:txBody>
      </p:sp>
      <p:sp>
        <p:nvSpPr>
          <p:cNvPr id="7" name="Shape 5"/>
          <p:cNvSpPr/>
          <p:nvPr/>
        </p:nvSpPr>
        <p:spPr>
          <a:xfrm>
            <a:off x="6255868" y="2377440"/>
            <a:ext cx="5250028" cy="2103120"/>
          </a:xfrm>
          <a:prstGeom prst="roundRect">
            <a:avLst>
              <a:gd name="adj" fmla="val 3043"/>
            </a:avLst>
          </a:prstGeom>
          <a:solidFill>
            <a:srgbClr val="2A3242"/>
          </a:solidFill>
          <a:ln w="25400">
            <a:solidFill>
              <a:srgbClr val="B23B2E"/>
            </a:solidFill>
            <a:prstDash val="solid"/>
          </a:ln>
        </p:spPr>
      </p:sp>
      <p:sp>
        <p:nvSpPr>
          <p:cNvPr id="8" name="Text 6"/>
          <p:cNvSpPr txBox="1"/>
          <p:nvPr/>
        </p:nvSpPr>
        <p:spPr>
          <a:xfrm>
            <a:off x="6530188" y="2560320"/>
            <a:ext cx="4701388"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What happened</a:t>
            </a:r>
            <a:endParaRPr lang="en-US" sz="1700" dirty="0"/>
          </a:p>
        </p:txBody>
      </p:sp>
      <p:sp>
        <p:nvSpPr>
          <p:cNvPr id="9" name="Text 7"/>
          <p:cNvSpPr txBox="1"/>
          <p:nvPr/>
        </p:nvSpPr>
        <p:spPr>
          <a:xfrm>
            <a:off x="6530188" y="2971800"/>
            <a:ext cx="4701388" cy="1280160"/>
          </a:xfrm>
          <a:prstGeom prst="rect">
            <a:avLst/>
          </a:prstGeom>
          <a:noFill/>
          <a:ln/>
        </p:spPr>
        <p:txBody>
          <a:bodyPr wrap="square" lIns="0" tIns="0" rIns="0" bIns="0" rtlCol="0" anchor="ctr"/>
          <a:lstStyle/>
          <a:p>
            <a:pPr indent="0" marL="0">
              <a:lnSpc>
                <a:spcPct val="130000"/>
              </a:lnSpc>
              <a:buNone/>
            </a:pPr>
            <a:r>
              <a:rPr lang="en-US" sz="1400" dirty="0">
                <a:solidFill>
                  <a:srgbClr val="C3CAD6"/>
                </a:solidFill>
                <a:latin typeface="Calibri" pitchFamily="34" charset="0"/>
                <a:ea typeface="Calibri" pitchFamily="34" charset="-122"/>
                <a:cs typeface="Calibri" pitchFamily="34" charset="-120"/>
              </a:rPr>
              <a:t>It cleared every real check — signature, DeDi policy resolution, discom allowlist — with zero complaints. All 5 steps ACK'd.</a:t>
            </a:r>
            <a:endParaRPr lang="en-US" sz="1400" dirty="0"/>
          </a:p>
        </p:txBody>
      </p:sp>
      <p:sp>
        <p:nvSpPr>
          <p:cNvPr id="10" name="Text 8"/>
          <p:cNvSpPr txBox="1"/>
          <p:nvPr/>
        </p:nvSpPr>
        <p:spPr>
          <a:xfrm>
            <a:off x="685800" y="4709160"/>
            <a:ext cx="10820095" cy="548640"/>
          </a:xfrm>
          <a:prstGeom prst="rect">
            <a:avLst/>
          </a:prstGeom>
          <a:noFill/>
          <a:ln/>
        </p:spPr>
        <p:txBody>
          <a:bodyPr wrap="square" lIns="0" tIns="0" rIns="0" bIns="0" rtlCol="0" anchor="ctr"/>
          <a:lstStyle/>
          <a:p>
            <a:pPr indent="0" marL="0">
              <a:buNone/>
            </a:pPr>
            <a:r>
              <a:rPr lang="en-US" sz="1600" b="1" dirty="0">
                <a:solidFill>
                  <a:srgbClr val="C07F2A"/>
                </a:solidFill>
                <a:latin typeface="Calibri" pitchFamily="34" charset="0"/>
                <a:ea typeface="Calibri" pitchFamily="34" charset="-122"/>
                <a:cs typeface="Calibri" pitchFamily="34" charset="-120"/>
              </a:rPr>
              <a:t>No price sanity check exists anywhere in the real, live path today — this is no longer an inference from reading code, it is a reproduced fact.</a:t>
            </a:r>
            <a:endParaRPr lang="en-US" sz="1600" dirty="0"/>
          </a:p>
        </p:txBody>
      </p:sp>
      <p:sp>
        <p:nvSpPr>
          <p:cNvPr id="11" name="Text 9"/>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03 — What Live Testing Found</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03 · WHAT LIVE TESTING FOUND</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3000" b="1" dirty="0">
                <a:solidFill>
                  <a:srgbClr val="171B24"/>
                </a:solidFill>
                <a:latin typeface="Cambria" pitchFamily="34" charset="0"/>
                <a:ea typeface="Cambria" pitchFamily="34" charset="-122"/>
                <a:cs typeface="Cambria" pitchFamily="34" charset="-120"/>
              </a:rPr>
              <a:t>Two other real things worth knowing</a:t>
            </a:r>
            <a:endParaRPr lang="en-US" sz="3000" dirty="0"/>
          </a:p>
        </p:txBody>
      </p:sp>
      <p:sp>
        <p:nvSpPr>
          <p:cNvPr id="4" name="Shape 2"/>
          <p:cNvSpPr/>
          <p:nvPr/>
        </p:nvSpPr>
        <p:spPr>
          <a:xfrm>
            <a:off x="685800" y="2468880"/>
            <a:ext cx="5250028" cy="1828800"/>
          </a:xfrm>
          <a:prstGeom prst="roundRect">
            <a:avLst>
              <a:gd name="adj" fmla="val 3500"/>
            </a:avLst>
          </a:prstGeom>
          <a:solidFill>
            <a:srgbClr val="FFFFFF"/>
          </a:solidFill>
          <a:ln w="12700">
            <a:solidFill>
              <a:srgbClr val="E2E4E8"/>
            </a:solidFill>
            <a:prstDash val="solid"/>
          </a:ln>
        </p:spPr>
      </p:sp>
      <p:sp>
        <p:nvSpPr>
          <p:cNvPr id="5" name="Text 3"/>
          <p:cNvSpPr txBox="1"/>
          <p:nvPr/>
        </p:nvSpPr>
        <p:spPr>
          <a:xfrm>
            <a:off x="960120" y="2697480"/>
            <a:ext cx="4701388" cy="548640"/>
          </a:xfrm>
          <a:prstGeom prst="rect">
            <a:avLst/>
          </a:prstGeom>
          <a:noFill/>
          <a:ln/>
        </p:spPr>
        <p:txBody>
          <a:bodyPr wrap="square" lIns="0" tIns="0" rIns="0" bIns="0" rtlCol="0" anchor="ctr"/>
          <a:lstStyle/>
          <a:p>
            <a:pPr indent="0" marL="0">
              <a:buNone/>
            </a:pPr>
            <a:r>
              <a:rPr lang="en-US" sz="1800" b="1" dirty="0">
                <a:solidFill>
                  <a:srgbClr val="171B24"/>
                </a:solidFill>
                <a:latin typeface="Cambria" pitchFamily="34" charset="0"/>
                <a:ea typeface="Cambria" pitchFamily="34" charset="-122"/>
                <a:cs typeface="Cambria" pitchFamily="34" charset="-120"/>
              </a:rPr>
              <a:t>Real signature enforcement, confirmed</a:t>
            </a:r>
            <a:endParaRPr lang="en-US" sz="1800" dirty="0"/>
          </a:p>
        </p:txBody>
      </p:sp>
      <p:sp>
        <p:nvSpPr>
          <p:cNvPr id="6" name="Text 4"/>
          <p:cNvSpPr txBox="1"/>
          <p:nvPr/>
        </p:nvSpPr>
        <p:spPr>
          <a:xfrm>
            <a:off x="960120" y="3291840"/>
            <a:ext cx="4701388" cy="822960"/>
          </a:xfrm>
          <a:prstGeom prst="rect">
            <a:avLst/>
          </a:prstGeom>
          <a:noFill/>
          <a:ln/>
        </p:spPr>
        <p:txBody>
          <a:bodyPr wrap="square" lIns="0" tIns="0" rIns="0" bIns="0" rtlCol="0" anchor="ctr"/>
          <a:lstStyle/>
          <a:p>
            <a:pPr indent="0" marL="0">
              <a:lnSpc>
                <a:spcPct val="130000"/>
              </a:lnSpc>
              <a:buNone/>
            </a:pPr>
            <a:r>
              <a:rPr lang="en-US" sz="1400" dirty="0">
                <a:solidFill>
                  <a:srgbClr val="5A6472"/>
                </a:solidFill>
                <a:latin typeface="Calibri" pitchFamily="34" charset="0"/>
                <a:ea typeface="Calibri" pitchFamily="34" charset="-122"/>
                <a:cs typeface="Calibri" pitchFamily="34" charset="-120"/>
              </a:rPr>
              <a:t>An unsigned request to the real endpoint was correctly rejected (401) — the cryptographic layer is live, not just documented.</a:t>
            </a:r>
            <a:endParaRPr lang="en-US" sz="1400" dirty="0"/>
          </a:p>
        </p:txBody>
      </p:sp>
      <p:sp>
        <p:nvSpPr>
          <p:cNvPr id="7" name="Shape 5"/>
          <p:cNvSpPr/>
          <p:nvPr/>
        </p:nvSpPr>
        <p:spPr>
          <a:xfrm>
            <a:off x="6255868" y="2468880"/>
            <a:ext cx="5250028" cy="1828800"/>
          </a:xfrm>
          <a:prstGeom prst="roundRect">
            <a:avLst>
              <a:gd name="adj" fmla="val 3500"/>
            </a:avLst>
          </a:prstGeom>
          <a:solidFill>
            <a:srgbClr val="FFFFFF"/>
          </a:solidFill>
          <a:ln w="12700">
            <a:solidFill>
              <a:srgbClr val="E2E4E8"/>
            </a:solidFill>
            <a:prstDash val="solid"/>
          </a:ln>
        </p:spPr>
      </p:sp>
      <p:sp>
        <p:nvSpPr>
          <p:cNvPr id="8" name="Text 6"/>
          <p:cNvSpPr txBox="1"/>
          <p:nvPr/>
        </p:nvSpPr>
        <p:spPr>
          <a:xfrm>
            <a:off x="6530188" y="2697480"/>
            <a:ext cx="4701388" cy="548640"/>
          </a:xfrm>
          <a:prstGeom prst="rect">
            <a:avLst/>
          </a:prstGeom>
          <a:noFill/>
          <a:ln/>
        </p:spPr>
        <p:txBody>
          <a:bodyPr wrap="square" lIns="0" tIns="0" rIns="0" bIns="0" rtlCol="0" anchor="ctr"/>
          <a:lstStyle/>
          <a:p>
            <a:pPr indent="0" marL="0">
              <a:buNone/>
            </a:pPr>
            <a:r>
              <a:rPr lang="en-US" sz="1800" b="1" dirty="0">
                <a:solidFill>
                  <a:srgbClr val="171B24"/>
                </a:solidFill>
                <a:latin typeface="Cambria" pitchFamily="34" charset="0"/>
                <a:ea typeface="Cambria" pitchFamily="34" charset="-122"/>
                <a:cs typeface="Cambria" pitchFamily="34" charset="-120"/>
              </a:rPr>
              <a:t>Separate ledgers already run locally</a:t>
            </a:r>
            <a:endParaRPr lang="en-US" sz="1800" dirty="0"/>
          </a:p>
        </p:txBody>
      </p:sp>
      <p:sp>
        <p:nvSpPr>
          <p:cNvPr id="9" name="Text 7"/>
          <p:cNvSpPr txBox="1"/>
          <p:nvPr/>
        </p:nvSpPr>
        <p:spPr>
          <a:xfrm>
            <a:off x="6530188" y="3291840"/>
            <a:ext cx="4701388" cy="822960"/>
          </a:xfrm>
          <a:prstGeom prst="rect">
            <a:avLst/>
          </a:prstGeom>
          <a:noFill/>
          <a:ln/>
        </p:spPr>
        <p:txBody>
          <a:bodyPr wrap="square" lIns="0" tIns="0" rIns="0" bIns="0" rtlCol="0" anchor="ctr"/>
          <a:lstStyle/>
          <a:p>
            <a:pPr indent="0" marL="0">
              <a:lnSpc>
                <a:spcPct val="130000"/>
              </a:lnSpc>
              <a:buNone/>
            </a:pPr>
            <a:r>
              <a:rPr lang="en-US" sz="1400" dirty="0">
                <a:solidFill>
                  <a:srgbClr val="5A6472"/>
                </a:solidFill>
                <a:latin typeface="Calibri" pitchFamily="34" charset="0"/>
                <a:ea typeface="Calibri" pitchFamily="34" charset="-122"/>
                <a:cs typeface="Calibri" pitchFamily="34" charset="-120"/>
              </a:rPr>
              <a:t>The real stack deploys two distinct ledger services today. A separate official doc confirms the real design: “each utility contracts exactly one LP.” The shared-ledger setup is a rollout choice, not a limitation.</a:t>
            </a:r>
            <a:endParaRPr lang="en-US" sz="1400" dirty="0"/>
          </a:p>
        </p:txBody>
      </p:sp>
      <p:sp>
        <p:nvSpPr>
          <p:cNvPr id="10" name="Text 8"/>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03 — What Live Testing Found</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85800" y="2651760"/>
            <a:ext cx="1828800" cy="457200"/>
          </a:xfrm>
          <a:prstGeom prst="rect">
            <a:avLst/>
          </a:prstGeom>
          <a:noFill/>
          <a:ln/>
        </p:spPr>
        <p:txBody>
          <a:bodyPr wrap="square" lIns="0" tIns="0" rIns="0" bIns="0" rtlCol="0" anchor="ctr"/>
          <a:lstStyle/>
          <a:p>
            <a:pPr indent="0" marL="0">
              <a:buNone/>
            </a:pPr>
            <a:r>
              <a:rPr lang="en-US" sz="2200" b="1" dirty="0">
                <a:solidFill>
                  <a:srgbClr val="C07F2A"/>
                </a:solidFill>
                <a:latin typeface="Calibri" pitchFamily="34" charset="0"/>
                <a:ea typeface="Calibri" pitchFamily="34" charset="-122"/>
                <a:cs typeface="Calibri" pitchFamily="34" charset="-120"/>
              </a:rPr>
              <a:t>04</a:t>
            </a:r>
            <a:endParaRPr lang="en-US" sz="2200" dirty="0"/>
          </a:p>
        </p:txBody>
      </p:sp>
      <p:sp>
        <p:nvSpPr>
          <p:cNvPr id="3" name="Text 1"/>
          <p:cNvSpPr txBox="1"/>
          <p:nvPr/>
        </p:nvSpPr>
        <p:spPr>
          <a:xfrm>
            <a:off x="685800" y="3063240"/>
            <a:ext cx="105156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Feasibility Verdict</a:t>
            </a:r>
            <a:endParaRPr lang="en-US" sz="3800" dirty="0"/>
          </a:p>
        </p:txBody>
      </p:sp>
      <p:sp>
        <p:nvSpPr>
          <p:cNvPr id="4" name="Text 2"/>
          <p:cNvSpPr txBox="1"/>
          <p:nvPr/>
        </p:nvSpPr>
        <p:spPr>
          <a:xfrm>
            <a:off x="685800" y="4114800"/>
            <a:ext cx="9784080" cy="731520"/>
          </a:xfrm>
          <a:prstGeom prst="rect">
            <a:avLst/>
          </a:prstGeom>
          <a:noFill/>
          <a:ln/>
        </p:spPr>
        <p:txBody>
          <a:bodyPr wrap="square" lIns="0" tIns="0" rIns="0" bIns="0" rtlCol="0" anchor="ctr"/>
          <a:lstStyle/>
          <a:p>
            <a:pPr indent="0" marL="0">
              <a:lnSpc>
                <a:spcPct val="130000"/>
              </a:lnSpc>
              <a:buNone/>
            </a:pPr>
            <a:r>
              <a:rPr lang="en-US" sz="1700" dirty="0">
                <a:solidFill>
                  <a:srgbClr val="A9B2C0"/>
                </a:solidFill>
                <a:latin typeface="Calibri" pitchFamily="34" charset="0"/>
                <a:ea typeface="Calibri" pitchFamily="34" charset="-122"/>
                <a:cs typeface="Calibri" pitchFamily="34" charset="-120"/>
              </a:rPr>
              <a:t>Is this ready for real P2P energy trading in India today?</a:t>
            </a:r>
            <a:endParaRPr lang="en-US" sz="17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04 · FEASIBILITY VERDICT</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Two different kinds of “not ready”</a:t>
            </a:r>
            <a:endParaRPr lang="en-US" sz="3000" dirty="0"/>
          </a:p>
        </p:txBody>
      </p:sp>
      <p:sp>
        <p:nvSpPr>
          <p:cNvPr id="4" name="Shape 2"/>
          <p:cNvSpPr/>
          <p:nvPr/>
        </p:nvSpPr>
        <p:spPr>
          <a:xfrm>
            <a:off x="685800" y="2286000"/>
            <a:ext cx="10820095" cy="1371600"/>
          </a:xfrm>
          <a:prstGeom prst="roundRect">
            <a:avLst>
              <a:gd name="adj" fmla="val 4667"/>
            </a:avLst>
          </a:prstGeom>
          <a:solidFill>
            <a:srgbClr val="2A3242"/>
          </a:solidFill>
          <a:ln w="12700">
            <a:solidFill>
              <a:srgbClr val="2A3242"/>
            </a:solidFill>
            <a:prstDash val="solid"/>
          </a:ln>
        </p:spPr>
      </p:sp>
      <p:sp>
        <p:nvSpPr>
          <p:cNvPr id="5" name="Shape 3"/>
          <p:cNvSpPr/>
          <p:nvPr/>
        </p:nvSpPr>
        <p:spPr>
          <a:xfrm>
            <a:off x="960120" y="2514600"/>
            <a:ext cx="3017520" cy="457200"/>
          </a:xfrm>
          <a:prstGeom prst="roundRect">
            <a:avLst>
              <a:gd name="adj" fmla="val 50000"/>
            </a:avLst>
          </a:prstGeom>
          <a:solidFill>
            <a:srgbClr val="5FC98A"/>
          </a:solidFill>
          <a:ln w="12700">
            <a:solidFill>
              <a:srgbClr val="5FC98A"/>
            </a:solidFill>
            <a:prstDash val="solid"/>
          </a:ln>
        </p:spPr>
      </p:sp>
      <p:sp>
        <p:nvSpPr>
          <p:cNvPr id="6" name="Text 4"/>
          <p:cNvSpPr txBox="1"/>
          <p:nvPr/>
        </p:nvSpPr>
        <p:spPr>
          <a:xfrm>
            <a:off x="960120" y="2514600"/>
            <a:ext cx="30175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INFRASTRUCTURE · REAL</a:t>
            </a:r>
            <a:endParaRPr lang="en-US" sz="1200" dirty="0"/>
          </a:p>
        </p:txBody>
      </p:sp>
      <p:sp>
        <p:nvSpPr>
          <p:cNvPr id="7" name="Text 5"/>
          <p:cNvSpPr txBox="1"/>
          <p:nvPr/>
        </p:nvSpPr>
        <p:spPr>
          <a:xfrm>
            <a:off x="4160520" y="2286000"/>
            <a:ext cx="7071055" cy="1371600"/>
          </a:xfrm>
          <a:prstGeom prst="rect">
            <a:avLst/>
          </a:prstGeom>
          <a:noFill/>
          <a:ln/>
        </p:spPr>
        <p:txBody>
          <a:bodyPr wrap="square" lIns="0" tIns="0" rIns="0" bIns="0" rtlCol="0" anchor="ctr"/>
          <a:lstStyle/>
          <a:p>
            <a:pPr indent="0" marL="0">
              <a:lnSpc>
                <a:spcPct val="130000"/>
              </a:lnSpc>
              <a:buNone/>
            </a:pPr>
            <a:r>
              <a:rPr lang="en-US" sz="1600" dirty="0">
                <a:solidFill>
                  <a:srgbClr val="C3CAD6"/>
                </a:solidFill>
                <a:latin typeface="Calibri" pitchFamily="34" charset="0"/>
                <a:ea typeface="Calibri" pitchFamily="34" charset="-122"/>
                <a:cs typeface="Calibri" pitchFamily="34" charset="-120"/>
              </a:rPr>
              <a:t>Protocol, real policy registry, real signing, real identity enforcement, real automated tests — all genuinely working, proven by running them.</a:t>
            </a:r>
            <a:endParaRPr lang="en-US" sz="1600" dirty="0"/>
          </a:p>
        </p:txBody>
      </p:sp>
      <p:sp>
        <p:nvSpPr>
          <p:cNvPr id="8" name="Shape 6"/>
          <p:cNvSpPr/>
          <p:nvPr/>
        </p:nvSpPr>
        <p:spPr>
          <a:xfrm>
            <a:off x="685800" y="3931920"/>
            <a:ext cx="10820095" cy="1371600"/>
          </a:xfrm>
          <a:prstGeom prst="roundRect">
            <a:avLst>
              <a:gd name="adj" fmla="val 4667"/>
            </a:avLst>
          </a:prstGeom>
          <a:solidFill>
            <a:srgbClr val="2A3242"/>
          </a:solidFill>
          <a:ln w="12700">
            <a:solidFill>
              <a:srgbClr val="2A3242"/>
            </a:solidFill>
            <a:prstDash val="solid"/>
          </a:ln>
        </p:spPr>
      </p:sp>
      <p:sp>
        <p:nvSpPr>
          <p:cNvPr id="9" name="Shape 7"/>
          <p:cNvSpPr/>
          <p:nvPr/>
        </p:nvSpPr>
        <p:spPr>
          <a:xfrm>
            <a:off x="960120" y="4160520"/>
            <a:ext cx="3017520" cy="457200"/>
          </a:xfrm>
          <a:prstGeom prst="roundRect">
            <a:avLst>
              <a:gd name="adj" fmla="val 50000"/>
            </a:avLst>
          </a:prstGeom>
          <a:solidFill>
            <a:srgbClr val="B23B2E"/>
          </a:solidFill>
          <a:ln w="12700">
            <a:solidFill>
              <a:srgbClr val="B23B2E"/>
            </a:solidFill>
            <a:prstDash val="solid"/>
          </a:ln>
        </p:spPr>
      </p:sp>
      <p:sp>
        <p:nvSpPr>
          <p:cNvPr id="10" name="Text 8"/>
          <p:cNvSpPr txBox="1"/>
          <p:nvPr/>
        </p:nvSpPr>
        <p:spPr>
          <a:xfrm>
            <a:off x="960120" y="4160520"/>
            <a:ext cx="30175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MONEY SAFETY · NOT REAL</a:t>
            </a:r>
            <a:endParaRPr lang="en-US" sz="1200" dirty="0"/>
          </a:p>
        </p:txBody>
      </p:sp>
      <p:sp>
        <p:nvSpPr>
          <p:cNvPr id="11" name="Text 9"/>
          <p:cNvSpPr txBox="1"/>
          <p:nvPr/>
        </p:nvSpPr>
        <p:spPr>
          <a:xfrm>
            <a:off x="4160520" y="3931920"/>
            <a:ext cx="7071055" cy="1371600"/>
          </a:xfrm>
          <a:prstGeom prst="rect">
            <a:avLst/>
          </a:prstGeom>
          <a:noFill/>
          <a:ln/>
        </p:spPr>
        <p:txBody>
          <a:bodyPr wrap="square" lIns="0" tIns="0" rIns="0" bIns="0" rtlCol="0" anchor="ctr"/>
          <a:lstStyle/>
          <a:p>
            <a:pPr indent="0" marL="0">
              <a:lnSpc>
                <a:spcPct val="130000"/>
              </a:lnSpc>
              <a:buNone/>
            </a:pPr>
            <a:r>
              <a:rPr lang="en-US" sz="1600" dirty="0">
                <a:solidFill>
                  <a:srgbClr val="C3CAD6"/>
                </a:solidFill>
                <a:latin typeface="Calibri" pitchFamily="34" charset="0"/>
                <a:ea typeface="Calibri" pitchFamily="34" charset="-122"/>
                <a:cs typeface="Calibri" pitchFamily="34" charset="-120"/>
              </a:rPr>
              <a:t>Penalty, price floor, dispute process, grid-capacity awareness, fault fairness — all placeholders or absent, and the riskiest one now proven exploitable.</a:t>
            </a:r>
            <a:endParaRPr lang="en-US" sz="1600" dirty="0"/>
          </a:p>
        </p:txBody>
      </p:sp>
      <p:sp>
        <p:nvSpPr>
          <p:cNvPr id="12" name="Text 10"/>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04 — Feasibility Verdict</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85800" y="2651760"/>
            <a:ext cx="1828800" cy="457200"/>
          </a:xfrm>
          <a:prstGeom prst="rect">
            <a:avLst/>
          </a:prstGeom>
          <a:noFill/>
          <a:ln/>
        </p:spPr>
        <p:txBody>
          <a:bodyPr wrap="square" lIns="0" tIns="0" rIns="0" bIns="0" rtlCol="0" anchor="ctr"/>
          <a:lstStyle/>
          <a:p>
            <a:pPr indent="0" marL="0">
              <a:buNone/>
            </a:pPr>
            <a:r>
              <a:rPr lang="en-US" sz="2200" b="1" dirty="0">
                <a:solidFill>
                  <a:srgbClr val="C07F2A"/>
                </a:solidFill>
                <a:latin typeface="Calibri" pitchFamily="34" charset="0"/>
                <a:ea typeface="Calibri" pitchFamily="34" charset="-122"/>
                <a:cs typeface="Calibri" pitchFamily="34" charset="-120"/>
              </a:rPr>
              <a:t>05</a:t>
            </a:r>
            <a:endParaRPr lang="en-US" sz="2200" dirty="0"/>
          </a:p>
        </p:txBody>
      </p:sp>
      <p:sp>
        <p:nvSpPr>
          <p:cNvPr id="3" name="Text 1"/>
          <p:cNvSpPr txBox="1"/>
          <p:nvPr/>
        </p:nvSpPr>
        <p:spPr>
          <a:xfrm>
            <a:off x="685800" y="3063240"/>
            <a:ext cx="105156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Prioritized Solutions</a:t>
            </a:r>
            <a:endParaRPr lang="en-US" sz="3800" dirty="0"/>
          </a:p>
        </p:txBody>
      </p:sp>
      <p:sp>
        <p:nvSpPr>
          <p:cNvPr id="4" name="Text 2"/>
          <p:cNvSpPr txBox="1"/>
          <p:nvPr/>
        </p:nvSpPr>
        <p:spPr>
          <a:xfrm>
            <a:off x="685800" y="4114800"/>
            <a:ext cx="9784080" cy="731520"/>
          </a:xfrm>
          <a:prstGeom prst="rect">
            <a:avLst/>
          </a:prstGeom>
          <a:noFill/>
          <a:ln/>
        </p:spPr>
        <p:txBody>
          <a:bodyPr wrap="square" lIns="0" tIns="0" rIns="0" bIns="0" rtlCol="0" anchor="ctr"/>
          <a:lstStyle/>
          <a:p>
            <a:pPr indent="0" marL="0">
              <a:lnSpc>
                <a:spcPct val="130000"/>
              </a:lnSpc>
              <a:buNone/>
            </a:pPr>
            <a:r>
              <a:rPr lang="en-US" sz="1700" dirty="0">
                <a:solidFill>
                  <a:srgbClr val="A9B2C0"/>
                </a:solidFill>
                <a:latin typeface="Calibri" pitchFamily="34" charset="0"/>
                <a:ea typeface="Calibri" pitchFamily="34" charset="-122"/>
                <a:cs typeface="Calibri" pitchFamily="34" charset="-120"/>
              </a:rPr>
              <a:t>What to fix first, and why — ordered by real-money risk and build effort.</a:t>
            </a:r>
            <a:endParaRPr lang="en-US" sz="17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05 · PRIORITIZED SOLUTIONS</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3000" b="1" dirty="0">
                <a:solidFill>
                  <a:srgbClr val="171B24"/>
                </a:solidFill>
                <a:latin typeface="Cambria" pitchFamily="34" charset="0"/>
                <a:ea typeface="Cambria" pitchFamily="34" charset="-122"/>
                <a:cs typeface="Cambria" pitchFamily="34" charset="-120"/>
              </a:rPr>
              <a:t>What to fix first</a:t>
            </a:r>
            <a:endParaRPr lang="en-US" sz="3000" dirty="0"/>
          </a:p>
        </p:txBody>
      </p:sp>
      <p:sp>
        <p:nvSpPr>
          <p:cNvPr id="4" name="Shape 2"/>
          <p:cNvSpPr/>
          <p:nvPr/>
        </p:nvSpPr>
        <p:spPr>
          <a:xfrm>
            <a:off x="685800" y="2148840"/>
            <a:ext cx="10820095" cy="502920"/>
          </a:xfrm>
          <a:prstGeom prst="roundRect">
            <a:avLst>
              <a:gd name="adj" fmla="val 12727"/>
            </a:avLst>
          </a:prstGeom>
          <a:solidFill>
            <a:srgbClr val="FFFFFF"/>
          </a:solidFill>
          <a:ln w="12700">
            <a:solidFill>
              <a:srgbClr val="E2E4E8"/>
            </a:solidFill>
            <a:prstDash val="solid"/>
          </a:ln>
        </p:spPr>
      </p:sp>
      <p:sp>
        <p:nvSpPr>
          <p:cNvPr id="5" name="Shape 3"/>
          <p:cNvSpPr/>
          <p:nvPr/>
        </p:nvSpPr>
        <p:spPr>
          <a:xfrm>
            <a:off x="886968" y="2226564"/>
            <a:ext cx="347472" cy="347472"/>
          </a:xfrm>
          <a:prstGeom prst="ellipse">
            <a:avLst/>
          </a:prstGeom>
          <a:solidFill>
            <a:srgbClr val="2A3242"/>
          </a:solidFill>
          <a:ln w="12700">
            <a:solidFill>
              <a:srgbClr val="2A3242"/>
            </a:solidFill>
            <a:prstDash val="solid"/>
          </a:ln>
        </p:spPr>
      </p:sp>
      <p:sp>
        <p:nvSpPr>
          <p:cNvPr id="6" name="Text 4"/>
          <p:cNvSpPr txBox="1"/>
          <p:nvPr/>
        </p:nvSpPr>
        <p:spPr>
          <a:xfrm>
            <a:off x="886968" y="22265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371600" y="2148840"/>
            <a:ext cx="9859975" cy="502920"/>
          </a:xfrm>
          <a:prstGeom prst="rect">
            <a:avLst/>
          </a:prstGeom>
          <a:noFill/>
          <a:ln/>
        </p:spPr>
        <p:txBody>
          <a:bodyPr wrap="square" lIns="0" tIns="0" rIns="0" bIns="0" rtlCol="0" anchor="ctr"/>
          <a:lstStyle/>
          <a:p>
            <a:pPr indent="0" marL="0">
              <a:buNone/>
            </a:pPr>
            <a:r>
              <a:rPr lang="en-US" sz="1250" dirty="0">
                <a:solidFill>
                  <a:srgbClr val="171B24"/>
                </a:solidFill>
                <a:latin typeface="Calibri" pitchFamily="34" charset="0"/>
                <a:ea typeface="Calibri" pitchFamily="34" charset="-122"/>
                <a:cs typeface="Calibri" pitchFamily="34" charset="-120"/>
              </a:rPr>
              <a:t>Price sanity check — now proven exploitable; MEDIUM effort, needs a network-policy-layer check since prices stay private by design</a:t>
            </a:r>
            <a:endParaRPr lang="en-US" sz="1250" dirty="0"/>
          </a:p>
        </p:txBody>
      </p:sp>
      <p:sp>
        <p:nvSpPr>
          <p:cNvPr id="8" name="Shape 6"/>
          <p:cNvSpPr/>
          <p:nvPr/>
        </p:nvSpPr>
        <p:spPr>
          <a:xfrm>
            <a:off x="685800" y="2743200"/>
            <a:ext cx="10820095" cy="502920"/>
          </a:xfrm>
          <a:prstGeom prst="roundRect">
            <a:avLst>
              <a:gd name="adj" fmla="val 12727"/>
            </a:avLst>
          </a:prstGeom>
          <a:solidFill>
            <a:srgbClr val="FFFFFF"/>
          </a:solidFill>
          <a:ln w="12700">
            <a:solidFill>
              <a:srgbClr val="E2E4E8"/>
            </a:solidFill>
            <a:prstDash val="solid"/>
          </a:ln>
        </p:spPr>
      </p:sp>
      <p:sp>
        <p:nvSpPr>
          <p:cNvPr id="9" name="Shape 7"/>
          <p:cNvSpPr/>
          <p:nvPr/>
        </p:nvSpPr>
        <p:spPr>
          <a:xfrm>
            <a:off x="886968" y="2820924"/>
            <a:ext cx="347472" cy="347472"/>
          </a:xfrm>
          <a:prstGeom prst="ellipse">
            <a:avLst/>
          </a:prstGeom>
          <a:solidFill>
            <a:srgbClr val="2A3242"/>
          </a:solidFill>
          <a:ln w="12700">
            <a:solidFill>
              <a:srgbClr val="2A3242"/>
            </a:solidFill>
            <a:prstDash val="solid"/>
          </a:ln>
        </p:spPr>
      </p:sp>
      <p:sp>
        <p:nvSpPr>
          <p:cNvPr id="10" name="Text 8"/>
          <p:cNvSpPr txBox="1"/>
          <p:nvPr/>
        </p:nvSpPr>
        <p:spPr>
          <a:xfrm>
            <a:off x="886968" y="282092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371600" y="2743200"/>
            <a:ext cx="9859975" cy="502920"/>
          </a:xfrm>
          <a:prstGeom prst="rect">
            <a:avLst/>
          </a:prstGeom>
          <a:noFill/>
          <a:ln/>
        </p:spPr>
        <p:txBody>
          <a:bodyPr wrap="square" lIns="0" tIns="0" rIns="0" bIns="0" rtlCol="0" anchor="ctr"/>
          <a:lstStyle/>
          <a:p>
            <a:pPr indent="0" marL="0">
              <a:buNone/>
            </a:pPr>
            <a:r>
              <a:rPr lang="en-US" sz="1250" dirty="0">
                <a:solidFill>
                  <a:srgbClr val="171B24"/>
                </a:solidFill>
                <a:latin typeface="Calibri" pitchFamily="34" charset="0"/>
                <a:ea typeface="Calibri" pitchFamily="34" charset="-122"/>
                <a:cs typeface="Calibri" pitchFamily="34" charset="-120"/>
              </a:rPr>
              <a:t>A real, non-zero penalty rate — EASY; the devkit is already wired for it, this is a governance decision</a:t>
            </a:r>
            <a:endParaRPr lang="en-US" sz="1250" dirty="0"/>
          </a:p>
        </p:txBody>
      </p:sp>
      <p:sp>
        <p:nvSpPr>
          <p:cNvPr id="12" name="Shape 10"/>
          <p:cNvSpPr/>
          <p:nvPr/>
        </p:nvSpPr>
        <p:spPr>
          <a:xfrm>
            <a:off x="685800" y="3337560"/>
            <a:ext cx="10820095" cy="502920"/>
          </a:xfrm>
          <a:prstGeom prst="roundRect">
            <a:avLst>
              <a:gd name="adj" fmla="val 12727"/>
            </a:avLst>
          </a:prstGeom>
          <a:solidFill>
            <a:srgbClr val="FFFFFF"/>
          </a:solidFill>
          <a:ln w="12700">
            <a:solidFill>
              <a:srgbClr val="E2E4E8"/>
            </a:solidFill>
            <a:prstDash val="solid"/>
          </a:ln>
        </p:spPr>
      </p:sp>
      <p:sp>
        <p:nvSpPr>
          <p:cNvPr id="13" name="Shape 11"/>
          <p:cNvSpPr/>
          <p:nvPr/>
        </p:nvSpPr>
        <p:spPr>
          <a:xfrm>
            <a:off x="886968" y="3415284"/>
            <a:ext cx="347472" cy="347472"/>
          </a:xfrm>
          <a:prstGeom prst="ellipse">
            <a:avLst/>
          </a:prstGeom>
          <a:solidFill>
            <a:srgbClr val="2A3242"/>
          </a:solidFill>
          <a:ln w="12700">
            <a:solidFill>
              <a:srgbClr val="2A3242"/>
            </a:solidFill>
            <a:prstDash val="solid"/>
          </a:ln>
        </p:spPr>
      </p:sp>
      <p:sp>
        <p:nvSpPr>
          <p:cNvPr id="14" name="Text 12"/>
          <p:cNvSpPr txBox="1"/>
          <p:nvPr/>
        </p:nvSpPr>
        <p:spPr>
          <a:xfrm>
            <a:off x="886968" y="341528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371600" y="3337560"/>
            <a:ext cx="9859975" cy="502920"/>
          </a:xfrm>
          <a:prstGeom prst="rect">
            <a:avLst/>
          </a:prstGeom>
          <a:noFill/>
          <a:ln/>
        </p:spPr>
        <p:txBody>
          <a:bodyPr wrap="square" lIns="0" tIns="0" rIns="0" bIns="0" rtlCol="0" anchor="ctr"/>
          <a:lstStyle/>
          <a:p>
            <a:pPr indent="0" marL="0">
              <a:buNone/>
            </a:pPr>
            <a:r>
              <a:rPr lang="en-US" sz="1250" dirty="0">
                <a:solidFill>
                  <a:srgbClr val="171B24"/>
                </a:solidFill>
                <a:latin typeface="Calibri" pitchFamily="34" charset="0"/>
                <a:ea typeface="Calibri" pitchFamily="34" charset="-122"/>
                <a:cs typeface="Calibri" pitchFamily="34" charset="-120"/>
              </a:rPr>
              <a:t>Fix the README's stale DeDi URL — EASY; a 10-minute fix that caused a real false alarm in this study</a:t>
            </a:r>
            <a:endParaRPr lang="en-US" sz="1250" dirty="0"/>
          </a:p>
        </p:txBody>
      </p:sp>
      <p:sp>
        <p:nvSpPr>
          <p:cNvPr id="16" name="Shape 14"/>
          <p:cNvSpPr/>
          <p:nvPr/>
        </p:nvSpPr>
        <p:spPr>
          <a:xfrm>
            <a:off x="685800" y="3931920"/>
            <a:ext cx="10820095" cy="502920"/>
          </a:xfrm>
          <a:prstGeom prst="roundRect">
            <a:avLst>
              <a:gd name="adj" fmla="val 12727"/>
            </a:avLst>
          </a:prstGeom>
          <a:solidFill>
            <a:srgbClr val="FFFFFF"/>
          </a:solidFill>
          <a:ln w="12700">
            <a:solidFill>
              <a:srgbClr val="E2E4E8"/>
            </a:solidFill>
            <a:prstDash val="solid"/>
          </a:ln>
        </p:spPr>
      </p:sp>
      <p:sp>
        <p:nvSpPr>
          <p:cNvPr id="17" name="Shape 15"/>
          <p:cNvSpPr/>
          <p:nvPr/>
        </p:nvSpPr>
        <p:spPr>
          <a:xfrm>
            <a:off x="886968" y="4009644"/>
            <a:ext cx="347472" cy="347472"/>
          </a:xfrm>
          <a:prstGeom prst="ellipse">
            <a:avLst/>
          </a:prstGeom>
          <a:solidFill>
            <a:srgbClr val="2A3242"/>
          </a:solidFill>
          <a:ln w="12700">
            <a:solidFill>
              <a:srgbClr val="2A3242"/>
            </a:solidFill>
            <a:prstDash val="solid"/>
          </a:ln>
        </p:spPr>
      </p:sp>
      <p:sp>
        <p:nvSpPr>
          <p:cNvPr id="18" name="Text 16"/>
          <p:cNvSpPr txBox="1"/>
          <p:nvPr/>
        </p:nvSpPr>
        <p:spPr>
          <a:xfrm>
            <a:off x="886968" y="400964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1371600" y="3931920"/>
            <a:ext cx="9859975" cy="502920"/>
          </a:xfrm>
          <a:prstGeom prst="rect">
            <a:avLst/>
          </a:prstGeom>
          <a:noFill/>
          <a:ln/>
        </p:spPr>
        <p:txBody>
          <a:bodyPr wrap="square" lIns="0" tIns="0" rIns="0" bIns="0" rtlCol="0" anchor="ctr"/>
          <a:lstStyle/>
          <a:p>
            <a:pPr indent="0" marL="0">
              <a:buNone/>
            </a:pPr>
            <a:r>
              <a:rPr lang="en-US" sz="1250" dirty="0">
                <a:solidFill>
                  <a:srgbClr val="171B24"/>
                </a:solidFill>
                <a:latin typeface="Calibri" pitchFamily="34" charset="0"/>
                <a:ea typeface="Calibri" pitchFamily="34" charset="-122"/>
                <a:cs typeface="Calibri" pitchFamily="34" charset="-120"/>
              </a:rPr>
              <a:t>Grid-capacity check and a real dispute process — HARD; both need external integrations, before any real money moves at scale</a:t>
            </a:r>
            <a:endParaRPr lang="en-US" sz="1250" dirty="0"/>
          </a:p>
        </p:txBody>
      </p:sp>
      <p:sp>
        <p:nvSpPr>
          <p:cNvPr id="20" name="Shape 18"/>
          <p:cNvSpPr/>
          <p:nvPr/>
        </p:nvSpPr>
        <p:spPr>
          <a:xfrm>
            <a:off x="685800" y="4526280"/>
            <a:ext cx="10820095" cy="502920"/>
          </a:xfrm>
          <a:prstGeom prst="roundRect">
            <a:avLst>
              <a:gd name="adj" fmla="val 12727"/>
            </a:avLst>
          </a:prstGeom>
          <a:solidFill>
            <a:srgbClr val="FFFFFF"/>
          </a:solidFill>
          <a:ln w="12700">
            <a:solidFill>
              <a:srgbClr val="E2E4E8"/>
            </a:solidFill>
            <a:prstDash val="solid"/>
          </a:ln>
        </p:spPr>
      </p:sp>
      <p:sp>
        <p:nvSpPr>
          <p:cNvPr id="21" name="Shape 19"/>
          <p:cNvSpPr/>
          <p:nvPr/>
        </p:nvSpPr>
        <p:spPr>
          <a:xfrm>
            <a:off x="886968" y="4604004"/>
            <a:ext cx="347472" cy="347472"/>
          </a:xfrm>
          <a:prstGeom prst="ellipse">
            <a:avLst/>
          </a:prstGeom>
          <a:solidFill>
            <a:srgbClr val="2A3242"/>
          </a:solidFill>
          <a:ln w="12700">
            <a:solidFill>
              <a:srgbClr val="2A3242"/>
            </a:solidFill>
            <a:prstDash val="solid"/>
          </a:ln>
        </p:spPr>
      </p:sp>
      <p:sp>
        <p:nvSpPr>
          <p:cNvPr id="22" name="Text 20"/>
          <p:cNvSpPr txBox="1"/>
          <p:nvPr/>
        </p:nvSpPr>
        <p:spPr>
          <a:xfrm>
            <a:off x="886968" y="460400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txBox="1"/>
          <p:nvPr/>
        </p:nvSpPr>
        <p:spPr>
          <a:xfrm>
            <a:off x="1371600" y="4526280"/>
            <a:ext cx="9859975" cy="502920"/>
          </a:xfrm>
          <a:prstGeom prst="rect">
            <a:avLst/>
          </a:prstGeom>
          <a:noFill/>
          <a:ln/>
        </p:spPr>
        <p:txBody>
          <a:bodyPr wrap="square" lIns="0" tIns="0" rIns="0" bIns="0" rtlCol="0" anchor="ctr"/>
          <a:lstStyle/>
          <a:p>
            <a:pPr indent="0" marL="0">
              <a:buNone/>
            </a:pPr>
            <a:r>
              <a:rPr lang="en-US" sz="1250" dirty="0">
                <a:solidFill>
                  <a:srgbClr val="171B24"/>
                </a:solidFill>
                <a:latin typeface="Calibri" pitchFamily="34" charset="0"/>
                <a:ea typeface="Calibri" pitchFamily="34" charset="-122"/>
                <a:cs typeface="Calibri" pitchFamily="34" charset="-120"/>
              </a:rPr>
              <a:t>Fault-vs-fraud and firm-vs-forecast distinctions — EASY/MEDIUM; needed before onboarding solar-only sellers fairly</a:t>
            </a:r>
            <a:endParaRPr lang="en-US" sz="1250" dirty="0"/>
          </a:p>
        </p:txBody>
      </p:sp>
      <p:sp>
        <p:nvSpPr>
          <p:cNvPr id="24" name="Shape 22"/>
          <p:cNvSpPr/>
          <p:nvPr/>
        </p:nvSpPr>
        <p:spPr>
          <a:xfrm>
            <a:off x="685800" y="5120640"/>
            <a:ext cx="10820095" cy="502920"/>
          </a:xfrm>
          <a:prstGeom prst="roundRect">
            <a:avLst>
              <a:gd name="adj" fmla="val 12727"/>
            </a:avLst>
          </a:prstGeom>
          <a:solidFill>
            <a:srgbClr val="FFFFFF"/>
          </a:solidFill>
          <a:ln w="12700">
            <a:solidFill>
              <a:srgbClr val="E2E4E8"/>
            </a:solidFill>
            <a:prstDash val="solid"/>
          </a:ln>
        </p:spPr>
      </p:sp>
      <p:sp>
        <p:nvSpPr>
          <p:cNvPr id="25" name="Shape 23"/>
          <p:cNvSpPr/>
          <p:nvPr/>
        </p:nvSpPr>
        <p:spPr>
          <a:xfrm>
            <a:off x="886968" y="5198364"/>
            <a:ext cx="347472" cy="347472"/>
          </a:xfrm>
          <a:prstGeom prst="ellipse">
            <a:avLst/>
          </a:prstGeom>
          <a:solidFill>
            <a:srgbClr val="2A3242"/>
          </a:solidFill>
          <a:ln w="12700">
            <a:solidFill>
              <a:srgbClr val="2A3242"/>
            </a:solidFill>
            <a:prstDash val="solid"/>
          </a:ln>
        </p:spPr>
      </p:sp>
      <p:sp>
        <p:nvSpPr>
          <p:cNvPr id="26" name="Text 24"/>
          <p:cNvSpPr txBox="1"/>
          <p:nvPr/>
        </p:nvSpPr>
        <p:spPr>
          <a:xfrm>
            <a:off x="886968" y="51983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txBox="1"/>
          <p:nvPr/>
        </p:nvSpPr>
        <p:spPr>
          <a:xfrm>
            <a:off x="1371600" y="5120640"/>
            <a:ext cx="9859975" cy="502920"/>
          </a:xfrm>
          <a:prstGeom prst="rect">
            <a:avLst/>
          </a:prstGeom>
          <a:noFill/>
          <a:ln/>
        </p:spPr>
        <p:txBody>
          <a:bodyPr wrap="square" lIns="0" tIns="0" rIns="0" bIns="0" rtlCol="0" anchor="ctr"/>
          <a:lstStyle/>
          <a:p>
            <a:pPr indent="0" marL="0">
              <a:buNone/>
            </a:pPr>
            <a:r>
              <a:rPr lang="en-US" sz="1250" dirty="0">
                <a:solidFill>
                  <a:srgbClr val="171B24"/>
                </a:solidFill>
                <a:latin typeface="Calibri" pitchFamily="34" charset="0"/>
                <a:ea typeface="Calibri" pitchFamily="34" charset="-122"/>
                <a:cs typeface="Calibri" pitchFamily="34" charset="-120"/>
              </a:rPr>
              <a:t>Complete the per-DISCOM ledger rollout — HARD organizationally, EASY technically; already running locally, just a sequencing decision</a:t>
            </a:r>
            <a:endParaRPr lang="en-US" sz="1250" dirty="0"/>
          </a:p>
        </p:txBody>
      </p:sp>
      <p:sp>
        <p:nvSpPr>
          <p:cNvPr id="28" name="Shape 26"/>
          <p:cNvSpPr/>
          <p:nvPr/>
        </p:nvSpPr>
        <p:spPr>
          <a:xfrm>
            <a:off x="685800" y="5715000"/>
            <a:ext cx="10820095" cy="502920"/>
          </a:xfrm>
          <a:prstGeom prst="roundRect">
            <a:avLst>
              <a:gd name="adj" fmla="val 12727"/>
            </a:avLst>
          </a:prstGeom>
          <a:solidFill>
            <a:srgbClr val="FFFFFF"/>
          </a:solidFill>
          <a:ln w="12700">
            <a:solidFill>
              <a:srgbClr val="E2E4E8"/>
            </a:solidFill>
            <a:prstDash val="solid"/>
          </a:ln>
        </p:spPr>
      </p:sp>
      <p:sp>
        <p:nvSpPr>
          <p:cNvPr id="29" name="Shape 27"/>
          <p:cNvSpPr/>
          <p:nvPr/>
        </p:nvSpPr>
        <p:spPr>
          <a:xfrm>
            <a:off x="886968" y="5792724"/>
            <a:ext cx="347472" cy="347472"/>
          </a:xfrm>
          <a:prstGeom prst="ellipse">
            <a:avLst/>
          </a:prstGeom>
          <a:solidFill>
            <a:srgbClr val="2A3242"/>
          </a:solidFill>
          <a:ln w="12700">
            <a:solidFill>
              <a:srgbClr val="2A3242"/>
            </a:solidFill>
            <a:prstDash val="solid"/>
          </a:ln>
        </p:spPr>
      </p:sp>
      <p:sp>
        <p:nvSpPr>
          <p:cNvPr id="30" name="Text 28"/>
          <p:cNvSpPr txBox="1"/>
          <p:nvPr/>
        </p:nvSpPr>
        <p:spPr>
          <a:xfrm>
            <a:off x="886968" y="579272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1" name="Text 29"/>
          <p:cNvSpPr txBox="1"/>
          <p:nvPr/>
        </p:nvSpPr>
        <p:spPr>
          <a:xfrm>
            <a:off x="1371600" y="5715000"/>
            <a:ext cx="9859975" cy="502920"/>
          </a:xfrm>
          <a:prstGeom prst="rect">
            <a:avLst/>
          </a:prstGeom>
          <a:noFill/>
          <a:ln/>
        </p:spPr>
        <p:txBody>
          <a:bodyPr wrap="square" lIns="0" tIns="0" rIns="0" bIns="0" rtlCol="0" anchor="ctr"/>
          <a:lstStyle/>
          <a:p>
            <a:pPr indent="0" marL="0">
              <a:buNone/>
            </a:pPr>
            <a:r>
              <a:rPr lang="en-US" sz="1250" dirty="0">
                <a:solidFill>
                  <a:srgbClr val="171B24"/>
                </a:solidFill>
                <a:latin typeface="Calibri" pitchFamily="34" charset="0"/>
                <a:ea typeface="Calibri" pitchFamily="34" charset="-122"/>
                <a:cs typeface="Calibri" pitchFamily="34" charset="-120"/>
              </a:rPr>
              <a:t>The remaining gaps (deadlines, cancellation rules, double-claim, telemetry fallback, response pricing) — mostly EASY to MEDIUM</a:t>
            </a:r>
            <a:endParaRPr lang="en-US" sz="1250" dirty="0"/>
          </a:p>
        </p:txBody>
      </p:sp>
      <p:sp>
        <p:nvSpPr>
          <p:cNvPr id="32" name="Text 30"/>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05 — Prioritized Solutions</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85800" y="1828800"/>
            <a:ext cx="10820095" cy="365760"/>
          </a:xfrm>
          <a:prstGeom prst="rect">
            <a:avLst/>
          </a:prstGeom>
          <a:noFill/>
          <a:ln/>
        </p:spPr>
        <p:txBody>
          <a:bodyPr wrap="square" lIns="0" tIns="0" rIns="0" bIns="0" rtlCol="0" anchor="ctr"/>
          <a:lstStyle/>
          <a:p>
            <a:pPr indent="0" marL="0">
              <a:buNone/>
            </a:pPr>
            <a:r>
              <a:rPr lang="en-US" sz="1500" b="1" spc="200" kern="0" dirty="0">
                <a:solidFill>
                  <a:srgbClr val="C07F2A"/>
                </a:solidFill>
                <a:latin typeface="Calibri" pitchFamily="34" charset="0"/>
                <a:ea typeface="Calibri" pitchFamily="34" charset="-122"/>
                <a:cs typeface="Calibri" pitchFamily="34" charset="-120"/>
              </a:rPr>
              <a:t>RECOMMENDATION</a:t>
            </a:r>
            <a:endParaRPr lang="en-US" sz="1500" dirty="0"/>
          </a:p>
        </p:txBody>
      </p:sp>
      <p:sp>
        <p:nvSpPr>
          <p:cNvPr id="3" name="Text 1"/>
          <p:cNvSpPr txBox="1"/>
          <p:nvPr/>
        </p:nvSpPr>
        <p:spPr>
          <a:xfrm>
            <a:off x="685800" y="2286000"/>
            <a:ext cx="10424160" cy="1463040"/>
          </a:xfrm>
          <a:prstGeom prst="rect">
            <a:avLst/>
          </a:prstGeom>
          <a:noFill/>
          <a:ln/>
        </p:spPr>
        <p:txBody>
          <a:bodyPr wrap="square" lIns="0" tIns="0" rIns="0" bIns="0" rtlCol="0" anchor="ctr"/>
          <a:lstStyle/>
          <a:p>
            <a:pPr indent="0" marL="0">
              <a:lnSpc>
                <a:spcPct val="115000"/>
              </a:lnSpc>
              <a:buNone/>
            </a:pPr>
            <a:r>
              <a:rPr lang="en-US" sz="3400" b="1" dirty="0">
                <a:solidFill>
                  <a:srgbClr val="FFFFFF"/>
                </a:solidFill>
                <a:latin typeface="Cambria" pitchFamily="34" charset="0"/>
                <a:ea typeface="Cambria" pitchFamily="34" charset="-122"/>
                <a:cs typeface="Cambria" pitchFamily="34" charset="-120"/>
              </a:rPr>
              <a:t>The wiring is real. The safety rules are not. Both are now proven, not assumed.</a:t>
            </a:r>
            <a:endParaRPr lang="en-US" sz="3400" dirty="0"/>
          </a:p>
        </p:txBody>
      </p:sp>
      <p:sp>
        <p:nvSpPr>
          <p:cNvPr id="4" name="Text 2"/>
          <p:cNvSpPr txBox="1"/>
          <p:nvPr/>
        </p:nvSpPr>
        <p:spPr>
          <a:xfrm>
            <a:off x="685800" y="3977640"/>
            <a:ext cx="9875520" cy="1188720"/>
          </a:xfrm>
          <a:prstGeom prst="rect">
            <a:avLst/>
          </a:prstGeom>
          <a:noFill/>
          <a:ln/>
        </p:spPr>
        <p:txBody>
          <a:bodyPr wrap="square" lIns="0" tIns="0" rIns="0" bIns="0" rtlCol="0" anchor="ctr"/>
          <a:lstStyle/>
          <a:p>
            <a:pPr indent="0" marL="0">
              <a:lnSpc>
                <a:spcPct val="130000"/>
              </a:lnSpc>
              <a:buNone/>
            </a:pPr>
            <a:r>
              <a:rPr lang="en-US" sz="1550" dirty="0">
                <a:solidFill>
                  <a:srgbClr val="A9B2C0"/>
                </a:solidFill>
                <a:latin typeface="Calibri" pitchFamily="34" charset="0"/>
                <a:ea typeface="Calibri" pitchFamily="34" charset="-122"/>
                <a:cs typeface="Calibri" pitchFamily="34" charset="-120"/>
              </a:rPr>
              <a:t>Zero of the 12 originally-identified gaps turned out to be false alarms. Two are more mitigated than first thought, because the real architecture already supports the right fix. One — price sanity — is now proven exploitable by an actual real trade, not just a reading of the code. Most of the fixes are genuinely easy code changes; a few depend on external DISCOM systems or multi-party governance, not on this codebase alone.</a:t>
            </a:r>
            <a:endParaRPr lang="en-US" sz="1550" dirty="0"/>
          </a:p>
        </p:txBody>
      </p:sp>
      <p:sp>
        <p:nvSpPr>
          <p:cNvPr id="5" name="Text 3"/>
          <p:cNvSpPr txBox="1"/>
          <p:nvPr/>
        </p:nvSpPr>
        <p:spPr>
          <a:xfrm>
            <a:off x="685800" y="6035040"/>
            <a:ext cx="5486400" cy="274320"/>
          </a:xfrm>
          <a:prstGeom prst="rect">
            <a:avLst/>
          </a:prstGeom>
          <a:noFill/>
          <a:ln/>
        </p:spPr>
        <p:txBody>
          <a:bodyPr wrap="square" lIns="0" tIns="0" rIns="0" bIns="0" rtlCol="0" anchor="ctr"/>
          <a:lstStyle/>
          <a:p>
            <a:pPr indent="0" marL="0">
              <a:buNone/>
            </a:pPr>
            <a:r>
              <a:rPr lang="en-US" sz="1300" dirty="0">
                <a:solidFill>
                  <a:srgbClr val="8A94A6"/>
                </a:solidFill>
                <a:latin typeface="Calibri" pitchFamily="34" charset="0"/>
                <a:ea typeface="Calibri" pitchFamily="34" charset="-122"/>
                <a:cs typeface="Calibri" pitchFamily="34" charset="-120"/>
              </a:rPr>
              <a:t>Questions welcome</a:t>
            </a:r>
            <a:endParaRPr lang="en-US" sz="13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P2P Software Gaps">
  <a:themeElements>
    <a:clrScheme name="P2P Software Gaps">
      <a:dk1>
        <a:srgbClr val="171B24"/>
      </a:dk1>
      <a:lt1>
        <a:srgbClr val="FFFFFF"/>
      </a:lt1>
      <a:dk2>
        <a:srgbClr val="10151F"/>
      </a:dk2>
      <a:lt2>
        <a:srgbClr val="F4F5F7"/>
      </a:lt2>
      <a:accent1>
        <a:srgbClr val="C07F2A"/>
      </a:accent1>
      <a:accent2>
        <a:srgbClr val="B23B2E"/>
      </a:accent2>
      <a:accent3>
        <a:srgbClr val="8A94A6"/>
      </a:accent3>
      <a:accent4>
        <a:srgbClr val="2F7A4F"/>
      </a:accent4>
      <a:accent5>
        <a:srgbClr val="5FC98A"/>
      </a:accent5>
      <a:accent6>
        <a:srgbClr val="2A3242"/>
      </a:accent6>
      <a:hlink>
        <a:srgbClr val="C07F2A"/>
      </a:hlink>
      <a:folHlink>
        <a:srgbClr val="C07F2A"/>
      </a:folHlink>
    </a:clrScheme>
    <a:fontScheme name="P2P Software Ga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2026-10-09T05:41:51Z</dcterms:created>
  <dcterms:modified xsi:type="dcterms:W3CDTF">2026-10-09T05:41:51Z</dcterms:modified>
</cp:coreProperties>
</file>