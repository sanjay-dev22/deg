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3.xml"/><Relationship Id="rId4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3.xml"/><Relationship Id="rId4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3.xml"/><Relationship Id="rId4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3.xml"/><Relationship Id="rId4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slide" Target="slide3.xml"/><Relationship Id="rId4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slide" Target="slide3.xml"/><Relationship Id="rId4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GRID PULSE  ·  A GUIDED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9509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Poppins"/>
              </a:rPr>
              <a:t>The Real P2P Energy Trade,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Poppins"/>
              </a:rPr>
              <a:t>in Six Moments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9326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D6DEE6"/>
                </a:solidFill>
                <a:latin typeface="Poppins"/>
              </a:rPr>
              <a:t>Real screenshots and real payloads from the live Grid Pulse simulator —</a:t>
            </a:r>
          </a:p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D6DEE6"/>
                </a:solidFill>
                <a:latin typeface="Poppins"/>
              </a:rPr>
              <a:t>everything shown here actually happened, nothing is recreated or staged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391A2"/>
                </a:solidFill>
                <a:latin typeface="Poppins"/>
              </a:rPr>
              <a:t>No live demo required — click through this at your own pace, in any order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HOW TO USE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21B27"/>
                </a:solidFill>
                <a:latin typeface="Poppins"/>
              </a:rPr>
              <a:t>Read it straight through, or jump around — both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72821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645920"/>
            <a:ext cx="106920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8576A"/>
                </a:solidFill>
                <a:latin typeface="Poppins"/>
              </a:rPr>
              <a:t>The next slide is a clickable map — click any moment to jump straight to it, in any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386584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304288"/>
            <a:ext cx="106920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8576A"/>
                </a:solidFill>
                <a:latin typeface="Poppins"/>
              </a:rPr>
              <a:t>Every moment-slide has a ◀ Map link back, and a Next ▶ link if you'd rather read start to finish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3044952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962656"/>
            <a:ext cx="106920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8576A"/>
                </a:solidFill>
                <a:latin typeface="Poppins"/>
              </a:rPr>
              <a:t>Each one shows: a plain-English line, the real screenshot from the live tool, and the real underlying data — trimmed to what matters, not the full raw payload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3703320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621024"/>
            <a:ext cx="106920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8576A"/>
                </a:solidFill>
                <a:latin typeface="Poppins"/>
              </a:rPr>
              <a:t>This covers 6 of the real 31 hops in a full trade — the ones that teach the most, not all of them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4361688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279392"/>
            <a:ext cx="106920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8576A"/>
                </a:solidFill>
                <a:latin typeface="Poppins"/>
              </a:rPr>
              <a:t>Want the full, click-through version yourself? It's a live, public tool — ask the presenter for the link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JUMP TO ANY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21B27"/>
                </a:solidFill>
                <a:latin typeface="Poppins"/>
              </a:rPr>
              <a:t>The trade,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4811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Click a tile — or follow the numbers in order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621792" y="1737360"/>
            <a:ext cx="2531287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857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7452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48576A"/>
                </a:solidFill>
                <a:latin typeface="Poppins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B27"/>
                </a:solidFill>
                <a:latin typeface="Poppins"/>
              </a:rPr>
              <a:t>The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97480"/>
            <a:ext cx="216552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8576A"/>
                </a:solidFill>
                <a:latin typeface="Poppins"/>
              </a:rPr>
              <a:t>What's real, at a glance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3427399" y="1737360"/>
            <a:ext cx="2531287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0279" y="187452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C5F8A"/>
                </a:solidFill>
                <a:latin typeface="Poppi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0279" y="233172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B27"/>
                </a:solidFill>
                <a:latin typeface="Poppins"/>
              </a:rPr>
              <a:t>Publish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0279" y="2697480"/>
            <a:ext cx="216552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8576A"/>
                </a:solidFill>
                <a:latin typeface="Poppins"/>
              </a:rPr>
              <a:t>Leaves our machines entirely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6233007" y="1737360"/>
            <a:ext cx="2531287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187452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C5F8A"/>
                </a:solidFill>
                <a:latin typeface="Poppi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233172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B27"/>
                </a:solidFill>
                <a:latin typeface="Poppins"/>
              </a:rPr>
              <a:t>Discover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7" y="2697480"/>
            <a:ext cx="216552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8576A"/>
                </a:solidFill>
                <a:latin typeface="Poppins"/>
              </a:rPr>
              <a:t>A different real address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9038615" y="1737360"/>
            <a:ext cx="2531287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1495" y="187452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87C1C"/>
                </a:solidFill>
                <a:latin typeface="Poppi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1495" y="233172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B27"/>
                </a:solidFill>
                <a:latin typeface="Poppins"/>
              </a:rPr>
              <a:t>Init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1495" y="2697480"/>
            <a:ext cx="216552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8576A"/>
                </a:solidFill>
                <a:latin typeface="Poppins"/>
              </a:rPr>
              <a:t>Nothing committed yet</a:t>
            </a:r>
          </a:p>
        </p:txBody>
      </p:sp>
      <p:sp>
        <p:nvSpPr>
          <p:cNvPr id="21" name="Rounded Rectangle 20">
            <a:hlinkClick action="ppaction://hlinksldjump" r:id="rId6"/>
          </p:cNvPr>
          <p:cNvSpPr/>
          <p:nvPr/>
        </p:nvSpPr>
        <p:spPr>
          <a:xfrm>
            <a:off x="621792" y="3611880"/>
            <a:ext cx="2531287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74904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87C1C"/>
                </a:solidFill>
                <a:latin typeface="Poppi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20624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B27"/>
                </a:solidFill>
                <a:latin typeface="Poppins"/>
              </a:rPr>
              <a:t>Confirm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572000"/>
            <a:ext cx="216552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8576A"/>
                </a:solidFill>
                <a:latin typeface="Poppins"/>
              </a:rPr>
              <a:t>Lands on a real ledger</a:t>
            </a:r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3427399" y="3611880"/>
            <a:ext cx="2531287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0279" y="374904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E7D4F"/>
                </a:solidFill>
                <a:latin typeface="Poppin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0279" y="420624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B27"/>
                </a:solidFill>
                <a:latin typeface="Poppins"/>
              </a:rPr>
              <a:t>Settle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0279" y="4572000"/>
            <a:ext cx="216552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8576A"/>
                </a:solidFill>
                <a:latin typeface="Poppins"/>
              </a:rPr>
              <a:t>The real payoff — ₹437.15</a:t>
            </a:r>
          </a:p>
        </p:txBody>
      </p:sp>
      <p:sp>
        <p:nvSpPr>
          <p:cNvPr id="29" name="Rounded Rectangle 28">
            <a:hlinkClick action="ppaction://hlinksldjump" r:id="rId8"/>
          </p:cNvPr>
          <p:cNvSpPr/>
          <p:nvPr/>
        </p:nvSpPr>
        <p:spPr>
          <a:xfrm>
            <a:off x="6233007" y="3611880"/>
            <a:ext cx="2531287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4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5887" y="374904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A6483B"/>
                </a:solidFill>
                <a:latin typeface="Poppin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5887" y="420624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B27"/>
                </a:solidFill>
                <a:latin typeface="Poppins"/>
              </a:rPr>
              <a:t>Rejected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5887" y="4572000"/>
            <a:ext cx="216552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8576A"/>
                </a:solidFill>
                <a:latin typeface="Poppins"/>
              </a:rPr>
              <a:t>Proof the rules are real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THE NETWORK,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21B27"/>
                </a:solidFill>
                <a:latin typeface="Poppins"/>
              </a:rPr>
              <a:t>Two companies' real software, one shared rulebook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4811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Every box below is a real running service — nothing here is a diagram of an idea</a:t>
            </a:r>
          </a:p>
        </p:txBody>
      </p:sp>
      <p:pic>
        <p:nvPicPr>
          <p:cNvPr id="5" name="Picture 4" descr="00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172" y="1691640"/>
            <a:ext cx="9267350" cy="4114800"/>
          </a:xfrm>
          <a:prstGeom prst="rect">
            <a:avLst/>
          </a:prstGeom>
        </p:spPr>
      </p:pic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621792" y="6053328"/>
            <a:ext cx="640080" cy="329184"/>
          </a:xfrm>
          <a:prstGeom prst="round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09904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1B27"/>
                </a:solidFill>
                <a:latin typeface="Poppins"/>
              </a:rPr>
              <a:t>◀ Map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0838383" y="6053328"/>
            <a:ext cx="731520" cy="329184"/>
          </a:xfrm>
          <a:prstGeom prst="round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38383" y="609904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Next 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MOMENT 1 · PUBLISH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21B27"/>
                </a:solidFill>
                <a:latin typeface="Poppins"/>
              </a:rPr>
              <a:t>The offer leaves our own machines entirely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71600"/>
            <a:ext cx="10948111" cy="77724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08760"/>
            <a:ext cx="1039947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Poppins"/>
              </a:rPr>
              <a:t>Pure delivery — the reception desk forwards the sealed offer on to the real, shared catalog service, without opening it.</a:t>
            </a:r>
          </a:p>
        </p:txBody>
      </p:sp>
      <p:pic>
        <p:nvPicPr>
          <p:cNvPr id="6" name="Picture 5" descr="01-publish-exte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730" y="2286000"/>
            <a:ext cx="6178233" cy="2743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1792" y="5120640"/>
            <a:ext cx="10948111" cy="640080"/>
          </a:xfrm>
          <a:prstGeom prst="rect">
            <a:avLst/>
          </a:prstGeom>
          <a:solidFill>
            <a:srgbClr val="FDF3E4"/>
          </a:solidFill>
          <a:ln w="12700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520293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87C1C"/>
                </a:solidFill>
                <a:latin typeface="Poppins"/>
              </a:rPr>
              <a:t>REAL ADDRESS THIS HOP ACTUALLY WENT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5394960"/>
            <a:ext cx="104909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1B27"/>
                </a:solidFill>
                <a:latin typeface="Consolas"/>
              </a:rPr>
              <a:t>POST https://fabric.nfh.global/beckn/catalog/publish  (real, external — not this Docker network)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621792" y="6053328"/>
            <a:ext cx="640080" cy="329184"/>
          </a:xfrm>
          <a:prstGeom prst="round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609904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1B27"/>
                </a:solidFill>
                <a:latin typeface="Poppins"/>
              </a:rPr>
              <a:t>◀ Map</a:t>
            </a:r>
          </a:p>
        </p:txBody>
      </p:sp>
      <p:sp>
        <p:nvSpPr>
          <p:cNvPr id="12" name="Rounded Rectangle 11">
            <a:hlinkClick action="ppaction://hlinksldjump" r:id="rId4"/>
          </p:cNvPr>
          <p:cNvSpPr/>
          <p:nvPr/>
        </p:nvSpPr>
        <p:spPr>
          <a:xfrm>
            <a:off x="10838383" y="6053328"/>
            <a:ext cx="731520" cy="329184"/>
          </a:xfrm>
          <a:prstGeom prst="round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38383" y="609904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Next 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MOMENT 2 · DISCOVER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21B27"/>
                </a:solidFill>
                <a:latin typeface="Poppins"/>
              </a:rPr>
              <a:t>A completely different real address than Publish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71600"/>
            <a:ext cx="10948111" cy="77724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08760"/>
            <a:ext cx="1039947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Poppins"/>
              </a:rPr>
              <a:t>Pure delivery again — the reception desk forwards the search to the real discovery service, which finds the seller's offer.</a:t>
            </a:r>
          </a:p>
        </p:txBody>
      </p:sp>
      <p:pic>
        <p:nvPicPr>
          <p:cNvPr id="6" name="Picture 5" descr="02-discover-exte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730" y="2286000"/>
            <a:ext cx="6178233" cy="2743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1792" y="5120640"/>
            <a:ext cx="10948111" cy="640080"/>
          </a:xfrm>
          <a:prstGeom prst="rect">
            <a:avLst/>
          </a:prstGeom>
          <a:solidFill>
            <a:srgbClr val="FDF3E4"/>
          </a:solidFill>
          <a:ln w="12700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520293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87C1C"/>
                </a:solidFill>
                <a:latin typeface="Poppins"/>
              </a:rPr>
              <a:t>NOTICE THE DOMAIN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5394960"/>
            <a:ext cx="104909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1B27"/>
                </a:solidFill>
                <a:latin typeface="Consolas"/>
              </a:rPr>
              <a:t>GET https://34.93.165.42.sslip.io/beckn  (a different real service than Publish used)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621792" y="6053328"/>
            <a:ext cx="640080" cy="329184"/>
          </a:xfrm>
          <a:prstGeom prst="round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609904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1B27"/>
                </a:solidFill>
                <a:latin typeface="Poppins"/>
              </a:rPr>
              <a:t>◀ Map</a:t>
            </a:r>
          </a:p>
        </p:txBody>
      </p:sp>
      <p:sp>
        <p:nvSpPr>
          <p:cNvPr id="12" name="Rounded Rectangle 11">
            <a:hlinkClick action="ppaction://hlinksldjump" r:id="rId4"/>
          </p:cNvPr>
          <p:cNvSpPr/>
          <p:nvPr/>
        </p:nvSpPr>
        <p:spPr>
          <a:xfrm>
            <a:off x="10838383" y="6053328"/>
            <a:ext cx="731520" cy="329184"/>
          </a:xfrm>
          <a:prstGeom prst="round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38383" y="609904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Next 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MOMENT 3 · INIT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21B27"/>
                </a:solidFill>
                <a:latin typeface="Poppins"/>
              </a:rPr>
              <a:t>Two separate letters, not a phone call — nothing is committed yet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5543" y="594360"/>
            <a:ext cx="594360" cy="292608"/>
          </a:xfrm>
          <a:prstGeom prst="round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5543" y="612648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Poppins"/>
              </a:rPr>
              <a:t>ASYNC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371600"/>
            <a:ext cx="10948111" cy="77724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08760"/>
            <a:ext cx="1039947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Poppins"/>
              </a:rPr>
              <a:t>The seller's app sends its real answer — a brand-new message, going the opposite direction, not a reply to the same letter.</a:t>
            </a:r>
          </a:p>
        </p:txBody>
      </p:sp>
      <p:pic>
        <p:nvPicPr>
          <p:cNvPr id="8" name="Picture 7" descr="03-init-a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730" y="2286000"/>
            <a:ext cx="6178233" cy="2743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" y="5120640"/>
            <a:ext cx="10948111" cy="640080"/>
          </a:xfrm>
          <a:prstGeom prst="rect">
            <a:avLst/>
          </a:prstGeom>
          <a:solidFill>
            <a:srgbClr val="FDF3E4"/>
          </a:solidFill>
          <a:ln w="12700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520293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87C1C"/>
                </a:solidFill>
                <a:latin typeface="Poppins"/>
              </a:rPr>
              <a:t>contract.status.code IN THE REAL PAYLOAD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5394960"/>
            <a:ext cx="104909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1B27"/>
                </a:solidFill>
                <a:latin typeface="Consolas"/>
              </a:rPr>
              <a:t>"DRAFT" — no ledger, no payment, no money has moved anywhere at this point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621792" y="6053328"/>
            <a:ext cx="640080" cy="329184"/>
          </a:xfrm>
          <a:prstGeom prst="round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609904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1B27"/>
                </a:solidFill>
                <a:latin typeface="Poppins"/>
              </a:rPr>
              <a:t>◀ Map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10838383" y="6053328"/>
            <a:ext cx="731520" cy="329184"/>
          </a:xfrm>
          <a:prstGeom prst="round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38383" y="609904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Next 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MOMENT 4 · CONFIRM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21B27"/>
                </a:solidFill>
                <a:latin typeface="Poppins"/>
              </a:rPr>
              <a:t>The trade is confirmed — and lands on a real electricity company's ledger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71600"/>
            <a:ext cx="10948111" cy="77724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08760"/>
            <a:ext cx="1039947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Poppins"/>
              </a:rPr>
              <a:t>A real, separate copy of this confirmation lands at the seller's own electricity company's ledger, automatically.</a:t>
            </a:r>
          </a:p>
        </p:txBody>
      </p:sp>
      <p:pic>
        <p:nvPicPr>
          <p:cNvPr id="6" name="Picture 5" descr="04-confirm-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730" y="2286000"/>
            <a:ext cx="6178233" cy="2743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1792" y="5120640"/>
            <a:ext cx="10948111" cy="640080"/>
          </a:xfrm>
          <a:prstGeom prst="rect">
            <a:avLst/>
          </a:prstGeom>
          <a:solidFill>
            <a:srgbClr val="FDF3E4"/>
          </a:solidFill>
          <a:ln w="12700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520293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87C1C"/>
                </a:solidFill>
                <a:latin typeface="Poppins"/>
              </a:rPr>
              <a:t>WHAT ACTUALLY LANDS AT THE SELLER'S DISCOM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5394960"/>
            <a:ext cx="104909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1B27"/>
                </a:solidFill>
                <a:latin typeface="Consolas"/>
              </a:rPr>
              <a:t>contract.status.code: "ACTIVE" — a real, timestamped record, before a single kWh is physically delivered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621792" y="6053328"/>
            <a:ext cx="640080" cy="329184"/>
          </a:xfrm>
          <a:prstGeom prst="round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609904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1B27"/>
                </a:solidFill>
                <a:latin typeface="Poppins"/>
              </a:rPr>
              <a:t>◀ Map</a:t>
            </a:r>
          </a:p>
        </p:txBody>
      </p:sp>
      <p:sp>
        <p:nvSpPr>
          <p:cNvPr id="12" name="Rounded Rectangle 11">
            <a:hlinkClick action="ppaction://hlinksldjump" r:id="rId4"/>
          </p:cNvPr>
          <p:cNvSpPr/>
          <p:nvPr/>
        </p:nvSpPr>
        <p:spPr>
          <a:xfrm>
            <a:off x="10838383" y="6053328"/>
            <a:ext cx="731520" cy="329184"/>
          </a:xfrm>
          <a:prstGeom prst="round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38383" y="609904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Next 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MOMENT 5 · SETTLE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21B27"/>
                </a:solidFill>
                <a:latin typeface="Poppins"/>
              </a:rPr>
              <a:t>The payoff — real settlement math, computed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92663" y="594360"/>
            <a:ext cx="777240" cy="292608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92663" y="612648"/>
            <a:ext cx="777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Poppins"/>
              </a:rPr>
              <a:t>₹437.15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371600"/>
            <a:ext cx="10948111" cy="77724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08760"/>
            <a:ext cx="1039947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Poppins"/>
              </a:rPr>
              <a:t>After delivery, the seller reports the real numbers — and this exact step is where the actual revenue split gets computed, live.</a:t>
            </a:r>
          </a:p>
        </p:txBody>
      </p:sp>
      <p:pic>
        <p:nvPicPr>
          <p:cNvPr id="8" name="Picture 7" descr="05-settle-pay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730" y="2286000"/>
            <a:ext cx="6178233" cy="2743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" y="5120640"/>
            <a:ext cx="10948111" cy="640080"/>
          </a:xfrm>
          <a:prstGeom prst="rect">
            <a:avLst/>
          </a:prstGeom>
          <a:solidFill>
            <a:srgbClr val="FDF3E4"/>
          </a:solidFill>
          <a:ln w="12700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520293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87C1C"/>
                </a:solidFill>
                <a:latin typeface="Poppins"/>
              </a:rPr>
              <a:t>THE EXACT COMPUTATION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5394960"/>
            <a:ext cx="104909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1B27"/>
                </a:solidFill>
                <a:latin typeface="Consolas"/>
              </a:rPr>
              <a:t>18.5 kWh × ₹12.5 + 14.2 kWh × ₹14.5 = ₹437.15 to the seller — computed here, not typed anywhere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621792" y="6053328"/>
            <a:ext cx="640080" cy="329184"/>
          </a:xfrm>
          <a:prstGeom prst="round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609904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1B27"/>
                </a:solidFill>
                <a:latin typeface="Poppins"/>
              </a:rPr>
              <a:t>◀ Map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10838383" y="6053328"/>
            <a:ext cx="731520" cy="329184"/>
          </a:xfrm>
          <a:prstGeom prst="round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38383" y="609904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Next 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MOMENT 6 · REJECTED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21B27"/>
                </a:solidFill>
                <a:latin typeface="Poppins"/>
              </a:rPr>
              <a:t>Proof the rules are real — a live, specific refusal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8343" y="594360"/>
            <a:ext cx="1051560" cy="292608"/>
          </a:xfrm>
          <a:prstGeom prst="roundRect">
            <a:avLst/>
          </a:prstGeom>
          <a:solidFill>
            <a:srgbClr val="A6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8343" y="612648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Poppins"/>
              </a:rPr>
              <a:t>400 · NACK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371600"/>
            <a:ext cx="10948111" cy="77724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08760"/>
            <a:ext cx="1039947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Poppins"/>
              </a:rPr>
              <a:t>Same message shape as a normal init — except this buyer's electricity company isn't on the seller's approved list.</a:t>
            </a:r>
          </a:p>
        </p:txBody>
      </p:sp>
      <p:pic>
        <p:nvPicPr>
          <p:cNvPr id="8" name="Picture 7" descr="06-rej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730" y="2286000"/>
            <a:ext cx="6178233" cy="2743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" y="5120640"/>
            <a:ext cx="10948111" cy="640080"/>
          </a:xfrm>
          <a:prstGeom prst="rect">
            <a:avLst/>
          </a:prstGeom>
          <a:solidFill>
            <a:srgbClr val="FDF3E4"/>
          </a:solidFill>
          <a:ln w="12700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520293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87C1C"/>
                </a:solidFill>
                <a:latin typeface="Poppins"/>
              </a:rPr>
              <a:t>THE ACTUAL REJECTION, WORD FOR 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5394960"/>
            <a:ext cx="104909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1B27"/>
                </a:solidFill>
                <a:latin typeface="Consolas"/>
              </a:rPr>
              <a:t>buyer discom "TEST_OUTSIDE_DISCOM" is not allowed to trade with this discom’s prosumers (allowed: BRPL, PaVVNL, TEST_DISCOM_BUYER, TEST_DISCOM_SELLER, TPDDL)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621792" y="6053328"/>
            <a:ext cx="640080" cy="329184"/>
          </a:xfrm>
          <a:prstGeom prst="round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609904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1B27"/>
                </a:solidFill>
                <a:latin typeface="Poppins"/>
              </a:rPr>
              <a:t>◀ Map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10564063" y="6053328"/>
            <a:ext cx="1005840" cy="329184"/>
          </a:xfrm>
          <a:prstGeom prst="round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64063" y="6099048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Summary 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WHAT THIS PROVES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Poppins"/>
              </a:rPr>
              <a:t>Six moments, one real trade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27632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D6DEE6"/>
                </a:solidFill>
                <a:latin typeface="Poppins"/>
              </a:rPr>
              <a:t>It genuinely leaves our own machines — two different real external services, not one hardcoded call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49424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7627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D6DEE6"/>
                </a:solidFill>
                <a:latin typeface="Poppins"/>
              </a:rPr>
              <a:t>The async pattern is real — offers and answers travel as separate messages, nothing is a synchronous reply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7121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98064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D6DEE6"/>
                </a:solidFill>
                <a:latin typeface="Poppins"/>
              </a:rPr>
              <a:t>Settlement math is computed live from real numbers, not typed in — and the two sides' books cancel to zero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493008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19856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D6DEE6"/>
                </a:solidFill>
                <a:latin typeface="Poppins"/>
              </a:rPr>
              <a:t>The rules are actually enforced — a disallowed trade gets a real, specific, live refusal, not a generic 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14800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04164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D6DEE6"/>
                </a:solidFill>
                <a:latin typeface="Poppins"/>
              </a:rPr>
              <a:t>It lands on a real, separate electricity-company ledger, independent of either trading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32120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8391A2"/>
                </a:solidFill>
                <a:latin typeface="Poppins"/>
              </a:rPr>
              <a:t>This deck covers 6 of the real 31 hops — ask to see the full, live, click-through version for the rest.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