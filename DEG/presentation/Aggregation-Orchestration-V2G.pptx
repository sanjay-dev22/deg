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ederalregister.gov/documents/full_text/text/2020/10/21/2020-20973.txt" TargetMode="External"/><Relationship Id="rId3" Type="http://schemas.openxmlformats.org/officeDocument/2006/relationships/hyperlink" Target="https://www.pjm.com/-/media/DotCom/documents/manuals/m18.pdf" TargetMode="External"/><Relationship Id="rId4" Type="http://schemas.openxmlformats.org/officeDocument/2006/relationships/hyperlink" Target="https://www.pjm.com/-/media/DotCom/committees-groups/subcommittees/disrs/postings/ferc-order-no-2222-overview.pdf" TargetMode="External"/><Relationship Id="rId5" Type="http://schemas.openxmlformats.org/officeDocument/2006/relationships/hyperlink" Target="https://cercind.gov.in/Regulations/Ancillary-Service-Regulations-2022.pdf" TargetMode="External"/><Relationship Id="rId6" Type="http://schemas.openxmlformats.org/officeDocument/2006/relationships/hyperlink" Target="https://cercind.gov.in/Regulations/SOR-167.pdf" TargetMode="External"/><Relationship Id="rId7" Type="http://schemas.openxmlformats.org/officeDocument/2006/relationships/hyperlink" Target="https://www.beeindia.gov.in/WriteReadData/L45218/2841453721548450.pdf" TargetMode="External"/><Relationship Id="rId8" Type="http://schemas.openxmlformats.org/officeDocument/2006/relationships/hyperlink" Target="https://rerc.rajasthan.gov.in/rerc-user-files/regulations" TargetMode="External"/><Relationship Id="rId9" Type="http://schemas.openxmlformats.org/officeDocument/2006/relationships/hyperlink" Target="https://services.bis.gov.in/tmp/compendium_2025-06-02-05-05-20.pdf" TargetMode="External"/><Relationship Id="rId10" Type="http://schemas.openxmlformats.org/officeDocument/2006/relationships/hyperlink" Target="https://www.amprion.net/Energy-Market/Market-Platform/Control-Energy/" TargetMode="External"/><Relationship Id="rId11" Type="http://schemas.openxmlformats.org/officeDocument/2006/relationships/hyperlink" Target="https://www.prnewswire.com/in/news-releases/south-asias-first-ever-vehicle-to-grid-v2g-demonstration-led-by-isgf-in-collaboration-with-its-technology-and-utility-partners-302774406.html" TargetMode="External"/><Relationship Id="rId12" Type="http://schemas.openxmlformats.org/officeDocument/2006/relationships/hyperlink" Target="https://www.next-kraftwerke.com/company" TargetMode="External"/><Relationship Id="rId13" Type="http://schemas.openxmlformats.org/officeDocument/2006/relationships/hyperlink" Target="https://octopus.energy/press/kraken-technologies-kwest-acquisition/" TargetMode="External"/><Relationship Id="rId14" Type="http://schemas.openxmlformats.org/officeDocument/2006/relationships/hyperlink" Target="https://www.energy-storage.news/the-mobility-house-bringing-second-life-optimisation-experience-to-large-scale-bess-expansion-in-germany/" TargetMode="External"/><Relationship Id="rId15" Type="http://schemas.openxmlformats.org/officeDocument/2006/relationships/hyperlink" Target="https://mobilityhouse-energy.com/int_en/knowledge-center/article/v2g-progress-in-each-countr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ciencedirect.com/science/article/pii/S0142061524006392" TargetMode="External"/><Relationship Id="rId3" Type="http://schemas.openxmlformats.org/officeDocument/2006/relationships/hyperlink" Target="https://www.enlitia.com/resources-blog-post/what-are-imbalance-costs-in-the-renewable-energy-industry" TargetMode="External"/><Relationship Id="rId4" Type="http://schemas.openxmlformats.org/officeDocument/2006/relationships/hyperlink" Target="https://www.udel.edu/udaily/2021/march/ud-developed-vehicle-to-grid-technology-gains-traction/" TargetMode="External"/><Relationship Id="rId5" Type="http://schemas.openxmlformats.org/officeDocument/2006/relationships/hyperlink" Target="https://openchargealliance.org/ocpp-2-1-is-now-available/" TargetMode="External"/><Relationship Id="rId6" Type="http://schemas.openxmlformats.org/officeDocument/2006/relationships/hyperlink" Target="https://www.bosch-mobility.com/en/solutions/control-units/vehicle-charge-communication-unit/" TargetMode="External"/><Relationship Id="rId7" Type="http://schemas.openxmlformats.org/officeDocument/2006/relationships/hyperlink" Target="https://www.bosch.com/research/research-fields/electrification/research-on-electrified-mobility/" TargetMode="External"/><Relationship Id="rId8" Type="http://schemas.openxmlformats.org/officeDocument/2006/relationships/hyperlink" Target="https://www.bosch-softwaretechnologies.com/en/explore-and-experience/electrification-in-india/" TargetMode="External"/><Relationship Id="rId9" Type="http://schemas.openxmlformats.org/officeDocument/2006/relationships/hyperlink" Target="https://github.com/India-Energy-Stack/ies-accelerator" TargetMode="External"/><Relationship Id="rId10" Type="http://schemas.openxmlformats.org/officeDocument/2006/relationships/hyperlink" Target="https://github.com/beckn/DE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AFTER THE DEMO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A1A1A"/>
                </a:solidFill>
                <a:latin typeface="Calibri"/>
              </a:rPr>
              <a:t>Aggregation, Orchestration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A1A1A"/>
                </a:solidFill>
                <a:latin typeface="Calibri"/>
              </a:rPr>
              <a:t>and V2G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1097280" cy="5080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55E6B"/>
                </a:solidFill>
                <a:latin typeface="Calibri"/>
              </a:rPr>
              <a:t>How many small energy sources become one dependable supply,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55E6B"/>
                </a:solidFill>
                <a:latin typeface="Calibri"/>
              </a:rPr>
              <a:t>with and without vehicles, and what it means for DEG / 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E6B"/>
                </a:solidFill>
                <a:latin typeface="Calibri"/>
              </a:rPr>
              <a:t>Sanjay S   ·   MS/EAC11-EM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the demo meeting asked us to think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Questions raised by the team during the P2P demo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64008" cy="18836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7A6E"/>
                </a:solidFill>
                <a:latin typeface="Calibri"/>
              </a:rPr>
              <a:t>1  Beyond one-to-one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Not one person selling a few kWh to another, but an aggregator with a bulk contract to a DISCOM or large buyer.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18488"/>
            <a:ext cx="64008" cy="18836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D4ED8"/>
                </a:solidFill>
                <a:latin typeface="Calibri"/>
              </a:rPr>
              <a:t>2  Many vehicles, one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Orchestrating many EVs through V2G. Who are the actors, and who actually needs this?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18488"/>
            <a:ext cx="64008" cy="1883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6D3BC4"/>
                </a:solidFill>
                <a:latin typeface="Calibri"/>
              </a:rPr>
              <a:t>3  What already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V2G in Europe (Germany), in India, and what Bosch itself has reached.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04488"/>
            <a:ext cx="64008" cy="18836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2A2A"/>
                </a:solidFill>
                <a:latin typeface="Calibri"/>
              </a:rPr>
              <a:t>4  What if it goes wrong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A bid is accepted but never supplied. A buyer hoards offers to disturb the network. The solar fails.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904488"/>
            <a:ext cx="64008" cy="18836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B85C0A"/>
                </a:solidFill>
                <a:latin typeface="Calibri"/>
              </a:rPr>
              <a:t>5  How V2G physically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Vehicle to charger to grid. How does an aggregator with a contract really get the power?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904488"/>
            <a:ext cx="64008" cy="18836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7A3C"/>
                </a:solidFill>
                <a:latin typeface="Calibri"/>
              </a:rPr>
              <a:t>6  Where it fits in DEG / 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And what about plain aggregation, before V2G is even involved?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555E6B"/>
                </a:solidFill>
                <a:latin typeface="Calibri"/>
              </a:rPr>
              <a:t>The rest of this deck answers these six, in this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THE ANSWER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Small resources, one aggregator, one firm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Synthesis of the two research passes; layers as described on slides 9 and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4415" cy="457200"/>
          </a:xfrm>
          <a:prstGeom prst="roundRect">
            <a:avLst>
              <a:gd name="adj" fmla="val 30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6D3BC4"/>
                </a:solidFill>
                <a:latin typeface="Calibri"/>
              </a:rPr>
              <a:t>Marketplace and contract layer:  Beckn / UEI / DEG  (discover, agree, settle)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200400" cy="265176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64008" cy="243230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E7A6E"/>
                </a:solidFill>
                <a:latin typeface="Calibri"/>
              </a:rPr>
              <a:t>Many small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97480"/>
            <a:ext cx="2871216" cy="2075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Home rooftop solar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Home batteries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EVs on chargers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Smart air-conditioners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Each 1 to 10 kW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194560"/>
            <a:ext cx="3200400" cy="265176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304288"/>
            <a:ext cx="64008" cy="2432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D4ED8"/>
                </a:solidFill>
                <a:latin typeface="Calibri"/>
              </a:rPr>
              <a:t>Aggregator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697480"/>
            <a:ext cx="2871216" cy="2075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Pools them into one bid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Forecasts who is available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Sends live control signals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Measures what was 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194560"/>
            <a:ext cx="3200400" cy="265176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304288"/>
            <a:ext cx="64008" cy="243230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B85C0A"/>
                </a:solidFill>
                <a:latin typeface="Calibri"/>
              </a:rPr>
              <a:t>DISCOM or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97480"/>
            <a:ext cx="2871216" cy="2075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Needs a large, firm block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Buys MW, not kW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Pays for what is delivered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Charges for any shortfall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94760" y="3246120"/>
            <a:ext cx="640080" cy="310896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726679" y="3246120"/>
            <a:ext cx="640080" cy="310896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27889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555E6B"/>
                </a:solidFill>
                <a:latin typeface="Calibri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889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555E6B"/>
                </a:solidFill>
                <a:latin typeface="Calibri"/>
              </a:rPr>
              <a:t>one offer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726679" y="3931920"/>
            <a:ext cx="640080" cy="310896"/>
          </a:xfrm>
          <a:prstGeom prst="leftArrow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3794760" y="3931920"/>
            <a:ext cx="640080" cy="310896"/>
          </a:xfrm>
          <a:prstGeom prst="leftArrow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297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1E7A3C"/>
                </a:solidFill>
                <a:latin typeface="Calibri"/>
              </a:rPr>
              <a:t>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97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1E7A3C"/>
                </a:solidFill>
                <a:latin typeface="Calibri"/>
              </a:rPr>
              <a:t>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74920"/>
            <a:ext cx="11094415" cy="4572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 w="11430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555E6B"/>
                </a:solidFill>
                <a:latin typeface="Calibri"/>
              </a:rPr>
              <a:t>Device layer:  OCPP 2.1  ·  ISO 15118-20  ·  IEEE 2030.5  ·  OpenADR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With vehicles that can export power, this is called V2G. Without them, it is plain aggregation. The mechanics are the same.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Every claim is labelled by how sure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Method used across both research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We read the official or primary source ourselves.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1270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1284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Comes from a secondary source, such as a news article or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1216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71216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Our own reasoning or calculation. Not from a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9584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12700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555E6B"/>
                </a:solidFill>
                <a:latin typeface="Calibri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529584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An illustration with made-up numbers, to explain an idea.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8795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FE8FA"/>
          </a:solidFill>
          <a:ln w="1270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D3BC4"/>
                </a:solidFill>
                <a:latin typeface="Calibri"/>
              </a:rPr>
              <a:t>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8795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we suggest building. Does not exist yet.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555E6B"/>
                </a:solidFill>
                <a:latin typeface="Calibri"/>
              </a:rPr>
              <a:t>Where something could not be verified, the deck says so</a:t>
            </a:r>
          </a:p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555E6B"/>
                </a:solidFill>
                <a:latin typeface="Calibri"/>
              </a:rPr>
              <a:t>instead of guessing.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1554480"/>
            <a:ext cx="502920" cy="50292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5361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Who is who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8013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Entities and terms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286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2677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5328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With and without V2G</a:t>
            </a:r>
          </a:p>
        </p:txBody>
      </p:sp>
      <p:sp>
        <p:nvSpPr>
          <p:cNvPr id="27" name="Oval 26"/>
          <p:cNvSpPr/>
          <p:nvPr/>
        </p:nvSpPr>
        <p:spPr>
          <a:xfrm>
            <a:off x="7863840" y="3017520"/>
            <a:ext cx="502920" cy="502920"/>
          </a:xfrm>
          <a:prstGeom prst="ellipse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0175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9992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V2G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644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Physical chain and actors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3749040"/>
            <a:ext cx="502920" cy="502920"/>
          </a:xfrm>
          <a:prstGeom prst="ellipse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749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7307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Risks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959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Non-delivery, hoarding, failure</a:t>
            </a:r>
          </a:p>
        </p:txBody>
      </p:sp>
      <p:sp>
        <p:nvSpPr>
          <p:cNvPr id="35" name="Oval 34"/>
          <p:cNvSpPr/>
          <p:nvPr/>
        </p:nvSpPr>
        <p:spPr>
          <a:xfrm>
            <a:off x="7863840" y="4480560"/>
            <a:ext cx="502920" cy="502920"/>
          </a:xfrm>
          <a:prstGeom prst="ellipse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4805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4622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Bosch and 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7274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What exists, what is missing</a:t>
            </a:r>
          </a:p>
        </p:txBody>
      </p:sp>
      <p:sp>
        <p:nvSpPr>
          <p:cNvPr id="39" name="Oval 38"/>
          <p:cNvSpPr/>
          <p:nvPr/>
        </p:nvSpPr>
        <p:spPr>
          <a:xfrm>
            <a:off x="7863840" y="5212080"/>
            <a:ext cx="502920" cy="502920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193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Proposal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4589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Where we go 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Power-sector basics in six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Standard definitions; Indian context from the Ministry of Power and REC material used earlier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64008" cy="18836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E7A6E"/>
                </a:solidFill>
                <a:latin typeface="Calibri"/>
              </a:rPr>
              <a:t>kW and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kW is how fast power flows. kWh is how much energy over time. A 5 kW charger running 2 hours delivers 10 kWh.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18488"/>
            <a:ext cx="64008" cy="18836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D4ED8"/>
                </a:solidFill>
                <a:latin typeface="Calibri"/>
              </a:rPr>
              <a:t>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1 MW is 1,000 kW. Grid markets work at this scale, not at the scale of one home.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18488"/>
            <a:ext cx="64008" cy="18836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E7A3C"/>
                </a:solidFill>
                <a:latin typeface="Calibri"/>
              </a:rPr>
              <a:t>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Distributed Energy Resource: any small source, store or flexible load near the customer. Solar roof, home battery, EV, air-conditioner.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04488"/>
            <a:ext cx="64008" cy="18836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B85C0A"/>
                </a:solidFill>
                <a:latin typeface="Calibri"/>
              </a:rPr>
              <a:t>DISCOM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Distribution company. Runs the local wires and sells power to homes and businesses.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904488"/>
            <a:ext cx="64008" cy="1883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6D3BC4"/>
                </a:solidFill>
                <a:latin typeface="Calibri"/>
              </a:rPr>
              <a:t>Transmission vs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Transmission is the high-voltage long-distance grid. Distribution is the local network that reaches customers.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904488"/>
            <a:ext cx="64008" cy="18836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A82A2A"/>
                </a:solidFill>
                <a:latin typeface="Calibri"/>
              </a:rPr>
              <a:t>Regulator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government body that sets the rules and tariffs everyone else must follow.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Regulators and grid operators that appear in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Regulation texts and operator pages cited on the Sources slides; descriptions are general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18488"/>
            <a:ext cx="64008" cy="18836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0E7A6E"/>
                </a:solidFill>
                <a:latin typeface="Calibri"/>
              </a:rPr>
              <a:t>CERC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Central Electricity Regulatory Commission, India. Regulates inter-state power and national markets. Its 2022 Ancillary Services rules allow aggregated reserve providers, with a 1 MW minimum.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18488"/>
            <a:ext cx="64008" cy="18836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1D4ED8"/>
                </a:solidFill>
                <a:latin typeface="Calibri"/>
              </a:rPr>
              <a:t>RERC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Rajasthan Electricity Regulatory Commission. State regulator whose 2026 Demand Flexibility Regulations recognise registered aggregators.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18488"/>
            <a:ext cx="64008" cy="18836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1E7A3C"/>
                </a:solidFill>
                <a:latin typeface="Calibri"/>
              </a:rPr>
              <a:t>CEA and 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Central Electricity Authority (technical planning and standards) and Bureau of Indian Standards (product standards, such as EV chargers).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04488"/>
            <a:ext cx="64008" cy="18836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B85C0A"/>
                </a:solidFill>
                <a:latin typeface="Calibri"/>
              </a:rPr>
              <a:t>FERC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Federal Energy Regulatory Commission, USA. Its Order 2222 opens wholesale markets to aggregations of small resources.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04488"/>
            <a:ext cx="64008" cy="1883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6D3BC4"/>
                </a:solidFill>
                <a:latin typeface="Calibri"/>
              </a:rPr>
              <a:t>PJM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 large US regional grid operator running big power and capacity markets. Its manual sets credit limits and a non-performance charge.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904488"/>
            <a:ext cx="64008" cy="18836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A82A2A"/>
                </a:solidFill>
                <a:latin typeface="Calibri"/>
              </a:rPr>
              <a:t>Amprion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One of Germany's four transmission grid operators. Its balancing-market rules set a 1 MW minimum bid.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Indian utilities and programme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ISGF V2G demonstration release (May 2026); DEG demand-flex devkit; general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18488"/>
            <a:ext cx="64008" cy="18836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E7A6E"/>
                </a:solidFill>
                <a:latin typeface="Calibri"/>
              </a:rPr>
              <a:t>TPDDL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Tata Power Delhi Distribution Ltd. A Delhi DISCOM. Plays the utility buyer in DEG's demand-flex example, and a partner in the 2026 V2G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18488"/>
            <a:ext cx="64008" cy="18836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D4ED8"/>
                </a:solidFill>
                <a:latin typeface="Calibri"/>
              </a:rPr>
              <a:t>BSES Rajdhani (BRPL)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 Delhi DISCOM serving the south and west of the city. Partner in the May 2026 V2G demonstration.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18488"/>
            <a:ext cx="64008" cy="18836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E7A3C"/>
                </a:solidFill>
                <a:latin typeface="Calibri"/>
              </a:rPr>
              <a:t>BSES Yamuna (BYPL)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 Delhi DISCOM serving the central and east of the city. Also a partner in the 2026 V2G demonstration.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04488"/>
            <a:ext cx="64008" cy="18836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B85C0A"/>
                </a:solidFill>
                <a:latin typeface="Calibri"/>
              </a:rPr>
              <a:t>ISGF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India Smart Grid Forum. A public-private, not-for-profit body promoting smart grids. It led India's first V2G demonstration.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04488"/>
            <a:ext cx="64008" cy="1883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6D3BC4"/>
                </a:solidFill>
                <a:latin typeface="Calibri"/>
              </a:rPr>
              <a:t>ANERT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Kerala government agency for new and renewable energy. A partner in the same demonstration.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904488"/>
            <a:ext cx="64008" cy="18836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A82A2A"/>
                </a:solidFill>
                <a:latin typeface="Calibri"/>
              </a:rPr>
              <a:t>Ministry of Power and REC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The Ministry issued the 2024 EV charging guidelines. REC Limited is the nodal agency for India Energy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Real aggregators and platforms, and how big they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Next Kraftwerke company page (Q4 2025); Kraken press release (23 Jan 2024); The Mobility House (Jul 2024); Nuvve quarterly releases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9167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200400"/>
                <a:gridCol w="3566160"/>
                <a:gridCol w="213055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Reported scale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Next Kraftwerke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German virtual power plant operator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15,541 MW networked; 14,375 units (Q4 2025)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Company page. Mostly not V2G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Kraken (Octopus Energy)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Software platform that runs flexible energy assets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Over 36 GW; 130,000 assets; 12 countries (Jan 2024)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Press release. Mostly not V2G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The Mobility House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EV and battery flexibility in Europe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4,500+ EV batteries; 100 MW+ (Jul 2024)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Company statement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Nuvve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US company focused on V2G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26.4 MW charging capacity managed (Q3 2025)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Capacity managed, not power exported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GreenFlex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Fictional aggregator in the DEG demand-flex example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 a real company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Used later in this deck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Takeaway: aggregation is a mature business at gigawatt scale. Vehicle-based V2G is the newest and smallest slice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standards: who talks to whom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Open Charge Alliance, CharIN and vendor summaries; MoP EV charging guidelines, 17 Sep 2024 (clause 12; definition of UEI)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9167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114800"/>
                <a:gridCol w="2743200"/>
                <a:gridCol w="213055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 plain words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Talks between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Beckn / UEI / DEG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The marketplace: find each other, agree terms, settle payment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Buyers and sellers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OpenADR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Automated demand-response signals, e.g. reduce load 4 to 6 pm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Utility or market and aggregator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Market to aggregator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IEEE 2030.5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Control messages to individual devices such as inverters and batteries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Aggregator or utility and devices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Aggregator to device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OCPP 2.1 (Jan 2025)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Open Charge Point Protocol. Now includes bidirectional and DER-control blocks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Charger and the operator's software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Charger to backend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ISO 15118-20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Car to charger link, including two-way power transfer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Vehicle and charger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Vehicle to charger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55E6B"/>
                </a:solidFill>
                <a:latin typeface="Calibri"/>
              </a:rPr>
              <a:t>India's 2024 EV guidelines (clause 12) recommend "UEI, OCPP, OCPI or open ADR" and define UEI as a network "based on open source Beckn Protocol".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A  WHO IS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Nine terms,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Definitions as used in the research; see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124358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E7A6E"/>
                </a:solidFill>
                <a:latin typeface="Calibri"/>
              </a:rPr>
              <a:t>Demand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Paying users to change when or how much power they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72768"/>
            <a:ext cx="64008" cy="1243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819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D4ED8"/>
                </a:solidFill>
                <a:latin typeface="Calibri"/>
              </a:rPr>
              <a:t>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659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Pooling many small resources into one bid.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72768"/>
            <a:ext cx="64008" cy="124358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819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E7A3C"/>
                </a:solidFill>
                <a:latin typeface="Calibri"/>
              </a:rP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659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The live software control that makes the pool behave as promised.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632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72968"/>
            <a:ext cx="64008" cy="124358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1821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B85C0A"/>
                </a:solidFill>
                <a:latin typeface="Calibri"/>
              </a:rPr>
              <a:t>Virtual power plant (VPP)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661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 pool of small resources run as if it were one power plant.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0632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172968"/>
            <a:ext cx="64008" cy="124358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1821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6D3BC4"/>
                </a:solidFill>
                <a:latin typeface="Calibri"/>
              </a:rPr>
              <a:t>V2G, V2H, V2X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5661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An EV battery sends power back to the grid (V2G), a home (V2H), or anything (V2X).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0632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172968"/>
            <a:ext cx="64008" cy="124358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1821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A82A2A"/>
                </a:solidFill>
                <a:latin typeface="Calibri"/>
              </a:rPr>
              <a:t>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5661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What a customer would have used anyway. Delivery is baseline minus actual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634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73168"/>
            <a:ext cx="64008" cy="124358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7823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E7A6E"/>
                </a:solidFill>
                <a:latin typeface="Calibri"/>
              </a:rPr>
              <a:t>Reserve or ancillary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1663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Fast-response capacity kept on standby so the grid stays balanced.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6634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773168"/>
            <a:ext cx="64008" cy="1243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7823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D4ED8"/>
                </a:solidFill>
                <a:latin typeface="Calibri"/>
              </a:rPr>
              <a:t>Telemetry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1663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Live meter and device data sent to the operator.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66344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4773168"/>
            <a:ext cx="64008" cy="124358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478231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E7A3C"/>
                </a:solidFill>
                <a:latin typeface="Calibri"/>
              </a:rPr>
              <a:t>Shortfall or imbalance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5166360"/>
            <a:ext cx="323697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The gap between promised and delivered energy. Usually charged.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Why one home's 1 kW does not count on its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Amprion (balancing services); CERC Ancillary Services Regulations 2022, Reg. 7(1); FERC Order 2222, 85 FR 67094 (17 Sep 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566160" cy="196596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72768"/>
            <a:ext cx="64008" cy="173736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7276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Germany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745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1 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Minimum bid in all balancing services (FCR, aFRR, mFRR). Amprion.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566160" cy="196596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72768"/>
            <a:ext cx="64008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7276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India, CERC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745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1 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Minimum response for a secondary-reserve provider, on "standalone or aggregated basis". Also live telemetry to the regional control centre and a 30-second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566160" cy="196596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72768"/>
            <a:ext cx="64008" cy="1737360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57276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B85C0A"/>
                </a:solidFill>
                <a:latin typeface="Calibri"/>
              </a:rPr>
              <a:t>USA, FERC Order 2222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8745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100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42032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grid operator may not set the minimum size of an aggregation above 100 kW.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1 MW is 200 cars at 5 kW each. Your one 1 kW home is the hairline on the left.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0228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40377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90526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40675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0823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40972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91121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41270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1418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1567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1716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41865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92013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42162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92311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42460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92608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42757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092906" y="4114800"/>
            <a:ext cx="524748" cy="64008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023360"/>
            <a:ext cx="31750" cy="82296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A82A2A"/>
                </a:solidFill>
                <a:latin typeface="Calibri"/>
              </a:rPr>
              <a:t>1 kW = 0.1% of the bar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8280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555E6B"/>
                </a:solidFill>
                <a:latin typeface="Calibri"/>
              </a:rPr>
              <a:t>each block = 10 cars;  20 blocks = 200 cars = 1 MW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E6B"/>
                </a:solidFill>
                <a:latin typeface="Calibri"/>
              </a:rPr>
              <a:t>Fixed costs such as metering, contracts and settlement do not shrink for a small unit, which is why markets set minimums. (Inference)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Many unreliable sources add up to one dependable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78947" y="384048"/>
            <a:ext cx="864108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9525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555E6B"/>
                </a:solidFill>
                <a:latin typeface="Calibri"/>
              </a:rP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9663" y="38404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Our own calculation (binomial model); not from a source. Real fleets are correlated, so a real aggregator would commit 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1430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72768"/>
            <a:ext cx="64008" cy="2066544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555E6B"/>
                </a:solidFill>
                <a:latin typeface="Calibri"/>
              </a:rPr>
              <a:t>The assumption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65960"/>
            <a:ext cx="30540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1,000 EVs, 5 kW each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Each is plugged in and eligible on 60% of evenings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Independent of each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41648"/>
            <a:ext cx="64008" cy="197510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5079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E7A6E"/>
                </a:solidFill>
                <a:latin typeface="Calibri"/>
              </a:rPr>
              <a:t>Why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34840"/>
            <a:ext cx="3054096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One car: 60% chance, unreliable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1,000 cars: about 600 available, and the number barely moves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So the pool can promise less than average and keep the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463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What the aggregator can promise (MW)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659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Expected 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2011680"/>
            <a:ext cx="3840480" cy="384048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79" y="1965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3.00 MW  (600 cars)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5603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Safe promise, 99% 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2606040"/>
            <a:ext cx="3610051" cy="384048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2250" y="256032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2.82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1546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Safe promise, 99.9% 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3200400"/>
            <a:ext cx="3533241" cy="384048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5440" y="315468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2.76 MW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977639"/>
            <a:ext cx="7406640" cy="1051560"/>
          </a:xfrm>
          <a:prstGeom prst="roundRect">
            <a:avLst>
              <a:gd name="adj" fmla="val 6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069080"/>
            <a:ext cx="6949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To be 99% sure of a 1 MW bid, the aggregator needs about 370 enrolled cars,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not the 200 that 1 MW suggests. The gap is the safety margin.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257800"/>
            <a:ext cx="7406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555E6B"/>
                </a:solidFill>
                <a:latin typeface="Calibri"/>
              </a:rPr>
              <a:t>Caveat: many drivers unplug at the same hour, so real availability moves together. A real aggregator commits less than this and watches it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How orchestration works, in seven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Synthesis from Open Charge Alliance, CharIN, OpenADR and vendor summaries; DEG demand-flex devkit for baseline and settlement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0E7A6E"/>
                </a:solidFill>
                <a:latin typeface="Calibri"/>
              </a:rPr>
              <a:t>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The owner opts in and sets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3412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10612" y="182880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0612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4852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D4ED8"/>
                </a:solidFill>
                <a:latin typeface="Calibri"/>
              </a:rPr>
              <a:t>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3140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Who is plugged in, and how 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8184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15384" y="1828800"/>
            <a:ext cx="548640" cy="548640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4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7A3C"/>
                </a:solidFill>
                <a:latin typeface="Calibri"/>
              </a:rPr>
              <a:t>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Commit below the expected total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2956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20156" y="1828800"/>
            <a:ext cx="548640" cy="548640"/>
          </a:xfrm>
          <a:prstGeom prst="ellipse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0156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4396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B85C0A"/>
                </a:solidFill>
                <a:latin typeface="Calibri"/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2684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What each would have used anyway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7728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24928" y="1828800"/>
            <a:ext cx="548640" cy="548640"/>
          </a:xfrm>
          <a:prstGeom prst="ellipse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4928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6D3BC4"/>
                </a:solidFill>
                <a:latin typeface="Calibri"/>
              </a:rPr>
              <a:t>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Live signals to chargers and devices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500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29700" y="1828800"/>
            <a:ext cx="548640" cy="548640"/>
          </a:xfrm>
          <a:prstGeom prst="ellipse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9700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3940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A82A2A"/>
                </a:solidFill>
                <a:latin typeface="Calibri"/>
              </a:rPr>
              <a:t>Measure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2228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Meter data, device by device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77272" y="16459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34472" y="1828800"/>
            <a:ext cx="548640" cy="54864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34472" y="1828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2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0E7A6E"/>
                </a:solidFill>
                <a:latin typeface="Calibri"/>
              </a:rPr>
              <a:t>Settle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3017520"/>
            <a:ext cx="1243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Pay for delivered, charge any shortfall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Aggregation is the pooling. Orchestration is steps 2 to 6 running live, every 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21208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Calibri"/>
              </a:rPr>
              <a:t>Demand response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is the wider idea. Aggregation and orchestration are how small resources take part in it.</a:t>
            </a:r>
          </a:p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00" b="1" i="0">
                <a:solidFill>
                  <a:srgbClr val="1A1A1A"/>
                </a:solidFill>
                <a:latin typeface="Calibri"/>
              </a:rPr>
              <a:t>A virtual power plant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is the pool once it is orchestrated well enough to be sold like one plant.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AGGREGATION, WITHOUT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DEG already prototypes aggregation: the demand-flex devkit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ies-devkit/devkits/demand-flex (README, uc1 bdr-w-baselining, uc2 bid-curve-pac). Guide status: Version 0.2, Draft / Non-Normative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651760" cy="14173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18488"/>
            <a:ext cx="64008" cy="11978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7A6E"/>
                </a:solidFill>
                <a:latin typeface="Calibri"/>
              </a:rPr>
              <a:t>TPDDL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11680"/>
            <a:ext cx="23225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Utility. The BPP.
Publishes the flex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08760"/>
            <a:ext cx="2743200" cy="14173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618488"/>
            <a:ext cx="64008" cy="1197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627632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D4ED8"/>
                </a:solidFill>
                <a:latin typeface="Calibri"/>
              </a:rPr>
              <a:t>GreenFlex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011680"/>
            <a:ext cx="241401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Aggregator. The BAP.
Discovers and commits.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91840" y="1783080"/>
            <a:ext cx="1645920" cy="274320"/>
          </a:xfrm>
          <a:prstGeom prst="rightArrow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50876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E7A6E"/>
                </a:solidFill>
                <a:latin typeface="Calibri"/>
              </a:rPr>
              <a:t>1  Publishes need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3291840" y="2377440"/>
            <a:ext cx="1645920" cy="274320"/>
          </a:xfrm>
          <a:prstGeom prst="lef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6791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D4ED8"/>
                </a:solidFill>
                <a:latin typeface="Calibri"/>
              </a:rPr>
              <a:t>2  Commits per slot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657600"/>
            <a:ext cx="2743200" cy="14173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3767328"/>
            <a:ext cx="64008" cy="11978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3776472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B85C0A"/>
                </a:solidFill>
                <a:latin typeface="Calibri"/>
              </a:rPr>
              <a:t>Enrolled 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60520"/>
            <a:ext cx="241401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With EV chargers behind
them. The real resources.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263640" y="3017520"/>
            <a:ext cx="256032" cy="548640"/>
          </a:xfrm>
          <a:prstGeom prst="down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1D4ED8"/>
                </a:solidFill>
                <a:latin typeface="Calibri"/>
              </a:rPr>
              <a:t>3  Enrols,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2651760" cy="14173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67328"/>
            <a:ext cx="64008" cy="11978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7647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E7A3C"/>
                </a:solidFill>
                <a:latin typeface="Calibri"/>
              </a:rPr>
              <a:t>Settlement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160520"/>
            <a:ext cx="23225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Pay for delivered.
Charge any shortfall.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3291840" y="4114800"/>
            <a:ext cx="1645920" cy="274320"/>
          </a:xfrm>
          <a:prstGeom prst="leftArrow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41655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4  Measured delivery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1508760"/>
            <a:ext cx="3502152" cy="35661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1430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618488"/>
            <a:ext cx="64008" cy="3346704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1627632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555E6B"/>
                </a:solidFill>
                <a:latin typeface="Calibri"/>
              </a:rPr>
              <a:t>In the 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2011680"/>
            <a:ext cx="3172968" cy="2990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150 kW at ₹3.5/kWh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200 kW at ₹4.0/kWh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Shortfall penalty ₹1.5/kWh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Settles at ₹436.25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Scales to 10,000+ meters (paged); example cohort of 12,000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Battery level is used only to reconcile, never for 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Roles are the same as our P2P demo: a BPP publishes, a BAP responds. The difference is that the aggregator's supply comes from many enrolled meters, not one seller.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AGGREGATION, WITHOUT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How it settles: promised versus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78947" y="384048"/>
            <a:ext cx="864108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9525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555E6B"/>
                </a:solidFill>
                <a:latin typeface="Calibri"/>
              </a:rP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6531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Formula: demand-flex-contractpolicy.rego (devkit). Rupee figures below are our arithmetic on the devkit's own price and penalty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669280" cy="2926080"/>
          </a:xfrm>
          <a:prstGeom prst="roundRect">
            <a:avLst>
              <a:gd name="adj" fmla="val 3000"/>
            </a:avLst>
          </a:prstGeom>
          <a:solidFill>
            <a:srgbClr val="F2F3F5"/>
          </a:solidFill>
          <a:ln w="11430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The rule the devkit applies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delivered = sum over meters of max(0, BASELINE - USAGE)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pay = min(delivered, offered) x hours x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45536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penalty = max(0, offered - delivered) x hours x SHORTFALL_PENALTY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4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net = pay - penalty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A1A1A"/>
                </a:solidFill>
                <a:latin typeface="Calibri"/>
              </a:rPr>
              <a:t>Read it as: you are paid for what you actually cut, up to what you promised. You are charged for the part you promised but did not deliver.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92240" y="1463040"/>
          <a:ext cx="5148072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258775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Worked example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Offered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200 kW for 30 minutes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Price / shortfall penalty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₹4.0 / ₹1.5 per kWh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Actually delivered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120 kW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Pay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120 x 0.5 x 4.0 = ₹240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Penalty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80 x 0.5 x 1.5 = ₹60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₹180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92240" y="54406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555E6B"/>
                </a:solidFill>
                <a:latin typeface="Calibri"/>
              </a:rPr>
              <a:t>Compare our P2P demo: it already pays only for the reported delivery, but has no shortfall penalty.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B  AGGREGATION, WITHOUT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Which IES use case covers plain aggregation? None yet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India-Energy-Stack/ies-accelerator (live repo, checked 23 Sep 2026); beckn/DEG devkits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Official IES 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83664"/>
            <a:ext cx="73152" cy="36576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Consumer Energy Passport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95728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50592"/>
            <a:ext cx="73152" cy="36576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8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Consumer Meter Digest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62656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73152" cy="365760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62656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DER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9584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84448"/>
            <a:ext cx="73152" cy="36576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9584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P2P Energy Trading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51376"/>
            <a:ext cx="73152" cy="36576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96512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Smart Meter Data Exchange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63440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18304"/>
            <a:ext cx="73152" cy="365760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DISCOM Regulatory Filing (draft)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30368"/>
            <a:ext cx="5120640" cy="475488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016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85232"/>
            <a:ext cx="73152" cy="365760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30368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Tariff Intelligence / Policy as Code (draft)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463040"/>
            <a:ext cx="5696712" cy="11887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1572768"/>
            <a:ext cx="64008" cy="9692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581912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A82A2A"/>
                </a:solidFill>
                <a:latin typeface="Calibri"/>
              </a:rPr>
              <a:t>Nothing is named demand flexibility, aggregation or V2G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1965960"/>
            <a:ext cx="5367528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closest, DER Visibility, is a DISCOM's view of resources behind its meters. Visibility only, not control.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788920"/>
            <a:ext cx="5696712" cy="137160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2898648"/>
            <a:ext cx="64008" cy="115214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2907792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E7A3C"/>
                </a:solidFill>
                <a:latin typeface="Calibri"/>
              </a:rPr>
              <a:t>But DEG already prototypes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3291840"/>
            <a:ext cx="536752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demand-flex devkit (draft v0.2): aggregator role, baselines, shortfall penalty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Also a draft "DR programme rules" sub-use-case in Policy as Code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297680"/>
            <a:ext cx="5696712" cy="137160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4407408"/>
            <a:ext cx="64008" cy="11521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4416552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D4ED8"/>
                </a:solidFill>
                <a:latin typeface="Calibri"/>
              </a:rPr>
              <a:t>So for our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4800600"/>
            <a:ext cx="536752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Plain aggregation: a devkit exists, not yet an official use case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V2G fleet: would extend that devkit, not start from zero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C 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V2G physically needs, from the car to the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5211" y="38404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62795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ISO 15118-20 and OCPP 2.1 (Open Charge Alliance, CharIN summaries); DEG p2p-enrollment (DER_CONTROL consent)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0E7A6E"/>
                </a:solidFill>
                <a:latin typeface="Calibri"/>
              </a:rPr>
              <a:t>EV 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06040"/>
            <a:ext cx="1572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and a battery management system that allows discharge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14016" y="2560320"/>
            <a:ext cx="411480" cy="274320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3749040"/>
            <a:ext cx="1124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ISO 15118-20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2072" y="17373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1920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D4ED8"/>
                </a:solidFill>
                <a:latin typeface="Calibri"/>
              </a:rPr>
              <a:t>Bidirectional charger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606040"/>
            <a:ext cx="1572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can push power out, not only 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27448" y="2560320"/>
            <a:ext cx="411480" cy="274320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3749040"/>
            <a:ext cx="1124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OCPP 2.1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7373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4" y="1920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7A3C"/>
                </a:solidFill>
                <a:latin typeface="Calibri"/>
              </a:rPr>
              <a:t>Charge point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606040"/>
            <a:ext cx="1572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runs the charger's software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0880" y="2560320"/>
            <a:ext cx="411480" cy="274320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3749040"/>
            <a:ext cx="1124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IEEE 2030.5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17373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6" y="1920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B85C0A"/>
                </a:solidFill>
                <a:latin typeface="Calibri"/>
              </a:rPr>
              <a:t>Aggregator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606040"/>
            <a:ext cx="1572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pools many chargers into one offer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54312" y="2560320"/>
            <a:ext cx="411480" cy="274320"/>
          </a:xfrm>
          <a:prstGeom prst="rightArrow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7696" y="3749040"/>
            <a:ext cx="1124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OpenADR / Beckn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2368" y="17373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1920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6D3BC4"/>
                </a:solidFill>
                <a:latin typeface="Calibri"/>
              </a:rPr>
              <a:t>DISCOM or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2606040"/>
            <a:ext cx="1572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buys the block and pays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Three things must also be true before any discharge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3566160" cy="150876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864608"/>
            <a:ext cx="64008" cy="128930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7375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0E7A6E"/>
                </a:solidFill>
                <a:latin typeface="Calibri"/>
              </a:rPr>
              <a:t>Driver consent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257800"/>
            <a:ext cx="323697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owner allows discharge and sets limits. DEG's schema has a DER_CONTROL consent for this.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754880"/>
            <a:ext cx="3566160" cy="150876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864608"/>
            <a:ext cx="64008" cy="1289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8848" y="487375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D4ED8"/>
                </a:solidFill>
                <a:latin typeface="Calibri"/>
              </a:rPr>
              <a:t>Battery limits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5257800"/>
            <a:ext cx="323697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Minimum charge to keep, and departure time, must cap what is offered.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754880"/>
            <a:ext cx="3566160" cy="150876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864608"/>
            <a:ext cx="64008" cy="128930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7888" y="487375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B85C0A"/>
                </a:solidFill>
                <a:latin typeface="Calibri"/>
              </a:rPr>
              <a:t>Grid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257800"/>
            <a:ext cx="323697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DISCOM must accept export at that connection.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C 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aggregator does not call drivers to a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78947" y="384048"/>
            <a:ext cx="864108" cy="27432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9525">
            <a:solidFill>
              <a:srgbClr val="555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555E6B"/>
                </a:solidFill>
                <a:latin typeface="Calibri"/>
              </a:rP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6531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EV fleet operator and VPP roles: ScienceDirect review of actors in EV integration. Numbers are an illustration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18488"/>
            <a:ext cx="64008" cy="197510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27632"/>
            <a:ext cx="5065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2A2A"/>
                </a:solidFill>
                <a:latin typeface="Calibri"/>
              </a:rPr>
              <a:t>Common assumption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11680"/>
            <a:ext cx="5065776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Drivers are asked to come to one place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They plug in there and power is collected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Feels like a physical gathering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50876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618488"/>
            <a:ext cx="64008" cy="197510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27632"/>
            <a:ext cx="5065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7A3C"/>
                </a:solidFill>
                <a:latin typeface="Calibri"/>
              </a:rPr>
              <a:t>What really happens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65776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Every car stays where it normally is: home, office, depot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Each has its own two-way charger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 aggregator's software coordinates them remotely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Illustration: one evening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D4ED8"/>
                </a:solidFill>
                <a:latin typeface="Calibri"/>
              </a:rPr>
              <a:t>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owners have signed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4136" y="44348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45262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D4ED8"/>
                </a:solidFill>
                <a:latin typeface="Calibri"/>
              </a:rP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51663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are plugged in and above 30% charge tonight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4348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45262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D4ED8"/>
                </a:solidFill>
                <a:latin typeface="Calibri"/>
              </a:rPr>
              <a:t>5 kW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51663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each, for 2 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44348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5128" y="45262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7A3C"/>
                </a:solidFill>
                <a:latin typeface="Calibri"/>
              </a:rPr>
              <a:t>1.25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51663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sold to the DISCOM as one 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1">
                <a:solidFill>
                  <a:srgbClr val="555E6B"/>
                </a:solidFill>
                <a:latin typeface="Calibri"/>
              </a:rPr>
              <a:t>The DISCOM talks to one aggregator. The particular 250 cars are different tomorrow, and only the aggregator has to care.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C 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actors in a V2G fleet, and where they sit in DEG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5211" y="38404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62795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Actors and roles in EV VPP integration (ScienceDirect); mapping to BAP / BPP is our inference from the P2P and demand-flex designs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11091672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114800"/>
                <a:gridCol w="4325112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Real-world actor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Role in our architecture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</a:rPr>
                        <a:t>EV owner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Opts in, gives standing consent, owns the battery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A resource behind the aggregator. Not its own seller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</a:rPr>
                        <a:t>Aggregator (fleet operator)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Pools many EVs into one reliable, tradeable block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BPP: the seller side, like our seller-app but far larger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</a:rPr>
                        <a:t>Charge point operator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Owns and runs the physical chargers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A technical layer beneath the aggregator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</a:rPr>
                        <a:t>DISCOM (bulk buyer)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Needs a large, firm quantity at set times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BAP: like our buyer-app, asking for MW not kWh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</a:rPr>
                        <a:t>Distribution grid operator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Checks the flow is safe for the local network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Calibri"/>
                        </a:rPr>
                        <a:t>A policy and validation layer, like our discom allowlist rule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49240"/>
            <a:ext cx="11094415" cy="960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458968"/>
            <a:ext cx="64008" cy="740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68112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6D3BC4"/>
                </a:solidFill>
                <a:latin typeface="Calibri"/>
              </a:rPr>
              <a:t>Genuinely new and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97296"/>
            <a:ext cx="1076523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Turning hundreds of small, unreliable, changing sources into one firm number before any offer is published. The demand-flex devkit covers reduced consumption; vehicles exporting power are not yet modelled.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C  V2G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V2G outside India: why it exists and where it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9663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BMW press (Feb 2026); The Mobility House (18 Nov 2025); Octopus (23 Jun 2025); Renault Group; PG&amp;E (2025). Japan, Australia and the 1997 paper: secondary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Four purposes seen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38988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E7A6E"/>
                </a:solidFill>
                <a:latin typeface="Calibri"/>
              </a:rPr>
              <a:t>Home backup (V2H)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138988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D4ED8"/>
                </a:solidFill>
                <a:latin typeface="Calibri"/>
              </a:rPr>
              <a:t>Cheaper household energy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8896" y="138988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85C0A"/>
                </a:solidFill>
                <a:latin typeface="Calibri"/>
              </a:rPr>
              <a:t>Grid stabilisation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6024" y="138988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6D3BC4"/>
                </a:solidFill>
                <a:latin typeface="Calibri"/>
              </a:rPr>
              <a:t>Idle fleets as batteries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1965960"/>
          <a:ext cx="11091672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114800"/>
                <a:gridCol w="2606040"/>
                <a:gridCol w="2103120"/>
                <a:gridCol w="8503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What is running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82296" marT="41148" marB="41148" anchor="ctr"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USA, 1997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Idea from Kempton and Letendre, University of Delaware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Value is "in responding when needed", not bulk power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Research paper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REPORTED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BMW with E.ON: first commercial home V2G offer (Feb 2026). Double grid fees abolished (Nov 2025)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Home and grid flexibility; makes V2G pay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First commercial offer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Octopus bundle: BYD Dolphin, bidirectional charger, smart tariff (Jun 2025)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Cheaper household energy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Consumer offer, run on Kraken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Netherlands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"Utrecht Energized": V2G car sharing with Renault 5s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Grid stabilisation in a solar-rich city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50 cars in service; 500 planned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Home V2H sold since 2012, after the 2011 Fukushima disaster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Backup power at home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About 28,000 units by end 2024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REPORTED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USA, California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Fremont schools: 14 electric buses, 6 bidirectional chargers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Idle buses as grid batteries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Fleet; export allowed (Rule 21)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2296" marR="82296" marT="41148" marB="41148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Amber and ARENA V2G trial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Household V2G trials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Target 50 chargers; A$3.2m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Calibri"/>
                        </a:rPr>
                        <a:t>REPORTED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555E6B"/>
                </a:solidFill>
                <a:latin typeface="Calibri"/>
              </a:rPr>
              <a:t>Pattern: Europe leads on commercial home offers, Japan on home backup, and the US on fleets. India's first demonstration came in May 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D 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three risks raised, and how markets handle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B85C0A"/>
                </a:solidFill>
                <a:latin typeface="Calibri"/>
              </a:rPr>
              <a:t>REPORTED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9663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PJM Manual 18, Rev. 62 (sections 4.8, 8.4A); imbalance settlement (Enlitia, secondary); DEG demand-flex policy; our P2P 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4754880"/>
          </a:xfrm>
          <a:prstGeom prst="roundRect">
            <a:avLst>
              <a:gd name="adj" fmla="val 3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72768"/>
            <a:ext cx="64008" cy="453542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00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A82A2A"/>
                </a:solidFill>
                <a:latin typeface="Calibri"/>
              </a:rPr>
              <a:t>Accepted, but never supplied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Real markets: settle on metered delivery. Any gap is charged as an imbalance or penalty.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794760"/>
            <a:ext cx="3108960" cy="1270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Our P2P demo: pays only for reported delivery. Demand-flex adds a shortfall penalty.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A82A2A"/>
                </a:solidFill>
                <a:latin typeface="Calibri"/>
              </a:rPr>
              <a:t>Missing: a penalty in P2P, and a credit check on the seller.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3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572768"/>
            <a:ext cx="64008" cy="453542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600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B85C0A"/>
                </a:solidFill>
                <a:latin typeface="Calibri"/>
              </a:rPr>
              <a:t>Hoarding offers to disturb the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774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Real markets (PJM): offering new capacity needs a credit limit first, and a shortfall in an emergency is charged.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794760"/>
            <a:ext cx="3108960" cy="12700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319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Our demo: a bid does not lock capacity. The seller reserves only when it accepts or counters.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507492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5120640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B85C0A"/>
                </a:solidFill>
                <a:latin typeface="Calibri"/>
              </a:rPr>
              <a:t>Missing: a credit limit and buyer vetting.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3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572768"/>
            <a:ext cx="64008" cy="45354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600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D4ED8"/>
                </a:solidFill>
                <a:latin typeface="Calibri"/>
              </a:rPr>
              <a:t>The solar or vehicles 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37744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Real markets: a money question, not a blame question. The seller is unpaid for the shortfall and may pay imbalance charges.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794760"/>
            <a:ext cx="3108960" cy="127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9319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Our system: settlement on the actual meter reading already fits this design.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7492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120640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Missing: force-majeure terms and insurance.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E  BOSCH AND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Bosch's public V2G level: the enabling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5211" y="38404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62795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Bosch Mobility (Vehicle Charge Communication Unit page); Bosch Research; Bosch Global Software Technologies India electrification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18488"/>
            <a:ext cx="64008" cy="37124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E7A3C"/>
                </a:solidFill>
                <a:latin typeface="Calibri"/>
              </a:rPr>
              <a:t>Public and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11680"/>
            <a:ext cx="3236976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Vehicle Charge Communication Unit supports CCS, GB/T, CHAdeMO and ChaoJi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Software functions listed: Plug &amp; Charge (ISO 15118) and bidirectional power transfer per ISO 15118-20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"Vehicle to grid" listed as an optional feature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Research work on optimising bidirectional charging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0876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18488"/>
            <a:ext cx="64008" cy="37124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A82A2A"/>
                </a:solidFill>
                <a:latin typeface="Calibri"/>
              </a:rPr>
              <a:t>No public evidence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011680"/>
            <a:ext cx="3236976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named Bosch V2G pilot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An OEM partner for V2G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Bosch aggregator or market service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Bosch India V2G activity. India's electrification page lists power electronics, e-machines, batteries and eAxles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08760"/>
            <a:ext cx="3593592" cy="39319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18488"/>
            <a:ext cx="64008" cy="37124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627632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D4ED8"/>
                </a:solidFill>
                <a:latin typeface="Calibri"/>
              </a:rPr>
              <a:t>Our reading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11680"/>
            <a:ext cx="3264408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Publicly, Bosch supplies the vehicle side: communication hardware and software, plus research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It is not shown running a market or an aggregation service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That is exactly the layer our proposal assumes already exists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4415" cy="640080"/>
          </a:xfrm>
          <a:prstGeom prst="roundRect">
            <a:avLst>
              <a:gd name="adj" fmla="val 15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372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B85C0A"/>
                </a:solidFill>
                <a:latin typeface="Calibri"/>
              </a:rPr>
              <a:t>Public sources stop here. Our own department may know much more, so check with the team before quoting Bosch's level to anyone.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E  BOSCH AND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India today: rules, one demonstration, and the 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CERC Regulations 2022; MoP guidelines 17 Sep 2024; PIB (30 Mar 2026); RERC Regulations 2026 (gazette 15 Jun 2026); ISGF release (May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1094415" cy="38100"/>
          </a:xfrm>
          <a:prstGeom prst="rect">
            <a:avLst/>
          </a:prstGeom>
          <a:solidFill>
            <a:srgbClr val="55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2578608"/>
            <a:ext cx="256032" cy="256032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0E7A6E"/>
                </a:solidFill>
                <a:latin typeface="Calibri"/>
              </a:rPr>
              <a:t>Jan 2022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2103120" cy="30175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218688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E7A6E"/>
                </a:solidFill>
                <a:latin typeface="Calibri"/>
              </a:rPr>
              <a:t>CERC Ancillary Services Regulations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1828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Aggregated demand response may provide reserve. Needs 1 MW, telemetry, 30-second response.</a:t>
            </a:r>
          </a:p>
        </p:txBody>
      </p:sp>
      <p:sp>
        <p:nvSpPr>
          <p:cNvPr id="16" name="Oval 15"/>
          <p:cNvSpPr/>
          <p:nvPr/>
        </p:nvSpPr>
        <p:spPr>
          <a:xfrm>
            <a:off x="3717036" y="2578608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3492" y="20116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D4ED8"/>
                </a:solidFill>
                <a:latin typeface="Calibri"/>
              </a:rPr>
              <a:t>17 Sep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3492" y="3108960"/>
            <a:ext cx="2103120" cy="30175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30652" y="3218688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0652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Ministry of Power EV charging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0652" y="4343400"/>
            <a:ext cx="1828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Defines V2G and UEI. V2G "as per the requirements of the Distribution Licensee"; tariff set by the state regulator.</a:t>
            </a:r>
          </a:p>
        </p:txBody>
      </p:sp>
      <p:sp>
        <p:nvSpPr>
          <p:cNvPr id="22" name="Oval 21"/>
          <p:cNvSpPr/>
          <p:nvPr/>
        </p:nvSpPr>
        <p:spPr>
          <a:xfrm>
            <a:off x="5961888" y="2578608"/>
            <a:ext cx="256032" cy="256032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8344" y="20116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7A3C"/>
                </a:solidFill>
                <a:latin typeface="Calibri"/>
              </a:rPr>
              <a:t>30 Mar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3108960"/>
            <a:ext cx="2103120" cy="30175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75504" y="3218688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E7A3C"/>
                </a:solidFill>
                <a:latin typeface="Calibri"/>
              </a:rPr>
              <a:t>Smart meters (PIB)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4343400"/>
            <a:ext cx="1828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6.13 crore installed overall, 4.69 crore under RDSS, against 20.33 crore sanctioned under RDSS. 7.24 crore reported by 30 Jun 2026.</a:t>
            </a:r>
          </a:p>
        </p:txBody>
      </p:sp>
      <p:sp>
        <p:nvSpPr>
          <p:cNvPr id="28" name="Oval 27"/>
          <p:cNvSpPr/>
          <p:nvPr/>
        </p:nvSpPr>
        <p:spPr>
          <a:xfrm>
            <a:off x="8206740" y="2578608"/>
            <a:ext cx="256032" cy="256032"/>
          </a:xfrm>
          <a:prstGeom prst="ellipse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3196" y="20116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B85C0A"/>
                </a:solidFill>
                <a:latin typeface="Calibri"/>
              </a:rPr>
              <a:t>17 Apr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3196" y="3108960"/>
            <a:ext cx="2103120" cy="30175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20356" y="3218688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0356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B85C0A"/>
                </a:solidFill>
                <a:latin typeface="Calibri"/>
              </a:rPr>
              <a:t>Rajasthan Demand Flexibility Regulations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0356" y="4343400"/>
            <a:ext cx="1828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Discoms must hold flexible demand: 0.25% of peak (FY27), 1%, 1.5%, then 2% (FY30). Aggregators must register with the discom.</a:t>
            </a:r>
          </a:p>
        </p:txBody>
      </p:sp>
      <p:sp>
        <p:nvSpPr>
          <p:cNvPr id="34" name="Oval 33"/>
          <p:cNvSpPr/>
          <p:nvPr/>
        </p:nvSpPr>
        <p:spPr>
          <a:xfrm>
            <a:off x="10451592" y="2578608"/>
            <a:ext cx="256032" cy="256032"/>
          </a:xfrm>
          <a:prstGeom prst="ellipse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8048" y="20116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6D3BC4"/>
                </a:solidFill>
                <a:latin typeface="Calibri"/>
              </a:rPr>
              <a:t>May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3108960"/>
            <a:ext cx="2103120" cy="30175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65208" y="3218688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6D3BC4"/>
                </a:solidFill>
                <a:latin typeface="Calibri"/>
              </a:rPr>
              <a:t>First V2G demonstration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4343400"/>
            <a:ext cx="1828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ISGF with BSES Rajdhani, BSES Yamuna, TPDDL, ANERT. Four retrofitted Tata Nexon EVs.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555E6B"/>
                </a:solidFill>
                <a:latin typeface="Calibri"/>
              </a:rPr>
              <a:t>Read left to right: the rules are arriving first, the vehicles and meters are still catching 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E  BOSCH AND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is still missing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5211" y="38404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62795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Sources on the previous slide; BIS standards compendium (ETD 51, June 2025); CEA standards pages. The tag on each card shows how sure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18488"/>
            <a:ext cx="64008" cy="188366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A82A2A"/>
                </a:solidFill>
                <a:latin typeface="Calibri"/>
              </a:rPr>
              <a:t>No V2G export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Clause 18 of the guidelines leaves the V2G tariff to the appropriate state regulator. We found no figure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3246120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18488"/>
            <a:ext cx="64008" cy="188366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B85C0A"/>
                </a:solidFill>
                <a:latin typeface="Calibri"/>
              </a:rPr>
              <a:t>Hard market access for small 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Aggregation is allowed, but reserve needs 1 MW, telemetry to the regional control centre and 30-second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544" y="3246120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618488"/>
            <a:ext cx="64008" cy="18836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627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D4ED8"/>
                </a:solidFill>
                <a:latin typeface="Calibri"/>
              </a:rPr>
              <a:t>Aggregator rules differ by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011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Rajasthan requires registration with the discom. We found no national aggregator framework.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0716" y="3246120"/>
            <a:ext cx="1037844" cy="246888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04488"/>
            <a:ext cx="64008" cy="188366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E7A3C"/>
                </a:solidFill>
                <a:latin typeface="Calibri"/>
              </a:rPr>
              <a:t>Metering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Baselines need interval data. By 30 Mar 2026 only 4.69 crore of 20.33 crore sanctioned RDSS meters were installed.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9504" y="5532120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904488"/>
            <a:ext cx="64008" cy="188366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6D3BC4"/>
                </a:solidFill>
                <a:latin typeface="Calibri"/>
              </a:rPr>
              <a:t>Vehicles and chargers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The demonstration needed retrofitted cars, which suggests bidirectional EVs are not yet on sale.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1676" y="5532120"/>
            <a:ext cx="1037844" cy="246888"/>
          </a:xfrm>
          <a:prstGeom prst="roundRect">
            <a:avLst>
              <a:gd name="adj" fmla="val 50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D4ED8"/>
                </a:solidFill>
                <a:latin typeface="Calibri"/>
              </a:rPr>
              <a:t>INFERENCE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904488"/>
            <a:ext cx="64008" cy="1883664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3913632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E7A6E"/>
                </a:solidFill>
                <a:latin typeface="Calibri"/>
              </a:rPr>
              <a:t>Standards: partly in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297680"/>
            <a:ext cx="3236976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BIS lists IS 17017 Part 23 (DC chargers), said to include bidirectional flow. ISO 15118-20 is not adopted, and no CEA rule covers V2G export.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87584" y="5532120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1E7A3C"/>
                </a:solidFill>
                <a:latin typeface="Calibri"/>
              </a:rPr>
              <a:t>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F 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V2G fleet as an extension of demand-flex, not a new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FE8FA"/>
          </a:solidFill>
          <a:ln w="9525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D3BC4"/>
                </a:solidFill>
                <a:latin typeface="Calibri"/>
              </a:rPr>
              <a:t>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Comparison of demand-flex, p2p-enrollment and ev-charging devkits and ElectricityCredential v1.2 (local files); our design suggestion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4206240" cy="356616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18488"/>
            <a:ext cx="64008" cy="334670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3877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1E7A3C"/>
                </a:solidFill>
                <a:latin typeface="Calibri"/>
              </a:rPr>
              <a:t>Already in demand-flex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11680"/>
            <a:ext cx="3877056" cy="2990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Utility buyer (BPP) and aggregator (BAP)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Meters with EV chargers enrolled behind them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Baseline-based settlement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A shortfall penalty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Paging for 10,000+ meters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2926080"/>
            <a:ext cx="548640" cy="548640"/>
          </a:xfrm>
          <a:prstGeom prst="ellipse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926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508760"/>
            <a:ext cx="5971032" cy="3566160"/>
          </a:xfrm>
          <a:prstGeom prst="roundRect">
            <a:avLst>
              <a:gd name="adj" fmla="val 4000"/>
            </a:avLst>
          </a:prstGeom>
          <a:solidFill>
            <a:srgbClr val="EFE8FA"/>
          </a:solidFill>
          <a:ln w="11430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1618488"/>
            <a:ext cx="64008" cy="3346704"/>
          </a:xfrm>
          <a:prstGeom prst="rect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1627632"/>
            <a:ext cx="5641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6D3BC4"/>
                </a:solidFill>
                <a:latin typeface="Calibri"/>
              </a:rPr>
              <a:t>What V2G would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011680"/>
            <a:ext cx="5641848" cy="2990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Export in settlement.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Today only reduced use is counted.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Battery-limited offers.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Charge level and departure time cap the offer before commitment.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Per-driver discharge consent.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DER_CONTROL exists but is not wired into the flow.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Moving assets.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A car may charge at different meters.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Calibri"/>
              </a:rPr>
              <a:t>Battery wear.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No compensation is modelled.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11094415" cy="960120"/>
          </a:xfrm>
          <a:prstGeom prst="roundRect">
            <a:avLst>
              <a:gd name="adj" fmla="val 10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Anchors in reality: India's first V2G demonstration (May 2026), Rajasthan's registered-aggregator rules (2026),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4ED8"/>
                </a:solidFill>
                <a:latin typeface="Calibri"/>
              </a:rPr>
              <a:t>and the 2024 guidelines that already define V2G and UEI.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F 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How a V2G fleet trade could run on Beckn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FE8FA"/>
          </a:solidFill>
          <a:ln w="9525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D3BC4"/>
                </a:solidFill>
                <a:latin typeface="Calibri"/>
              </a:rPr>
              <a:t>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Our design suggestion, reusing the message shapes of the P2P and demand-flex devkits. Nothing here is built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356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555E6B"/>
                </a:solidFill>
                <a:latin typeface="Calibri"/>
              </a:rPr>
              <a:t>Message or protocol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1737360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E4F3F0"/>
          </a:solidFill>
          <a:ln w="9525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737360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E7A6E"/>
                </a:solidFill>
                <a:latin typeface="Calibri"/>
              </a:rPr>
              <a:t>DISCOM publishes a flexibility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Time window, MW wanted, price, shortfall penalty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737360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737360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catalog / publish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2359152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E6EEFD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359152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D4ED8"/>
                </a:solidFill>
                <a:latin typeface="Calibri"/>
              </a:rPr>
              <a:t>Aggregator discovers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359152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Filters for needs its fleet can meet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359152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359152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discover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2980944"/>
            <a:ext cx="502920" cy="502920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809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2980944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E5F3E8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980944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E7A3C"/>
                </a:solidFill>
                <a:latin typeface="Calibri"/>
              </a:rPr>
              <a:t>Aggregator checks its fleet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980944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Who is plugged in, charge level, consent granted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2980944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2980944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internal (OCPP data)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3602736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FCEEDD"/>
          </a:solidFill>
          <a:ln w="9525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3602736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B85C0A"/>
                </a:solidFill>
                <a:latin typeface="Calibri"/>
              </a:rPr>
              <a:t>Offer below the expected 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602736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MW per slot, sized for high confidence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602736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3602736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init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4224528"/>
            <a:ext cx="502920" cy="502920"/>
          </a:xfrm>
          <a:prstGeom prst="ellipse">
            <a:avLst/>
          </a:prstGeom>
          <a:solidFill>
            <a:srgbClr val="6D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2245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224528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EFE8FA"/>
          </a:solidFill>
          <a:ln w="9525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4224528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6D3BC4"/>
                </a:solidFill>
                <a:latin typeface="Calibri"/>
              </a:rPr>
              <a:t>DISCOM confirms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224528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Terms locked, meters and cohort named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4224528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4224528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confirm</a:t>
            </a:r>
          </a:p>
        </p:txBody>
      </p:sp>
      <p:sp>
        <p:nvSpPr>
          <p:cNvPr id="46" name="Oval 45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" y="4846320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FAE6E6"/>
          </a:solidFill>
          <a:ln w="9525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846320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A82A2A"/>
                </a:solidFill>
                <a:latin typeface="Calibri"/>
              </a:rPr>
              <a:t>Dispatch and measure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4846320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Signals to chargers, per-vehicle readings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4846320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4846320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OCPP 2.1 / IEEE 2030.5</a:t>
            </a:r>
          </a:p>
        </p:txBody>
      </p:sp>
      <p:sp>
        <p:nvSpPr>
          <p:cNvPr id="53" name="Oval 52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468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34440" y="5468112"/>
            <a:ext cx="7040880" cy="530352"/>
          </a:xfrm>
          <a:prstGeom prst="roundRect">
            <a:avLst>
              <a:gd name="adj" fmla="val 15000"/>
            </a:avLst>
          </a:prstGeom>
          <a:solidFill>
            <a:srgbClr val="E4F3F0"/>
          </a:solidFill>
          <a:ln w="9525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5468112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E7A6E"/>
                </a:solidFill>
                <a:latin typeface="Calibri"/>
              </a:rPr>
              <a:t>Report and settle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5468112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Delivered, shortfall, penalty, payment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0" y="5468112"/>
            <a:ext cx="3136392" cy="530352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5468112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status / on_status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F 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Next steps and the questions to settle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2079" y="38404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FE8FA"/>
          </a:solidFill>
          <a:ln w="9525">
            <a:solidFill>
              <a:srgbClr val="6D3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D3BC4"/>
                </a:solidFill>
                <a:latin typeface="Calibri"/>
              </a:rPr>
              <a:t>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Our suggested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E4F3F0"/>
          </a:solidFill>
          <a:ln w="11430">
            <a:solidFill>
              <a:srgbClr val="0E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0E7A6E"/>
                </a:solidFill>
                <a:latin typeface="Calibri"/>
              </a:rPr>
              <a:t>Ask the Bosch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What vehicle-side V2G capability is real today, and what can be shared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0876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7872" y="164592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D4ED8"/>
                </a:solidFill>
                <a:latin typeface="Calibri"/>
              </a:rPr>
              <a:t>Draft the extension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606040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short V2G-fleet proposal on top of demand-flex, in the same format as the UC3 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50876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645920"/>
            <a:ext cx="457200" cy="457200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E7A3C"/>
                </a:solidFill>
                <a:latin typeface="Calibri"/>
              </a:rPr>
              <a:t>Prototype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606040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simulated EV-fleet aggregator on our P2P base: battery limits, consent, shortfall penalty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50876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0576" y="1645920"/>
            <a:ext cx="457200" cy="457200"/>
          </a:xfrm>
          <a:prstGeom prst="ellipse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B85C0A"/>
                </a:solidFill>
                <a:latin typeface="Calibri"/>
              </a:rPr>
              <a:t>Pick a pilot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606040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Delhi DISCOMs (where the demonstration ran) or Rajasthan (which has aggregator rules)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Open design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50" b="1" i="0">
                <a:solidFill>
                  <a:srgbClr val="1A1A1A"/>
                </a:solidFill>
                <a:latin typeface="Calibri"/>
              </a:rPr>
              <a:t>Export sign: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how does settlement count power sent to the grid, beyond zero net use?</a:t>
            </a:r>
          </a:p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50" b="1" i="0">
                <a:solidFill>
                  <a:srgbClr val="1A1A1A"/>
                </a:solidFill>
                <a:latin typeface="Calibri"/>
              </a:rPr>
              <a:t>Consent: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per drive, per day or standing? Who can revoke it, and how fast?</a:t>
            </a:r>
          </a:p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50" b="1" i="0">
                <a:solidFill>
                  <a:srgbClr val="1A1A1A"/>
                </a:solidFill>
                <a:latin typeface="Calibri"/>
              </a:rPr>
              <a:t>Battery wear: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is it priced, and who decides the price?</a:t>
            </a:r>
          </a:p>
          <a:p>
            <a:pPr marL="182880" indent="-182880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1450" b="1" i="0">
                <a:solidFill>
                  <a:srgbClr val="1A1A1A"/>
                </a:solidFill>
                <a:latin typeface="Calibri"/>
              </a:rPr>
              <a:t>Availability: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how does the aggregator prove its forecast to the DISCOM before committing?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How sure are we? A map of the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5E6B"/>
                </a:solidFill>
                <a:latin typeface="Calibri"/>
              </a:rPr>
              <a:t>Source: Statuses reflect the second verification pass, where the primary text was read wherever it could be 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97480" cy="4800600"/>
          </a:xfrm>
          <a:prstGeom prst="roundRect">
            <a:avLst>
              <a:gd name="adj" fmla="val 4000"/>
            </a:avLst>
          </a:prstGeom>
          <a:solidFill>
            <a:srgbClr val="E5F3E8"/>
          </a:solidFill>
          <a:ln w="1143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4581144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E7A3C"/>
                </a:solidFill>
                <a:latin typeface="Calibri"/>
              </a:rPr>
              <a:t>Read in the primary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2368296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FERC Order 2222: 100 kW minimum cap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PJM: 100 kW to 5 MW per component; credit limit; non-performance charge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CERC 2022: 1 MW, 30 s, aggregated allowed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MoP guidelines 17 Sep 2024: V2G, UEI, clause 18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RERC 2026: targets, registration, incentives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Smart meters to 30 Mar 2026 (PIB)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DEG demand-flex formula; Bosch product page; Next Kraftwerke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463040"/>
            <a:ext cx="2697480" cy="4800600"/>
          </a:xfrm>
          <a:prstGeom prst="roundRect">
            <a:avLst>
              <a:gd name="adj" fmla="val 4000"/>
            </a:avLst>
          </a:prstGeom>
          <a:solidFill>
            <a:srgbClr val="FCEEDD"/>
          </a:solidFill>
          <a:ln w="11430">
            <a:solidFill>
              <a:srgbClr val="B85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572768"/>
            <a:ext cx="64008" cy="4581144"/>
          </a:xfrm>
          <a:prstGeom prst="rect">
            <a:avLst/>
          </a:prstGeom>
          <a:solidFill>
            <a:srgbClr val="B85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581912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B85C0A"/>
                </a:solidFill>
                <a:latin typeface="Calibri"/>
              </a:rPr>
              <a:t>Secondary source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965960"/>
            <a:ext cx="2368296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7.24 crore meters by 30 Jun 2026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RDSS 25 crore target and 31 Mar 2028 end date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Nuvve FY2025 figure (28.3 MW)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Japan V2H unit count; Australia trial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1997 V2G paper (search summary)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German tax and meter rules after grid 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463040"/>
            <a:ext cx="2697480" cy="4800600"/>
          </a:xfrm>
          <a:prstGeom prst="roundRect">
            <a:avLst>
              <a:gd name="adj" fmla="val 4000"/>
            </a:avLst>
          </a:prstGeom>
          <a:solidFill>
            <a:srgbClr val="E6EEFD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572768"/>
            <a:ext cx="64008" cy="45811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81912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D4ED8"/>
                </a:solidFill>
                <a:latin typeface="Calibri"/>
              </a:rPr>
              <a:t>Our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965960"/>
            <a:ext cx="2368296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Pool statistics (370 cars for 1 MW at 99%)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Roles mapped to BAP and BPP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"Bosch is at the enabling level"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Aggregator rules differ by state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Bidirectional EVs not yet sold in India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The whole V2G-fleet proposal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1463040"/>
            <a:ext cx="2697480" cy="4800600"/>
          </a:xfrm>
          <a:prstGeom prst="roundRect">
            <a:avLst>
              <a:gd name="adj" fmla="val 4000"/>
            </a:avLst>
          </a:prstGeom>
          <a:solidFill>
            <a:srgbClr val="FAE6E6"/>
          </a:solidFill>
          <a:ln w="11430">
            <a:solidFill>
              <a:srgbClr val="A8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1572768"/>
            <a:ext cx="64008" cy="4581144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581912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A82A2A"/>
                </a:solidFill>
                <a:latin typeface="Calibri"/>
              </a:rPr>
              <a:t>Still 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65960"/>
            <a:ext cx="2368296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A named Bosch V2G pilot or partner: none found publicly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Text of BIS Part 23 (paywalled)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Any CEA rule on V2G export: none found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Primary text for 7.24 crore, 25 crore and 2028</a:t>
            </a:r>
          </a:p>
          <a:p>
            <a:pPr marL="182880" indent="-182880">
              <a:lnSpc>
                <a:spcPct val="105000"/>
              </a:lnSpc>
              <a:spcAft>
                <a:spcPts val="300"/>
              </a:spcAft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Whether demand-flex allows negative usage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Sources (1 of 2): regulations, standards and programmes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Regulations and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2"/>
              </a:rPr>
              <a:t>FERC Order 2222, 85 FR 67094 (Federal Register)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3"/>
              </a:rPr>
              <a:t>PJM Manual 18, Rev. 62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4"/>
              </a:rPr>
              <a:t>PJM overview of FERC Order 2222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5"/>
              </a:rPr>
              <a:t>CERC Ancillary Services Regulations 2022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6"/>
              </a:rPr>
              <a:t>CERC Statement of Reasons (SOR-167)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7"/>
              </a:rPr>
              <a:t>MoP EV charging guidelines, 17 Sep 2024 (BEE mirror)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8"/>
              </a:rPr>
              <a:t>RERC Demand Flexibility Regulations 2026 (regulations page)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9"/>
              </a:rPr>
              <a:t>BIS standards compendium, ETD 51 (June 2025)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0"/>
              </a:rPr>
              <a:t>Amprion: balancing services (1 MW minimum)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PIB releases on smart meters: 2 Feb 2026 (PRID 2222217) and 30 Mar 2026 (PRID 2246897)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Programmes and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330952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1"/>
              </a:rPr>
              <a:t>ISGF: South Asia's first V2G demonstration (PR Newswire)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2"/>
              </a:rPr>
              <a:t>Next Kraftwerke company page (Q4 2025 figures)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3"/>
              </a:rPr>
              <a:t>Octopus / Kraken press release (Jan 2024)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4"/>
              </a:rPr>
              <a:t>The Mobility House (Jul 2024)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5"/>
              </a:rPr>
              <a:t>The Mobility House: V2G progress by country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Nuvve quarterly results, Q1 to Q3 2025 (SEC / BusinessWire)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BMW and E.ON V2G launch (Feb 2026); Octopus V2G bundle (Jun 2025); Renault "Utrecht Energized"; PG&amp;E Fremont school buses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E7A6E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Sources (2 of 2): concepts, Bosch and DEG / 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5E6B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Concepts and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2"/>
              </a:rPr>
              <a:t>Actors and roles in EV integration: VPP and fleet operator (ScienceDirect)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3"/>
              </a:rPr>
              <a:t>Imbalance costs explained (Enlitia)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4"/>
              </a:rPr>
              <a:t>Origin of V2G, University of Delaware (2021 article)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5"/>
              </a:rPr>
              <a:t>OCPP 2.1 announcement (Open Charge Alliance)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Kempton and Letendre (1997), Transportation Research Part D 2(3)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E7A6E"/>
                </a:solidFill>
                <a:latin typeface="Calibri"/>
              </a:rPr>
              <a:t>Bosch, DEG and 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330952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6"/>
              </a:rPr>
              <a:t>Bosch Mobility: Vehicle Charge Communication Unit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7"/>
              </a:rPr>
              <a:t>Bosch Research: electrified mobility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8"/>
              </a:rPr>
              <a:t>Bosch Global Software Technologies: electrification in India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9"/>
              </a:rPr>
              <a:t>India Energy Stack: ies-accelerator repository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 u="sng">
                <a:solidFill>
                  <a:srgbClr val="1D4ED8"/>
                </a:solidFill>
                <a:latin typeface="Calibri"/>
                <a:hlinkClick r:id="rId10"/>
              </a:rPr>
              <a:t>beckn/DEG repository (devkits)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Local: ies-devkit/devkits/demand-flex, p2p-enrollment, ev-charging</a:t>
            </a:r>
          </a:p>
          <a:p>
            <a:pPr marL="182880" indent="-182880">
              <a:lnSpc>
                <a:spcPct val="102000"/>
              </a:lnSpc>
              <a:spcAft>
                <a:spcPts val="7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Local: research-aggregation-bosch-v2g-india.md (full first-pass research record)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