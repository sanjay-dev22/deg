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core clarification" id="{a3e34467-9871-cf99-0597-f1fe99b96a19}">
          <p14:sldIdLst>
            <p14:sldId id="257"/>
          </p14:sldIdLst>
        </p14:section>
        <p14:section name="Default-1" id="{26f330ce-bb38-d878-030f-af8962a49067}">
          <p14:sldIdLst>
            <p14:sldId id="258"/>
            <p14:sldId id="259"/>
            <p14:sldId id="260"/>
          </p14:sldIdLst>
        </p14:section>
        <p14:section name="Electricity 101" id="{d25bb707-3296-3e7e-c926-60a18380b532}">
          <p14:sldIdLst>
            <p14:sldId id="261"/>
          </p14:sldIdLst>
        </p14:section>
        <p14:section name="Default-2" id="{2b472681-7e2d-6049-2e40-e3f7b45a147b}">
          <p14:sldIdLst>
            <p14:sldId id="262"/>
            <p14:sldId id="263"/>
          </p14:sldIdLst>
        </p14:section>
        <p14:section name="The real systems underneath" id="{144d6480-dd46-bb0f-db60-be5d67b6812d}">
          <p14:sldIdLst>
            <p14:sldId id="264"/>
          </p14:sldIdLst>
        </p14:section>
        <p14:section name="Default-3" id="{b7bd41a1-bb65-62d9-558b-1c063a8858a1}">
          <p14:sldIdLst>
            <p14:sldId id="265"/>
            <p14:sldId id="266"/>
            <p14:sldId id="267"/>
            <p14:sldId id="268"/>
          </p14:sldIdLst>
        </p14:section>
        <p14:section name="How a real offer gets published" id="{d6c6d62f-dc19-8118-ae70-9a45adb48191}">
          <p14:sldIdLst>
            <p14:sldId id="269"/>
          </p14:sldIdLst>
        </p14:section>
        <p14:section name="Default-4" id="{daae194e-079b-7bc5-43c9-c538ede6652b}">
          <p14:sldIdLst>
            <p14:sldId id="270"/>
            <p14:sldId id="271"/>
          </p14:sldIdLst>
        </p14:section>
        <p14:section name="Business value &amp; the real customer" id="{2f336bad-cc5b-b7d9-9594-ba8be574e49d}">
          <p14:sldIdLst>
            <p14:sldId id="272"/>
          </p14:sldIdLst>
        </p14:section>
        <p14:section name="Default-5" id="{b817958d-7c37-fde5-6800-289b4f9bc113}">
          <p14:sldIdLst>
            <p14:sldId id="273"/>
            <p14:sldId id="274"/>
            <p14:sldId id="275"/>
          </p14:sldIdLst>
        </p14:section>
        <p14:section name="The aggregation opportunity" id="{a570566d-20f7-526d-a37c-82a4c60cf487}">
          <p14:sldIdLst>
            <p14:sldId id="276"/>
          </p14:sldIdLst>
        </p14:section>
        <p14:section name="Default-6" id="{ea3d8f39-ef98-992a-348b-a22c6dcde2f5}">
          <p14:sldIdLst>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not a feature demo -- it is a grounding session so the whole team shares one correct mental model before harder questions come up again. Say up front: this project occupies exactly one layer of a five-layer real electricity system, and every other layer -- the physical grid, the meters, the safety systems -- already exists, already works, and is owned by someone else; nothing here claims otherwise. Every claim in this deck was checked one of three ways: directly against the real running code (file and line citations exist for these), against a real external published source (a regulator filing, a news article), or clearly marked as our own reasoned inference where no hard proof exists yet. If anyone pushes back on a claim, you can say exactly how it was checked -- that discipline is the actual point of this deck, not the slides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framing -- say this before advancing: a real electricity system is actually five separate layers stacked on top of each other: the physical grid, telemetry, control and safety, the commercial/settlement layer, and the people and businesses who actually use the network. This project only ever claims to be one of those five. The entire purpose of this section is to settle, once and for all, whether this software touches or controls the physical grid in any way, so that question never has to be re-litigated later in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bands bottom-to-top, conceptually: physical grid -- wires, transformers, inverters -- owned by DISCOMs and equipment manufacturers, completely real, nothing to do with this project. Telemetry -- smart meters and AMI -- already deployed at scale; this project only ever reads from it, never writes to it. Control and safety -- DERMS and anti-islanding -- decides who can actually switch something on or off; never us. Commercial and settlement -- Beckn protocol, onix, this devkit -- is the one and only layer this project builds: prices, penalties, disputes, and trust between companies that have never met. Market participants are simply whoever ends up using whatever gets built. This was checked directly against the real, running docker-compose and onix configuration for this project, not guessed at or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direct, memorable answer to 'does your software change how electricity physically works' -- no. On the left: solar/inverter physics, net metering, the DISCOM's own safety systems, hardware export limits, and physical delivery itself are all completely untouched by this project. On the right: a shared message format, commercial rules, a trust/verification layer, capacity-aware checks, and an accounting overlay are the entirety of what this project contributes. If challenged, the one-line defense is: if you can point to a wire, a meter, or a safety relay, we don't touch it; if you're pointing at a price, a penalty, or a dispute, that's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physical-intuition slide in the whole deck -- spend real time here. Physically, electrons from an inverter join one shared pool the instant they're generated; there is no way, in any P2P energy trading system anywhere in the world, to route specific electrons to a specific buyer, because electrons are physically indistinguishable from one another. What a trade actually does is take a quantity a meter already measured flowing -- an export that would have happened with or without any trade -- and attach a commercial label to it after the fact: 'this amount is now attributed to this buyer, at this price.' This is not a shortcut or a weakness of this particular project; it is literally how every Renewable Energy Certificate and 'green tariff' electricity product in the world already works, and those products are decades old and completely mainstream. If someone asks 'so how do you guarantee the buyer gets clean solar power,' the honest and correct answer is: the grid is physically indifferent to who requested what; the guarantee is an accounting one, verified by a real meter reading, exactly like every REC scheme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framing: before any later technical claim makes sense, the team needs two units straight -- kW and kWh -- because almost every 'that doesn't sound right' reaction in a review traces back to those two being confused with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tap/bucket analogy fully: kW is like litres-per-minute flowing from a tap right now -- an instantaneous rate. kWh is the total litres actually collected in a bucket after some time has passed -- an amount. A '5 kW solar panel' is a statement about its peak rate at the sunniest moment of the day, not a promise about how much energy it generates overall. Across one full day it might realistically generate roughly 20 to 25 kWh, not 5kW times 24 hours equals 120 kWh, because its output rises and falls with the sun rather than running flat. The bill a household gets is in kWh -- literally called 'units' in India -- which is the amount, not the rate. Tie it to something already familiar: it's exactly the same relationship as speed (km/h) and distance (km) -- distance equals speed times time, energy (kWh) equals power (kW) times time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steps concretely: sunlight hits the panel and makes DC electricity; an inverter converts that DC into AC because homes and the grid only use AC; whatever the house is currently using gets served first, for free, with no DISCOM involved at all; only the leftover after that becomes 'excess,' which either exports to the grid in real time or charges a battery if one exists. Crucially: excess is never typed in by a person -- it's computed automatically and continuously by a bidirectional, or 'net,' meter, which separately tracks energy flowing in and energy flowing out at every interval. Also mention: a real tradeable offer needs more than just this live reading -- it needs a forecast for a future delivery window, since a live reading only tells you what's happening this instant, not what will be available an hour or a day from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framing: this section exists because several unfamiliar terms -- OMS, SCADA, DERMS, SunSpec, IEEE 2030.5, OpenADR, anti-islanding, CIS -- came up in review and deserve a plain, no-jargon explanation before anyone is asked to defend a claim that depends on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of the four terms plainly as grounding knowledge. Last-gasp event: the literal last message a smart meter manages to send, using the tiny bit of charge left in its own backup capacitor, the instant it loses power -- comparable to a phone pushing one final '1% battery' notification right before it dies; this is how a utility learns a specific house lost power within seconds, without anyone calling to report it. OMS: the DISCOM's own control-room software that tracks every outage across their network -- which feeder tripped, how many customers are affected, when a crew was sent and when power was restored. SCADA: the long-standing, foundational 'mission control' system a utility uses to watch live readings and remotely operate switches across its whole grid from one place; OMS and DERMS are both built on top of this. SAIDI/SAIFI: the two standard numbers every utility is measured on for reliability -- how often, on average, a customer loses power each year, and for how long in total. These are regulator-mandated, which is exactly why a DISCOM's own outage log can be trusted as independent evidence: they already have to report it accurately to someone else. The unifying point: these four systems are why a fault or outage claim in a trade dispute can be checked against a real, independent source instead of just trusting the seller's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real-world pipeline a meter reading travels through before anyone can use it: the smart meter itself measures continuously; a Head-End System is essentially a central phone exchange that polls or receives data from tens of thousands of meters at once; a Meter Data Management system then cleans up that raw data through a process the industry calls VEE -- Validate, Estimate, Edit -- before anyone downstream is allowed to trust it; only after all of that does this platform ever read anything. The point to really land: 'constantly watching the meters,' which came up as a request in review, is not a new capability anyone needs to invent -- it's this exact pipeline, which India's own smart-metering rollout already runs at national scale. What's actually new is just reading this feed more often, closer to real time, instead of only once at the very end of a long delivery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term and why none of them are this project's job. DERMS: think of it as SCADA, but specifically for the thousands of small customer-owned devices on a DISCOM's grid -- it's the system that can actually send a real command to a device. SunSpec Modbus: a shared, standardized remote-control language that most commercial solar inverters, regardless of brand, already understand, so a utility system doesn't need a custom integration per manufacturer. IEEE 2030.5: a newer, more modern, internet-native version of the same idea, with security built in from the start; it's the standard California's own grid regulator mandates for this exact purpose, under what's called Rule 21. OpenADR: a standard specifically for broadcasting 'please reduce your consumption or generation right now' messages to many participating devices or buildings at once -- already used today in real demand-response programs. Anti-islanding: a safety behavior built directly into every grid-tied inverter by regulation -- if it senses the wider grid has gone down, it disconnects itself immediately and completely on its own, with no reliance on any network signal at all, specifically so a utility repair crew is never at risk of a line they believe is dead actually still being live. The unifying point for defense: every one of these is a real, already-existing system operated by someone else; this project never reaches into any of them directly, and that is a deliberate design boundary, not a current limitation to apologize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three terms and connect them to the 'what if I can give you more power since I have more export capacity' question: a feeder is one branch of the electrical wiring serving a cluster of homes, and a transformer steps the voltage down to what a home actually uses -- both have hard physical limits to how much current they can carry safely. A sanctioned capacity is the specific maximum export amount a DISCOM has approved for one particular connection, decided when that rooftop system was first installed, based on what that local line can actually absorb given everyone else sharing it. The CIS, or Customer Information System, is simply the DISCOM's internal database holding that number, along with the rest of a customer's account and connection details. The reason this matters: today, nothing in this devkit checks a declared trade quantity against this real number at all -- that is a genuine, named, not-yet-fixed gap in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framing: the whole point of this section is to be completely honest that today's demo dashboard -- type a kW number, click publish -- is a simplified stand-in for a real pipeline, not a claim about how a production system would actually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why steps 1 and 2 -- forecast, capacity check -- don't exist yet in this project, while step 3 -- schema, API, routing -- is the entirety of what's actually been built, and step 4 -- physical delivery -- was never going to change regardless of any of this. Forecasting a future offer requires combining a weather forecast, the specific system's own historical generation pattern, and the household's typical consumption pattern -- a genuine, separate piece of software, a well-established discipline called solar or generation forecasting, that doesn't exist in this project yet. The capacity check needs the real sanctioned-capacity number from the previous slide, which also isn't wired in yet. What this devkit actually does -- the schema, signing, and network routing -- is the commercial coordination layer, and it assumes both of those upstream steps already produced a trustworthy number, which in the demo is faked by a human typing one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to validate, not dismiss, a completely reasonable reaction some people have after seeing the schema and messages: 'this feels like bureaucracy, not real engineering.' The honest answer: scoped correctly, it genuinely is paperwork, in the best sense. Beckn's entire design philosophy, the same one behind ONDC for commerce and conceptually UPI for payments, is to standardize the conversation between two companies that have never met, not to replace either company's own internal systems. The real engineering difficulty in this whole project isn't inventing a clever way to move electrons -- it's getting the accountability, trust, and dispute-resolution rules of that conversation actually right before real money starts moving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framing: shifts the conversation from 'how does this work' to 'who actually benefits from any of this, and is continuing to find and fix gaps actually worth the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chain and explain why it's not a single paying company. This work's most immediate consumer is the team maintaining the protocol and devkit itself -- what gets handed over is exactly this kind of gap-hunting and hardening work. The next link is a DISCOM's own engineering team, who would eventually adopt this devkit to let their real customers trade -- they inherit whatever gaps were or weren't fixed before they adopted it. Before anything goes further, a real regulator, CERC at the national level or a state SERC, has to be convinced the system is safe with real money moving through it. And the actual final beneficiary, the one whose money is genuinely at stake, is an ordinary household trading real electricity. This mirrors exactly how India's own UPI and ONDC were built: as public digital infrastructure hardened before wide adoption, not as one company's single commercial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table row by row: physical delivery of electricity is completely unaffected by any of this, full stop. Metering and telemetry are only ever read from, never altered -- the only change proposed is reading that feed more often. Hardware control and safety systems are never touched at all, by explicit design, not by current limitation. The only place this project actually changes anything is the commercial rules and trust layer -- penalties, price sanity checks, dispute pointers, capacity-aware checks -- which is the full and complete scope of everything tracked across the 24 identified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number and the argument behind them. 24 gaps were found across two separate rounds of work -- some prompted by a reviewer's own questions, some found by proactively trying to break the system rather than waiting to be asked. 5 of those were actually verified this week against the real running code, with exact file and line citations, rather than simply asserted as true. 1 was proven exploitable live -- a real 0.01 rupee per kWh trade was actually sent through the real pipeline and it cleared every check with zero complaints, which is a fact, not a worry. 0 of the fixes required touching any physical hardware -- every single one is a change at the commercial and settlement layer, consistent with everything said earlier about the project's actual scope. The underlying argument for 'is it worth it': catching any one of these in a sandbox today costs a single pull request; catching the same issue after a DISCOM has gone live with real customers' real money costs a regulatory incident. That asymmetry is the entire case for continuing this work now rather than waiting.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framing: addresses directly whether 'pooling many small offers for a large buyer' is a genuine, valuable idea or just a nice-sounding concept with no real substance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both reasons clearly, since the second is less obvious and more important than it first sounds. Reason one is simply size: a single rooftop might only produce 3 to 5 kWh a day, far below the minimum trade size any real market, like India's own power exchange IEX, will bother handling directly. Reason two, the more important one, is statistical: any single rooftop's output is unpredictable, but the sum of a thousand independent rooftops is far more predictable, because their individual ups and downs mostly cancel each other out -- a basic consequence of how averages of many independent random things behave. That's the actual reason real aggregators -- Tesla's Virtual Power Plant program, Octopus Energy's Kraken platform, Enel X -- can offer something close to a firm, reliable commitment built entirely out of individually-unreliable small pieces; it's the same underlying idea as insurance pooling individual risk. None of this is speculative or fictional -- these are large, currently-operating, commercially funded businesses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layer boundary plainly: physical grid, telemetry, and hardware control are real, existing, untouched systems we only read from or integrate with at a clean API boundary. This project is the commercial/settlement layer on top. The gap-hunting work (Gaps 1-24) is pre-production assurance on that one layer, same category of work as hardening UPI/ONDC before wider rollout. Invite questions on any of the terms covered in Section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0151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4F5F7"/>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85800" y="1828800"/>
            <a:ext cx="10820095" cy="365760"/>
          </a:xfrm>
          <a:prstGeom prst="rect">
            <a:avLst/>
          </a:prstGeom>
          <a:noFill/>
          <a:ln/>
        </p:spPr>
        <p:txBody>
          <a:bodyPr wrap="square" lIns="0" tIns="0" rIns="0" bIns="0" rtlCol="0" anchor="ctr"/>
          <a:lstStyle/>
          <a:p>
            <a:pPr indent="0" marL="0">
              <a:buNone/>
            </a:pPr>
            <a:r>
              <a:rPr lang="en-US" sz="1500" b="1" spc="200" kern="0" dirty="0">
                <a:solidFill>
                  <a:srgbClr val="C07F2A"/>
                </a:solidFill>
                <a:latin typeface="Calibri" pitchFamily="34" charset="0"/>
                <a:ea typeface="Calibri" pitchFamily="34" charset="-122"/>
                <a:cs typeface="Calibri" pitchFamily="34" charset="-120"/>
              </a:rPr>
              <a:t>TEAM FOUNDATIONS SESSION</a:t>
            </a:r>
            <a:endParaRPr lang="en-US" sz="1500" dirty="0"/>
          </a:p>
        </p:txBody>
      </p:sp>
      <p:sp>
        <p:nvSpPr>
          <p:cNvPr id="3" name="Text 1"/>
          <p:cNvSpPr txBox="1"/>
          <p:nvPr/>
        </p:nvSpPr>
        <p:spPr>
          <a:xfrm>
            <a:off x="685800" y="2240280"/>
            <a:ext cx="1082009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What We're Actually Building</a:t>
            </a:r>
            <a:endParaRPr lang="en-US" sz="4400" dirty="0"/>
          </a:p>
        </p:txBody>
      </p:sp>
      <p:sp>
        <p:nvSpPr>
          <p:cNvPr id="4" name="Text 2"/>
          <p:cNvSpPr txBox="1"/>
          <p:nvPr/>
        </p:nvSpPr>
        <p:spPr>
          <a:xfrm>
            <a:off x="685800" y="3337560"/>
            <a:ext cx="10058400" cy="731520"/>
          </a:xfrm>
          <a:prstGeom prst="rect">
            <a:avLst/>
          </a:prstGeom>
          <a:noFill/>
          <a:ln/>
        </p:spPr>
        <p:txBody>
          <a:bodyPr wrap="square" lIns="0" tIns="0" rIns="0" bIns="0" rtlCol="0" anchor="ctr"/>
          <a:lstStyle/>
          <a:p>
            <a:pPr indent="0" marL="0">
              <a:lnSpc>
                <a:spcPct val="130000"/>
              </a:lnSpc>
              <a:buNone/>
            </a:pPr>
            <a:r>
              <a:rPr lang="en-US" sz="1900" dirty="0">
                <a:solidFill>
                  <a:srgbClr val="C3CAD6"/>
                </a:solidFill>
                <a:latin typeface="Calibri" pitchFamily="34" charset="0"/>
                <a:ea typeface="Calibri" pitchFamily="34" charset="-122"/>
                <a:cs typeface="Calibri" pitchFamily="34" charset="-120"/>
              </a:rPr>
              <a:t>P2P energy trading: the commercial/settlement layer, and the real electrical grid underneath it that we don't touch</a:t>
            </a:r>
            <a:endParaRPr lang="en-US" sz="1900" dirty="0"/>
          </a:p>
        </p:txBody>
      </p:sp>
      <p:sp>
        <p:nvSpPr>
          <p:cNvPr id="5" name="Text 3"/>
          <p:cNvSpPr txBox="1"/>
          <p:nvPr/>
        </p:nvSpPr>
        <p:spPr>
          <a:xfrm>
            <a:off x="685800" y="4297680"/>
            <a:ext cx="9875520" cy="822960"/>
          </a:xfrm>
          <a:prstGeom prst="rect">
            <a:avLst/>
          </a:prstGeom>
          <a:noFill/>
          <a:ln/>
        </p:spPr>
        <p:txBody>
          <a:bodyPr wrap="square" lIns="0" tIns="0" rIns="0" bIns="0" rtlCol="0" anchor="ctr"/>
          <a:lstStyle/>
          <a:p>
            <a:pPr indent="0" marL="0">
              <a:lnSpc>
                <a:spcPct val="130000"/>
              </a:lnSpc>
              <a:buNone/>
            </a:pPr>
            <a:r>
              <a:rPr lang="en-US" sz="1400" dirty="0">
                <a:solidFill>
                  <a:srgbClr val="A9B2C0"/>
                </a:solidFill>
                <a:latin typeface="Calibri" pitchFamily="34" charset="0"/>
                <a:ea typeface="Calibri" pitchFamily="34" charset="-122"/>
                <a:cs typeface="Calibri" pitchFamily="34" charset="-120"/>
              </a:rPr>
              <a:t>This deck exists to answer the questions a toy dashboard can't: what's real infrastructure vs. what we built, where the physical electricity actually goes, who the real customer is, and whether what we're finding and fixing is actually worth it.</a:t>
            </a:r>
            <a:endParaRPr lang="en-US" sz="1400" dirty="0"/>
          </a:p>
        </p:txBody>
      </p:sp>
      <p:sp>
        <p:nvSpPr>
          <p:cNvPr id="6" name="Text 4"/>
          <p:cNvSpPr txBox="1"/>
          <p:nvPr/>
        </p:nvSpPr>
        <p:spPr>
          <a:xfrm>
            <a:off x="685800" y="6035040"/>
            <a:ext cx="5486400" cy="274320"/>
          </a:xfrm>
          <a:prstGeom prst="rect">
            <a:avLst/>
          </a:prstGeom>
          <a:noFill/>
          <a:ln/>
        </p:spPr>
        <p:txBody>
          <a:bodyPr wrap="square" lIns="0" tIns="0" rIns="0" bIns="0" rtlCol="0" anchor="ctr"/>
          <a:lstStyle/>
          <a:p>
            <a:pPr indent="0" marL="0">
              <a:buNone/>
            </a:pPr>
            <a:r>
              <a:rPr lang="en-US" sz="1300" dirty="0">
                <a:solidFill>
                  <a:srgbClr val="8A94A6"/>
                </a:solidFill>
                <a:latin typeface="Calibri" pitchFamily="34" charset="0"/>
                <a:ea typeface="Calibri" pitchFamily="34" charset="-122"/>
                <a:cs typeface="Calibri" pitchFamily="34" charset="-120"/>
              </a:rPr>
              <a:t>Prepared for: Team review</a:t>
            </a:r>
            <a:endParaRPr lang="en-US" sz="13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85800" y="2651760"/>
            <a:ext cx="1828800" cy="457200"/>
          </a:xfrm>
          <a:prstGeom prst="rect">
            <a:avLst/>
          </a:prstGeom>
          <a:noFill/>
          <a:ln/>
        </p:spPr>
        <p:txBody>
          <a:bodyPr wrap="square" lIns="0" tIns="0" rIns="0" bIns="0" rtlCol="0" anchor="ctr"/>
          <a:lstStyle/>
          <a:p>
            <a:pPr indent="0" marL="0">
              <a:buNone/>
            </a:pPr>
            <a:r>
              <a:rPr lang="en-US" sz="2200" b="1" dirty="0">
                <a:solidFill>
                  <a:srgbClr val="C07F2A"/>
                </a:solidFill>
                <a:latin typeface="Calibri" pitchFamily="34" charset="0"/>
                <a:ea typeface="Calibri" pitchFamily="34" charset="-122"/>
                <a:cs typeface="Calibri" pitchFamily="34" charset="-120"/>
              </a:rPr>
              <a:t>01</a:t>
            </a:r>
            <a:endParaRPr lang="en-US" sz="2200" dirty="0"/>
          </a:p>
        </p:txBody>
      </p:sp>
      <p:sp>
        <p:nvSpPr>
          <p:cNvPr id="3" name="Text 1"/>
          <p:cNvSpPr txBox="1"/>
          <p:nvPr/>
        </p:nvSpPr>
        <p:spPr>
          <a:xfrm>
            <a:off x="685800" y="3063240"/>
            <a:ext cx="10515600" cy="11887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One Layer In A Much Bigger Stack</a:t>
            </a:r>
            <a:endParaRPr lang="en-US" sz="3800" dirty="0"/>
          </a:p>
        </p:txBody>
      </p:sp>
      <p:sp>
        <p:nvSpPr>
          <p:cNvPr id="4" name="Text 2"/>
          <p:cNvSpPr txBox="1"/>
          <p:nvPr/>
        </p:nvSpPr>
        <p:spPr>
          <a:xfrm>
            <a:off x="685800" y="4114800"/>
            <a:ext cx="9784080" cy="731520"/>
          </a:xfrm>
          <a:prstGeom prst="rect">
            <a:avLst/>
          </a:prstGeom>
          <a:noFill/>
          <a:ln/>
        </p:spPr>
        <p:txBody>
          <a:bodyPr wrap="square" lIns="0" tIns="0" rIns="0" bIns="0" rtlCol="0" anchor="ctr"/>
          <a:lstStyle/>
          <a:p>
            <a:pPr indent="0" marL="0">
              <a:lnSpc>
                <a:spcPct val="130000"/>
              </a:lnSpc>
              <a:buNone/>
            </a:pPr>
            <a:r>
              <a:rPr lang="en-US" sz="1700" dirty="0">
                <a:solidFill>
                  <a:srgbClr val="A9B2C0"/>
                </a:solidFill>
                <a:latin typeface="Calibri" pitchFamily="34" charset="0"/>
                <a:ea typeface="Calibri" pitchFamily="34" charset="-122"/>
                <a:cs typeface="Calibri" pitchFamily="34" charset="-120"/>
              </a:rPr>
              <a:t>Before anything else: exactly which part of the real electricity system this project touches — and which parts it deliberately doesn't.</a:t>
            </a:r>
            <a:endParaRPr lang="en-US" sz="17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01 · THE CORE CLARIFICATION</a:t>
            </a:r>
            <a:endParaRPr lang="en-US" sz="1300" dirty="0"/>
          </a:p>
        </p:txBody>
      </p:sp>
      <p:sp>
        <p:nvSpPr>
          <p:cNvPr id="3" name="Text 1"/>
          <p:cNvSpPr txBox="1"/>
          <p:nvPr/>
        </p:nvSpPr>
        <p:spPr>
          <a:xfrm>
            <a:off x="685800" y="868680"/>
            <a:ext cx="10820095" cy="914400"/>
          </a:xfrm>
          <a:prstGeom prst="rect">
            <a:avLst/>
          </a:prstGeom>
          <a:noFill/>
          <a:ln/>
        </p:spPr>
        <p:txBody>
          <a:bodyPr wrap="square" lIns="0" tIns="0" rIns="0" bIns="0" rtlCol="0" anchor="ctr"/>
          <a:lstStyle/>
          <a:p>
            <a:pPr indent="0" marL="0">
              <a:lnSpc>
                <a:spcPct val="105000"/>
              </a:lnSpc>
              <a:buNone/>
            </a:pPr>
            <a:r>
              <a:rPr lang="en-US" sz="3000" b="1" dirty="0">
                <a:solidFill>
                  <a:srgbClr val="171B24"/>
                </a:solidFill>
                <a:latin typeface="Cambria" pitchFamily="34" charset="0"/>
                <a:ea typeface="Cambria" pitchFamily="34" charset="-122"/>
                <a:cs typeface="Cambria" pitchFamily="34" charset="-120"/>
              </a:rPr>
              <a:t>The full stack, top to bottom</a:t>
            </a:r>
            <a:endParaRPr lang="en-US" sz="3000" dirty="0"/>
          </a:p>
        </p:txBody>
      </p:sp>
      <p:sp>
        <p:nvSpPr>
          <p:cNvPr id="4" name="Text 2"/>
          <p:cNvSpPr txBox="1"/>
          <p:nvPr/>
        </p:nvSpPr>
        <p:spPr>
          <a:xfrm>
            <a:off x="685800" y="1783080"/>
            <a:ext cx="10820095" cy="548640"/>
          </a:xfrm>
          <a:prstGeom prst="rect">
            <a:avLst/>
          </a:prstGeom>
          <a:noFill/>
          <a:ln/>
        </p:spPr>
        <p:txBody>
          <a:bodyPr wrap="square" lIns="0" tIns="0" rIns="0" bIns="0" rtlCol="0" anchor="ctr"/>
          <a:lstStyle/>
          <a:p>
            <a:pPr indent="0" marL="0">
              <a:buNone/>
            </a:pPr>
            <a:r>
              <a:rPr lang="en-US" sz="1500" dirty="0">
                <a:solidFill>
                  <a:srgbClr val="5A6472"/>
                </a:solidFill>
                <a:latin typeface="Calibri" pitchFamily="34" charset="0"/>
                <a:ea typeface="Calibri" pitchFamily="34" charset="-122"/>
                <a:cs typeface="Calibri" pitchFamily="34" charset="-120"/>
              </a:rPr>
              <a:t>Four layers already exist in the real world, owned and operated by others. We build the fifth.</a:t>
            </a:r>
            <a:endParaRPr lang="en-US" sz="1500" dirty="0"/>
          </a:p>
        </p:txBody>
      </p:sp>
      <p:sp>
        <p:nvSpPr>
          <p:cNvPr id="5" name="Shape 3"/>
          <p:cNvSpPr/>
          <p:nvPr/>
        </p:nvSpPr>
        <p:spPr>
          <a:xfrm>
            <a:off x="685800" y="2331720"/>
            <a:ext cx="10820095" cy="749808"/>
          </a:xfrm>
          <a:prstGeom prst="roundRect">
            <a:avLst>
              <a:gd name="adj" fmla="val 8537"/>
            </a:avLst>
          </a:prstGeom>
          <a:solidFill>
            <a:srgbClr val="FFFFFF"/>
          </a:solidFill>
          <a:ln w="12700">
            <a:solidFill>
              <a:srgbClr val="E2E4E8"/>
            </a:solidFill>
            <a:prstDash val="solid"/>
          </a:ln>
        </p:spPr>
      </p:sp>
      <p:sp>
        <p:nvSpPr>
          <p:cNvPr id="6" name="Text 4"/>
          <p:cNvSpPr txBox="1"/>
          <p:nvPr/>
        </p:nvSpPr>
        <p:spPr>
          <a:xfrm>
            <a:off x="960120" y="2459736"/>
            <a:ext cx="3462430" cy="493776"/>
          </a:xfrm>
          <a:prstGeom prst="rect">
            <a:avLst/>
          </a:prstGeom>
          <a:noFill/>
          <a:ln/>
        </p:spPr>
        <p:txBody>
          <a:bodyPr wrap="square" lIns="0" tIns="0" rIns="0" bIns="0" rtlCol="0" anchor="ctr"/>
          <a:lstStyle/>
          <a:p>
            <a:pPr indent="0" marL="0">
              <a:lnSpc>
                <a:spcPct val="105000"/>
              </a:lnSpc>
              <a:buNone/>
            </a:pPr>
            <a:r>
              <a:rPr lang="en-US" sz="1500" b="1" dirty="0">
                <a:solidFill>
                  <a:srgbClr val="171B24"/>
                </a:solidFill>
                <a:latin typeface="Cambria" pitchFamily="34" charset="0"/>
                <a:ea typeface="Cambria" pitchFamily="34" charset="-122"/>
                <a:cs typeface="Cambria" pitchFamily="34" charset="-120"/>
              </a:rPr>
              <a:t>Market participants</a:t>
            </a:r>
            <a:endParaRPr lang="en-US" sz="1500" dirty="0"/>
          </a:p>
        </p:txBody>
      </p:sp>
      <p:sp>
        <p:nvSpPr>
          <p:cNvPr id="7" name="Text 5"/>
          <p:cNvSpPr txBox="1"/>
          <p:nvPr/>
        </p:nvSpPr>
        <p:spPr>
          <a:xfrm>
            <a:off x="4364632" y="2459736"/>
            <a:ext cx="4977244" cy="493776"/>
          </a:xfrm>
          <a:prstGeom prst="rect">
            <a:avLst/>
          </a:prstGeom>
          <a:noFill/>
          <a:ln/>
        </p:spPr>
        <p:txBody>
          <a:bodyPr wrap="square" lIns="0" tIns="0" rIns="0" bIns="0" rtlCol="0" anchor="ctr"/>
          <a:lstStyle/>
          <a:p>
            <a:pPr indent="0" marL="0">
              <a:lnSpc>
                <a:spcPct val="120000"/>
              </a:lnSpc>
              <a:buNone/>
            </a:pPr>
            <a:r>
              <a:rPr lang="en-US" sz="1150" dirty="0">
                <a:solidFill>
                  <a:srgbClr val="5A6472"/>
                </a:solidFill>
                <a:latin typeface="Calibri" pitchFamily="34" charset="0"/>
                <a:ea typeface="Calibri" pitchFamily="34" charset="-122"/>
                <a:cs typeface="Calibri" pitchFamily="34" charset="-120"/>
              </a:rPr>
              <a:t>Sellers, buyers, aggregators, DISCOM procurement desks — the people and businesses actually using the network</a:t>
            </a:r>
            <a:endParaRPr lang="en-US" sz="1150" dirty="0"/>
          </a:p>
        </p:txBody>
      </p:sp>
      <p:sp>
        <p:nvSpPr>
          <p:cNvPr id="8" name="Shape 6"/>
          <p:cNvSpPr/>
          <p:nvPr/>
        </p:nvSpPr>
        <p:spPr>
          <a:xfrm>
            <a:off x="9814255" y="2532888"/>
            <a:ext cx="1463040" cy="347472"/>
          </a:xfrm>
          <a:prstGeom prst="roundRect">
            <a:avLst>
              <a:gd name="adj" fmla="val 50000"/>
            </a:avLst>
          </a:prstGeom>
          <a:solidFill>
            <a:srgbClr val="8A94A6"/>
          </a:solidFill>
          <a:ln w="12700">
            <a:solidFill>
              <a:srgbClr val="8A94A6"/>
            </a:solidFill>
            <a:prstDash val="solid"/>
          </a:ln>
        </p:spPr>
      </p:sp>
      <p:sp>
        <p:nvSpPr>
          <p:cNvPr id="9" name="Text 7"/>
          <p:cNvSpPr txBox="1"/>
          <p:nvPr/>
        </p:nvSpPr>
        <p:spPr>
          <a:xfrm>
            <a:off x="9814255" y="2532888"/>
            <a:ext cx="1463040"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USES IT</a:t>
            </a:r>
            <a:endParaRPr lang="en-US" sz="1050" dirty="0"/>
          </a:p>
        </p:txBody>
      </p:sp>
      <p:sp>
        <p:nvSpPr>
          <p:cNvPr id="10" name="Shape 8"/>
          <p:cNvSpPr/>
          <p:nvPr/>
        </p:nvSpPr>
        <p:spPr>
          <a:xfrm>
            <a:off x="685800" y="3172968"/>
            <a:ext cx="10820095" cy="749808"/>
          </a:xfrm>
          <a:prstGeom prst="roundRect">
            <a:avLst>
              <a:gd name="adj" fmla="val 8537"/>
            </a:avLst>
          </a:prstGeom>
          <a:solidFill>
            <a:srgbClr val="2A3242"/>
          </a:solidFill>
          <a:ln w="25400">
            <a:solidFill>
              <a:srgbClr val="C07F2A"/>
            </a:solidFill>
            <a:prstDash val="solid"/>
          </a:ln>
        </p:spPr>
      </p:sp>
      <p:sp>
        <p:nvSpPr>
          <p:cNvPr id="11" name="Text 9"/>
          <p:cNvSpPr txBox="1"/>
          <p:nvPr/>
        </p:nvSpPr>
        <p:spPr>
          <a:xfrm>
            <a:off x="960120" y="3300984"/>
            <a:ext cx="3462430" cy="493776"/>
          </a:xfrm>
          <a:prstGeom prst="rect">
            <a:avLst/>
          </a:prstGeom>
          <a:noFill/>
          <a:ln/>
        </p:spPr>
        <p:txBody>
          <a:bodyPr wrap="square" lIns="0" tIns="0" rIns="0" bIns="0" rtlCol="0" anchor="ctr"/>
          <a:lstStyle/>
          <a:p>
            <a:pPr indent="0" marL="0">
              <a:lnSpc>
                <a:spcPct val="105000"/>
              </a:lnSpc>
              <a:buNone/>
            </a:pPr>
            <a:r>
              <a:rPr lang="en-US" sz="1500" b="1" dirty="0">
                <a:solidFill>
                  <a:srgbClr val="FFFFFF"/>
                </a:solidFill>
                <a:latin typeface="Cambria" pitchFamily="34" charset="0"/>
                <a:ea typeface="Cambria" pitchFamily="34" charset="-122"/>
                <a:cs typeface="Cambria" pitchFamily="34" charset="-120"/>
              </a:rPr>
              <a:t>Commercial / settlement  — OUR SCOPE</a:t>
            </a:r>
            <a:endParaRPr lang="en-US" sz="1500" dirty="0"/>
          </a:p>
        </p:txBody>
      </p:sp>
      <p:sp>
        <p:nvSpPr>
          <p:cNvPr id="12" name="Text 10"/>
          <p:cNvSpPr txBox="1"/>
          <p:nvPr/>
        </p:nvSpPr>
        <p:spPr>
          <a:xfrm>
            <a:off x="4364632" y="3300984"/>
            <a:ext cx="4977244" cy="493776"/>
          </a:xfrm>
          <a:prstGeom prst="rect">
            <a:avLst/>
          </a:prstGeom>
          <a:noFill/>
          <a:ln/>
        </p:spPr>
        <p:txBody>
          <a:bodyPr wrap="square" lIns="0" tIns="0" rIns="0" bIns="0" rtlCol="0" anchor="ctr"/>
          <a:lstStyle/>
          <a:p>
            <a:pPr indent="0" marL="0">
              <a:lnSpc>
                <a:spcPct val="120000"/>
              </a:lnSpc>
              <a:buNone/>
            </a:pPr>
            <a:r>
              <a:rPr lang="en-US" sz="1150" dirty="0">
                <a:solidFill>
                  <a:srgbClr val="C3CAD6"/>
                </a:solidFill>
                <a:latin typeface="Calibri" pitchFamily="34" charset="0"/>
                <a:ea typeface="Calibri" pitchFamily="34" charset="-122"/>
                <a:cs typeface="Calibri" pitchFamily="34" charset="-120"/>
              </a:rPr>
              <a:t>Beckn protocol, onix adapters, this devkit — prices, penalties, disputes, trust between independent companies</a:t>
            </a:r>
            <a:endParaRPr lang="en-US" sz="1150" dirty="0"/>
          </a:p>
        </p:txBody>
      </p:sp>
      <p:sp>
        <p:nvSpPr>
          <p:cNvPr id="13" name="Shape 11"/>
          <p:cNvSpPr/>
          <p:nvPr/>
        </p:nvSpPr>
        <p:spPr>
          <a:xfrm>
            <a:off x="9814255" y="3374136"/>
            <a:ext cx="1463040" cy="347472"/>
          </a:xfrm>
          <a:prstGeom prst="roundRect">
            <a:avLst>
              <a:gd name="adj" fmla="val 50000"/>
            </a:avLst>
          </a:prstGeom>
          <a:solidFill>
            <a:srgbClr val="C07F2A"/>
          </a:solidFill>
          <a:ln w="12700">
            <a:solidFill>
              <a:srgbClr val="C07F2A"/>
            </a:solidFill>
            <a:prstDash val="solid"/>
          </a:ln>
        </p:spPr>
      </p:sp>
      <p:sp>
        <p:nvSpPr>
          <p:cNvPr id="14" name="Text 12"/>
          <p:cNvSpPr txBox="1"/>
          <p:nvPr/>
        </p:nvSpPr>
        <p:spPr>
          <a:xfrm>
            <a:off x="9814255" y="3374136"/>
            <a:ext cx="1463040"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WE BUILD</a:t>
            </a:r>
            <a:endParaRPr lang="en-US" sz="1050" dirty="0"/>
          </a:p>
        </p:txBody>
      </p:sp>
      <p:sp>
        <p:nvSpPr>
          <p:cNvPr id="15" name="Shape 13"/>
          <p:cNvSpPr/>
          <p:nvPr/>
        </p:nvSpPr>
        <p:spPr>
          <a:xfrm>
            <a:off x="685800" y="4014216"/>
            <a:ext cx="10820095" cy="749808"/>
          </a:xfrm>
          <a:prstGeom prst="roundRect">
            <a:avLst>
              <a:gd name="adj" fmla="val 8537"/>
            </a:avLst>
          </a:prstGeom>
          <a:solidFill>
            <a:srgbClr val="FFFFFF"/>
          </a:solidFill>
          <a:ln w="12700">
            <a:solidFill>
              <a:srgbClr val="E2E4E8"/>
            </a:solidFill>
            <a:prstDash val="solid"/>
          </a:ln>
        </p:spPr>
      </p:sp>
      <p:sp>
        <p:nvSpPr>
          <p:cNvPr id="16" name="Text 14"/>
          <p:cNvSpPr txBox="1"/>
          <p:nvPr/>
        </p:nvSpPr>
        <p:spPr>
          <a:xfrm>
            <a:off x="960120" y="4142232"/>
            <a:ext cx="3462430" cy="493776"/>
          </a:xfrm>
          <a:prstGeom prst="rect">
            <a:avLst/>
          </a:prstGeom>
          <a:noFill/>
          <a:ln/>
        </p:spPr>
        <p:txBody>
          <a:bodyPr wrap="square" lIns="0" tIns="0" rIns="0" bIns="0" rtlCol="0" anchor="ctr"/>
          <a:lstStyle/>
          <a:p>
            <a:pPr indent="0" marL="0">
              <a:lnSpc>
                <a:spcPct val="105000"/>
              </a:lnSpc>
              <a:buNone/>
            </a:pPr>
            <a:r>
              <a:rPr lang="en-US" sz="1500" b="1" dirty="0">
                <a:solidFill>
                  <a:srgbClr val="171B24"/>
                </a:solidFill>
                <a:latin typeface="Cambria" pitchFamily="34" charset="0"/>
                <a:ea typeface="Cambria" pitchFamily="34" charset="-122"/>
                <a:cs typeface="Cambria" pitchFamily="34" charset="-120"/>
              </a:rPr>
              <a:t>Control &amp; safety</a:t>
            </a:r>
            <a:endParaRPr lang="en-US" sz="1500" dirty="0"/>
          </a:p>
        </p:txBody>
      </p:sp>
      <p:sp>
        <p:nvSpPr>
          <p:cNvPr id="17" name="Text 15"/>
          <p:cNvSpPr txBox="1"/>
          <p:nvPr/>
        </p:nvSpPr>
        <p:spPr>
          <a:xfrm>
            <a:off x="4364632" y="4142232"/>
            <a:ext cx="4977244" cy="493776"/>
          </a:xfrm>
          <a:prstGeom prst="rect">
            <a:avLst/>
          </a:prstGeom>
          <a:noFill/>
          <a:ln/>
        </p:spPr>
        <p:txBody>
          <a:bodyPr wrap="square" lIns="0" tIns="0" rIns="0" bIns="0" rtlCol="0" anchor="ctr"/>
          <a:lstStyle/>
          <a:p>
            <a:pPr indent="0" marL="0">
              <a:lnSpc>
                <a:spcPct val="120000"/>
              </a:lnSpc>
              <a:buNone/>
            </a:pPr>
            <a:r>
              <a:rPr lang="en-US" sz="1150" dirty="0">
                <a:solidFill>
                  <a:srgbClr val="5A6472"/>
                </a:solidFill>
                <a:latin typeface="Calibri" pitchFamily="34" charset="0"/>
                <a:ea typeface="Calibri" pitchFamily="34" charset="-122"/>
                <a:cs typeface="Calibri" pitchFamily="34" charset="-120"/>
              </a:rPr>
              <a:t>DERMS, SCADA, anti-islanding — who can actually command a device, and the hardware's own last-line safety logic</a:t>
            </a:r>
            <a:endParaRPr lang="en-US" sz="1150" dirty="0"/>
          </a:p>
        </p:txBody>
      </p:sp>
      <p:sp>
        <p:nvSpPr>
          <p:cNvPr id="18" name="Shape 16"/>
          <p:cNvSpPr/>
          <p:nvPr/>
        </p:nvSpPr>
        <p:spPr>
          <a:xfrm>
            <a:off x="9814255" y="4215384"/>
            <a:ext cx="1463040" cy="347472"/>
          </a:xfrm>
          <a:prstGeom prst="roundRect">
            <a:avLst>
              <a:gd name="adj" fmla="val 50000"/>
            </a:avLst>
          </a:prstGeom>
          <a:solidFill>
            <a:srgbClr val="2F7A4F"/>
          </a:solidFill>
          <a:ln w="12700">
            <a:solidFill>
              <a:srgbClr val="2F7A4F"/>
            </a:solidFill>
            <a:prstDash val="solid"/>
          </a:ln>
        </p:spPr>
      </p:sp>
      <p:sp>
        <p:nvSpPr>
          <p:cNvPr id="19" name="Text 17"/>
          <p:cNvSpPr txBox="1"/>
          <p:nvPr/>
        </p:nvSpPr>
        <p:spPr>
          <a:xfrm>
            <a:off x="9814255" y="4215384"/>
            <a:ext cx="1463040"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EXISTING</a:t>
            </a:r>
            <a:endParaRPr lang="en-US" sz="1050" dirty="0"/>
          </a:p>
        </p:txBody>
      </p:sp>
      <p:sp>
        <p:nvSpPr>
          <p:cNvPr id="20" name="Shape 18"/>
          <p:cNvSpPr/>
          <p:nvPr/>
        </p:nvSpPr>
        <p:spPr>
          <a:xfrm>
            <a:off x="685800" y="4855464"/>
            <a:ext cx="10820095" cy="749808"/>
          </a:xfrm>
          <a:prstGeom prst="roundRect">
            <a:avLst>
              <a:gd name="adj" fmla="val 8537"/>
            </a:avLst>
          </a:prstGeom>
          <a:solidFill>
            <a:srgbClr val="FFFFFF"/>
          </a:solidFill>
          <a:ln w="12700">
            <a:solidFill>
              <a:srgbClr val="E2E4E8"/>
            </a:solidFill>
            <a:prstDash val="solid"/>
          </a:ln>
        </p:spPr>
      </p:sp>
      <p:sp>
        <p:nvSpPr>
          <p:cNvPr id="21" name="Text 19"/>
          <p:cNvSpPr txBox="1"/>
          <p:nvPr/>
        </p:nvSpPr>
        <p:spPr>
          <a:xfrm>
            <a:off x="960120" y="4983480"/>
            <a:ext cx="3462430" cy="493776"/>
          </a:xfrm>
          <a:prstGeom prst="rect">
            <a:avLst/>
          </a:prstGeom>
          <a:noFill/>
          <a:ln/>
        </p:spPr>
        <p:txBody>
          <a:bodyPr wrap="square" lIns="0" tIns="0" rIns="0" bIns="0" rtlCol="0" anchor="ctr"/>
          <a:lstStyle/>
          <a:p>
            <a:pPr indent="0" marL="0">
              <a:lnSpc>
                <a:spcPct val="105000"/>
              </a:lnSpc>
              <a:buNone/>
            </a:pPr>
            <a:r>
              <a:rPr lang="en-US" sz="1500" b="1" dirty="0">
                <a:solidFill>
                  <a:srgbClr val="171B24"/>
                </a:solidFill>
                <a:latin typeface="Cambria" pitchFamily="34" charset="0"/>
                <a:ea typeface="Cambria" pitchFamily="34" charset="-122"/>
                <a:cs typeface="Cambria" pitchFamily="34" charset="-120"/>
              </a:rPr>
              <a:t>Telemetry</a:t>
            </a:r>
            <a:endParaRPr lang="en-US" sz="1500" dirty="0"/>
          </a:p>
        </p:txBody>
      </p:sp>
      <p:sp>
        <p:nvSpPr>
          <p:cNvPr id="22" name="Text 20"/>
          <p:cNvSpPr txBox="1"/>
          <p:nvPr/>
        </p:nvSpPr>
        <p:spPr>
          <a:xfrm>
            <a:off x="4364632" y="4983480"/>
            <a:ext cx="4977244" cy="493776"/>
          </a:xfrm>
          <a:prstGeom prst="rect">
            <a:avLst/>
          </a:prstGeom>
          <a:noFill/>
          <a:ln/>
        </p:spPr>
        <p:txBody>
          <a:bodyPr wrap="square" lIns="0" tIns="0" rIns="0" bIns="0" rtlCol="0" anchor="ctr"/>
          <a:lstStyle/>
          <a:p>
            <a:pPr indent="0" marL="0">
              <a:lnSpc>
                <a:spcPct val="120000"/>
              </a:lnSpc>
              <a:buNone/>
            </a:pPr>
            <a:r>
              <a:rPr lang="en-US" sz="1150" dirty="0">
                <a:solidFill>
                  <a:srgbClr val="5A6472"/>
                </a:solidFill>
                <a:latin typeface="Calibri" pitchFamily="34" charset="0"/>
                <a:ea typeface="Calibri" pitchFamily="34" charset="-122"/>
                <a:cs typeface="Calibri" pitchFamily="34" charset="-120"/>
              </a:rPr>
              <a:t>Smart meters, AMI, HES, MDM — what's actually measured, continuously, by systems already deployed</a:t>
            </a:r>
            <a:endParaRPr lang="en-US" sz="1150" dirty="0"/>
          </a:p>
        </p:txBody>
      </p:sp>
      <p:sp>
        <p:nvSpPr>
          <p:cNvPr id="23" name="Shape 21"/>
          <p:cNvSpPr/>
          <p:nvPr/>
        </p:nvSpPr>
        <p:spPr>
          <a:xfrm>
            <a:off x="9814255" y="5056632"/>
            <a:ext cx="1463040" cy="347472"/>
          </a:xfrm>
          <a:prstGeom prst="roundRect">
            <a:avLst>
              <a:gd name="adj" fmla="val 50000"/>
            </a:avLst>
          </a:prstGeom>
          <a:solidFill>
            <a:srgbClr val="2F7A4F"/>
          </a:solidFill>
          <a:ln w="12700">
            <a:solidFill>
              <a:srgbClr val="2F7A4F"/>
            </a:solidFill>
            <a:prstDash val="solid"/>
          </a:ln>
        </p:spPr>
      </p:sp>
      <p:sp>
        <p:nvSpPr>
          <p:cNvPr id="24" name="Text 22"/>
          <p:cNvSpPr txBox="1"/>
          <p:nvPr/>
        </p:nvSpPr>
        <p:spPr>
          <a:xfrm>
            <a:off x="9814255" y="5056632"/>
            <a:ext cx="1463040"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EXISTING</a:t>
            </a:r>
            <a:endParaRPr lang="en-US" sz="1050" dirty="0"/>
          </a:p>
        </p:txBody>
      </p:sp>
      <p:sp>
        <p:nvSpPr>
          <p:cNvPr id="25" name="Shape 23"/>
          <p:cNvSpPr/>
          <p:nvPr/>
        </p:nvSpPr>
        <p:spPr>
          <a:xfrm>
            <a:off x="685800" y="5696712"/>
            <a:ext cx="10820095" cy="749808"/>
          </a:xfrm>
          <a:prstGeom prst="roundRect">
            <a:avLst>
              <a:gd name="adj" fmla="val 8537"/>
            </a:avLst>
          </a:prstGeom>
          <a:solidFill>
            <a:srgbClr val="FFFFFF"/>
          </a:solidFill>
          <a:ln w="12700">
            <a:solidFill>
              <a:srgbClr val="E2E4E8"/>
            </a:solidFill>
            <a:prstDash val="solid"/>
          </a:ln>
        </p:spPr>
      </p:sp>
      <p:sp>
        <p:nvSpPr>
          <p:cNvPr id="26" name="Text 24"/>
          <p:cNvSpPr txBox="1"/>
          <p:nvPr/>
        </p:nvSpPr>
        <p:spPr>
          <a:xfrm>
            <a:off x="960120" y="5824728"/>
            <a:ext cx="3462430" cy="493776"/>
          </a:xfrm>
          <a:prstGeom prst="rect">
            <a:avLst/>
          </a:prstGeom>
          <a:noFill/>
          <a:ln/>
        </p:spPr>
        <p:txBody>
          <a:bodyPr wrap="square" lIns="0" tIns="0" rIns="0" bIns="0" rtlCol="0" anchor="ctr"/>
          <a:lstStyle/>
          <a:p>
            <a:pPr indent="0" marL="0">
              <a:lnSpc>
                <a:spcPct val="105000"/>
              </a:lnSpc>
              <a:buNone/>
            </a:pPr>
            <a:r>
              <a:rPr lang="en-US" sz="1500" b="1" dirty="0">
                <a:solidFill>
                  <a:srgbClr val="171B24"/>
                </a:solidFill>
                <a:latin typeface="Cambria" pitchFamily="34" charset="0"/>
                <a:ea typeface="Cambria" pitchFamily="34" charset="-122"/>
                <a:cs typeface="Cambria" pitchFamily="34" charset="-120"/>
              </a:rPr>
              <a:t>Physical grid</a:t>
            </a:r>
            <a:endParaRPr lang="en-US" sz="1500" dirty="0"/>
          </a:p>
        </p:txBody>
      </p:sp>
      <p:sp>
        <p:nvSpPr>
          <p:cNvPr id="27" name="Text 25"/>
          <p:cNvSpPr txBox="1"/>
          <p:nvPr/>
        </p:nvSpPr>
        <p:spPr>
          <a:xfrm>
            <a:off x="4364632" y="5824728"/>
            <a:ext cx="4977244" cy="493776"/>
          </a:xfrm>
          <a:prstGeom prst="rect">
            <a:avLst/>
          </a:prstGeom>
          <a:noFill/>
          <a:ln/>
        </p:spPr>
        <p:txBody>
          <a:bodyPr wrap="square" lIns="0" tIns="0" rIns="0" bIns="0" rtlCol="0" anchor="ctr"/>
          <a:lstStyle/>
          <a:p>
            <a:pPr indent="0" marL="0">
              <a:lnSpc>
                <a:spcPct val="120000"/>
              </a:lnSpc>
              <a:buNone/>
            </a:pPr>
            <a:r>
              <a:rPr lang="en-US" sz="1150" dirty="0">
                <a:solidFill>
                  <a:srgbClr val="5A6472"/>
                </a:solidFill>
                <a:latin typeface="Calibri" pitchFamily="34" charset="0"/>
                <a:ea typeface="Calibri" pitchFamily="34" charset="-122"/>
                <a:cs typeface="Calibri" pitchFamily="34" charset="-120"/>
              </a:rPr>
              <a:t>Wires, transformers, feeders, inverters — the actual equipment electricity flows through</a:t>
            </a:r>
            <a:endParaRPr lang="en-US" sz="1150" dirty="0"/>
          </a:p>
        </p:txBody>
      </p:sp>
      <p:sp>
        <p:nvSpPr>
          <p:cNvPr id="28" name="Shape 26"/>
          <p:cNvSpPr/>
          <p:nvPr/>
        </p:nvSpPr>
        <p:spPr>
          <a:xfrm>
            <a:off x="9814255" y="5897880"/>
            <a:ext cx="1463040" cy="347472"/>
          </a:xfrm>
          <a:prstGeom prst="roundRect">
            <a:avLst>
              <a:gd name="adj" fmla="val 50000"/>
            </a:avLst>
          </a:prstGeom>
          <a:solidFill>
            <a:srgbClr val="2F7A4F"/>
          </a:solidFill>
          <a:ln w="12700">
            <a:solidFill>
              <a:srgbClr val="2F7A4F"/>
            </a:solidFill>
            <a:prstDash val="solid"/>
          </a:ln>
        </p:spPr>
      </p:sp>
      <p:sp>
        <p:nvSpPr>
          <p:cNvPr id="29" name="Text 27"/>
          <p:cNvSpPr txBox="1"/>
          <p:nvPr/>
        </p:nvSpPr>
        <p:spPr>
          <a:xfrm>
            <a:off x="9814255" y="5897880"/>
            <a:ext cx="1463040"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EXISTING</a:t>
            </a:r>
            <a:endParaRPr lang="en-US" sz="1050" dirty="0"/>
          </a:p>
        </p:txBody>
      </p:sp>
      <p:sp>
        <p:nvSpPr>
          <p:cNvPr id="30" name="Text 28"/>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01 — The Core Clarification</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01 · THE CORE CLARIFICATION</a:t>
            </a:r>
            <a:endParaRPr lang="en-US" sz="1300" dirty="0"/>
          </a:p>
        </p:txBody>
      </p:sp>
      <p:sp>
        <p:nvSpPr>
          <p:cNvPr id="3" name="Text 1"/>
          <p:cNvSpPr txBox="1"/>
          <p:nvPr/>
        </p:nvSpPr>
        <p:spPr>
          <a:xfrm>
            <a:off x="685800" y="868680"/>
            <a:ext cx="10820095" cy="914400"/>
          </a:xfrm>
          <a:prstGeom prst="rect">
            <a:avLst/>
          </a:prstGeom>
          <a:noFill/>
          <a:ln/>
        </p:spPr>
        <p:txBody>
          <a:bodyPr wrap="square" lIns="0" tIns="0" rIns="0" bIns="0" rtlCol="0" anchor="ctr"/>
          <a:lstStyle/>
          <a:p>
            <a:pPr indent="0" marL="0">
              <a:lnSpc>
                <a:spcPct val="105000"/>
              </a:lnSpc>
              <a:buNone/>
            </a:pPr>
            <a:r>
              <a:rPr lang="en-US" sz="3000" b="1" dirty="0">
                <a:solidFill>
                  <a:srgbClr val="171B24"/>
                </a:solidFill>
                <a:latin typeface="Cambria" pitchFamily="34" charset="0"/>
                <a:ea typeface="Cambria" pitchFamily="34" charset="-122"/>
                <a:cs typeface="Cambria" pitchFamily="34" charset="-120"/>
              </a:rPr>
              <a:t>What stays exactly the same, what we add</a:t>
            </a:r>
            <a:endParaRPr lang="en-US" sz="3000" dirty="0"/>
          </a:p>
        </p:txBody>
      </p:sp>
      <p:sp>
        <p:nvSpPr>
          <p:cNvPr id="4" name="Shape 2"/>
          <p:cNvSpPr/>
          <p:nvPr/>
        </p:nvSpPr>
        <p:spPr>
          <a:xfrm>
            <a:off x="685800" y="2194560"/>
            <a:ext cx="5250028" cy="3931920"/>
          </a:xfrm>
          <a:prstGeom prst="roundRect">
            <a:avLst>
              <a:gd name="adj" fmla="val 1628"/>
            </a:avLst>
          </a:prstGeom>
          <a:solidFill>
            <a:srgbClr val="FFFFFF"/>
          </a:solidFill>
          <a:ln w="12700">
            <a:solidFill>
              <a:srgbClr val="E2E4E8"/>
            </a:solidFill>
            <a:prstDash val="solid"/>
          </a:ln>
        </p:spPr>
      </p:sp>
      <p:sp>
        <p:nvSpPr>
          <p:cNvPr id="5" name="Shape 3"/>
          <p:cNvSpPr/>
          <p:nvPr/>
        </p:nvSpPr>
        <p:spPr>
          <a:xfrm>
            <a:off x="960120" y="2423160"/>
            <a:ext cx="4701388" cy="365760"/>
          </a:xfrm>
          <a:prstGeom prst="roundRect">
            <a:avLst>
              <a:gd name="adj" fmla="val 50000"/>
            </a:avLst>
          </a:prstGeom>
          <a:solidFill>
            <a:srgbClr val="2F7A4F"/>
          </a:solidFill>
          <a:ln w="12700">
            <a:solidFill>
              <a:srgbClr val="2F7A4F"/>
            </a:solidFill>
            <a:prstDash val="solid"/>
          </a:ln>
        </p:spPr>
      </p:sp>
      <p:sp>
        <p:nvSpPr>
          <p:cNvPr id="6" name="Text 4"/>
          <p:cNvSpPr txBox="1"/>
          <p:nvPr/>
        </p:nvSpPr>
        <p:spPr>
          <a:xfrm>
            <a:off x="960120" y="2423160"/>
            <a:ext cx="470138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STAYS THE SAME — NOT OURS</a:t>
            </a:r>
            <a:endParaRPr lang="en-US" sz="1200" dirty="0"/>
          </a:p>
        </p:txBody>
      </p:sp>
      <p:sp>
        <p:nvSpPr>
          <p:cNvPr id="7" name="Shape 5"/>
          <p:cNvSpPr/>
          <p:nvPr/>
        </p:nvSpPr>
        <p:spPr>
          <a:xfrm>
            <a:off x="960120" y="3090672"/>
            <a:ext cx="109728" cy="109728"/>
          </a:xfrm>
          <a:prstGeom prst="ellipse">
            <a:avLst/>
          </a:prstGeom>
          <a:solidFill>
            <a:srgbClr val="2F7A4F"/>
          </a:solidFill>
          <a:ln w="12700">
            <a:solidFill>
              <a:srgbClr val="2F7A4F"/>
            </a:solidFill>
            <a:prstDash val="solid"/>
          </a:ln>
        </p:spPr>
      </p:sp>
      <p:sp>
        <p:nvSpPr>
          <p:cNvPr id="8" name="Text 6"/>
          <p:cNvSpPr txBox="1"/>
          <p:nvPr/>
        </p:nvSpPr>
        <p:spPr>
          <a:xfrm>
            <a:off x="1234440" y="2907792"/>
            <a:ext cx="4427068" cy="548640"/>
          </a:xfrm>
          <a:prstGeom prst="rect">
            <a:avLst/>
          </a:prstGeom>
          <a:noFill/>
          <a:ln/>
        </p:spPr>
        <p:txBody>
          <a:bodyPr wrap="square" lIns="0" tIns="0" rIns="0" bIns="0" rtlCol="0" anchor="ctr"/>
          <a:lstStyle/>
          <a:p>
            <a:pPr indent="0" marL="0">
              <a:lnSpc>
                <a:spcPct val="120000"/>
              </a:lnSpc>
              <a:buNone/>
            </a:pPr>
            <a:r>
              <a:rPr lang="en-US" sz="1250" dirty="0">
                <a:solidFill>
                  <a:srgbClr val="5A6472"/>
                </a:solidFill>
                <a:latin typeface="Calibri" pitchFamily="34" charset="0"/>
                <a:ea typeface="Calibri" pitchFamily="34" charset="-122"/>
                <a:cs typeface="Calibri" pitchFamily="34" charset="-120"/>
              </a:rPr>
              <a:t>How solar physically generates and the inverter converts it</a:t>
            </a:r>
            <a:endParaRPr lang="en-US" sz="1250" dirty="0"/>
          </a:p>
        </p:txBody>
      </p:sp>
      <p:sp>
        <p:nvSpPr>
          <p:cNvPr id="9" name="Shape 7"/>
          <p:cNvSpPr/>
          <p:nvPr/>
        </p:nvSpPr>
        <p:spPr>
          <a:xfrm>
            <a:off x="960120" y="3712464"/>
            <a:ext cx="109728" cy="109728"/>
          </a:xfrm>
          <a:prstGeom prst="ellipse">
            <a:avLst/>
          </a:prstGeom>
          <a:solidFill>
            <a:srgbClr val="2F7A4F"/>
          </a:solidFill>
          <a:ln w="12700">
            <a:solidFill>
              <a:srgbClr val="2F7A4F"/>
            </a:solidFill>
            <a:prstDash val="solid"/>
          </a:ln>
        </p:spPr>
      </p:sp>
      <p:sp>
        <p:nvSpPr>
          <p:cNvPr id="10" name="Text 8"/>
          <p:cNvSpPr txBox="1"/>
          <p:nvPr/>
        </p:nvSpPr>
        <p:spPr>
          <a:xfrm>
            <a:off x="1234440" y="3529584"/>
            <a:ext cx="4427068" cy="548640"/>
          </a:xfrm>
          <a:prstGeom prst="rect">
            <a:avLst/>
          </a:prstGeom>
          <a:noFill/>
          <a:ln/>
        </p:spPr>
        <p:txBody>
          <a:bodyPr wrap="square" lIns="0" tIns="0" rIns="0" bIns="0" rtlCol="0" anchor="ctr"/>
          <a:lstStyle/>
          <a:p>
            <a:pPr indent="0" marL="0">
              <a:lnSpc>
                <a:spcPct val="120000"/>
              </a:lnSpc>
              <a:buNone/>
            </a:pPr>
            <a:r>
              <a:rPr lang="en-US" sz="1250" dirty="0">
                <a:solidFill>
                  <a:srgbClr val="5A6472"/>
                </a:solidFill>
                <a:latin typeface="Calibri" pitchFamily="34" charset="0"/>
                <a:ea typeface="Calibri" pitchFamily="34" charset="-122"/>
                <a:cs typeface="Calibri" pitchFamily="34" charset="-120"/>
              </a:rPr>
              <a:t>Net metering — the measurement of what's imported/exported</a:t>
            </a:r>
            <a:endParaRPr lang="en-US" sz="1250" dirty="0"/>
          </a:p>
        </p:txBody>
      </p:sp>
      <p:sp>
        <p:nvSpPr>
          <p:cNvPr id="11" name="Shape 9"/>
          <p:cNvSpPr/>
          <p:nvPr/>
        </p:nvSpPr>
        <p:spPr>
          <a:xfrm>
            <a:off x="960120" y="4334256"/>
            <a:ext cx="109728" cy="109728"/>
          </a:xfrm>
          <a:prstGeom prst="ellipse">
            <a:avLst/>
          </a:prstGeom>
          <a:solidFill>
            <a:srgbClr val="2F7A4F"/>
          </a:solidFill>
          <a:ln w="12700">
            <a:solidFill>
              <a:srgbClr val="2F7A4F"/>
            </a:solidFill>
            <a:prstDash val="solid"/>
          </a:ln>
        </p:spPr>
      </p:sp>
      <p:sp>
        <p:nvSpPr>
          <p:cNvPr id="12" name="Text 10"/>
          <p:cNvSpPr txBox="1"/>
          <p:nvPr/>
        </p:nvSpPr>
        <p:spPr>
          <a:xfrm>
            <a:off x="1234440" y="4151376"/>
            <a:ext cx="4427068" cy="548640"/>
          </a:xfrm>
          <a:prstGeom prst="rect">
            <a:avLst/>
          </a:prstGeom>
          <a:noFill/>
          <a:ln/>
        </p:spPr>
        <p:txBody>
          <a:bodyPr wrap="square" lIns="0" tIns="0" rIns="0" bIns="0" rtlCol="0" anchor="ctr"/>
          <a:lstStyle/>
          <a:p>
            <a:pPr indent="0" marL="0">
              <a:lnSpc>
                <a:spcPct val="120000"/>
              </a:lnSpc>
              <a:buNone/>
            </a:pPr>
            <a:r>
              <a:rPr lang="en-US" sz="1250" dirty="0">
                <a:solidFill>
                  <a:srgbClr val="5A6472"/>
                </a:solidFill>
                <a:latin typeface="Calibri" pitchFamily="34" charset="0"/>
                <a:ea typeface="Calibri" pitchFamily="34" charset="-122"/>
                <a:cs typeface="Calibri" pitchFamily="34" charset="-120"/>
              </a:rPr>
              <a:t>The DISCOM's own safety and protection systems</a:t>
            </a:r>
            <a:endParaRPr lang="en-US" sz="1250" dirty="0"/>
          </a:p>
        </p:txBody>
      </p:sp>
      <p:sp>
        <p:nvSpPr>
          <p:cNvPr id="13" name="Shape 11"/>
          <p:cNvSpPr/>
          <p:nvPr/>
        </p:nvSpPr>
        <p:spPr>
          <a:xfrm>
            <a:off x="960120" y="4956048"/>
            <a:ext cx="109728" cy="109728"/>
          </a:xfrm>
          <a:prstGeom prst="ellipse">
            <a:avLst/>
          </a:prstGeom>
          <a:solidFill>
            <a:srgbClr val="2F7A4F"/>
          </a:solidFill>
          <a:ln w="12700">
            <a:solidFill>
              <a:srgbClr val="2F7A4F"/>
            </a:solidFill>
            <a:prstDash val="solid"/>
          </a:ln>
        </p:spPr>
      </p:sp>
      <p:sp>
        <p:nvSpPr>
          <p:cNvPr id="14" name="Text 12"/>
          <p:cNvSpPr txBox="1"/>
          <p:nvPr/>
        </p:nvSpPr>
        <p:spPr>
          <a:xfrm>
            <a:off x="1234440" y="4773168"/>
            <a:ext cx="4427068" cy="548640"/>
          </a:xfrm>
          <a:prstGeom prst="rect">
            <a:avLst/>
          </a:prstGeom>
          <a:noFill/>
          <a:ln/>
        </p:spPr>
        <p:txBody>
          <a:bodyPr wrap="square" lIns="0" tIns="0" rIns="0" bIns="0" rtlCol="0" anchor="ctr"/>
          <a:lstStyle/>
          <a:p>
            <a:pPr indent="0" marL="0">
              <a:lnSpc>
                <a:spcPct val="120000"/>
              </a:lnSpc>
              <a:buNone/>
            </a:pPr>
            <a:r>
              <a:rPr lang="en-US" sz="1250" dirty="0">
                <a:solidFill>
                  <a:srgbClr val="5A6472"/>
                </a:solidFill>
                <a:latin typeface="Calibri" pitchFamily="34" charset="0"/>
                <a:ea typeface="Calibri" pitchFamily="34" charset="-122"/>
                <a:cs typeface="Calibri" pitchFamily="34" charset="-120"/>
              </a:rPr>
              <a:t>Hardware export limits enforced at the inverter itself</a:t>
            </a:r>
            <a:endParaRPr lang="en-US" sz="1250" dirty="0"/>
          </a:p>
        </p:txBody>
      </p:sp>
      <p:sp>
        <p:nvSpPr>
          <p:cNvPr id="15" name="Shape 13"/>
          <p:cNvSpPr/>
          <p:nvPr/>
        </p:nvSpPr>
        <p:spPr>
          <a:xfrm>
            <a:off x="960120" y="5577840"/>
            <a:ext cx="109728" cy="109728"/>
          </a:xfrm>
          <a:prstGeom prst="ellipse">
            <a:avLst/>
          </a:prstGeom>
          <a:solidFill>
            <a:srgbClr val="2F7A4F"/>
          </a:solidFill>
          <a:ln w="12700">
            <a:solidFill>
              <a:srgbClr val="2F7A4F"/>
            </a:solidFill>
            <a:prstDash val="solid"/>
          </a:ln>
        </p:spPr>
      </p:sp>
      <p:sp>
        <p:nvSpPr>
          <p:cNvPr id="16" name="Text 14"/>
          <p:cNvSpPr txBox="1"/>
          <p:nvPr/>
        </p:nvSpPr>
        <p:spPr>
          <a:xfrm>
            <a:off x="1234440" y="5394960"/>
            <a:ext cx="4427068" cy="548640"/>
          </a:xfrm>
          <a:prstGeom prst="rect">
            <a:avLst/>
          </a:prstGeom>
          <a:noFill/>
          <a:ln/>
        </p:spPr>
        <p:txBody>
          <a:bodyPr wrap="square" lIns="0" tIns="0" rIns="0" bIns="0" rtlCol="0" anchor="ctr"/>
          <a:lstStyle/>
          <a:p>
            <a:pPr indent="0" marL="0">
              <a:lnSpc>
                <a:spcPct val="120000"/>
              </a:lnSpc>
              <a:buNone/>
            </a:pPr>
            <a:r>
              <a:rPr lang="en-US" sz="1250" dirty="0">
                <a:solidFill>
                  <a:srgbClr val="5A6472"/>
                </a:solidFill>
                <a:latin typeface="Calibri" pitchFamily="34" charset="0"/>
                <a:ea typeface="Calibri" pitchFamily="34" charset="-122"/>
                <a:cs typeface="Calibri" pitchFamily="34" charset="-120"/>
              </a:rPr>
              <a:t>Physical delivery — electrons flow exactly as they always did</a:t>
            </a:r>
            <a:endParaRPr lang="en-US" sz="1250" dirty="0"/>
          </a:p>
        </p:txBody>
      </p:sp>
      <p:sp>
        <p:nvSpPr>
          <p:cNvPr id="17" name="Shape 15"/>
          <p:cNvSpPr/>
          <p:nvPr/>
        </p:nvSpPr>
        <p:spPr>
          <a:xfrm>
            <a:off x="6255868" y="2194560"/>
            <a:ext cx="5250028" cy="3931920"/>
          </a:xfrm>
          <a:prstGeom prst="roundRect">
            <a:avLst>
              <a:gd name="adj" fmla="val 1628"/>
            </a:avLst>
          </a:prstGeom>
          <a:solidFill>
            <a:srgbClr val="2A3242"/>
          </a:solidFill>
          <a:ln w="12700">
            <a:solidFill>
              <a:srgbClr val="2A3242"/>
            </a:solidFill>
            <a:prstDash val="solid"/>
          </a:ln>
        </p:spPr>
      </p:sp>
      <p:sp>
        <p:nvSpPr>
          <p:cNvPr id="18" name="Shape 16"/>
          <p:cNvSpPr/>
          <p:nvPr/>
        </p:nvSpPr>
        <p:spPr>
          <a:xfrm>
            <a:off x="6530188" y="2423160"/>
            <a:ext cx="4701388" cy="365760"/>
          </a:xfrm>
          <a:prstGeom prst="roundRect">
            <a:avLst>
              <a:gd name="adj" fmla="val 50000"/>
            </a:avLst>
          </a:prstGeom>
          <a:solidFill>
            <a:srgbClr val="C07F2A"/>
          </a:solidFill>
          <a:ln w="12700">
            <a:solidFill>
              <a:srgbClr val="C07F2A"/>
            </a:solidFill>
            <a:prstDash val="solid"/>
          </a:ln>
        </p:spPr>
      </p:sp>
      <p:sp>
        <p:nvSpPr>
          <p:cNvPr id="19" name="Text 17"/>
          <p:cNvSpPr txBox="1"/>
          <p:nvPr/>
        </p:nvSpPr>
        <p:spPr>
          <a:xfrm>
            <a:off x="6530188" y="2423160"/>
            <a:ext cx="470138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WE ADD — THIS PROJECT</a:t>
            </a:r>
            <a:endParaRPr lang="en-US" sz="1200" dirty="0"/>
          </a:p>
        </p:txBody>
      </p:sp>
      <p:sp>
        <p:nvSpPr>
          <p:cNvPr id="20" name="Shape 18"/>
          <p:cNvSpPr/>
          <p:nvPr/>
        </p:nvSpPr>
        <p:spPr>
          <a:xfrm>
            <a:off x="6530188" y="3090672"/>
            <a:ext cx="109728" cy="109728"/>
          </a:xfrm>
          <a:prstGeom prst="ellipse">
            <a:avLst/>
          </a:prstGeom>
          <a:solidFill>
            <a:srgbClr val="C07F2A"/>
          </a:solidFill>
          <a:ln w="12700">
            <a:solidFill>
              <a:srgbClr val="C07F2A"/>
            </a:solidFill>
            <a:prstDash val="solid"/>
          </a:ln>
        </p:spPr>
      </p:sp>
      <p:sp>
        <p:nvSpPr>
          <p:cNvPr id="21" name="Text 19"/>
          <p:cNvSpPr txBox="1"/>
          <p:nvPr/>
        </p:nvSpPr>
        <p:spPr>
          <a:xfrm>
            <a:off x="6804508" y="2907792"/>
            <a:ext cx="4427068" cy="548640"/>
          </a:xfrm>
          <a:prstGeom prst="rect">
            <a:avLst/>
          </a:prstGeom>
          <a:noFill/>
          <a:ln/>
        </p:spPr>
        <p:txBody>
          <a:bodyPr wrap="square" lIns="0" tIns="0" rIns="0" bIns="0" rtlCol="0" anchor="ctr"/>
          <a:lstStyle/>
          <a:p>
            <a:pPr indent="0" marL="0">
              <a:lnSpc>
                <a:spcPct val="120000"/>
              </a:lnSpc>
              <a:buNone/>
            </a:pPr>
            <a:r>
              <a:rPr lang="en-US" sz="1250" dirty="0">
                <a:solidFill>
                  <a:srgbClr val="C3CAD6"/>
                </a:solidFill>
                <a:latin typeface="Calibri" pitchFamily="34" charset="0"/>
                <a:ea typeface="Calibri" pitchFamily="34" charset="-122"/>
                <a:cs typeface="Calibri" pitchFamily="34" charset="-120"/>
              </a:rPr>
              <a:t>A shared message format so unrelated companies' systems understand each other</a:t>
            </a:r>
            <a:endParaRPr lang="en-US" sz="1250" dirty="0"/>
          </a:p>
        </p:txBody>
      </p:sp>
      <p:sp>
        <p:nvSpPr>
          <p:cNvPr id="22" name="Shape 20"/>
          <p:cNvSpPr/>
          <p:nvPr/>
        </p:nvSpPr>
        <p:spPr>
          <a:xfrm>
            <a:off x="6530188" y="3712464"/>
            <a:ext cx="109728" cy="109728"/>
          </a:xfrm>
          <a:prstGeom prst="ellipse">
            <a:avLst/>
          </a:prstGeom>
          <a:solidFill>
            <a:srgbClr val="C07F2A"/>
          </a:solidFill>
          <a:ln w="12700">
            <a:solidFill>
              <a:srgbClr val="C07F2A"/>
            </a:solidFill>
            <a:prstDash val="solid"/>
          </a:ln>
        </p:spPr>
      </p:sp>
      <p:sp>
        <p:nvSpPr>
          <p:cNvPr id="23" name="Text 21"/>
          <p:cNvSpPr txBox="1"/>
          <p:nvPr/>
        </p:nvSpPr>
        <p:spPr>
          <a:xfrm>
            <a:off x="6804508" y="3529584"/>
            <a:ext cx="4427068" cy="548640"/>
          </a:xfrm>
          <a:prstGeom prst="rect">
            <a:avLst/>
          </a:prstGeom>
          <a:noFill/>
          <a:ln/>
        </p:spPr>
        <p:txBody>
          <a:bodyPr wrap="square" lIns="0" tIns="0" rIns="0" bIns="0" rtlCol="0" anchor="ctr"/>
          <a:lstStyle/>
          <a:p>
            <a:pPr indent="0" marL="0">
              <a:lnSpc>
                <a:spcPct val="120000"/>
              </a:lnSpc>
              <a:buNone/>
            </a:pPr>
            <a:r>
              <a:rPr lang="en-US" sz="1250" dirty="0">
                <a:solidFill>
                  <a:srgbClr val="C3CAD6"/>
                </a:solidFill>
                <a:latin typeface="Calibri" pitchFamily="34" charset="0"/>
                <a:ea typeface="Calibri" pitchFamily="34" charset="-122"/>
                <a:cs typeface="Calibri" pitchFamily="34" charset="-120"/>
              </a:rPr>
              <a:t>Real commercial rules: penalties, price bands, wheeling charges</a:t>
            </a:r>
            <a:endParaRPr lang="en-US" sz="1250" dirty="0"/>
          </a:p>
        </p:txBody>
      </p:sp>
      <p:sp>
        <p:nvSpPr>
          <p:cNvPr id="24" name="Shape 22"/>
          <p:cNvSpPr/>
          <p:nvPr/>
        </p:nvSpPr>
        <p:spPr>
          <a:xfrm>
            <a:off x="6530188" y="4334256"/>
            <a:ext cx="109728" cy="109728"/>
          </a:xfrm>
          <a:prstGeom prst="ellipse">
            <a:avLst/>
          </a:prstGeom>
          <a:solidFill>
            <a:srgbClr val="C07F2A"/>
          </a:solidFill>
          <a:ln w="12700">
            <a:solidFill>
              <a:srgbClr val="C07F2A"/>
            </a:solidFill>
            <a:prstDash val="solid"/>
          </a:ln>
        </p:spPr>
      </p:sp>
      <p:sp>
        <p:nvSpPr>
          <p:cNvPr id="25" name="Text 23"/>
          <p:cNvSpPr txBox="1"/>
          <p:nvPr/>
        </p:nvSpPr>
        <p:spPr>
          <a:xfrm>
            <a:off x="6804508" y="4151376"/>
            <a:ext cx="4427068" cy="548640"/>
          </a:xfrm>
          <a:prstGeom prst="rect">
            <a:avLst/>
          </a:prstGeom>
          <a:noFill/>
          <a:ln/>
        </p:spPr>
        <p:txBody>
          <a:bodyPr wrap="square" lIns="0" tIns="0" rIns="0" bIns="0" rtlCol="0" anchor="ctr"/>
          <a:lstStyle/>
          <a:p>
            <a:pPr indent="0" marL="0">
              <a:lnSpc>
                <a:spcPct val="120000"/>
              </a:lnSpc>
              <a:buNone/>
            </a:pPr>
            <a:r>
              <a:rPr lang="en-US" sz="1250" dirty="0">
                <a:solidFill>
                  <a:srgbClr val="C3CAD6"/>
                </a:solidFill>
                <a:latin typeface="Calibri" pitchFamily="34" charset="0"/>
                <a:ea typeface="Calibri" pitchFamily="34" charset="-122"/>
                <a:cs typeface="Calibri" pitchFamily="34" charset="-120"/>
              </a:rPr>
              <a:t>A trust/verification layer: signatures, policy checks, dispute pointers</a:t>
            </a:r>
            <a:endParaRPr lang="en-US" sz="1250" dirty="0"/>
          </a:p>
        </p:txBody>
      </p:sp>
      <p:sp>
        <p:nvSpPr>
          <p:cNvPr id="26" name="Shape 24"/>
          <p:cNvSpPr/>
          <p:nvPr/>
        </p:nvSpPr>
        <p:spPr>
          <a:xfrm>
            <a:off x="6530188" y="4956048"/>
            <a:ext cx="109728" cy="109728"/>
          </a:xfrm>
          <a:prstGeom prst="ellipse">
            <a:avLst/>
          </a:prstGeom>
          <a:solidFill>
            <a:srgbClr val="C07F2A"/>
          </a:solidFill>
          <a:ln w="12700">
            <a:solidFill>
              <a:srgbClr val="C07F2A"/>
            </a:solidFill>
            <a:prstDash val="solid"/>
          </a:ln>
        </p:spPr>
      </p:sp>
      <p:sp>
        <p:nvSpPr>
          <p:cNvPr id="27" name="Text 25"/>
          <p:cNvSpPr txBox="1"/>
          <p:nvPr/>
        </p:nvSpPr>
        <p:spPr>
          <a:xfrm>
            <a:off x="6804508" y="4773168"/>
            <a:ext cx="4427068" cy="548640"/>
          </a:xfrm>
          <a:prstGeom prst="rect">
            <a:avLst/>
          </a:prstGeom>
          <a:noFill/>
          <a:ln/>
        </p:spPr>
        <p:txBody>
          <a:bodyPr wrap="square" lIns="0" tIns="0" rIns="0" bIns="0" rtlCol="0" anchor="ctr"/>
          <a:lstStyle/>
          <a:p>
            <a:pPr indent="0" marL="0">
              <a:lnSpc>
                <a:spcPct val="120000"/>
              </a:lnSpc>
              <a:buNone/>
            </a:pPr>
            <a:r>
              <a:rPr lang="en-US" sz="1250" dirty="0">
                <a:solidFill>
                  <a:srgbClr val="C3CAD6"/>
                </a:solidFill>
                <a:latin typeface="Calibri" pitchFamily="34" charset="0"/>
                <a:ea typeface="Calibri" pitchFamily="34" charset="-122"/>
                <a:cs typeface="Calibri" pitchFamily="34" charset="-120"/>
              </a:rPr>
              <a:t>Capacity-aware compliance checks at the commercial layer</a:t>
            </a:r>
            <a:endParaRPr lang="en-US" sz="1250" dirty="0"/>
          </a:p>
        </p:txBody>
      </p:sp>
      <p:sp>
        <p:nvSpPr>
          <p:cNvPr id="28" name="Shape 26"/>
          <p:cNvSpPr/>
          <p:nvPr/>
        </p:nvSpPr>
        <p:spPr>
          <a:xfrm>
            <a:off x="6530188" y="5577840"/>
            <a:ext cx="109728" cy="109728"/>
          </a:xfrm>
          <a:prstGeom prst="ellipse">
            <a:avLst/>
          </a:prstGeom>
          <a:solidFill>
            <a:srgbClr val="C07F2A"/>
          </a:solidFill>
          <a:ln w="12700">
            <a:solidFill>
              <a:srgbClr val="C07F2A"/>
            </a:solidFill>
            <a:prstDash val="solid"/>
          </a:ln>
        </p:spPr>
      </p:sp>
      <p:sp>
        <p:nvSpPr>
          <p:cNvPr id="29" name="Text 27"/>
          <p:cNvSpPr txBox="1"/>
          <p:nvPr/>
        </p:nvSpPr>
        <p:spPr>
          <a:xfrm>
            <a:off x="6804508" y="5394960"/>
            <a:ext cx="4427068" cy="548640"/>
          </a:xfrm>
          <a:prstGeom prst="rect">
            <a:avLst/>
          </a:prstGeom>
          <a:noFill/>
          <a:ln/>
        </p:spPr>
        <p:txBody>
          <a:bodyPr wrap="square" lIns="0" tIns="0" rIns="0" bIns="0" rtlCol="0" anchor="ctr"/>
          <a:lstStyle/>
          <a:p>
            <a:pPr indent="0" marL="0">
              <a:lnSpc>
                <a:spcPct val="120000"/>
              </a:lnSpc>
              <a:buNone/>
            </a:pPr>
            <a:r>
              <a:rPr lang="en-US" sz="1250" dirty="0">
                <a:solidFill>
                  <a:srgbClr val="C3CAD6"/>
                </a:solidFill>
                <a:latin typeface="Calibri" pitchFamily="34" charset="0"/>
                <a:ea typeface="Calibri" pitchFamily="34" charset="-122"/>
                <a:cs typeface="Calibri" pitchFamily="34" charset="-120"/>
              </a:rPr>
              <a:t>An accounting claim on top of a measured, already-happening export</a:t>
            </a:r>
            <a:endParaRPr lang="en-US" sz="1250" dirty="0"/>
          </a:p>
        </p:txBody>
      </p:sp>
      <p:sp>
        <p:nvSpPr>
          <p:cNvPr id="30" name="Text 28"/>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01 — The Core Clarification</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01 · THE CORE CLARIFICATION</a:t>
            </a:r>
            <a:endParaRPr lang="en-US" sz="1300" dirty="0"/>
          </a:p>
        </p:txBody>
      </p:sp>
      <p:sp>
        <p:nvSpPr>
          <p:cNvPr id="3" name="Text 1"/>
          <p:cNvSpPr txBox="1"/>
          <p:nvPr/>
        </p:nvSpPr>
        <p:spPr>
          <a:xfrm>
            <a:off x="685800" y="868680"/>
            <a:ext cx="10820095" cy="914400"/>
          </a:xfrm>
          <a:prstGeom prst="rect">
            <a:avLst/>
          </a:prstGeom>
          <a:noFill/>
          <a:ln/>
        </p:spPr>
        <p:txBody>
          <a:bodyPr wrap="square" lIns="0" tIns="0" rIns="0" bIns="0" rtlCol="0" anchor="ctr"/>
          <a:lstStyle/>
          <a:p>
            <a:pPr indent="0" marL="0">
              <a:lnSpc>
                <a:spcPct val="105000"/>
              </a:lnSpc>
              <a:buNone/>
            </a:pPr>
            <a:r>
              <a:rPr lang="en-US" sz="3000" b="1" dirty="0">
                <a:solidFill>
                  <a:srgbClr val="FFFFFF"/>
                </a:solidFill>
                <a:latin typeface="Cambria" pitchFamily="34" charset="0"/>
                <a:ea typeface="Cambria" pitchFamily="34" charset="-122"/>
                <a:cs typeface="Cambria" pitchFamily="34" charset="-120"/>
              </a:rPr>
              <a:t>A trade doesn't move electrons to a buyer</a:t>
            </a:r>
            <a:endParaRPr lang="en-US" sz="3000" dirty="0"/>
          </a:p>
        </p:txBody>
      </p:sp>
      <p:sp>
        <p:nvSpPr>
          <p:cNvPr id="4" name="Text 2"/>
          <p:cNvSpPr txBox="1"/>
          <p:nvPr/>
        </p:nvSpPr>
        <p:spPr>
          <a:xfrm>
            <a:off x="685800" y="1783080"/>
            <a:ext cx="10820095" cy="548640"/>
          </a:xfrm>
          <a:prstGeom prst="rect">
            <a:avLst/>
          </a:prstGeom>
          <a:noFill/>
          <a:ln/>
        </p:spPr>
        <p:txBody>
          <a:bodyPr wrap="square" lIns="0" tIns="0" rIns="0" bIns="0" rtlCol="0" anchor="ctr"/>
          <a:lstStyle/>
          <a:p>
            <a:pPr indent="0" marL="0">
              <a:buNone/>
            </a:pPr>
            <a:r>
              <a:rPr lang="en-US" sz="1500" dirty="0">
                <a:solidFill>
                  <a:srgbClr val="A9B2C0"/>
                </a:solidFill>
                <a:latin typeface="Calibri" pitchFamily="34" charset="0"/>
                <a:ea typeface="Calibri" pitchFamily="34" charset="-122"/>
                <a:cs typeface="Calibri" pitchFamily="34" charset="-120"/>
              </a:rPr>
              <a:t>This single fact resolves most of the “how does this actually work physically” confusion.</a:t>
            </a:r>
            <a:endParaRPr lang="en-US" sz="1500" dirty="0"/>
          </a:p>
        </p:txBody>
      </p:sp>
      <p:sp>
        <p:nvSpPr>
          <p:cNvPr id="5" name="Shape 3"/>
          <p:cNvSpPr/>
          <p:nvPr/>
        </p:nvSpPr>
        <p:spPr>
          <a:xfrm>
            <a:off x="685800" y="2514600"/>
            <a:ext cx="54864" cy="1371600"/>
          </a:xfrm>
          <a:prstGeom prst="rect">
            <a:avLst/>
          </a:prstGeom>
          <a:solidFill>
            <a:srgbClr val="C07F2A"/>
          </a:solidFill>
          <a:ln w="12700">
            <a:solidFill>
              <a:srgbClr val="C07F2A"/>
            </a:solidFill>
            <a:prstDash val="solid"/>
          </a:ln>
        </p:spPr>
      </p:sp>
      <p:sp>
        <p:nvSpPr>
          <p:cNvPr id="6" name="Shape 4"/>
          <p:cNvSpPr/>
          <p:nvPr/>
        </p:nvSpPr>
        <p:spPr>
          <a:xfrm>
            <a:off x="740664" y="2514600"/>
            <a:ext cx="10765231" cy="1371600"/>
          </a:xfrm>
          <a:prstGeom prst="roundRect">
            <a:avLst>
              <a:gd name="adj" fmla="val 4667"/>
            </a:avLst>
          </a:prstGeom>
          <a:solidFill>
            <a:srgbClr val="FFFFFF"/>
          </a:solidFill>
          <a:ln w="12700">
            <a:solidFill>
              <a:srgbClr val="FFFFFF"/>
            </a:solidFill>
            <a:prstDash val="solid"/>
          </a:ln>
        </p:spPr>
      </p:sp>
      <p:sp>
        <p:nvSpPr>
          <p:cNvPr id="7" name="Text 5"/>
          <p:cNvSpPr txBox="1"/>
          <p:nvPr/>
        </p:nvSpPr>
        <p:spPr>
          <a:xfrm>
            <a:off x="1005840" y="2587752"/>
            <a:ext cx="10225735" cy="914400"/>
          </a:xfrm>
          <a:prstGeom prst="rect">
            <a:avLst/>
          </a:prstGeom>
          <a:noFill/>
          <a:ln/>
        </p:spPr>
        <p:txBody>
          <a:bodyPr wrap="square" lIns="0" tIns="0" rIns="0" bIns="0" rtlCol="0" anchor="ctr"/>
          <a:lstStyle/>
          <a:p>
            <a:pPr indent="0" marL="0">
              <a:lnSpc>
                <a:spcPct val="115000"/>
              </a:lnSpc>
              <a:buNone/>
            </a:pPr>
            <a:r>
              <a:rPr lang="en-US" sz="1350" i="1" dirty="0">
                <a:solidFill>
                  <a:srgbClr val="171B24"/>
                </a:solidFill>
                <a:latin typeface="Calibri" pitchFamily="34" charset="0"/>
                <a:ea typeface="Calibri" pitchFamily="34" charset="-122"/>
                <a:cs typeface="Calibri" pitchFamily="34" charset="-120"/>
              </a:rPr>
              <a:t>The grid is one shared pool from the moment electrons leave an inverter. There is no “this electron belongs to buyer X” mechanism, and there never will be — electrons are indistinguishable. A trade relabels a measured export that was going to happen anyway.</a:t>
            </a:r>
            <a:endParaRPr lang="en-US" sz="1350" dirty="0"/>
          </a:p>
        </p:txBody>
      </p:sp>
      <p:sp>
        <p:nvSpPr>
          <p:cNvPr id="8" name="Text 6"/>
          <p:cNvSpPr txBox="1"/>
          <p:nvPr/>
        </p:nvSpPr>
        <p:spPr>
          <a:xfrm>
            <a:off x="1005840" y="3566160"/>
            <a:ext cx="10225735" cy="274320"/>
          </a:xfrm>
          <a:prstGeom prst="rect">
            <a:avLst/>
          </a:prstGeom>
          <a:noFill/>
          <a:ln/>
        </p:spPr>
        <p:txBody>
          <a:bodyPr wrap="square" lIns="0" tIns="0" rIns="0" bIns="0" rtlCol="0" anchor="ctr"/>
          <a:lstStyle/>
          <a:p>
            <a:pPr indent="0" marL="0">
              <a:buNone/>
            </a:pPr>
            <a:r>
              <a:rPr lang="en-US" sz="1050" dirty="0">
                <a:solidFill>
                  <a:srgbClr val="8A94A6"/>
                </a:solidFill>
                <a:latin typeface="Calibri" pitchFamily="34" charset="0"/>
                <a:ea typeface="Calibri" pitchFamily="34" charset="-122"/>
                <a:cs typeface="Calibri" pitchFamily="34" charset="-120"/>
              </a:rPr>
              <a:t>What actually happens, physically</a:t>
            </a:r>
            <a:endParaRPr lang="en-US" sz="1050" dirty="0"/>
          </a:p>
        </p:txBody>
      </p:sp>
      <p:sp>
        <p:nvSpPr>
          <p:cNvPr id="9" name="Shape 7"/>
          <p:cNvSpPr/>
          <p:nvPr/>
        </p:nvSpPr>
        <p:spPr>
          <a:xfrm>
            <a:off x="685800" y="4069080"/>
            <a:ext cx="54864" cy="1371600"/>
          </a:xfrm>
          <a:prstGeom prst="rect">
            <a:avLst/>
          </a:prstGeom>
          <a:solidFill>
            <a:srgbClr val="2F7A4F"/>
          </a:solidFill>
          <a:ln w="12700">
            <a:solidFill>
              <a:srgbClr val="2F7A4F"/>
            </a:solidFill>
            <a:prstDash val="solid"/>
          </a:ln>
        </p:spPr>
      </p:sp>
      <p:sp>
        <p:nvSpPr>
          <p:cNvPr id="10" name="Shape 8"/>
          <p:cNvSpPr/>
          <p:nvPr/>
        </p:nvSpPr>
        <p:spPr>
          <a:xfrm>
            <a:off x="740664" y="4069080"/>
            <a:ext cx="10765231" cy="1371600"/>
          </a:xfrm>
          <a:prstGeom prst="roundRect">
            <a:avLst>
              <a:gd name="adj" fmla="val 4667"/>
            </a:avLst>
          </a:prstGeom>
          <a:solidFill>
            <a:srgbClr val="FFFFFF"/>
          </a:solidFill>
          <a:ln w="12700">
            <a:solidFill>
              <a:srgbClr val="FFFFFF"/>
            </a:solidFill>
            <a:prstDash val="solid"/>
          </a:ln>
        </p:spPr>
      </p:sp>
      <p:sp>
        <p:nvSpPr>
          <p:cNvPr id="11" name="Text 9"/>
          <p:cNvSpPr txBox="1"/>
          <p:nvPr/>
        </p:nvSpPr>
        <p:spPr>
          <a:xfrm>
            <a:off x="1005840" y="4142232"/>
            <a:ext cx="10225735" cy="914400"/>
          </a:xfrm>
          <a:prstGeom prst="rect">
            <a:avLst/>
          </a:prstGeom>
          <a:noFill/>
          <a:ln/>
        </p:spPr>
        <p:txBody>
          <a:bodyPr wrap="square" lIns="0" tIns="0" rIns="0" bIns="0" rtlCol="0" anchor="ctr"/>
          <a:lstStyle/>
          <a:p>
            <a:pPr indent="0" marL="0">
              <a:lnSpc>
                <a:spcPct val="115000"/>
              </a:lnSpc>
              <a:buNone/>
            </a:pPr>
            <a:r>
              <a:rPr lang="en-US" sz="1350" i="1" dirty="0">
                <a:solidFill>
                  <a:srgbClr val="171B24"/>
                </a:solidFill>
                <a:latin typeface="Calibri" pitchFamily="34" charset="0"/>
                <a:ea typeface="Calibri" pitchFamily="34" charset="-122"/>
                <a:cs typeface="Calibri" pitchFamily="34" charset="-120"/>
              </a:rPr>
              <a:t>This is exactly the same principle behind Renewable Energy Certificates and “green tariff” electricity, which predate P2P trading by decades — you never get “solar electrons” into your socket, you buy a verified accounting claim against a shared physical pool.</a:t>
            </a:r>
            <a:endParaRPr lang="en-US" sz="1350" dirty="0"/>
          </a:p>
        </p:txBody>
      </p:sp>
      <p:sp>
        <p:nvSpPr>
          <p:cNvPr id="12" name="Text 10"/>
          <p:cNvSpPr txBox="1"/>
          <p:nvPr/>
        </p:nvSpPr>
        <p:spPr>
          <a:xfrm>
            <a:off x="1005840" y="5120640"/>
            <a:ext cx="10225735" cy="274320"/>
          </a:xfrm>
          <a:prstGeom prst="rect">
            <a:avLst/>
          </a:prstGeom>
          <a:noFill/>
          <a:ln/>
        </p:spPr>
        <p:txBody>
          <a:bodyPr wrap="square" lIns="0" tIns="0" rIns="0" bIns="0" rtlCol="0" anchor="ctr"/>
          <a:lstStyle/>
          <a:p>
            <a:pPr indent="0" marL="0">
              <a:buNone/>
            </a:pPr>
            <a:r>
              <a:rPr lang="en-US" sz="1050" dirty="0">
                <a:solidFill>
                  <a:srgbClr val="8A94A6"/>
                </a:solidFill>
                <a:latin typeface="Calibri" pitchFamily="34" charset="0"/>
                <a:ea typeface="Calibri" pitchFamily="34" charset="-122"/>
                <a:cs typeface="Calibri" pitchFamily="34" charset="-120"/>
              </a:rPr>
              <a:t>The real-world precedent</a:t>
            </a:r>
            <a:endParaRPr lang="en-US" sz="1050" dirty="0"/>
          </a:p>
        </p:txBody>
      </p:sp>
      <p:sp>
        <p:nvSpPr>
          <p:cNvPr id="13" name="Text 11"/>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01 — The Core Clarification</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85800" y="2651760"/>
            <a:ext cx="1828800" cy="457200"/>
          </a:xfrm>
          <a:prstGeom prst="rect">
            <a:avLst/>
          </a:prstGeom>
          <a:noFill/>
          <a:ln/>
        </p:spPr>
        <p:txBody>
          <a:bodyPr wrap="square" lIns="0" tIns="0" rIns="0" bIns="0" rtlCol="0" anchor="ctr"/>
          <a:lstStyle/>
          <a:p>
            <a:pPr indent="0" marL="0">
              <a:buNone/>
            </a:pPr>
            <a:r>
              <a:rPr lang="en-US" sz="2200" b="1" dirty="0">
                <a:solidFill>
                  <a:srgbClr val="C07F2A"/>
                </a:solidFill>
                <a:latin typeface="Calibri" pitchFamily="34" charset="0"/>
                <a:ea typeface="Calibri" pitchFamily="34" charset="-122"/>
                <a:cs typeface="Calibri" pitchFamily="34" charset="-120"/>
              </a:rPr>
              <a:t>02</a:t>
            </a:r>
            <a:endParaRPr lang="en-US" sz="2200" dirty="0"/>
          </a:p>
        </p:txBody>
      </p:sp>
      <p:sp>
        <p:nvSpPr>
          <p:cNvPr id="3" name="Text 1"/>
          <p:cNvSpPr txBox="1"/>
          <p:nvPr/>
        </p:nvSpPr>
        <p:spPr>
          <a:xfrm>
            <a:off x="685800" y="3063240"/>
            <a:ext cx="10515600" cy="11887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Electricity 101</a:t>
            </a:r>
            <a:endParaRPr lang="en-US" sz="3800" dirty="0"/>
          </a:p>
        </p:txBody>
      </p:sp>
      <p:sp>
        <p:nvSpPr>
          <p:cNvPr id="4" name="Text 2"/>
          <p:cNvSpPr txBox="1"/>
          <p:nvPr/>
        </p:nvSpPr>
        <p:spPr>
          <a:xfrm>
            <a:off x="685800" y="4114800"/>
            <a:ext cx="9784080" cy="731520"/>
          </a:xfrm>
          <a:prstGeom prst="rect">
            <a:avLst/>
          </a:prstGeom>
          <a:noFill/>
          <a:ln/>
        </p:spPr>
        <p:txBody>
          <a:bodyPr wrap="square" lIns="0" tIns="0" rIns="0" bIns="0" rtlCol="0" anchor="ctr"/>
          <a:lstStyle/>
          <a:p>
            <a:pPr indent="0" marL="0">
              <a:lnSpc>
                <a:spcPct val="130000"/>
              </a:lnSpc>
              <a:buNone/>
            </a:pPr>
            <a:r>
              <a:rPr lang="en-US" sz="1700" dirty="0">
                <a:solidFill>
                  <a:srgbClr val="A9B2C0"/>
                </a:solidFill>
                <a:latin typeface="Calibri" pitchFamily="34" charset="0"/>
                <a:ea typeface="Calibri" pitchFamily="34" charset="-122"/>
                <a:cs typeface="Calibri" pitchFamily="34" charset="-120"/>
              </a:rPr>
              <a:t>kW vs. kWh, and what “excess electricity” actually means — the physical intuition everything else builds on.</a:t>
            </a:r>
            <a:endParaRPr lang="en-US" sz="17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02 · ELECTRICITY 101</a:t>
            </a:r>
            <a:endParaRPr lang="en-US" sz="1300" dirty="0"/>
          </a:p>
        </p:txBody>
      </p:sp>
      <p:sp>
        <p:nvSpPr>
          <p:cNvPr id="3" name="Text 1"/>
          <p:cNvSpPr txBox="1"/>
          <p:nvPr/>
        </p:nvSpPr>
        <p:spPr>
          <a:xfrm>
            <a:off x="685800" y="868680"/>
            <a:ext cx="10820095" cy="914400"/>
          </a:xfrm>
          <a:prstGeom prst="rect">
            <a:avLst/>
          </a:prstGeom>
          <a:noFill/>
          <a:ln/>
        </p:spPr>
        <p:txBody>
          <a:bodyPr wrap="square" lIns="0" tIns="0" rIns="0" bIns="0" rtlCol="0" anchor="ctr"/>
          <a:lstStyle/>
          <a:p>
            <a:pPr indent="0" marL="0">
              <a:lnSpc>
                <a:spcPct val="105000"/>
              </a:lnSpc>
              <a:buNone/>
            </a:pPr>
            <a:r>
              <a:rPr lang="en-US" sz="3000" b="1" dirty="0">
                <a:solidFill>
                  <a:srgbClr val="171B24"/>
                </a:solidFill>
                <a:latin typeface="Cambria" pitchFamily="34" charset="0"/>
                <a:ea typeface="Cambria" pitchFamily="34" charset="-122"/>
                <a:cs typeface="Cambria" pitchFamily="34" charset="-120"/>
              </a:rPr>
              <a:t>kW is a rate. kWh is an amount.</a:t>
            </a:r>
            <a:endParaRPr lang="en-US" sz="3000" dirty="0"/>
          </a:p>
        </p:txBody>
      </p:sp>
      <p:sp>
        <p:nvSpPr>
          <p:cNvPr id="4" name="Text 2"/>
          <p:cNvSpPr txBox="1"/>
          <p:nvPr/>
        </p:nvSpPr>
        <p:spPr>
          <a:xfrm>
            <a:off x="685800" y="1783080"/>
            <a:ext cx="10820095" cy="548640"/>
          </a:xfrm>
          <a:prstGeom prst="rect">
            <a:avLst/>
          </a:prstGeom>
          <a:noFill/>
          <a:ln/>
        </p:spPr>
        <p:txBody>
          <a:bodyPr wrap="square" lIns="0" tIns="0" rIns="0" bIns="0" rtlCol="0" anchor="ctr"/>
          <a:lstStyle/>
          <a:p>
            <a:pPr indent="0" marL="0">
              <a:buNone/>
            </a:pPr>
            <a:r>
              <a:rPr lang="en-US" sz="1500" dirty="0">
                <a:solidFill>
                  <a:srgbClr val="5A6472"/>
                </a:solidFill>
                <a:latin typeface="Calibri" pitchFamily="34" charset="0"/>
                <a:ea typeface="Calibri" pitchFamily="34" charset="-122"/>
                <a:cs typeface="Calibri" pitchFamily="34" charset="-120"/>
              </a:rPr>
              <a:t>Think of electricity like water through a tap.</a:t>
            </a:r>
            <a:endParaRPr lang="en-US" sz="1500" dirty="0"/>
          </a:p>
        </p:txBody>
      </p:sp>
      <p:sp>
        <p:nvSpPr>
          <p:cNvPr id="5" name="Shape 3"/>
          <p:cNvSpPr/>
          <p:nvPr/>
        </p:nvSpPr>
        <p:spPr>
          <a:xfrm>
            <a:off x="685800" y="2240280"/>
            <a:ext cx="5250028" cy="2286000"/>
          </a:xfrm>
          <a:prstGeom prst="roundRect">
            <a:avLst>
              <a:gd name="adj" fmla="val 2800"/>
            </a:avLst>
          </a:prstGeom>
          <a:solidFill>
            <a:srgbClr val="FFFFFF"/>
          </a:solidFill>
          <a:ln w="12700">
            <a:solidFill>
              <a:srgbClr val="E2E4E8"/>
            </a:solidFill>
            <a:prstDash val="solid"/>
          </a:ln>
        </p:spPr>
      </p:sp>
      <p:sp>
        <p:nvSpPr>
          <p:cNvPr id="6" name="Shape 4"/>
          <p:cNvSpPr/>
          <p:nvPr/>
        </p:nvSpPr>
        <p:spPr>
          <a:xfrm>
            <a:off x="960120" y="2441448"/>
            <a:ext cx="2194560" cy="365760"/>
          </a:xfrm>
          <a:prstGeom prst="roundRect">
            <a:avLst>
              <a:gd name="adj" fmla="val 50000"/>
            </a:avLst>
          </a:prstGeom>
          <a:solidFill>
            <a:srgbClr val="C07F2A"/>
          </a:solidFill>
          <a:ln w="12700">
            <a:solidFill>
              <a:srgbClr val="C07F2A"/>
            </a:solidFill>
            <a:prstDash val="solid"/>
          </a:ln>
        </p:spPr>
      </p:sp>
      <p:sp>
        <p:nvSpPr>
          <p:cNvPr id="7" name="Text 5"/>
          <p:cNvSpPr txBox="1"/>
          <p:nvPr/>
        </p:nvSpPr>
        <p:spPr>
          <a:xfrm>
            <a:off x="960120" y="2441448"/>
            <a:ext cx="2194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kW — KILOWATT</a:t>
            </a:r>
            <a:endParaRPr lang="en-US" sz="1200" dirty="0"/>
          </a:p>
        </p:txBody>
      </p:sp>
      <p:sp>
        <p:nvSpPr>
          <p:cNvPr id="8" name="Text 6"/>
          <p:cNvSpPr txBox="1"/>
          <p:nvPr/>
        </p:nvSpPr>
        <p:spPr>
          <a:xfrm>
            <a:off x="960120" y="2971800"/>
            <a:ext cx="4701388" cy="1371600"/>
          </a:xfrm>
          <a:prstGeom prst="rect">
            <a:avLst/>
          </a:prstGeom>
          <a:noFill/>
          <a:ln/>
        </p:spPr>
        <p:txBody>
          <a:bodyPr wrap="square" lIns="0" tIns="0" rIns="0" bIns="0" rtlCol="0" anchor="ctr"/>
          <a:lstStyle/>
          <a:p>
            <a:pPr indent="0" marL="0">
              <a:lnSpc>
                <a:spcPct val="125000"/>
              </a:lnSpc>
              <a:buNone/>
            </a:pPr>
            <a:r>
              <a:rPr lang="en-US" sz="1300" dirty="0">
                <a:solidFill>
                  <a:srgbClr val="5A6472"/>
                </a:solidFill>
                <a:latin typeface="Calibri" pitchFamily="34" charset="0"/>
                <a:ea typeface="Calibri" pitchFamily="34" charset="-122"/>
                <a:cs typeface="Calibri" pitchFamily="34" charset="-120"/>
              </a:rPr>
              <a:t>The RATE right now — like litres per minute from a tap. A “5 kW panel” means: at full midday sun, it can push energy out at that rate. It doesn't mean it always does.</a:t>
            </a:r>
            <a:endParaRPr lang="en-US" sz="1300" dirty="0"/>
          </a:p>
        </p:txBody>
      </p:sp>
      <p:sp>
        <p:nvSpPr>
          <p:cNvPr id="9" name="Shape 7"/>
          <p:cNvSpPr/>
          <p:nvPr/>
        </p:nvSpPr>
        <p:spPr>
          <a:xfrm>
            <a:off x="6255868" y="2240280"/>
            <a:ext cx="5250028" cy="2286000"/>
          </a:xfrm>
          <a:prstGeom prst="roundRect">
            <a:avLst>
              <a:gd name="adj" fmla="val 2800"/>
            </a:avLst>
          </a:prstGeom>
          <a:solidFill>
            <a:srgbClr val="FFFFFF"/>
          </a:solidFill>
          <a:ln w="12700">
            <a:solidFill>
              <a:srgbClr val="E2E4E8"/>
            </a:solidFill>
            <a:prstDash val="solid"/>
          </a:ln>
        </p:spPr>
      </p:sp>
      <p:sp>
        <p:nvSpPr>
          <p:cNvPr id="10" name="Shape 8"/>
          <p:cNvSpPr/>
          <p:nvPr/>
        </p:nvSpPr>
        <p:spPr>
          <a:xfrm>
            <a:off x="6530188" y="2441448"/>
            <a:ext cx="2560320" cy="365760"/>
          </a:xfrm>
          <a:prstGeom prst="roundRect">
            <a:avLst>
              <a:gd name="adj" fmla="val 50000"/>
            </a:avLst>
          </a:prstGeom>
          <a:solidFill>
            <a:srgbClr val="2F7A4F"/>
          </a:solidFill>
          <a:ln w="12700">
            <a:solidFill>
              <a:srgbClr val="2F7A4F"/>
            </a:solidFill>
            <a:prstDash val="solid"/>
          </a:ln>
        </p:spPr>
      </p:sp>
      <p:sp>
        <p:nvSpPr>
          <p:cNvPr id="11" name="Text 9"/>
          <p:cNvSpPr txBox="1"/>
          <p:nvPr/>
        </p:nvSpPr>
        <p:spPr>
          <a:xfrm>
            <a:off x="6530188" y="2441448"/>
            <a:ext cx="256032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kWh — KILOWATT-HOUR</a:t>
            </a:r>
            <a:endParaRPr lang="en-US" sz="1200" dirty="0"/>
          </a:p>
        </p:txBody>
      </p:sp>
      <p:sp>
        <p:nvSpPr>
          <p:cNvPr id="12" name="Text 10"/>
          <p:cNvSpPr txBox="1"/>
          <p:nvPr/>
        </p:nvSpPr>
        <p:spPr>
          <a:xfrm>
            <a:off x="6530188" y="2971800"/>
            <a:ext cx="4701388" cy="1371600"/>
          </a:xfrm>
          <a:prstGeom prst="rect">
            <a:avLst/>
          </a:prstGeom>
          <a:noFill/>
          <a:ln/>
        </p:spPr>
        <p:txBody>
          <a:bodyPr wrap="square" lIns="0" tIns="0" rIns="0" bIns="0" rtlCol="0" anchor="ctr"/>
          <a:lstStyle/>
          <a:p>
            <a:pPr indent="0" marL="0">
              <a:lnSpc>
                <a:spcPct val="125000"/>
              </a:lnSpc>
              <a:buNone/>
            </a:pPr>
            <a:r>
              <a:rPr lang="en-US" sz="1300" dirty="0">
                <a:solidFill>
                  <a:srgbClr val="5A6472"/>
                </a:solidFill>
                <a:latin typeface="Calibri" pitchFamily="34" charset="0"/>
                <a:ea typeface="Calibri" pitchFamily="34" charset="-122"/>
                <a:cs typeface="Calibri" pitchFamily="34" charset="-120"/>
              </a:rPr>
              <a:t>The AMOUNT collected over time — like litres filling a bucket after an hour. Your bill's “units” are kWh. A 5 kW system might realistically generate ~20–25 kWh across one good day, not 120.</a:t>
            </a:r>
            <a:endParaRPr lang="en-US" sz="1300" dirty="0"/>
          </a:p>
        </p:txBody>
      </p:sp>
      <p:sp>
        <p:nvSpPr>
          <p:cNvPr id="13" name="Shape 11"/>
          <p:cNvSpPr/>
          <p:nvPr/>
        </p:nvSpPr>
        <p:spPr>
          <a:xfrm>
            <a:off x="685800" y="4800600"/>
            <a:ext cx="10820095" cy="1005840"/>
          </a:xfrm>
          <a:prstGeom prst="roundRect">
            <a:avLst>
              <a:gd name="adj" fmla="val 6364"/>
            </a:avLst>
          </a:prstGeom>
          <a:solidFill>
            <a:srgbClr val="2A3242"/>
          </a:solidFill>
          <a:ln w="12700">
            <a:solidFill>
              <a:srgbClr val="2A3242"/>
            </a:solidFill>
            <a:prstDash val="solid"/>
          </a:ln>
        </p:spPr>
      </p:sp>
      <p:sp>
        <p:nvSpPr>
          <p:cNvPr id="14" name="Text 12"/>
          <p:cNvSpPr txBox="1"/>
          <p:nvPr/>
        </p:nvSpPr>
        <p:spPr>
          <a:xfrm>
            <a:off x="1005840" y="4937760"/>
            <a:ext cx="10180015" cy="731520"/>
          </a:xfrm>
          <a:prstGeom prst="rect">
            <a:avLst/>
          </a:prstGeom>
          <a:noFill/>
          <a:ln/>
        </p:spPr>
        <p:txBody>
          <a:bodyPr wrap="square" lIns="0" tIns="0" rIns="0" bIns="0" rtlCol="0" anchor="ctr"/>
          <a:lstStyle/>
          <a:p>
            <a:pPr indent="0" marL="0">
              <a:lnSpc>
                <a:spcPct val="125000"/>
              </a:lnSpc>
              <a:buNone/>
            </a:pPr>
            <a:r>
              <a:rPr lang="en-US" sz="1450" b="1" dirty="0">
                <a:solidFill>
                  <a:srgbClr val="FFFFFF"/>
                </a:solidFill>
                <a:latin typeface="Calibri" pitchFamily="34" charset="0"/>
                <a:ea typeface="Calibri" pitchFamily="34" charset="-122"/>
                <a:cs typeface="Calibri" pitchFamily="34" charset="-120"/>
              </a:rPr>
              <a:t>The same relationship as speed and distance: distance = speed × time, exactly like energy (kWh) = power (kW) × time (hours). That's the whole two-layer structure to hold onto.</a:t>
            </a:r>
            <a:endParaRPr lang="en-US" sz="1450" dirty="0"/>
          </a:p>
        </p:txBody>
      </p:sp>
      <p:sp>
        <p:nvSpPr>
          <p:cNvPr id="15" name="Text 13"/>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02 — Electricity 101</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02 · ELECTRICITY 101</a:t>
            </a:r>
            <a:endParaRPr lang="en-US" sz="1300" dirty="0"/>
          </a:p>
        </p:txBody>
      </p:sp>
      <p:sp>
        <p:nvSpPr>
          <p:cNvPr id="3" name="Text 1"/>
          <p:cNvSpPr txBox="1"/>
          <p:nvPr/>
        </p:nvSpPr>
        <p:spPr>
          <a:xfrm>
            <a:off x="685800" y="868680"/>
            <a:ext cx="10820095" cy="914400"/>
          </a:xfrm>
          <a:prstGeom prst="rect">
            <a:avLst/>
          </a:prstGeom>
          <a:noFill/>
          <a:ln/>
        </p:spPr>
        <p:txBody>
          <a:bodyPr wrap="square" lIns="0" tIns="0" rIns="0" bIns="0" rtlCol="0" anchor="ctr"/>
          <a:lstStyle/>
          <a:p>
            <a:pPr indent="0" marL="0">
              <a:lnSpc>
                <a:spcPct val="105000"/>
              </a:lnSpc>
              <a:buNone/>
            </a:pPr>
            <a:r>
              <a:rPr lang="en-US" sz="3000" b="1" dirty="0">
                <a:solidFill>
                  <a:srgbClr val="171B24"/>
                </a:solidFill>
                <a:latin typeface="Cambria" pitchFamily="34" charset="0"/>
                <a:ea typeface="Cambria" pitchFamily="34" charset="-122"/>
                <a:cs typeface="Cambria" pitchFamily="34" charset="-120"/>
              </a:rPr>
              <a:t>How “excess” is actually measured</a:t>
            </a:r>
            <a:endParaRPr lang="en-US" sz="3000" dirty="0"/>
          </a:p>
        </p:txBody>
      </p:sp>
      <p:sp>
        <p:nvSpPr>
          <p:cNvPr id="4" name="Text 2"/>
          <p:cNvSpPr txBox="1"/>
          <p:nvPr/>
        </p:nvSpPr>
        <p:spPr>
          <a:xfrm>
            <a:off x="685800" y="1783080"/>
            <a:ext cx="10820095" cy="548640"/>
          </a:xfrm>
          <a:prstGeom prst="rect">
            <a:avLst/>
          </a:prstGeom>
          <a:noFill/>
          <a:ln/>
        </p:spPr>
        <p:txBody>
          <a:bodyPr wrap="square" lIns="0" tIns="0" rIns="0" bIns="0" rtlCol="0" anchor="ctr"/>
          <a:lstStyle/>
          <a:p>
            <a:pPr indent="0" marL="0">
              <a:buNone/>
            </a:pPr>
            <a:r>
              <a:rPr lang="en-US" sz="1500" dirty="0">
                <a:solidFill>
                  <a:srgbClr val="5A6472"/>
                </a:solidFill>
                <a:latin typeface="Calibri" pitchFamily="34" charset="0"/>
                <a:ea typeface="Calibri" pitchFamily="34" charset="-122"/>
                <a:cs typeface="Calibri" pitchFamily="34" charset="-120"/>
              </a:rPr>
              <a:t>Not typed in by anyone — computed continuously by a bidirectional smart meter.</a:t>
            </a:r>
            <a:endParaRPr lang="en-US" sz="1500" dirty="0"/>
          </a:p>
        </p:txBody>
      </p:sp>
      <p:sp>
        <p:nvSpPr>
          <p:cNvPr id="5" name="Shape 3"/>
          <p:cNvSpPr/>
          <p:nvPr/>
        </p:nvSpPr>
        <p:spPr>
          <a:xfrm>
            <a:off x="685800" y="2286000"/>
            <a:ext cx="2499284" cy="1783080"/>
          </a:xfrm>
          <a:prstGeom prst="roundRect">
            <a:avLst>
              <a:gd name="adj" fmla="val 3590"/>
            </a:avLst>
          </a:prstGeom>
          <a:solidFill>
            <a:srgbClr val="FFFFFF"/>
          </a:solidFill>
          <a:ln w="12700">
            <a:solidFill>
              <a:srgbClr val="E2E4E8"/>
            </a:solidFill>
            <a:prstDash val="solid"/>
          </a:ln>
        </p:spPr>
      </p:sp>
      <p:sp>
        <p:nvSpPr>
          <p:cNvPr id="6" name="Shape 4"/>
          <p:cNvSpPr/>
          <p:nvPr/>
        </p:nvSpPr>
        <p:spPr>
          <a:xfrm>
            <a:off x="886968" y="2487168"/>
            <a:ext cx="365760" cy="365760"/>
          </a:xfrm>
          <a:prstGeom prst="ellipse">
            <a:avLst/>
          </a:prstGeom>
          <a:solidFill>
            <a:srgbClr val="2A3242"/>
          </a:solidFill>
          <a:ln w="12700">
            <a:solidFill>
              <a:srgbClr val="2A3242"/>
            </a:solidFill>
            <a:prstDash val="solid"/>
          </a:ln>
        </p:spPr>
      </p:sp>
      <p:sp>
        <p:nvSpPr>
          <p:cNvPr id="7" name="Text 5"/>
          <p:cNvSpPr txBox="1"/>
          <p:nvPr/>
        </p:nvSpPr>
        <p:spPr>
          <a:xfrm>
            <a:off x="886968" y="24871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868680" y="2971800"/>
            <a:ext cx="2133524" cy="457200"/>
          </a:xfrm>
          <a:prstGeom prst="rect">
            <a:avLst/>
          </a:prstGeom>
          <a:noFill/>
          <a:ln/>
        </p:spPr>
        <p:txBody>
          <a:bodyPr wrap="square" lIns="0" tIns="0" rIns="0" bIns="0" rtlCol="0" anchor="ctr"/>
          <a:lstStyle/>
          <a:p>
            <a:pPr indent="0" marL="0">
              <a:lnSpc>
                <a:spcPct val="105000"/>
              </a:lnSpc>
              <a:buNone/>
            </a:pPr>
            <a:r>
              <a:rPr lang="en-US" sz="1300" b="1" dirty="0">
                <a:solidFill>
                  <a:srgbClr val="171B24"/>
                </a:solidFill>
                <a:latin typeface="Cambria" pitchFamily="34" charset="0"/>
                <a:ea typeface="Cambria" pitchFamily="34" charset="-122"/>
                <a:cs typeface="Cambria" pitchFamily="34" charset="-120"/>
              </a:rPr>
              <a:t>Panel generates DC</a:t>
            </a:r>
            <a:endParaRPr lang="en-US" sz="1300" dirty="0"/>
          </a:p>
        </p:txBody>
      </p:sp>
      <p:sp>
        <p:nvSpPr>
          <p:cNvPr id="9" name="Text 7"/>
          <p:cNvSpPr txBox="1"/>
          <p:nvPr/>
        </p:nvSpPr>
        <p:spPr>
          <a:xfrm>
            <a:off x="868680" y="3429000"/>
            <a:ext cx="2133524" cy="502920"/>
          </a:xfrm>
          <a:prstGeom prst="rect">
            <a:avLst/>
          </a:prstGeom>
          <a:noFill/>
          <a:ln/>
        </p:spPr>
        <p:txBody>
          <a:bodyPr wrap="square" lIns="0" tIns="0" rIns="0" bIns="0" rtlCol="0" anchor="ctr"/>
          <a:lstStyle/>
          <a:p>
            <a:pPr indent="0" marL="0">
              <a:lnSpc>
                <a:spcPct val="115000"/>
              </a:lnSpc>
              <a:buNone/>
            </a:pPr>
            <a:r>
              <a:rPr lang="en-US" sz="1000" dirty="0">
                <a:solidFill>
                  <a:srgbClr val="5A6472"/>
                </a:solidFill>
                <a:latin typeface="Calibri" pitchFamily="34" charset="0"/>
                <a:ea typeface="Calibri" pitchFamily="34" charset="-122"/>
                <a:cs typeface="Calibri" pitchFamily="34" charset="-120"/>
              </a:rPr>
              <a:t>Sunlight hits the photovoltaic cells</a:t>
            </a:r>
            <a:endParaRPr lang="en-US" sz="1000" dirty="0"/>
          </a:p>
        </p:txBody>
      </p:sp>
      <p:sp>
        <p:nvSpPr>
          <p:cNvPr id="10" name="Shape 8"/>
          <p:cNvSpPr/>
          <p:nvPr/>
        </p:nvSpPr>
        <p:spPr>
          <a:xfrm>
            <a:off x="3203372" y="3067812"/>
            <a:ext cx="237744" cy="219456"/>
          </a:xfrm>
          <a:prstGeom prst="chevron">
            <a:avLst/>
          </a:prstGeom>
          <a:solidFill>
            <a:srgbClr val="8A94A6"/>
          </a:solidFill>
          <a:ln w="12700">
            <a:solidFill>
              <a:srgbClr val="8A94A6"/>
            </a:solidFill>
            <a:prstDash val="solid"/>
          </a:ln>
        </p:spPr>
      </p:sp>
      <p:sp>
        <p:nvSpPr>
          <p:cNvPr id="11" name="Shape 9"/>
          <p:cNvSpPr/>
          <p:nvPr/>
        </p:nvSpPr>
        <p:spPr>
          <a:xfrm>
            <a:off x="3459404" y="2286000"/>
            <a:ext cx="2499284" cy="1783080"/>
          </a:xfrm>
          <a:prstGeom prst="roundRect">
            <a:avLst>
              <a:gd name="adj" fmla="val 3590"/>
            </a:avLst>
          </a:prstGeom>
          <a:solidFill>
            <a:srgbClr val="FFFFFF"/>
          </a:solidFill>
          <a:ln w="12700">
            <a:solidFill>
              <a:srgbClr val="E2E4E8"/>
            </a:solidFill>
            <a:prstDash val="solid"/>
          </a:ln>
        </p:spPr>
      </p:sp>
      <p:sp>
        <p:nvSpPr>
          <p:cNvPr id="12" name="Shape 10"/>
          <p:cNvSpPr/>
          <p:nvPr/>
        </p:nvSpPr>
        <p:spPr>
          <a:xfrm>
            <a:off x="3660572" y="2487168"/>
            <a:ext cx="365760" cy="365760"/>
          </a:xfrm>
          <a:prstGeom prst="ellipse">
            <a:avLst/>
          </a:prstGeom>
          <a:solidFill>
            <a:srgbClr val="2A3242"/>
          </a:solidFill>
          <a:ln w="12700">
            <a:solidFill>
              <a:srgbClr val="2A3242"/>
            </a:solidFill>
            <a:prstDash val="solid"/>
          </a:ln>
        </p:spPr>
      </p:sp>
      <p:sp>
        <p:nvSpPr>
          <p:cNvPr id="13" name="Text 11"/>
          <p:cNvSpPr txBox="1"/>
          <p:nvPr/>
        </p:nvSpPr>
        <p:spPr>
          <a:xfrm>
            <a:off x="3660572" y="24871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3642284" y="2971800"/>
            <a:ext cx="2133524" cy="457200"/>
          </a:xfrm>
          <a:prstGeom prst="rect">
            <a:avLst/>
          </a:prstGeom>
          <a:noFill/>
          <a:ln/>
        </p:spPr>
        <p:txBody>
          <a:bodyPr wrap="square" lIns="0" tIns="0" rIns="0" bIns="0" rtlCol="0" anchor="ctr"/>
          <a:lstStyle/>
          <a:p>
            <a:pPr indent="0" marL="0">
              <a:lnSpc>
                <a:spcPct val="105000"/>
              </a:lnSpc>
              <a:buNone/>
            </a:pPr>
            <a:r>
              <a:rPr lang="en-US" sz="1300" b="1" dirty="0">
                <a:solidFill>
                  <a:srgbClr val="171B24"/>
                </a:solidFill>
                <a:latin typeface="Cambria" pitchFamily="34" charset="0"/>
                <a:ea typeface="Cambria" pitchFamily="34" charset="-122"/>
                <a:cs typeface="Cambria" pitchFamily="34" charset="-120"/>
              </a:rPr>
              <a:t>Inverter converts to AC</a:t>
            </a:r>
            <a:endParaRPr lang="en-US" sz="1300" dirty="0"/>
          </a:p>
        </p:txBody>
      </p:sp>
      <p:sp>
        <p:nvSpPr>
          <p:cNvPr id="15" name="Text 13"/>
          <p:cNvSpPr txBox="1"/>
          <p:nvPr/>
        </p:nvSpPr>
        <p:spPr>
          <a:xfrm>
            <a:off x="3642284" y="3429000"/>
            <a:ext cx="2133524" cy="502920"/>
          </a:xfrm>
          <a:prstGeom prst="rect">
            <a:avLst/>
          </a:prstGeom>
          <a:noFill/>
          <a:ln/>
        </p:spPr>
        <p:txBody>
          <a:bodyPr wrap="square" lIns="0" tIns="0" rIns="0" bIns="0" rtlCol="0" anchor="ctr"/>
          <a:lstStyle/>
          <a:p>
            <a:pPr indent="0" marL="0">
              <a:lnSpc>
                <a:spcPct val="115000"/>
              </a:lnSpc>
              <a:buNone/>
            </a:pPr>
            <a:r>
              <a:rPr lang="en-US" sz="1000" dirty="0">
                <a:solidFill>
                  <a:srgbClr val="5A6472"/>
                </a:solidFill>
                <a:latin typeface="Calibri" pitchFamily="34" charset="0"/>
                <a:ea typeface="Calibri" pitchFamily="34" charset="-122"/>
                <a:cs typeface="Calibri" pitchFamily="34" charset="-120"/>
              </a:rPr>
              <a:t>Homes and the grid run on AC, not DC</a:t>
            </a:r>
            <a:endParaRPr lang="en-US" sz="1000" dirty="0"/>
          </a:p>
        </p:txBody>
      </p:sp>
      <p:sp>
        <p:nvSpPr>
          <p:cNvPr id="16" name="Shape 14"/>
          <p:cNvSpPr/>
          <p:nvPr/>
        </p:nvSpPr>
        <p:spPr>
          <a:xfrm>
            <a:off x="5976976" y="3067812"/>
            <a:ext cx="237744" cy="219456"/>
          </a:xfrm>
          <a:prstGeom prst="chevron">
            <a:avLst/>
          </a:prstGeom>
          <a:solidFill>
            <a:srgbClr val="8A94A6"/>
          </a:solidFill>
          <a:ln w="12700">
            <a:solidFill>
              <a:srgbClr val="8A94A6"/>
            </a:solidFill>
            <a:prstDash val="solid"/>
          </a:ln>
        </p:spPr>
      </p:sp>
      <p:sp>
        <p:nvSpPr>
          <p:cNvPr id="17" name="Shape 15"/>
          <p:cNvSpPr/>
          <p:nvPr/>
        </p:nvSpPr>
        <p:spPr>
          <a:xfrm>
            <a:off x="6233008" y="2286000"/>
            <a:ext cx="2499284" cy="1783080"/>
          </a:xfrm>
          <a:prstGeom prst="roundRect">
            <a:avLst>
              <a:gd name="adj" fmla="val 3590"/>
            </a:avLst>
          </a:prstGeom>
          <a:solidFill>
            <a:srgbClr val="FFFFFF"/>
          </a:solidFill>
          <a:ln w="12700">
            <a:solidFill>
              <a:srgbClr val="E2E4E8"/>
            </a:solidFill>
            <a:prstDash val="solid"/>
          </a:ln>
        </p:spPr>
      </p:sp>
      <p:sp>
        <p:nvSpPr>
          <p:cNvPr id="18" name="Shape 16"/>
          <p:cNvSpPr/>
          <p:nvPr/>
        </p:nvSpPr>
        <p:spPr>
          <a:xfrm>
            <a:off x="6434176" y="2487168"/>
            <a:ext cx="365760" cy="365760"/>
          </a:xfrm>
          <a:prstGeom prst="ellipse">
            <a:avLst/>
          </a:prstGeom>
          <a:solidFill>
            <a:srgbClr val="2A3242"/>
          </a:solidFill>
          <a:ln w="12700">
            <a:solidFill>
              <a:srgbClr val="2A3242"/>
            </a:solidFill>
            <a:prstDash val="solid"/>
          </a:ln>
        </p:spPr>
      </p:sp>
      <p:sp>
        <p:nvSpPr>
          <p:cNvPr id="19" name="Text 17"/>
          <p:cNvSpPr txBox="1"/>
          <p:nvPr/>
        </p:nvSpPr>
        <p:spPr>
          <a:xfrm>
            <a:off x="6434176" y="24871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txBox="1"/>
          <p:nvPr/>
        </p:nvSpPr>
        <p:spPr>
          <a:xfrm>
            <a:off x="6415888" y="2971800"/>
            <a:ext cx="2133524" cy="457200"/>
          </a:xfrm>
          <a:prstGeom prst="rect">
            <a:avLst/>
          </a:prstGeom>
          <a:noFill/>
          <a:ln/>
        </p:spPr>
        <p:txBody>
          <a:bodyPr wrap="square" lIns="0" tIns="0" rIns="0" bIns="0" rtlCol="0" anchor="ctr"/>
          <a:lstStyle/>
          <a:p>
            <a:pPr indent="0" marL="0">
              <a:lnSpc>
                <a:spcPct val="105000"/>
              </a:lnSpc>
              <a:buNone/>
            </a:pPr>
            <a:r>
              <a:rPr lang="en-US" sz="1300" b="1" dirty="0">
                <a:solidFill>
                  <a:srgbClr val="171B24"/>
                </a:solidFill>
                <a:latin typeface="Cambria" pitchFamily="34" charset="0"/>
                <a:ea typeface="Cambria" pitchFamily="34" charset="-122"/>
                <a:cs typeface="Cambria" pitchFamily="34" charset="-120"/>
              </a:rPr>
              <a:t>House load first</a:t>
            </a:r>
            <a:endParaRPr lang="en-US" sz="1300" dirty="0"/>
          </a:p>
        </p:txBody>
      </p:sp>
      <p:sp>
        <p:nvSpPr>
          <p:cNvPr id="21" name="Text 19"/>
          <p:cNvSpPr txBox="1"/>
          <p:nvPr/>
        </p:nvSpPr>
        <p:spPr>
          <a:xfrm>
            <a:off x="6415888" y="3429000"/>
            <a:ext cx="2133524" cy="502920"/>
          </a:xfrm>
          <a:prstGeom prst="rect">
            <a:avLst/>
          </a:prstGeom>
          <a:noFill/>
          <a:ln/>
        </p:spPr>
        <p:txBody>
          <a:bodyPr wrap="square" lIns="0" tIns="0" rIns="0" bIns="0" rtlCol="0" anchor="ctr"/>
          <a:lstStyle/>
          <a:p>
            <a:pPr indent="0" marL="0">
              <a:lnSpc>
                <a:spcPct val="115000"/>
              </a:lnSpc>
              <a:buNone/>
            </a:pPr>
            <a:r>
              <a:rPr lang="en-US" sz="1000" dirty="0">
                <a:solidFill>
                  <a:srgbClr val="5A6472"/>
                </a:solidFill>
                <a:latin typeface="Calibri" pitchFamily="34" charset="0"/>
                <a:ea typeface="Calibri" pitchFamily="34" charset="-122"/>
                <a:cs typeface="Calibri" pitchFamily="34" charset="-120"/>
              </a:rPr>
              <a:t>Whatever's running right now is served first — free, no DISCOM involved</a:t>
            </a:r>
            <a:endParaRPr lang="en-US" sz="1000" dirty="0"/>
          </a:p>
        </p:txBody>
      </p:sp>
      <p:sp>
        <p:nvSpPr>
          <p:cNvPr id="22" name="Shape 20"/>
          <p:cNvSpPr/>
          <p:nvPr/>
        </p:nvSpPr>
        <p:spPr>
          <a:xfrm>
            <a:off x="8750579" y="3067812"/>
            <a:ext cx="237744" cy="219456"/>
          </a:xfrm>
          <a:prstGeom prst="chevron">
            <a:avLst/>
          </a:prstGeom>
          <a:solidFill>
            <a:srgbClr val="8A94A6"/>
          </a:solidFill>
          <a:ln w="12700">
            <a:solidFill>
              <a:srgbClr val="8A94A6"/>
            </a:solidFill>
            <a:prstDash val="solid"/>
          </a:ln>
        </p:spPr>
      </p:sp>
      <p:sp>
        <p:nvSpPr>
          <p:cNvPr id="23" name="Shape 21"/>
          <p:cNvSpPr/>
          <p:nvPr/>
        </p:nvSpPr>
        <p:spPr>
          <a:xfrm>
            <a:off x="9006611" y="2286000"/>
            <a:ext cx="2499284" cy="1783080"/>
          </a:xfrm>
          <a:prstGeom prst="roundRect">
            <a:avLst>
              <a:gd name="adj" fmla="val 3590"/>
            </a:avLst>
          </a:prstGeom>
          <a:solidFill>
            <a:srgbClr val="FFFFFF"/>
          </a:solidFill>
          <a:ln w="12700">
            <a:solidFill>
              <a:srgbClr val="E2E4E8"/>
            </a:solidFill>
            <a:prstDash val="solid"/>
          </a:ln>
        </p:spPr>
      </p:sp>
      <p:sp>
        <p:nvSpPr>
          <p:cNvPr id="24" name="Shape 22"/>
          <p:cNvSpPr/>
          <p:nvPr/>
        </p:nvSpPr>
        <p:spPr>
          <a:xfrm>
            <a:off x="9207779" y="2487168"/>
            <a:ext cx="365760" cy="365760"/>
          </a:xfrm>
          <a:prstGeom prst="ellipse">
            <a:avLst/>
          </a:prstGeom>
          <a:solidFill>
            <a:srgbClr val="2A3242"/>
          </a:solidFill>
          <a:ln w="12700">
            <a:solidFill>
              <a:srgbClr val="2A3242"/>
            </a:solidFill>
            <a:prstDash val="solid"/>
          </a:ln>
        </p:spPr>
      </p:sp>
      <p:sp>
        <p:nvSpPr>
          <p:cNvPr id="25" name="Text 23"/>
          <p:cNvSpPr txBox="1"/>
          <p:nvPr/>
        </p:nvSpPr>
        <p:spPr>
          <a:xfrm>
            <a:off x="9207779" y="24871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4"/>
          <p:cNvSpPr txBox="1"/>
          <p:nvPr/>
        </p:nvSpPr>
        <p:spPr>
          <a:xfrm>
            <a:off x="9189491" y="2971800"/>
            <a:ext cx="2133524" cy="457200"/>
          </a:xfrm>
          <a:prstGeom prst="rect">
            <a:avLst/>
          </a:prstGeom>
          <a:noFill/>
          <a:ln/>
        </p:spPr>
        <p:txBody>
          <a:bodyPr wrap="square" lIns="0" tIns="0" rIns="0" bIns="0" rtlCol="0" anchor="ctr"/>
          <a:lstStyle/>
          <a:p>
            <a:pPr indent="0" marL="0">
              <a:lnSpc>
                <a:spcPct val="105000"/>
              </a:lnSpc>
              <a:buNone/>
            </a:pPr>
            <a:r>
              <a:rPr lang="en-US" sz="1300" b="1" dirty="0">
                <a:solidFill>
                  <a:srgbClr val="171B24"/>
                </a:solidFill>
                <a:latin typeface="Cambria" pitchFamily="34" charset="0"/>
                <a:ea typeface="Cambria" pitchFamily="34" charset="-122"/>
                <a:cs typeface="Cambria" pitchFamily="34" charset="-120"/>
              </a:rPr>
              <a:t>Leftover = excess</a:t>
            </a:r>
            <a:endParaRPr lang="en-US" sz="1300" dirty="0"/>
          </a:p>
        </p:txBody>
      </p:sp>
      <p:sp>
        <p:nvSpPr>
          <p:cNvPr id="27" name="Text 25"/>
          <p:cNvSpPr txBox="1"/>
          <p:nvPr/>
        </p:nvSpPr>
        <p:spPr>
          <a:xfrm>
            <a:off x="9189491" y="3429000"/>
            <a:ext cx="2133524" cy="502920"/>
          </a:xfrm>
          <a:prstGeom prst="rect">
            <a:avLst/>
          </a:prstGeom>
          <a:noFill/>
          <a:ln/>
        </p:spPr>
        <p:txBody>
          <a:bodyPr wrap="square" lIns="0" tIns="0" rIns="0" bIns="0" rtlCol="0" anchor="ctr"/>
          <a:lstStyle/>
          <a:p>
            <a:pPr indent="0" marL="0">
              <a:lnSpc>
                <a:spcPct val="115000"/>
              </a:lnSpc>
              <a:buNone/>
            </a:pPr>
            <a:r>
              <a:rPr lang="en-US" sz="1000" dirty="0">
                <a:solidFill>
                  <a:srgbClr val="5A6472"/>
                </a:solidFill>
                <a:latin typeface="Calibri" pitchFamily="34" charset="0"/>
                <a:ea typeface="Calibri" pitchFamily="34" charset="-122"/>
                <a:cs typeface="Calibri" pitchFamily="34" charset="-120"/>
              </a:rPr>
              <a:t>Export to the grid in real time, or charge a battery if one exists</a:t>
            </a:r>
            <a:endParaRPr lang="en-US" sz="1000" dirty="0"/>
          </a:p>
        </p:txBody>
      </p:sp>
      <p:sp>
        <p:nvSpPr>
          <p:cNvPr id="28" name="Shape 26"/>
          <p:cNvSpPr/>
          <p:nvPr/>
        </p:nvSpPr>
        <p:spPr>
          <a:xfrm>
            <a:off x="685800" y="4343400"/>
            <a:ext cx="10820095" cy="1371600"/>
          </a:xfrm>
          <a:prstGeom prst="roundRect">
            <a:avLst>
              <a:gd name="adj" fmla="val 4667"/>
            </a:avLst>
          </a:prstGeom>
          <a:solidFill>
            <a:srgbClr val="2A3242"/>
          </a:solidFill>
          <a:ln w="12700">
            <a:solidFill>
              <a:srgbClr val="2A3242"/>
            </a:solidFill>
            <a:prstDash val="solid"/>
          </a:ln>
        </p:spPr>
      </p:sp>
      <p:sp>
        <p:nvSpPr>
          <p:cNvPr id="29" name="Text 27"/>
          <p:cNvSpPr txBox="1"/>
          <p:nvPr/>
        </p:nvSpPr>
        <p:spPr>
          <a:xfrm>
            <a:off x="1005840" y="4526280"/>
            <a:ext cx="10180015" cy="457200"/>
          </a:xfrm>
          <a:prstGeom prst="rect">
            <a:avLst/>
          </a:prstGeom>
          <a:noFill/>
          <a:ln/>
        </p:spPr>
        <p:txBody>
          <a:bodyPr wrap="square" lIns="0" tIns="0" rIns="0" bIns="0" rtlCol="0" anchor="ctr"/>
          <a:lstStyle/>
          <a:p>
            <a:pPr indent="0" marL="0">
              <a:buNone/>
            </a:pPr>
            <a:r>
              <a:rPr lang="en-US" sz="1700" b="1" dirty="0">
                <a:solidFill>
                  <a:srgbClr val="C07F2A"/>
                </a:solidFill>
                <a:latin typeface="Cambria" pitchFamily="34" charset="0"/>
                <a:ea typeface="Cambria" pitchFamily="34" charset="-122"/>
                <a:cs typeface="Cambria" pitchFamily="34" charset="-120"/>
              </a:rPr>
              <a:t>excess (available to sell) = current production − current house consumption</a:t>
            </a:r>
            <a:endParaRPr lang="en-US" sz="1700" dirty="0"/>
          </a:p>
        </p:txBody>
      </p:sp>
      <p:sp>
        <p:nvSpPr>
          <p:cNvPr id="30" name="Text 28"/>
          <p:cNvSpPr txBox="1"/>
          <p:nvPr/>
        </p:nvSpPr>
        <p:spPr>
          <a:xfrm>
            <a:off x="1005840" y="5029200"/>
            <a:ext cx="10180015" cy="594360"/>
          </a:xfrm>
          <a:prstGeom prst="rect">
            <a:avLst/>
          </a:prstGeom>
          <a:noFill/>
          <a:ln/>
        </p:spPr>
        <p:txBody>
          <a:bodyPr wrap="square" lIns="0" tIns="0" rIns="0" bIns="0" rtlCol="0" anchor="ctr"/>
          <a:lstStyle/>
          <a:p>
            <a:pPr indent="0" marL="0">
              <a:lnSpc>
                <a:spcPct val="125000"/>
              </a:lnSpc>
              <a:buNone/>
            </a:pPr>
            <a:r>
              <a:rPr lang="en-US" sz="1250" dirty="0">
                <a:solidFill>
                  <a:srgbClr val="C3CAD6"/>
                </a:solidFill>
                <a:latin typeface="Calibri" pitchFamily="34" charset="0"/>
                <a:ea typeface="Calibri" pitchFamily="34" charset="-122"/>
                <a:cs typeface="Calibri" pitchFamily="34" charset="-120"/>
              </a:rPr>
              <a:t>Measured automatically, every interval, by a net meter — which tracks import and export separately. A real tradeable offer also needs a forecast (weather + historical pattern) for a future delivery slot, since a live reading alone only tells you what's happening right now.</a:t>
            </a:r>
            <a:endParaRPr lang="en-US" sz="1250" dirty="0"/>
          </a:p>
        </p:txBody>
      </p:sp>
      <p:sp>
        <p:nvSpPr>
          <p:cNvPr id="31" name="Text 29"/>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02 — Electricity 101</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85800" y="2651760"/>
            <a:ext cx="1828800" cy="457200"/>
          </a:xfrm>
          <a:prstGeom prst="rect">
            <a:avLst/>
          </a:prstGeom>
          <a:noFill/>
          <a:ln/>
        </p:spPr>
        <p:txBody>
          <a:bodyPr wrap="square" lIns="0" tIns="0" rIns="0" bIns="0" rtlCol="0" anchor="ctr"/>
          <a:lstStyle/>
          <a:p>
            <a:pPr indent="0" marL="0">
              <a:buNone/>
            </a:pPr>
            <a:r>
              <a:rPr lang="en-US" sz="2200" b="1" dirty="0">
                <a:solidFill>
                  <a:srgbClr val="C07F2A"/>
                </a:solidFill>
                <a:latin typeface="Calibri" pitchFamily="34" charset="0"/>
                <a:ea typeface="Calibri" pitchFamily="34" charset="-122"/>
                <a:cs typeface="Calibri" pitchFamily="34" charset="-120"/>
              </a:rPr>
              <a:t>03</a:t>
            </a:r>
            <a:endParaRPr lang="en-US" sz="2200" dirty="0"/>
          </a:p>
        </p:txBody>
      </p:sp>
      <p:sp>
        <p:nvSpPr>
          <p:cNvPr id="3" name="Text 1"/>
          <p:cNvSpPr txBox="1"/>
          <p:nvPr/>
        </p:nvSpPr>
        <p:spPr>
          <a:xfrm>
            <a:off x="685800" y="3063240"/>
            <a:ext cx="10515600" cy="11887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Real Systems Underneath</a:t>
            </a:r>
            <a:endParaRPr lang="en-US" sz="3800" dirty="0"/>
          </a:p>
        </p:txBody>
      </p:sp>
      <p:sp>
        <p:nvSpPr>
          <p:cNvPr id="4" name="Text 2"/>
          <p:cNvSpPr txBox="1"/>
          <p:nvPr/>
        </p:nvSpPr>
        <p:spPr>
          <a:xfrm>
            <a:off x="685800" y="4114800"/>
            <a:ext cx="9784080" cy="731520"/>
          </a:xfrm>
          <a:prstGeom prst="rect">
            <a:avLst/>
          </a:prstGeom>
          <a:noFill/>
          <a:ln/>
        </p:spPr>
        <p:txBody>
          <a:bodyPr wrap="square" lIns="0" tIns="0" rIns="0" bIns="0" rtlCol="0" anchor="ctr"/>
          <a:lstStyle/>
          <a:p>
            <a:pPr indent="0" marL="0">
              <a:lnSpc>
                <a:spcPct val="130000"/>
              </a:lnSpc>
              <a:buNone/>
            </a:pPr>
            <a:r>
              <a:rPr lang="en-US" sz="1700" dirty="0">
                <a:solidFill>
                  <a:srgbClr val="A9B2C0"/>
                </a:solidFill>
                <a:latin typeface="Calibri" pitchFamily="34" charset="0"/>
                <a:ea typeface="Calibri" pitchFamily="34" charset="-122"/>
                <a:cs typeface="Calibri" pitchFamily="34" charset="-120"/>
              </a:rPr>
              <a:t>The terms that came up in review, decoded: what each one actually is today, and why it matters to us.</a:t>
            </a:r>
            <a:endParaRPr lang="en-US" sz="17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03 · THE REAL SYSTEMS UNDERNEATH</a:t>
            </a:r>
            <a:endParaRPr lang="en-US" sz="1300" dirty="0"/>
          </a:p>
        </p:txBody>
      </p:sp>
      <p:sp>
        <p:nvSpPr>
          <p:cNvPr id="3" name="Text 1"/>
          <p:cNvSpPr txBox="1"/>
          <p:nvPr/>
        </p:nvSpPr>
        <p:spPr>
          <a:xfrm>
            <a:off x="685800" y="868680"/>
            <a:ext cx="10820095" cy="914400"/>
          </a:xfrm>
          <a:prstGeom prst="rect">
            <a:avLst/>
          </a:prstGeom>
          <a:noFill/>
          <a:ln/>
        </p:spPr>
        <p:txBody>
          <a:bodyPr wrap="square" lIns="0" tIns="0" rIns="0" bIns="0" rtlCol="0" anchor="ctr"/>
          <a:lstStyle/>
          <a:p>
            <a:pPr indent="0" marL="0">
              <a:lnSpc>
                <a:spcPct val="105000"/>
              </a:lnSpc>
              <a:buNone/>
            </a:pPr>
            <a:r>
              <a:rPr lang="en-US" sz="2600" b="1" dirty="0">
                <a:solidFill>
                  <a:srgbClr val="171B24"/>
                </a:solidFill>
                <a:latin typeface="Cambria" pitchFamily="34" charset="0"/>
                <a:ea typeface="Cambria" pitchFamily="34" charset="-122"/>
                <a:cs typeface="Cambria" pitchFamily="34" charset="-120"/>
              </a:rPr>
              <a:t>Detection &amp; monitoring</a:t>
            </a:r>
            <a:endParaRPr lang="en-US" sz="2600" dirty="0"/>
          </a:p>
        </p:txBody>
      </p:sp>
      <p:sp>
        <p:nvSpPr>
          <p:cNvPr id="4" name="Text 2"/>
          <p:cNvSpPr txBox="1"/>
          <p:nvPr/>
        </p:nvSpPr>
        <p:spPr>
          <a:xfrm>
            <a:off x="685800" y="1600200"/>
            <a:ext cx="10820095" cy="548640"/>
          </a:xfrm>
          <a:prstGeom prst="rect">
            <a:avLst/>
          </a:prstGeom>
          <a:noFill/>
          <a:ln/>
        </p:spPr>
        <p:txBody>
          <a:bodyPr wrap="square" lIns="0" tIns="0" rIns="0" bIns="0" rtlCol="0" anchor="ctr"/>
          <a:lstStyle/>
          <a:p>
            <a:pPr indent="0" marL="0">
              <a:buNone/>
            </a:pPr>
            <a:r>
              <a:rPr lang="en-US" sz="1500" dirty="0">
                <a:solidFill>
                  <a:srgbClr val="5A6472"/>
                </a:solidFill>
                <a:latin typeface="Calibri" pitchFamily="34" charset="0"/>
                <a:ea typeface="Calibri" pitchFamily="34" charset="-122"/>
                <a:cs typeface="Calibri" pitchFamily="34" charset="-120"/>
              </a:rPr>
              <a:t>How a real outage or fault is actually known about — not guessed at.</a:t>
            </a:r>
            <a:endParaRPr lang="en-US" sz="1500" dirty="0"/>
          </a:p>
        </p:txBody>
      </p:sp>
      <p:sp>
        <p:nvSpPr>
          <p:cNvPr id="5" name="Shape 3"/>
          <p:cNvSpPr/>
          <p:nvPr/>
        </p:nvSpPr>
        <p:spPr>
          <a:xfrm>
            <a:off x="685800" y="2057400"/>
            <a:ext cx="5272888" cy="1783080"/>
          </a:xfrm>
          <a:prstGeom prst="roundRect">
            <a:avLst>
              <a:gd name="adj" fmla="val 3590"/>
            </a:avLst>
          </a:prstGeom>
          <a:solidFill>
            <a:srgbClr val="FFFFFF"/>
          </a:solidFill>
          <a:ln w="12700">
            <a:solidFill>
              <a:srgbClr val="E2E4E8"/>
            </a:solidFill>
            <a:prstDash val="solid"/>
          </a:ln>
        </p:spPr>
      </p:sp>
      <p:sp>
        <p:nvSpPr>
          <p:cNvPr id="6" name="Text 4"/>
          <p:cNvSpPr txBox="1"/>
          <p:nvPr/>
        </p:nvSpPr>
        <p:spPr>
          <a:xfrm>
            <a:off x="941832" y="2240280"/>
            <a:ext cx="4760824" cy="365760"/>
          </a:xfrm>
          <a:prstGeom prst="rect">
            <a:avLst/>
          </a:prstGeom>
          <a:noFill/>
          <a:ln/>
        </p:spPr>
        <p:txBody>
          <a:bodyPr wrap="square" lIns="0" tIns="0" rIns="0" bIns="0" rtlCol="0" anchor="ctr"/>
          <a:lstStyle/>
          <a:p>
            <a:pPr indent="0" marL="0">
              <a:buNone/>
            </a:pPr>
            <a:r>
              <a:rPr lang="en-US" sz="1600" b="1" dirty="0">
                <a:solidFill>
                  <a:srgbClr val="171B24"/>
                </a:solidFill>
                <a:latin typeface="Cambria" pitchFamily="34" charset="0"/>
                <a:ea typeface="Cambria" pitchFamily="34" charset="-122"/>
                <a:cs typeface="Cambria" pitchFamily="34" charset="-120"/>
              </a:rPr>
              <a:t>Last-gasp event</a:t>
            </a:r>
            <a:endParaRPr lang="en-US" sz="1600" dirty="0"/>
          </a:p>
        </p:txBody>
      </p:sp>
      <p:sp>
        <p:nvSpPr>
          <p:cNvPr id="7" name="Text 5"/>
          <p:cNvSpPr txBox="1"/>
          <p:nvPr/>
        </p:nvSpPr>
        <p:spPr>
          <a:xfrm>
            <a:off x="941832" y="2651760"/>
            <a:ext cx="4760824" cy="777240"/>
          </a:xfrm>
          <a:prstGeom prst="rect">
            <a:avLst/>
          </a:prstGeom>
          <a:noFill/>
          <a:ln/>
        </p:spPr>
        <p:txBody>
          <a:bodyPr wrap="square" lIns="0" tIns="0" rIns="0" bIns="0" rtlCol="0" anchor="ctr"/>
          <a:lstStyle/>
          <a:p>
            <a:pPr indent="0" marL="0">
              <a:lnSpc>
                <a:spcPct val="120000"/>
              </a:lnSpc>
              <a:buNone/>
            </a:pPr>
            <a:r>
              <a:rPr lang="en-US" sz="1150" dirty="0">
                <a:solidFill>
                  <a:srgbClr val="5A6472"/>
                </a:solidFill>
                <a:latin typeface="Calibri" pitchFamily="34" charset="0"/>
                <a:ea typeface="Calibri" pitchFamily="34" charset="-122"/>
                <a:cs typeface="Calibri" pitchFamily="34" charset="-120"/>
              </a:rPr>
              <a:t>A smart meter's final signal, fired from its own backup capacitor the instant power drops — like a phone's “1% battery” push before it dies.</a:t>
            </a:r>
            <a:endParaRPr lang="en-US" sz="1150" dirty="0"/>
          </a:p>
        </p:txBody>
      </p:sp>
      <p:sp>
        <p:nvSpPr>
          <p:cNvPr id="8" name="Text 6"/>
          <p:cNvSpPr txBox="1"/>
          <p:nvPr/>
        </p:nvSpPr>
        <p:spPr>
          <a:xfrm>
            <a:off x="941832" y="3383280"/>
            <a:ext cx="4760824" cy="384048"/>
          </a:xfrm>
          <a:prstGeom prst="rect">
            <a:avLst/>
          </a:prstGeom>
          <a:noFill/>
          <a:ln/>
        </p:spPr>
        <p:txBody>
          <a:bodyPr wrap="square" lIns="0" tIns="0" rIns="0" bIns="0" rtlCol="0" anchor="ctr"/>
          <a:lstStyle/>
          <a:p>
            <a:pPr indent="0" marL="0">
              <a:lnSpc>
                <a:spcPct val="115000"/>
              </a:lnSpc>
              <a:buNone/>
            </a:pPr>
            <a:r>
              <a:rPr lang="en-US" sz="1050" i="1" dirty="0">
                <a:solidFill>
                  <a:srgbClr val="C07F2A"/>
                </a:solidFill>
                <a:latin typeface="Calibri" pitchFamily="34" charset="0"/>
                <a:ea typeface="Calibri" pitchFamily="34" charset="-122"/>
                <a:cs typeface="Calibri" pitchFamily="34" charset="-120"/>
              </a:rPr>
              <a:t>Confirms a seller genuinely lost power, not just under-delivered.</a:t>
            </a:r>
            <a:endParaRPr lang="en-US" sz="1050" dirty="0"/>
          </a:p>
        </p:txBody>
      </p:sp>
      <p:sp>
        <p:nvSpPr>
          <p:cNvPr id="9" name="Shape 7"/>
          <p:cNvSpPr/>
          <p:nvPr/>
        </p:nvSpPr>
        <p:spPr>
          <a:xfrm>
            <a:off x="6233008" y="2057400"/>
            <a:ext cx="5272888" cy="1783080"/>
          </a:xfrm>
          <a:prstGeom prst="roundRect">
            <a:avLst>
              <a:gd name="adj" fmla="val 3590"/>
            </a:avLst>
          </a:prstGeom>
          <a:solidFill>
            <a:srgbClr val="FFFFFF"/>
          </a:solidFill>
          <a:ln w="12700">
            <a:solidFill>
              <a:srgbClr val="E2E4E8"/>
            </a:solidFill>
            <a:prstDash val="solid"/>
          </a:ln>
        </p:spPr>
      </p:sp>
      <p:sp>
        <p:nvSpPr>
          <p:cNvPr id="10" name="Text 8"/>
          <p:cNvSpPr txBox="1"/>
          <p:nvPr/>
        </p:nvSpPr>
        <p:spPr>
          <a:xfrm>
            <a:off x="6489040" y="2240280"/>
            <a:ext cx="4760824" cy="365760"/>
          </a:xfrm>
          <a:prstGeom prst="rect">
            <a:avLst/>
          </a:prstGeom>
          <a:noFill/>
          <a:ln/>
        </p:spPr>
        <p:txBody>
          <a:bodyPr wrap="square" lIns="0" tIns="0" rIns="0" bIns="0" rtlCol="0" anchor="ctr"/>
          <a:lstStyle/>
          <a:p>
            <a:pPr indent="0" marL="0">
              <a:buNone/>
            </a:pPr>
            <a:r>
              <a:rPr lang="en-US" sz="1600" b="1" dirty="0">
                <a:solidFill>
                  <a:srgbClr val="171B24"/>
                </a:solidFill>
                <a:latin typeface="Cambria" pitchFamily="34" charset="0"/>
                <a:ea typeface="Cambria" pitchFamily="34" charset="-122"/>
                <a:cs typeface="Cambria" pitchFamily="34" charset="-120"/>
              </a:rPr>
              <a:t>OMS (Outage Management System)</a:t>
            </a:r>
            <a:endParaRPr lang="en-US" sz="1600" dirty="0"/>
          </a:p>
        </p:txBody>
      </p:sp>
      <p:sp>
        <p:nvSpPr>
          <p:cNvPr id="11" name="Text 9"/>
          <p:cNvSpPr txBox="1"/>
          <p:nvPr/>
        </p:nvSpPr>
        <p:spPr>
          <a:xfrm>
            <a:off x="6489040" y="2651760"/>
            <a:ext cx="4760824" cy="777240"/>
          </a:xfrm>
          <a:prstGeom prst="rect">
            <a:avLst/>
          </a:prstGeom>
          <a:noFill/>
          <a:ln/>
        </p:spPr>
        <p:txBody>
          <a:bodyPr wrap="square" lIns="0" tIns="0" rIns="0" bIns="0" rtlCol="0" anchor="ctr"/>
          <a:lstStyle/>
          <a:p>
            <a:pPr indent="0" marL="0">
              <a:lnSpc>
                <a:spcPct val="120000"/>
              </a:lnSpc>
              <a:buNone/>
            </a:pPr>
            <a:r>
              <a:rPr lang="en-US" sz="1150" dirty="0">
                <a:solidFill>
                  <a:srgbClr val="5A6472"/>
                </a:solidFill>
                <a:latin typeface="Calibri" pitchFamily="34" charset="0"/>
                <a:ea typeface="Calibri" pitchFamily="34" charset="-122"/>
                <a:cs typeface="Calibri" pitchFamily="34" charset="-120"/>
              </a:rPr>
              <a:t>The DISCOM's own control-room software tracking every outage — which feeder, how many affected, when restored.</a:t>
            </a:r>
            <a:endParaRPr lang="en-US" sz="1150" dirty="0"/>
          </a:p>
        </p:txBody>
      </p:sp>
      <p:sp>
        <p:nvSpPr>
          <p:cNvPr id="12" name="Text 10"/>
          <p:cNvSpPr txBox="1"/>
          <p:nvPr/>
        </p:nvSpPr>
        <p:spPr>
          <a:xfrm>
            <a:off x="6489040" y="3383280"/>
            <a:ext cx="4760824" cy="384048"/>
          </a:xfrm>
          <a:prstGeom prst="rect">
            <a:avLst/>
          </a:prstGeom>
          <a:noFill/>
          <a:ln/>
        </p:spPr>
        <p:txBody>
          <a:bodyPr wrap="square" lIns="0" tIns="0" rIns="0" bIns="0" rtlCol="0" anchor="ctr"/>
          <a:lstStyle/>
          <a:p>
            <a:pPr indent="0" marL="0">
              <a:lnSpc>
                <a:spcPct val="115000"/>
              </a:lnSpc>
              <a:buNone/>
            </a:pPr>
            <a:r>
              <a:rPr lang="en-US" sz="1050" i="1" dirty="0">
                <a:solidFill>
                  <a:srgbClr val="C07F2A"/>
                </a:solidFill>
                <a:latin typeface="Calibri" pitchFamily="34" charset="0"/>
                <a:ea typeface="Calibri" pitchFamily="34" charset="-122"/>
                <a:cs typeface="Calibri" pitchFamily="34" charset="-120"/>
              </a:rPr>
              <a:t>The trustworthy second source to verify a grid-outage claim.</a:t>
            </a:r>
            <a:endParaRPr lang="en-US" sz="1050" dirty="0"/>
          </a:p>
        </p:txBody>
      </p:sp>
      <p:sp>
        <p:nvSpPr>
          <p:cNvPr id="13" name="Shape 11"/>
          <p:cNvSpPr/>
          <p:nvPr/>
        </p:nvSpPr>
        <p:spPr>
          <a:xfrm>
            <a:off x="685800" y="4023360"/>
            <a:ext cx="5272888" cy="1783080"/>
          </a:xfrm>
          <a:prstGeom prst="roundRect">
            <a:avLst>
              <a:gd name="adj" fmla="val 3590"/>
            </a:avLst>
          </a:prstGeom>
          <a:solidFill>
            <a:srgbClr val="FFFFFF"/>
          </a:solidFill>
          <a:ln w="12700">
            <a:solidFill>
              <a:srgbClr val="E2E4E8"/>
            </a:solidFill>
            <a:prstDash val="solid"/>
          </a:ln>
        </p:spPr>
      </p:sp>
      <p:sp>
        <p:nvSpPr>
          <p:cNvPr id="14" name="Text 12"/>
          <p:cNvSpPr txBox="1"/>
          <p:nvPr/>
        </p:nvSpPr>
        <p:spPr>
          <a:xfrm>
            <a:off x="941832" y="4206240"/>
            <a:ext cx="4760824" cy="365760"/>
          </a:xfrm>
          <a:prstGeom prst="rect">
            <a:avLst/>
          </a:prstGeom>
          <a:noFill/>
          <a:ln/>
        </p:spPr>
        <p:txBody>
          <a:bodyPr wrap="square" lIns="0" tIns="0" rIns="0" bIns="0" rtlCol="0" anchor="ctr"/>
          <a:lstStyle/>
          <a:p>
            <a:pPr indent="0" marL="0">
              <a:buNone/>
            </a:pPr>
            <a:r>
              <a:rPr lang="en-US" sz="1600" b="1" dirty="0">
                <a:solidFill>
                  <a:srgbClr val="171B24"/>
                </a:solidFill>
                <a:latin typeface="Cambria" pitchFamily="34" charset="0"/>
                <a:ea typeface="Cambria" pitchFamily="34" charset="-122"/>
                <a:cs typeface="Cambria" pitchFamily="34" charset="-120"/>
              </a:rPr>
              <a:t>SCADA</a:t>
            </a:r>
            <a:endParaRPr lang="en-US" sz="1600" dirty="0"/>
          </a:p>
        </p:txBody>
      </p:sp>
      <p:sp>
        <p:nvSpPr>
          <p:cNvPr id="15" name="Text 13"/>
          <p:cNvSpPr txBox="1"/>
          <p:nvPr/>
        </p:nvSpPr>
        <p:spPr>
          <a:xfrm>
            <a:off x="941832" y="4617720"/>
            <a:ext cx="4760824" cy="777240"/>
          </a:xfrm>
          <a:prstGeom prst="rect">
            <a:avLst/>
          </a:prstGeom>
          <a:noFill/>
          <a:ln/>
        </p:spPr>
        <p:txBody>
          <a:bodyPr wrap="square" lIns="0" tIns="0" rIns="0" bIns="0" rtlCol="0" anchor="ctr"/>
          <a:lstStyle/>
          <a:p>
            <a:pPr indent="0" marL="0">
              <a:lnSpc>
                <a:spcPct val="120000"/>
              </a:lnSpc>
              <a:buNone/>
            </a:pPr>
            <a:r>
              <a:rPr lang="en-US" sz="1150" dirty="0">
                <a:solidFill>
                  <a:srgbClr val="5A6472"/>
                </a:solidFill>
                <a:latin typeface="Calibri" pitchFamily="34" charset="0"/>
                <a:ea typeface="Calibri" pitchFamily="34" charset="-122"/>
                <a:cs typeface="Calibri" pitchFamily="34" charset="-120"/>
              </a:rPr>
              <a:t>The utility's decades-old “mission control” — live readings and remote on/off controls across the whole grid.</a:t>
            </a:r>
            <a:endParaRPr lang="en-US" sz="1150" dirty="0"/>
          </a:p>
        </p:txBody>
      </p:sp>
      <p:sp>
        <p:nvSpPr>
          <p:cNvPr id="16" name="Text 14"/>
          <p:cNvSpPr txBox="1"/>
          <p:nvPr/>
        </p:nvSpPr>
        <p:spPr>
          <a:xfrm>
            <a:off x="941832" y="5349240"/>
            <a:ext cx="4760824" cy="384048"/>
          </a:xfrm>
          <a:prstGeom prst="rect">
            <a:avLst/>
          </a:prstGeom>
          <a:noFill/>
          <a:ln/>
        </p:spPr>
        <p:txBody>
          <a:bodyPr wrap="square" lIns="0" tIns="0" rIns="0" bIns="0" rtlCol="0" anchor="ctr"/>
          <a:lstStyle/>
          <a:p>
            <a:pPr indent="0" marL="0">
              <a:lnSpc>
                <a:spcPct val="115000"/>
              </a:lnSpc>
              <a:buNone/>
            </a:pPr>
            <a:r>
              <a:rPr lang="en-US" sz="1050" i="1" dirty="0">
                <a:solidFill>
                  <a:srgbClr val="C07F2A"/>
                </a:solidFill>
                <a:latin typeface="Calibri" pitchFamily="34" charset="0"/>
                <a:ea typeface="Calibri" pitchFamily="34" charset="-122"/>
                <a:cs typeface="Calibri" pitchFamily="34" charset="-120"/>
              </a:rPr>
              <a:t>The foundational system OMS and DERMS are both built on.</a:t>
            </a:r>
            <a:endParaRPr lang="en-US" sz="1050" dirty="0"/>
          </a:p>
        </p:txBody>
      </p:sp>
      <p:sp>
        <p:nvSpPr>
          <p:cNvPr id="17" name="Shape 15"/>
          <p:cNvSpPr/>
          <p:nvPr/>
        </p:nvSpPr>
        <p:spPr>
          <a:xfrm>
            <a:off x="6233008" y="4023360"/>
            <a:ext cx="5272888" cy="1783080"/>
          </a:xfrm>
          <a:prstGeom prst="roundRect">
            <a:avLst>
              <a:gd name="adj" fmla="val 3590"/>
            </a:avLst>
          </a:prstGeom>
          <a:solidFill>
            <a:srgbClr val="FFFFFF"/>
          </a:solidFill>
          <a:ln w="12700">
            <a:solidFill>
              <a:srgbClr val="E2E4E8"/>
            </a:solidFill>
            <a:prstDash val="solid"/>
          </a:ln>
        </p:spPr>
      </p:sp>
      <p:sp>
        <p:nvSpPr>
          <p:cNvPr id="18" name="Text 16"/>
          <p:cNvSpPr txBox="1"/>
          <p:nvPr/>
        </p:nvSpPr>
        <p:spPr>
          <a:xfrm>
            <a:off x="6489040" y="4206240"/>
            <a:ext cx="4760824" cy="365760"/>
          </a:xfrm>
          <a:prstGeom prst="rect">
            <a:avLst/>
          </a:prstGeom>
          <a:noFill/>
          <a:ln/>
        </p:spPr>
        <p:txBody>
          <a:bodyPr wrap="square" lIns="0" tIns="0" rIns="0" bIns="0" rtlCol="0" anchor="ctr"/>
          <a:lstStyle/>
          <a:p>
            <a:pPr indent="0" marL="0">
              <a:buNone/>
            </a:pPr>
            <a:r>
              <a:rPr lang="en-US" sz="1600" b="1" dirty="0">
                <a:solidFill>
                  <a:srgbClr val="171B24"/>
                </a:solidFill>
                <a:latin typeface="Cambria" pitchFamily="34" charset="0"/>
                <a:ea typeface="Cambria" pitchFamily="34" charset="-122"/>
                <a:cs typeface="Cambria" pitchFamily="34" charset="-120"/>
              </a:rPr>
              <a:t>SAIDI / SAIFI</a:t>
            </a:r>
            <a:endParaRPr lang="en-US" sz="1600" dirty="0"/>
          </a:p>
        </p:txBody>
      </p:sp>
      <p:sp>
        <p:nvSpPr>
          <p:cNvPr id="19" name="Text 17"/>
          <p:cNvSpPr txBox="1"/>
          <p:nvPr/>
        </p:nvSpPr>
        <p:spPr>
          <a:xfrm>
            <a:off x="6489040" y="4617720"/>
            <a:ext cx="4760824" cy="777240"/>
          </a:xfrm>
          <a:prstGeom prst="rect">
            <a:avLst/>
          </a:prstGeom>
          <a:noFill/>
          <a:ln/>
        </p:spPr>
        <p:txBody>
          <a:bodyPr wrap="square" lIns="0" tIns="0" rIns="0" bIns="0" rtlCol="0" anchor="ctr"/>
          <a:lstStyle/>
          <a:p>
            <a:pPr indent="0" marL="0">
              <a:lnSpc>
                <a:spcPct val="120000"/>
              </a:lnSpc>
              <a:buNone/>
            </a:pPr>
            <a:r>
              <a:rPr lang="en-US" sz="1150" dirty="0">
                <a:solidFill>
                  <a:srgbClr val="5A6472"/>
                </a:solidFill>
                <a:latin typeface="Calibri" pitchFamily="34" charset="0"/>
                <a:ea typeface="Calibri" pitchFamily="34" charset="-122"/>
                <a:cs typeface="Calibri" pitchFamily="34" charset="-120"/>
              </a:rPr>
              <a:t>Standard reliability scorecards — average outage frequency and duration per customer per year, regulator-mandated.</a:t>
            </a:r>
            <a:endParaRPr lang="en-US" sz="1150" dirty="0"/>
          </a:p>
        </p:txBody>
      </p:sp>
      <p:sp>
        <p:nvSpPr>
          <p:cNvPr id="20" name="Text 18"/>
          <p:cNvSpPr txBox="1"/>
          <p:nvPr/>
        </p:nvSpPr>
        <p:spPr>
          <a:xfrm>
            <a:off x="6489040" y="5349240"/>
            <a:ext cx="4760824" cy="384048"/>
          </a:xfrm>
          <a:prstGeom prst="rect">
            <a:avLst/>
          </a:prstGeom>
          <a:noFill/>
          <a:ln/>
        </p:spPr>
        <p:txBody>
          <a:bodyPr wrap="square" lIns="0" tIns="0" rIns="0" bIns="0" rtlCol="0" anchor="ctr"/>
          <a:lstStyle/>
          <a:p>
            <a:pPr indent="0" marL="0">
              <a:lnSpc>
                <a:spcPct val="115000"/>
              </a:lnSpc>
              <a:buNone/>
            </a:pPr>
            <a:r>
              <a:rPr lang="en-US" sz="1050" i="1" dirty="0">
                <a:solidFill>
                  <a:srgbClr val="C07F2A"/>
                </a:solidFill>
                <a:latin typeface="Calibri" pitchFamily="34" charset="0"/>
                <a:ea typeface="Calibri" pitchFamily="34" charset="-122"/>
                <a:cs typeface="Calibri" pitchFamily="34" charset="-120"/>
              </a:rPr>
              <a:t>Why a DISCOM's outage log is trustworthy: they report it to a regulator already.</a:t>
            </a:r>
            <a:endParaRPr lang="en-US" sz="1050" dirty="0"/>
          </a:p>
        </p:txBody>
      </p:sp>
      <p:sp>
        <p:nvSpPr>
          <p:cNvPr id="21" name="Text 19"/>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03 — The Real Systems Underneath</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03 · THE REAL SYSTEMS UNDERNEATH</a:t>
            </a:r>
            <a:endParaRPr lang="en-US" sz="1300" dirty="0"/>
          </a:p>
        </p:txBody>
      </p:sp>
      <p:sp>
        <p:nvSpPr>
          <p:cNvPr id="3" name="Text 1"/>
          <p:cNvSpPr txBox="1"/>
          <p:nvPr/>
        </p:nvSpPr>
        <p:spPr>
          <a:xfrm>
            <a:off x="685800" y="868680"/>
            <a:ext cx="10820095" cy="914400"/>
          </a:xfrm>
          <a:prstGeom prst="rect">
            <a:avLst/>
          </a:prstGeom>
          <a:noFill/>
          <a:ln/>
        </p:spPr>
        <p:txBody>
          <a:bodyPr wrap="square" lIns="0" tIns="0" rIns="0" bIns="0" rtlCol="0" anchor="ctr"/>
          <a:lstStyle/>
          <a:p>
            <a:pPr indent="0" marL="0">
              <a:lnSpc>
                <a:spcPct val="105000"/>
              </a:lnSpc>
              <a:buNone/>
            </a:pPr>
            <a:r>
              <a:rPr lang="en-US" sz="2600" b="1" dirty="0">
                <a:solidFill>
                  <a:srgbClr val="171B24"/>
                </a:solidFill>
                <a:latin typeface="Cambria" pitchFamily="34" charset="0"/>
                <a:ea typeface="Cambria" pitchFamily="34" charset="-122"/>
                <a:cs typeface="Cambria" pitchFamily="34" charset="-120"/>
              </a:rPr>
              <a:t>The telemetry pipeline (“the watcher”)</a:t>
            </a:r>
            <a:endParaRPr lang="en-US" sz="2600" dirty="0"/>
          </a:p>
        </p:txBody>
      </p:sp>
      <p:sp>
        <p:nvSpPr>
          <p:cNvPr id="4" name="Text 2"/>
          <p:cNvSpPr txBox="1"/>
          <p:nvPr/>
        </p:nvSpPr>
        <p:spPr>
          <a:xfrm>
            <a:off x="685800" y="1600200"/>
            <a:ext cx="10820095" cy="548640"/>
          </a:xfrm>
          <a:prstGeom prst="rect">
            <a:avLst/>
          </a:prstGeom>
          <a:noFill/>
          <a:ln/>
        </p:spPr>
        <p:txBody>
          <a:bodyPr wrap="square" lIns="0" tIns="0" rIns="0" bIns="0" rtlCol="0" anchor="ctr"/>
          <a:lstStyle/>
          <a:p>
            <a:pPr indent="0" marL="0">
              <a:buNone/>
            </a:pPr>
            <a:r>
              <a:rPr lang="en-US" sz="1500" dirty="0">
                <a:solidFill>
                  <a:srgbClr val="5A6472"/>
                </a:solidFill>
                <a:latin typeface="Calibri" pitchFamily="34" charset="0"/>
                <a:ea typeface="Calibri" pitchFamily="34" charset="-122"/>
                <a:cs typeface="Calibri" pitchFamily="34" charset="-120"/>
              </a:rPr>
              <a:t>“Constantly watching the meters” isn't new hardware — it's this, already deployed, read more often.</a:t>
            </a:r>
            <a:endParaRPr lang="en-US" sz="1500" dirty="0"/>
          </a:p>
        </p:txBody>
      </p:sp>
      <p:sp>
        <p:nvSpPr>
          <p:cNvPr id="5" name="Shape 3"/>
          <p:cNvSpPr/>
          <p:nvPr/>
        </p:nvSpPr>
        <p:spPr>
          <a:xfrm>
            <a:off x="685800" y="2194560"/>
            <a:ext cx="2499284" cy="2011680"/>
          </a:xfrm>
          <a:prstGeom prst="roundRect">
            <a:avLst>
              <a:gd name="adj" fmla="val 3182"/>
            </a:avLst>
          </a:prstGeom>
          <a:solidFill>
            <a:srgbClr val="FFFFFF"/>
          </a:solidFill>
          <a:ln w="12700">
            <a:solidFill>
              <a:srgbClr val="E2E4E8"/>
            </a:solidFill>
            <a:prstDash val="solid"/>
          </a:ln>
        </p:spPr>
      </p:sp>
      <p:sp>
        <p:nvSpPr>
          <p:cNvPr id="6" name="Shape 4"/>
          <p:cNvSpPr/>
          <p:nvPr/>
        </p:nvSpPr>
        <p:spPr>
          <a:xfrm>
            <a:off x="868680" y="2359152"/>
            <a:ext cx="2133524" cy="310896"/>
          </a:xfrm>
          <a:prstGeom prst="roundRect">
            <a:avLst>
              <a:gd name="adj" fmla="val 50000"/>
            </a:avLst>
          </a:prstGeom>
          <a:solidFill>
            <a:srgbClr val="2F7A4F"/>
          </a:solidFill>
          <a:ln w="12700">
            <a:solidFill>
              <a:srgbClr val="2F7A4F"/>
            </a:solidFill>
            <a:prstDash val="solid"/>
          </a:ln>
        </p:spPr>
      </p:sp>
      <p:sp>
        <p:nvSpPr>
          <p:cNvPr id="7" name="Text 5"/>
          <p:cNvSpPr txBox="1"/>
          <p:nvPr/>
        </p:nvSpPr>
        <p:spPr>
          <a:xfrm>
            <a:off x="868680" y="2359152"/>
            <a:ext cx="2133524"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DEVICE</a:t>
            </a:r>
            <a:endParaRPr lang="en-US" sz="1050" dirty="0"/>
          </a:p>
        </p:txBody>
      </p:sp>
      <p:sp>
        <p:nvSpPr>
          <p:cNvPr id="8" name="Text 6"/>
          <p:cNvSpPr txBox="1"/>
          <p:nvPr/>
        </p:nvSpPr>
        <p:spPr>
          <a:xfrm>
            <a:off x="868680" y="2761488"/>
            <a:ext cx="2133524" cy="502920"/>
          </a:xfrm>
          <a:prstGeom prst="rect">
            <a:avLst/>
          </a:prstGeom>
          <a:noFill/>
          <a:ln/>
        </p:spPr>
        <p:txBody>
          <a:bodyPr wrap="square" lIns="0" tIns="0" rIns="0" bIns="0" rtlCol="0" anchor="ctr"/>
          <a:lstStyle/>
          <a:p>
            <a:pPr indent="0" marL="0">
              <a:lnSpc>
                <a:spcPct val="105000"/>
              </a:lnSpc>
              <a:buNone/>
            </a:pPr>
            <a:r>
              <a:rPr lang="en-US" sz="1400" b="1" dirty="0">
                <a:solidFill>
                  <a:srgbClr val="171B24"/>
                </a:solidFill>
                <a:latin typeface="Cambria" pitchFamily="34" charset="0"/>
                <a:ea typeface="Cambria" pitchFamily="34" charset="-122"/>
                <a:cs typeface="Cambria" pitchFamily="34" charset="-120"/>
              </a:rPr>
              <a:t>Smart meter</a:t>
            </a:r>
            <a:endParaRPr lang="en-US" sz="1400" dirty="0"/>
          </a:p>
        </p:txBody>
      </p:sp>
      <p:sp>
        <p:nvSpPr>
          <p:cNvPr id="9" name="Text 7"/>
          <p:cNvSpPr txBox="1"/>
          <p:nvPr/>
        </p:nvSpPr>
        <p:spPr>
          <a:xfrm>
            <a:off x="868680" y="3291840"/>
            <a:ext cx="2133524" cy="731520"/>
          </a:xfrm>
          <a:prstGeom prst="rect">
            <a:avLst/>
          </a:prstGeom>
          <a:noFill/>
          <a:ln/>
        </p:spPr>
        <p:txBody>
          <a:bodyPr wrap="square" lIns="0" tIns="0" rIns="0" bIns="0" rtlCol="0" anchor="ctr"/>
          <a:lstStyle/>
          <a:p>
            <a:pPr indent="0" marL="0">
              <a:lnSpc>
                <a:spcPct val="120000"/>
              </a:lnSpc>
              <a:buNone/>
            </a:pPr>
            <a:r>
              <a:rPr lang="en-US" sz="1050" dirty="0">
                <a:solidFill>
                  <a:srgbClr val="5A6472"/>
                </a:solidFill>
                <a:latin typeface="Calibri" pitchFamily="34" charset="0"/>
                <a:ea typeface="Calibri" pitchFamily="34" charset="-122"/>
                <a:cs typeface="Calibri" pitchFamily="34" charset="-120"/>
              </a:rPr>
              <a:t>Measures import/export continuously at the premises</a:t>
            </a:r>
            <a:endParaRPr lang="en-US" sz="1050" dirty="0"/>
          </a:p>
        </p:txBody>
      </p:sp>
      <p:sp>
        <p:nvSpPr>
          <p:cNvPr id="10" name="Shape 8"/>
          <p:cNvSpPr/>
          <p:nvPr/>
        </p:nvSpPr>
        <p:spPr>
          <a:xfrm>
            <a:off x="3203372" y="3081528"/>
            <a:ext cx="237744" cy="237744"/>
          </a:xfrm>
          <a:prstGeom prst="chevron">
            <a:avLst/>
          </a:prstGeom>
          <a:solidFill>
            <a:srgbClr val="8A94A6"/>
          </a:solidFill>
          <a:ln w="12700">
            <a:solidFill>
              <a:srgbClr val="8A94A6"/>
            </a:solidFill>
            <a:prstDash val="solid"/>
          </a:ln>
        </p:spPr>
      </p:sp>
      <p:sp>
        <p:nvSpPr>
          <p:cNvPr id="11" name="Shape 9"/>
          <p:cNvSpPr/>
          <p:nvPr/>
        </p:nvSpPr>
        <p:spPr>
          <a:xfrm>
            <a:off x="3459404" y="2194560"/>
            <a:ext cx="2499284" cy="2011680"/>
          </a:xfrm>
          <a:prstGeom prst="roundRect">
            <a:avLst>
              <a:gd name="adj" fmla="val 3182"/>
            </a:avLst>
          </a:prstGeom>
          <a:solidFill>
            <a:srgbClr val="FFFFFF"/>
          </a:solidFill>
          <a:ln w="12700">
            <a:solidFill>
              <a:srgbClr val="E2E4E8"/>
            </a:solidFill>
            <a:prstDash val="solid"/>
          </a:ln>
        </p:spPr>
      </p:sp>
      <p:sp>
        <p:nvSpPr>
          <p:cNvPr id="12" name="Shape 10"/>
          <p:cNvSpPr/>
          <p:nvPr/>
        </p:nvSpPr>
        <p:spPr>
          <a:xfrm>
            <a:off x="3642284" y="2359152"/>
            <a:ext cx="2133524" cy="310896"/>
          </a:xfrm>
          <a:prstGeom prst="roundRect">
            <a:avLst>
              <a:gd name="adj" fmla="val 50000"/>
            </a:avLst>
          </a:prstGeom>
          <a:solidFill>
            <a:srgbClr val="2F7A4F"/>
          </a:solidFill>
          <a:ln w="12700">
            <a:solidFill>
              <a:srgbClr val="2F7A4F"/>
            </a:solidFill>
            <a:prstDash val="solid"/>
          </a:ln>
        </p:spPr>
      </p:sp>
      <p:sp>
        <p:nvSpPr>
          <p:cNvPr id="13" name="Text 11"/>
          <p:cNvSpPr txBox="1"/>
          <p:nvPr/>
        </p:nvSpPr>
        <p:spPr>
          <a:xfrm>
            <a:off x="3642284" y="2359152"/>
            <a:ext cx="2133524"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EXISTING</a:t>
            </a:r>
            <a:endParaRPr lang="en-US" sz="1050" dirty="0"/>
          </a:p>
        </p:txBody>
      </p:sp>
      <p:sp>
        <p:nvSpPr>
          <p:cNvPr id="14" name="Text 12"/>
          <p:cNvSpPr txBox="1"/>
          <p:nvPr/>
        </p:nvSpPr>
        <p:spPr>
          <a:xfrm>
            <a:off x="3642284" y="2761488"/>
            <a:ext cx="2133524" cy="502920"/>
          </a:xfrm>
          <a:prstGeom prst="rect">
            <a:avLst/>
          </a:prstGeom>
          <a:noFill/>
          <a:ln/>
        </p:spPr>
        <p:txBody>
          <a:bodyPr wrap="square" lIns="0" tIns="0" rIns="0" bIns="0" rtlCol="0" anchor="ctr"/>
          <a:lstStyle/>
          <a:p>
            <a:pPr indent="0" marL="0">
              <a:lnSpc>
                <a:spcPct val="105000"/>
              </a:lnSpc>
              <a:buNone/>
            </a:pPr>
            <a:r>
              <a:rPr lang="en-US" sz="1400" b="1" dirty="0">
                <a:solidFill>
                  <a:srgbClr val="171B24"/>
                </a:solidFill>
                <a:latin typeface="Cambria" pitchFamily="34" charset="0"/>
                <a:ea typeface="Cambria" pitchFamily="34" charset="-122"/>
                <a:cs typeface="Cambria" pitchFamily="34" charset="-120"/>
              </a:rPr>
              <a:t>HES</a:t>
            </a:r>
            <a:endParaRPr lang="en-US" sz="1400" dirty="0"/>
          </a:p>
        </p:txBody>
      </p:sp>
      <p:sp>
        <p:nvSpPr>
          <p:cNvPr id="15" name="Text 13"/>
          <p:cNvSpPr txBox="1"/>
          <p:nvPr/>
        </p:nvSpPr>
        <p:spPr>
          <a:xfrm>
            <a:off x="3642284" y="3291840"/>
            <a:ext cx="2133524" cy="731520"/>
          </a:xfrm>
          <a:prstGeom prst="rect">
            <a:avLst/>
          </a:prstGeom>
          <a:noFill/>
          <a:ln/>
        </p:spPr>
        <p:txBody>
          <a:bodyPr wrap="square" lIns="0" tIns="0" rIns="0" bIns="0" rtlCol="0" anchor="ctr"/>
          <a:lstStyle/>
          <a:p>
            <a:pPr indent="0" marL="0">
              <a:lnSpc>
                <a:spcPct val="120000"/>
              </a:lnSpc>
              <a:buNone/>
            </a:pPr>
            <a:r>
              <a:rPr lang="en-US" sz="1050" dirty="0">
                <a:solidFill>
                  <a:srgbClr val="5A6472"/>
                </a:solidFill>
                <a:latin typeface="Calibri" pitchFamily="34" charset="0"/>
                <a:ea typeface="Calibri" pitchFamily="34" charset="-122"/>
                <a:cs typeface="Calibri" pitchFamily="34" charset="-120"/>
              </a:rPr>
              <a:t>Head-End System — the “central phone exchange” for tens of thousands of meters</a:t>
            </a:r>
            <a:endParaRPr lang="en-US" sz="1050" dirty="0"/>
          </a:p>
        </p:txBody>
      </p:sp>
      <p:sp>
        <p:nvSpPr>
          <p:cNvPr id="16" name="Shape 14"/>
          <p:cNvSpPr/>
          <p:nvPr/>
        </p:nvSpPr>
        <p:spPr>
          <a:xfrm>
            <a:off x="5976976" y="3081528"/>
            <a:ext cx="237744" cy="237744"/>
          </a:xfrm>
          <a:prstGeom prst="chevron">
            <a:avLst/>
          </a:prstGeom>
          <a:solidFill>
            <a:srgbClr val="8A94A6"/>
          </a:solidFill>
          <a:ln w="12700">
            <a:solidFill>
              <a:srgbClr val="8A94A6"/>
            </a:solidFill>
            <a:prstDash val="solid"/>
          </a:ln>
        </p:spPr>
      </p:sp>
      <p:sp>
        <p:nvSpPr>
          <p:cNvPr id="17" name="Shape 15"/>
          <p:cNvSpPr/>
          <p:nvPr/>
        </p:nvSpPr>
        <p:spPr>
          <a:xfrm>
            <a:off x="6233008" y="2194560"/>
            <a:ext cx="2499284" cy="2011680"/>
          </a:xfrm>
          <a:prstGeom prst="roundRect">
            <a:avLst>
              <a:gd name="adj" fmla="val 3182"/>
            </a:avLst>
          </a:prstGeom>
          <a:solidFill>
            <a:srgbClr val="FFFFFF"/>
          </a:solidFill>
          <a:ln w="12700">
            <a:solidFill>
              <a:srgbClr val="E2E4E8"/>
            </a:solidFill>
            <a:prstDash val="solid"/>
          </a:ln>
        </p:spPr>
      </p:sp>
      <p:sp>
        <p:nvSpPr>
          <p:cNvPr id="18" name="Shape 16"/>
          <p:cNvSpPr/>
          <p:nvPr/>
        </p:nvSpPr>
        <p:spPr>
          <a:xfrm>
            <a:off x="6415888" y="2359152"/>
            <a:ext cx="2133524" cy="310896"/>
          </a:xfrm>
          <a:prstGeom prst="roundRect">
            <a:avLst>
              <a:gd name="adj" fmla="val 50000"/>
            </a:avLst>
          </a:prstGeom>
          <a:solidFill>
            <a:srgbClr val="2F7A4F"/>
          </a:solidFill>
          <a:ln w="12700">
            <a:solidFill>
              <a:srgbClr val="2F7A4F"/>
            </a:solidFill>
            <a:prstDash val="solid"/>
          </a:ln>
        </p:spPr>
      </p:sp>
      <p:sp>
        <p:nvSpPr>
          <p:cNvPr id="19" name="Text 17"/>
          <p:cNvSpPr txBox="1"/>
          <p:nvPr/>
        </p:nvSpPr>
        <p:spPr>
          <a:xfrm>
            <a:off x="6415888" y="2359152"/>
            <a:ext cx="2133524"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EXISTING</a:t>
            </a:r>
            <a:endParaRPr lang="en-US" sz="1050" dirty="0"/>
          </a:p>
        </p:txBody>
      </p:sp>
      <p:sp>
        <p:nvSpPr>
          <p:cNvPr id="20" name="Text 18"/>
          <p:cNvSpPr txBox="1"/>
          <p:nvPr/>
        </p:nvSpPr>
        <p:spPr>
          <a:xfrm>
            <a:off x="6415888" y="2761488"/>
            <a:ext cx="2133524" cy="502920"/>
          </a:xfrm>
          <a:prstGeom prst="rect">
            <a:avLst/>
          </a:prstGeom>
          <a:noFill/>
          <a:ln/>
        </p:spPr>
        <p:txBody>
          <a:bodyPr wrap="square" lIns="0" tIns="0" rIns="0" bIns="0" rtlCol="0" anchor="ctr"/>
          <a:lstStyle/>
          <a:p>
            <a:pPr indent="0" marL="0">
              <a:lnSpc>
                <a:spcPct val="105000"/>
              </a:lnSpc>
              <a:buNone/>
            </a:pPr>
            <a:r>
              <a:rPr lang="en-US" sz="1400" b="1" dirty="0">
                <a:solidFill>
                  <a:srgbClr val="171B24"/>
                </a:solidFill>
                <a:latin typeface="Cambria" pitchFamily="34" charset="0"/>
                <a:ea typeface="Cambria" pitchFamily="34" charset="-122"/>
                <a:cs typeface="Cambria" pitchFamily="34" charset="-120"/>
              </a:rPr>
              <a:t>MDM / VEE</a:t>
            </a:r>
            <a:endParaRPr lang="en-US" sz="1400" dirty="0"/>
          </a:p>
        </p:txBody>
      </p:sp>
      <p:sp>
        <p:nvSpPr>
          <p:cNvPr id="21" name="Text 19"/>
          <p:cNvSpPr txBox="1"/>
          <p:nvPr/>
        </p:nvSpPr>
        <p:spPr>
          <a:xfrm>
            <a:off x="6415888" y="3291840"/>
            <a:ext cx="2133524" cy="731520"/>
          </a:xfrm>
          <a:prstGeom prst="rect">
            <a:avLst/>
          </a:prstGeom>
          <a:noFill/>
          <a:ln/>
        </p:spPr>
        <p:txBody>
          <a:bodyPr wrap="square" lIns="0" tIns="0" rIns="0" bIns="0" rtlCol="0" anchor="ctr"/>
          <a:lstStyle/>
          <a:p>
            <a:pPr indent="0" marL="0">
              <a:lnSpc>
                <a:spcPct val="120000"/>
              </a:lnSpc>
              <a:buNone/>
            </a:pPr>
            <a:r>
              <a:rPr lang="en-US" sz="1050" dirty="0">
                <a:solidFill>
                  <a:srgbClr val="5A6472"/>
                </a:solidFill>
                <a:latin typeface="Calibri" pitchFamily="34" charset="0"/>
                <a:ea typeface="Calibri" pitchFamily="34" charset="-122"/>
                <a:cs typeface="Calibri" pitchFamily="34" charset="-120"/>
              </a:rPr>
              <a:t>Validates, Estimates, Edits raw readings before anyone trusts them</a:t>
            </a:r>
            <a:endParaRPr lang="en-US" sz="1050" dirty="0"/>
          </a:p>
        </p:txBody>
      </p:sp>
      <p:sp>
        <p:nvSpPr>
          <p:cNvPr id="22" name="Shape 20"/>
          <p:cNvSpPr/>
          <p:nvPr/>
        </p:nvSpPr>
        <p:spPr>
          <a:xfrm>
            <a:off x="8750579" y="3081528"/>
            <a:ext cx="237744" cy="237744"/>
          </a:xfrm>
          <a:prstGeom prst="chevron">
            <a:avLst/>
          </a:prstGeom>
          <a:solidFill>
            <a:srgbClr val="8A94A6"/>
          </a:solidFill>
          <a:ln w="12700">
            <a:solidFill>
              <a:srgbClr val="8A94A6"/>
            </a:solidFill>
            <a:prstDash val="solid"/>
          </a:ln>
        </p:spPr>
      </p:sp>
      <p:sp>
        <p:nvSpPr>
          <p:cNvPr id="23" name="Shape 21"/>
          <p:cNvSpPr/>
          <p:nvPr/>
        </p:nvSpPr>
        <p:spPr>
          <a:xfrm>
            <a:off x="9006611" y="2194560"/>
            <a:ext cx="2499284" cy="2011680"/>
          </a:xfrm>
          <a:prstGeom prst="roundRect">
            <a:avLst>
              <a:gd name="adj" fmla="val 3182"/>
            </a:avLst>
          </a:prstGeom>
          <a:solidFill>
            <a:srgbClr val="FFFFFF"/>
          </a:solidFill>
          <a:ln w="12700">
            <a:solidFill>
              <a:srgbClr val="E2E4E8"/>
            </a:solidFill>
            <a:prstDash val="solid"/>
          </a:ln>
        </p:spPr>
      </p:sp>
      <p:sp>
        <p:nvSpPr>
          <p:cNvPr id="24" name="Shape 22"/>
          <p:cNvSpPr/>
          <p:nvPr/>
        </p:nvSpPr>
        <p:spPr>
          <a:xfrm>
            <a:off x="9189491" y="2359152"/>
            <a:ext cx="2133524" cy="310896"/>
          </a:xfrm>
          <a:prstGeom prst="roundRect">
            <a:avLst>
              <a:gd name="adj" fmla="val 50000"/>
            </a:avLst>
          </a:prstGeom>
          <a:solidFill>
            <a:srgbClr val="C07F2A"/>
          </a:solidFill>
          <a:ln w="12700">
            <a:solidFill>
              <a:srgbClr val="C07F2A"/>
            </a:solidFill>
            <a:prstDash val="solid"/>
          </a:ln>
        </p:spPr>
      </p:sp>
      <p:sp>
        <p:nvSpPr>
          <p:cNvPr id="25" name="Text 23"/>
          <p:cNvSpPr txBox="1"/>
          <p:nvPr/>
        </p:nvSpPr>
        <p:spPr>
          <a:xfrm>
            <a:off x="9189491" y="2359152"/>
            <a:ext cx="2133524"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OUR SCOPE</a:t>
            </a:r>
            <a:endParaRPr lang="en-US" sz="1050" dirty="0"/>
          </a:p>
        </p:txBody>
      </p:sp>
      <p:sp>
        <p:nvSpPr>
          <p:cNvPr id="26" name="Text 24"/>
          <p:cNvSpPr txBox="1"/>
          <p:nvPr/>
        </p:nvSpPr>
        <p:spPr>
          <a:xfrm>
            <a:off x="9189491" y="2761488"/>
            <a:ext cx="2133524" cy="502920"/>
          </a:xfrm>
          <a:prstGeom prst="rect">
            <a:avLst/>
          </a:prstGeom>
          <a:noFill/>
          <a:ln/>
        </p:spPr>
        <p:txBody>
          <a:bodyPr wrap="square" lIns="0" tIns="0" rIns="0" bIns="0" rtlCol="0" anchor="ctr"/>
          <a:lstStyle/>
          <a:p>
            <a:pPr indent="0" marL="0">
              <a:lnSpc>
                <a:spcPct val="105000"/>
              </a:lnSpc>
              <a:buNone/>
            </a:pPr>
            <a:r>
              <a:rPr lang="en-US" sz="1400" b="1" dirty="0">
                <a:solidFill>
                  <a:srgbClr val="171B24"/>
                </a:solidFill>
                <a:latin typeface="Cambria" pitchFamily="34" charset="0"/>
                <a:ea typeface="Cambria" pitchFamily="34" charset="-122"/>
                <a:cs typeface="Cambria" pitchFamily="34" charset="-120"/>
              </a:rPr>
              <a:t>This platform</a:t>
            </a:r>
            <a:endParaRPr lang="en-US" sz="1400" dirty="0"/>
          </a:p>
        </p:txBody>
      </p:sp>
      <p:sp>
        <p:nvSpPr>
          <p:cNvPr id="27" name="Text 25"/>
          <p:cNvSpPr txBox="1"/>
          <p:nvPr/>
        </p:nvSpPr>
        <p:spPr>
          <a:xfrm>
            <a:off x="9189491" y="3291840"/>
            <a:ext cx="2133524" cy="731520"/>
          </a:xfrm>
          <a:prstGeom prst="rect">
            <a:avLst/>
          </a:prstGeom>
          <a:noFill/>
          <a:ln/>
        </p:spPr>
        <p:txBody>
          <a:bodyPr wrap="square" lIns="0" tIns="0" rIns="0" bIns="0" rtlCol="0" anchor="ctr"/>
          <a:lstStyle/>
          <a:p>
            <a:pPr indent="0" marL="0">
              <a:lnSpc>
                <a:spcPct val="120000"/>
              </a:lnSpc>
              <a:buNone/>
            </a:pPr>
            <a:r>
              <a:rPr lang="en-US" sz="1050" dirty="0">
                <a:solidFill>
                  <a:srgbClr val="5A6472"/>
                </a:solidFill>
                <a:latin typeface="Calibri" pitchFamily="34" charset="0"/>
                <a:ea typeface="Calibri" pitchFamily="34" charset="-122"/>
                <a:cs typeface="Calibri" pitchFamily="34" charset="-120"/>
              </a:rPr>
              <a:t>Reads the cleaned feed at the cadence it's already produced</a:t>
            </a:r>
            <a:endParaRPr lang="en-US" sz="1050" dirty="0"/>
          </a:p>
        </p:txBody>
      </p:sp>
      <p:sp>
        <p:nvSpPr>
          <p:cNvPr id="28" name="Shape 26"/>
          <p:cNvSpPr/>
          <p:nvPr/>
        </p:nvSpPr>
        <p:spPr>
          <a:xfrm>
            <a:off x="685800" y="4572000"/>
            <a:ext cx="10820095" cy="868680"/>
          </a:xfrm>
          <a:prstGeom prst="roundRect">
            <a:avLst>
              <a:gd name="adj" fmla="val 7368"/>
            </a:avLst>
          </a:prstGeom>
          <a:solidFill>
            <a:srgbClr val="2A3242"/>
          </a:solidFill>
          <a:ln w="12700">
            <a:solidFill>
              <a:srgbClr val="2A3242"/>
            </a:solidFill>
            <a:prstDash val="solid"/>
          </a:ln>
        </p:spPr>
      </p:sp>
      <p:sp>
        <p:nvSpPr>
          <p:cNvPr id="29" name="Text 27"/>
          <p:cNvSpPr txBox="1"/>
          <p:nvPr/>
        </p:nvSpPr>
        <p:spPr>
          <a:xfrm>
            <a:off x="1005840" y="4709160"/>
            <a:ext cx="10180015" cy="594360"/>
          </a:xfrm>
          <a:prstGeom prst="rect">
            <a:avLst/>
          </a:prstGeom>
          <a:noFill/>
          <a:ln/>
        </p:spPr>
        <p:txBody>
          <a:bodyPr wrap="square" lIns="0" tIns="0" rIns="0" bIns="0" rtlCol="0" anchor="ctr"/>
          <a:lstStyle/>
          <a:p>
            <a:pPr indent="0" marL="0">
              <a:lnSpc>
                <a:spcPct val="125000"/>
              </a:lnSpc>
              <a:buNone/>
            </a:pPr>
            <a:r>
              <a:rPr lang="en-US" sz="1350" dirty="0">
                <a:solidFill>
                  <a:srgbClr val="FFFFFF"/>
                </a:solidFill>
                <a:latin typeface="Calibri" pitchFamily="34" charset="0"/>
                <a:ea typeface="Calibri" pitchFamily="34" charset="-122"/>
                <a:cs typeface="Calibri" pitchFamily="34" charset="-120"/>
              </a:rPr>
              <a:t>“AMI” is just the umbrella name for the whole pipeline above — meter + comms + HES + MDM together. India's smart-metering rollout already runs this at scale.</a:t>
            </a:r>
            <a:endParaRPr lang="en-US" sz="1350" dirty="0"/>
          </a:p>
        </p:txBody>
      </p:sp>
      <p:sp>
        <p:nvSpPr>
          <p:cNvPr id="30" name="Text 28"/>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03 — The Real Systems Underneath</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03 · THE REAL SYSTEMS UNDERNEATH</a:t>
            </a:r>
            <a:endParaRPr lang="en-US" sz="1300" dirty="0"/>
          </a:p>
        </p:txBody>
      </p:sp>
      <p:sp>
        <p:nvSpPr>
          <p:cNvPr id="3" name="Text 1"/>
          <p:cNvSpPr txBox="1"/>
          <p:nvPr/>
        </p:nvSpPr>
        <p:spPr>
          <a:xfrm>
            <a:off x="685800" y="868680"/>
            <a:ext cx="10820095" cy="914400"/>
          </a:xfrm>
          <a:prstGeom prst="rect">
            <a:avLst/>
          </a:prstGeom>
          <a:noFill/>
          <a:ln/>
        </p:spPr>
        <p:txBody>
          <a:bodyPr wrap="square" lIns="0" tIns="0" rIns="0" bIns="0" rtlCol="0" anchor="ctr"/>
          <a:lstStyle/>
          <a:p>
            <a:pPr indent="0" marL="0">
              <a:lnSpc>
                <a:spcPct val="105000"/>
              </a:lnSpc>
              <a:buNone/>
            </a:pPr>
            <a:r>
              <a:rPr lang="en-US" sz="2600" b="1" dirty="0">
                <a:solidFill>
                  <a:srgbClr val="171B24"/>
                </a:solidFill>
                <a:latin typeface="Cambria" pitchFamily="34" charset="0"/>
                <a:ea typeface="Cambria" pitchFamily="34" charset="-122"/>
                <a:cs typeface="Cambria" pitchFamily="34" charset="-120"/>
              </a:rPr>
              <a:t>Control &amp; safety</a:t>
            </a:r>
            <a:endParaRPr lang="en-US" sz="2600" dirty="0"/>
          </a:p>
        </p:txBody>
      </p:sp>
      <p:sp>
        <p:nvSpPr>
          <p:cNvPr id="4" name="Text 2"/>
          <p:cNvSpPr txBox="1"/>
          <p:nvPr/>
        </p:nvSpPr>
        <p:spPr>
          <a:xfrm>
            <a:off x="685800" y="1600200"/>
            <a:ext cx="10820095" cy="548640"/>
          </a:xfrm>
          <a:prstGeom prst="rect">
            <a:avLst/>
          </a:prstGeom>
          <a:noFill/>
          <a:ln/>
        </p:spPr>
        <p:txBody>
          <a:bodyPr wrap="square" lIns="0" tIns="0" rIns="0" bIns="0" rtlCol="0" anchor="ctr"/>
          <a:lstStyle/>
          <a:p>
            <a:pPr indent="0" marL="0">
              <a:buNone/>
            </a:pPr>
            <a:r>
              <a:rPr lang="en-US" sz="1500" dirty="0">
                <a:solidFill>
                  <a:srgbClr val="5A6472"/>
                </a:solidFill>
                <a:latin typeface="Calibri" pitchFamily="34" charset="0"/>
                <a:ea typeface="Calibri" pitchFamily="34" charset="-122"/>
                <a:cs typeface="Calibri" pitchFamily="34" charset="-120"/>
              </a:rPr>
              <a:t>Who can actually command a device — and why this software never does.</a:t>
            </a:r>
            <a:endParaRPr lang="en-US" sz="1500" dirty="0"/>
          </a:p>
        </p:txBody>
      </p:sp>
      <p:sp>
        <p:nvSpPr>
          <p:cNvPr id="5" name="Shape 3"/>
          <p:cNvSpPr/>
          <p:nvPr/>
        </p:nvSpPr>
        <p:spPr>
          <a:xfrm>
            <a:off x="685800" y="2103120"/>
            <a:ext cx="10820095" cy="658368"/>
          </a:xfrm>
          <a:prstGeom prst="roundRect">
            <a:avLst>
              <a:gd name="adj" fmla="val 9722"/>
            </a:avLst>
          </a:prstGeom>
          <a:solidFill>
            <a:srgbClr val="FFFFFF"/>
          </a:solidFill>
          <a:ln w="12700">
            <a:solidFill>
              <a:srgbClr val="E2E4E8"/>
            </a:solidFill>
            <a:prstDash val="solid"/>
          </a:ln>
        </p:spPr>
      </p:sp>
      <p:sp>
        <p:nvSpPr>
          <p:cNvPr id="6" name="Text 4"/>
          <p:cNvSpPr txBox="1"/>
          <p:nvPr/>
        </p:nvSpPr>
        <p:spPr>
          <a:xfrm>
            <a:off x="960120" y="2103120"/>
            <a:ext cx="2377440" cy="658368"/>
          </a:xfrm>
          <a:prstGeom prst="rect">
            <a:avLst/>
          </a:prstGeom>
          <a:noFill/>
          <a:ln/>
        </p:spPr>
        <p:txBody>
          <a:bodyPr wrap="square" lIns="0" tIns="0" rIns="0" bIns="0" rtlCol="0" anchor="ctr"/>
          <a:lstStyle/>
          <a:p>
            <a:pPr indent="0" marL="0">
              <a:buNone/>
            </a:pPr>
            <a:r>
              <a:rPr lang="en-US" sz="1350" b="1" dirty="0">
                <a:solidFill>
                  <a:srgbClr val="171B24"/>
                </a:solidFill>
                <a:latin typeface="Cambria" pitchFamily="34" charset="0"/>
                <a:ea typeface="Cambria" pitchFamily="34" charset="-122"/>
                <a:cs typeface="Cambria" pitchFamily="34" charset="-120"/>
              </a:rPr>
              <a:t>DERMS</a:t>
            </a:r>
            <a:endParaRPr lang="en-US" sz="1350" dirty="0"/>
          </a:p>
        </p:txBody>
      </p:sp>
      <p:sp>
        <p:nvSpPr>
          <p:cNvPr id="7" name="Text 5"/>
          <p:cNvSpPr txBox="1"/>
          <p:nvPr/>
        </p:nvSpPr>
        <p:spPr>
          <a:xfrm>
            <a:off x="3474720" y="2103120"/>
            <a:ext cx="7756855" cy="658368"/>
          </a:xfrm>
          <a:prstGeom prst="rect">
            <a:avLst/>
          </a:prstGeom>
          <a:noFill/>
          <a:ln/>
        </p:spPr>
        <p:txBody>
          <a:bodyPr wrap="square" lIns="0" tIns="0" rIns="0" bIns="0" rtlCol="0" anchor="ctr"/>
          <a:lstStyle/>
          <a:p>
            <a:pPr indent="0" marL="0">
              <a:lnSpc>
                <a:spcPct val="115000"/>
              </a:lnSpc>
              <a:buNone/>
            </a:pPr>
            <a:r>
              <a:rPr lang="en-US" sz="1200" dirty="0">
                <a:solidFill>
                  <a:srgbClr val="5A6472"/>
                </a:solidFill>
                <a:latin typeface="Calibri" pitchFamily="34" charset="0"/>
                <a:ea typeface="Calibri" pitchFamily="34" charset="-122"/>
                <a:cs typeface="Calibri" pitchFamily="34" charset="-120"/>
              </a:rPr>
              <a:t>The DISCOM's control system for its many small customer-owned devices — “SCADA, but for rooftops.” Issues real commands.</a:t>
            </a:r>
            <a:endParaRPr lang="en-US" sz="1200" dirty="0"/>
          </a:p>
        </p:txBody>
      </p:sp>
      <p:sp>
        <p:nvSpPr>
          <p:cNvPr id="8" name="Shape 6"/>
          <p:cNvSpPr/>
          <p:nvPr/>
        </p:nvSpPr>
        <p:spPr>
          <a:xfrm>
            <a:off x="685800" y="2852928"/>
            <a:ext cx="10820095" cy="658368"/>
          </a:xfrm>
          <a:prstGeom prst="roundRect">
            <a:avLst>
              <a:gd name="adj" fmla="val 9722"/>
            </a:avLst>
          </a:prstGeom>
          <a:solidFill>
            <a:srgbClr val="FFFFFF"/>
          </a:solidFill>
          <a:ln w="12700">
            <a:solidFill>
              <a:srgbClr val="E2E4E8"/>
            </a:solidFill>
            <a:prstDash val="solid"/>
          </a:ln>
        </p:spPr>
      </p:sp>
      <p:sp>
        <p:nvSpPr>
          <p:cNvPr id="9" name="Text 7"/>
          <p:cNvSpPr txBox="1"/>
          <p:nvPr/>
        </p:nvSpPr>
        <p:spPr>
          <a:xfrm>
            <a:off x="960120" y="2852928"/>
            <a:ext cx="2377440" cy="658368"/>
          </a:xfrm>
          <a:prstGeom prst="rect">
            <a:avLst/>
          </a:prstGeom>
          <a:noFill/>
          <a:ln/>
        </p:spPr>
        <p:txBody>
          <a:bodyPr wrap="square" lIns="0" tIns="0" rIns="0" bIns="0" rtlCol="0" anchor="ctr"/>
          <a:lstStyle/>
          <a:p>
            <a:pPr indent="0" marL="0">
              <a:buNone/>
            </a:pPr>
            <a:r>
              <a:rPr lang="en-US" sz="1350" b="1" dirty="0">
                <a:solidFill>
                  <a:srgbClr val="171B24"/>
                </a:solidFill>
                <a:latin typeface="Cambria" pitchFamily="34" charset="0"/>
                <a:ea typeface="Cambria" pitchFamily="34" charset="-122"/>
                <a:cs typeface="Cambria" pitchFamily="34" charset="-120"/>
              </a:rPr>
              <a:t>SunSpec Modbus</a:t>
            </a:r>
            <a:endParaRPr lang="en-US" sz="1350" dirty="0"/>
          </a:p>
        </p:txBody>
      </p:sp>
      <p:sp>
        <p:nvSpPr>
          <p:cNvPr id="10" name="Text 8"/>
          <p:cNvSpPr txBox="1"/>
          <p:nvPr/>
        </p:nvSpPr>
        <p:spPr>
          <a:xfrm>
            <a:off x="3474720" y="2852928"/>
            <a:ext cx="7756855" cy="658368"/>
          </a:xfrm>
          <a:prstGeom prst="rect">
            <a:avLst/>
          </a:prstGeom>
          <a:noFill/>
          <a:ln/>
        </p:spPr>
        <p:txBody>
          <a:bodyPr wrap="square" lIns="0" tIns="0" rIns="0" bIns="0" rtlCol="0" anchor="ctr"/>
          <a:lstStyle/>
          <a:p>
            <a:pPr indent="0" marL="0">
              <a:lnSpc>
                <a:spcPct val="115000"/>
              </a:lnSpc>
              <a:buNone/>
            </a:pPr>
            <a:r>
              <a:rPr lang="en-US" sz="1200" dirty="0">
                <a:solidFill>
                  <a:srgbClr val="5A6472"/>
                </a:solidFill>
                <a:latin typeface="Calibri" pitchFamily="34" charset="0"/>
                <a:ea typeface="Calibri" pitchFamily="34" charset="-122"/>
                <a:cs typeface="Calibri" pitchFamily="34" charset="-120"/>
              </a:rPr>
              <a:t>A “universal remote control” language most commercial inverters already speak, across brands.</a:t>
            </a:r>
            <a:endParaRPr lang="en-US" sz="1200" dirty="0"/>
          </a:p>
        </p:txBody>
      </p:sp>
      <p:sp>
        <p:nvSpPr>
          <p:cNvPr id="11" name="Shape 9"/>
          <p:cNvSpPr/>
          <p:nvPr/>
        </p:nvSpPr>
        <p:spPr>
          <a:xfrm>
            <a:off x="685800" y="3602736"/>
            <a:ext cx="10820095" cy="658368"/>
          </a:xfrm>
          <a:prstGeom prst="roundRect">
            <a:avLst>
              <a:gd name="adj" fmla="val 9722"/>
            </a:avLst>
          </a:prstGeom>
          <a:solidFill>
            <a:srgbClr val="FFFFFF"/>
          </a:solidFill>
          <a:ln w="12700">
            <a:solidFill>
              <a:srgbClr val="E2E4E8"/>
            </a:solidFill>
            <a:prstDash val="solid"/>
          </a:ln>
        </p:spPr>
      </p:sp>
      <p:sp>
        <p:nvSpPr>
          <p:cNvPr id="12" name="Text 10"/>
          <p:cNvSpPr txBox="1"/>
          <p:nvPr/>
        </p:nvSpPr>
        <p:spPr>
          <a:xfrm>
            <a:off x="960120" y="3602736"/>
            <a:ext cx="2377440" cy="658368"/>
          </a:xfrm>
          <a:prstGeom prst="rect">
            <a:avLst/>
          </a:prstGeom>
          <a:noFill/>
          <a:ln/>
        </p:spPr>
        <p:txBody>
          <a:bodyPr wrap="square" lIns="0" tIns="0" rIns="0" bIns="0" rtlCol="0" anchor="ctr"/>
          <a:lstStyle/>
          <a:p>
            <a:pPr indent="0" marL="0">
              <a:buNone/>
            </a:pPr>
            <a:r>
              <a:rPr lang="en-US" sz="1350" b="1" dirty="0">
                <a:solidFill>
                  <a:srgbClr val="171B24"/>
                </a:solidFill>
                <a:latin typeface="Cambria" pitchFamily="34" charset="0"/>
                <a:ea typeface="Cambria" pitchFamily="34" charset="-122"/>
                <a:cs typeface="Cambria" pitchFamily="34" charset="-120"/>
              </a:rPr>
              <a:t>IEEE 2030.5</a:t>
            </a:r>
            <a:endParaRPr lang="en-US" sz="1350" dirty="0"/>
          </a:p>
        </p:txBody>
      </p:sp>
      <p:sp>
        <p:nvSpPr>
          <p:cNvPr id="13" name="Text 11"/>
          <p:cNvSpPr txBox="1"/>
          <p:nvPr/>
        </p:nvSpPr>
        <p:spPr>
          <a:xfrm>
            <a:off x="3474720" y="3602736"/>
            <a:ext cx="7756855" cy="658368"/>
          </a:xfrm>
          <a:prstGeom prst="rect">
            <a:avLst/>
          </a:prstGeom>
          <a:noFill/>
          <a:ln/>
        </p:spPr>
        <p:txBody>
          <a:bodyPr wrap="square" lIns="0" tIns="0" rIns="0" bIns="0" rtlCol="0" anchor="ctr"/>
          <a:lstStyle/>
          <a:p>
            <a:pPr indent="0" marL="0">
              <a:lnSpc>
                <a:spcPct val="115000"/>
              </a:lnSpc>
              <a:buNone/>
            </a:pPr>
            <a:r>
              <a:rPr lang="en-US" sz="1200" dirty="0">
                <a:solidFill>
                  <a:srgbClr val="5A6472"/>
                </a:solidFill>
                <a:latin typeface="Calibri" pitchFamily="34" charset="0"/>
                <a:ea typeface="Calibri" pitchFamily="34" charset="-122"/>
                <a:cs typeface="Calibri" pitchFamily="34" charset="-120"/>
              </a:rPr>
              <a:t>A newer, internet-style, security-built-in standard for talking to home DER devices — mandated in California's Rule 21.</a:t>
            </a:r>
            <a:endParaRPr lang="en-US" sz="1200" dirty="0"/>
          </a:p>
        </p:txBody>
      </p:sp>
      <p:sp>
        <p:nvSpPr>
          <p:cNvPr id="14" name="Shape 12"/>
          <p:cNvSpPr/>
          <p:nvPr/>
        </p:nvSpPr>
        <p:spPr>
          <a:xfrm>
            <a:off x="685800" y="4352544"/>
            <a:ext cx="10820095" cy="658368"/>
          </a:xfrm>
          <a:prstGeom prst="roundRect">
            <a:avLst>
              <a:gd name="adj" fmla="val 9722"/>
            </a:avLst>
          </a:prstGeom>
          <a:solidFill>
            <a:srgbClr val="FFFFFF"/>
          </a:solidFill>
          <a:ln w="12700">
            <a:solidFill>
              <a:srgbClr val="E2E4E8"/>
            </a:solidFill>
            <a:prstDash val="solid"/>
          </a:ln>
        </p:spPr>
      </p:sp>
      <p:sp>
        <p:nvSpPr>
          <p:cNvPr id="15" name="Text 13"/>
          <p:cNvSpPr txBox="1"/>
          <p:nvPr/>
        </p:nvSpPr>
        <p:spPr>
          <a:xfrm>
            <a:off x="960120" y="4352544"/>
            <a:ext cx="2377440" cy="658368"/>
          </a:xfrm>
          <a:prstGeom prst="rect">
            <a:avLst/>
          </a:prstGeom>
          <a:noFill/>
          <a:ln/>
        </p:spPr>
        <p:txBody>
          <a:bodyPr wrap="square" lIns="0" tIns="0" rIns="0" bIns="0" rtlCol="0" anchor="ctr"/>
          <a:lstStyle/>
          <a:p>
            <a:pPr indent="0" marL="0">
              <a:buNone/>
            </a:pPr>
            <a:r>
              <a:rPr lang="en-US" sz="1350" b="1" dirty="0">
                <a:solidFill>
                  <a:srgbClr val="171B24"/>
                </a:solidFill>
                <a:latin typeface="Cambria" pitchFamily="34" charset="0"/>
                <a:ea typeface="Cambria" pitchFamily="34" charset="-122"/>
                <a:cs typeface="Cambria" pitchFamily="34" charset="-120"/>
              </a:rPr>
              <a:t>OpenADR</a:t>
            </a:r>
            <a:endParaRPr lang="en-US" sz="1350" dirty="0"/>
          </a:p>
        </p:txBody>
      </p:sp>
      <p:sp>
        <p:nvSpPr>
          <p:cNvPr id="16" name="Text 14"/>
          <p:cNvSpPr txBox="1"/>
          <p:nvPr/>
        </p:nvSpPr>
        <p:spPr>
          <a:xfrm>
            <a:off x="3474720" y="4352544"/>
            <a:ext cx="7756855" cy="658368"/>
          </a:xfrm>
          <a:prstGeom prst="rect">
            <a:avLst/>
          </a:prstGeom>
          <a:noFill/>
          <a:ln/>
        </p:spPr>
        <p:txBody>
          <a:bodyPr wrap="square" lIns="0" tIns="0" rIns="0" bIns="0" rtlCol="0" anchor="ctr"/>
          <a:lstStyle/>
          <a:p>
            <a:pPr indent="0" marL="0">
              <a:lnSpc>
                <a:spcPct val="115000"/>
              </a:lnSpc>
              <a:buNone/>
            </a:pPr>
            <a:r>
              <a:rPr lang="en-US" sz="1200" dirty="0">
                <a:solidFill>
                  <a:srgbClr val="5A6472"/>
                </a:solidFill>
                <a:latin typeface="Calibri" pitchFamily="34" charset="0"/>
                <a:ea typeface="Calibri" pitchFamily="34" charset="-122"/>
                <a:cs typeface="Calibri" pitchFamily="34" charset="-120"/>
              </a:rPr>
              <a:t>Broadcasts “reduce load/generation now” signals to many participating devices at once — already used in real demand response.</a:t>
            </a:r>
            <a:endParaRPr lang="en-US" sz="1200" dirty="0"/>
          </a:p>
        </p:txBody>
      </p:sp>
      <p:sp>
        <p:nvSpPr>
          <p:cNvPr id="17" name="Shape 15"/>
          <p:cNvSpPr/>
          <p:nvPr/>
        </p:nvSpPr>
        <p:spPr>
          <a:xfrm>
            <a:off x="685800" y="5102352"/>
            <a:ext cx="10820095" cy="658368"/>
          </a:xfrm>
          <a:prstGeom prst="roundRect">
            <a:avLst>
              <a:gd name="adj" fmla="val 9722"/>
            </a:avLst>
          </a:prstGeom>
          <a:solidFill>
            <a:srgbClr val="FFFFFF"/>
          </a:solidFill>
          <a:ln w="12700">
            <a:solidFill>
              <a:srgbClr val="E2E4E8"/>
            </a:solidFill>
            <a:prstDash val="solid"/>
          </a:ln>
        </p:spPr>
      </p:sp>
      <p:sp>
        <p:nvSpPr>
          <p:cNvPr id="18" name="Text 16"/>
          <p:cNvSpPr txBox="1"/>
          <p:nvPr/>
        </p:nvSpPr>
        <p:spPr>
          <a:xfrm>
            <a:off x="960120" y="5102352"/>
            <a:ext cx="2377440" cy="658368"/>
          </a:xfrm>
          <a:prstGeom prst="rect">
            <a:avLst/>
          </a:prstGeom>
          <a:noFill/>
          <a:ln/>
        </p:spPr>
        <p:txBody>
          <a:bodyPr wrap="square" lIns="0" tIns="0" rIns="0" bIns="0" rtlCol="0" anchor="ctr"/>
          <a:lstStyle/>
          <a:p>
            <a:pPr indent="0" marL="0">
              <a:buNone/>
            </a:pPr>
            <a:r>
              <a:rPr lang="en-US" sz="1350" b="1" dirty="0">
                <a:solidFill>
                  <a:srgbClr val="171B24"/>
                </a:solidFill>
                <a:latin typeface="Cambria" pitchFamily="34" charset="0"/>
                <a:ea typeface="Cambria" pitchFamily="34" charset="-122"/>
                <a:cs typeface="Cambria" pitchFamily="34" charset="-120"/>
              </a:rPr>
              <a:t>Anti-islanding</a:t>
            </a:r>
            <a:endParaRPr lang="en-US" sz="1350" dirty="0"/>
          </a:p>
        </p:txBody>
      </p:sp>
      <p:sp>
        <p:nvSpPr>
          <p:cNvPr id="19" name="Text 17"/>
          <p:cNvSpPr txBox="1"/>
          <p:nvPr/>
        </p:nvSpPr>
        <p:spPr>
          <a:xfrm>
            <a:off x="3474720" y="5102352"/>
            <a:ext cx="7756855" cy="658368"/>
          </a:xfrm>
          <a:prstGeom prst="rect">
            <a:avLst/>
          </a:prstGeom>
          <a:noFill/>
          <a:ln/>
        </p:spPr>
        <p:txBody>
          <a:bodyPr wrap="square" lIns="0" tIns="0" rIns="0" bIns="0" rtlCol="0" anchor="ctr"/>
          <a:lstStyle/>
          <a:p>
            <a:pPr indent="0" marL="0">
              <a:lnSpc>
                <a:spcPct val="115000"/>
              </a:lnSpc>
              <a:buNone/>
            </a:pPr>
            <a:r>
              <a:rPr lang="en-US" sz="1200" dirty="0">
                <a:solidFill>
                  <a:srgbClr val="5A6472"/>
                </a:solidFill>
                <a:latin typeface="Calibri" pitchFamily="34" charset="0"/>
                <a:ea typeface="Calibri" pitchFamily="34" charset="-122"/>
                <a:cs typeface="Calibri" pitchFamily="34" charset="-120"/>
              </a:rPr>
              <a:t>A mandatory, purely local inverter safety behavior — disconnects itself on grid loss, with zero network dependency.</a:t>
            </a:r>
            <a:endParaRPr lang="en-US" sz="1200" dirty="0"/>
          </a:p>
        </p:txBody>
      </p:sp>
      <p:sp>
        <p:nvSpPr>
          <p:cNvPr id="20" name="Text 18"/>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03 — The Real Systems Underneath</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03 · THE REAL SYSTEMS UNDERNEATH</a:t>
            </a:r>
            <a:endParaRPr lang="en-US" sz="1300" dirty="0"/>
          </a:p>
        </p:txBody>
      </p:sp>
      <p:sp>
        <p:nvSpPr>
          <p:cNvPr id="3" name="Text 1"/>
          <p:cNvSpPr txBox="1"/>
          <p:nvPr/>
        </p:nvSpPr>
        <p:spPr>
          <a:xfrm>
            <a:off x="685800" y="868680"/>
            <a:ext cx="10820095" cy="914400"/>
          </a:xfrm>
          <a:prstGeom prst="rect">
            <a:avLst/>
          </a:prstGeom>
          <a:noFill/>
          <a:ln/>
        </p:spPr>
        <p:txBody>
          <a:bodyPr wrap="square" lIns="0" tIns="0" rIns="0" bIns="0" rtlCol="0" anchor="ctr"/>
          <a:lstStyle/>
          <a:p>
            <a:pPr indent="0" marL="0">
              <a:lnSpc>
                <a:spcPct val="105000"/>
              </a:lnSpc>
              <a:buNone/>
            </a:pPr>
            <a:r>
              <a:rPr lang="en-US" sz="2600" b="1" dirty="0">
                <a:solidFill>
                  <a:srgbClr val="171B24"/>
                </a:solidFill>
                <a:latin typeface="Cambria" pitchFamily="34" charset="0"/>
                <a:ea typeface="Cambria" pitchFamily="34" charset="-122"/>
                <a:cs typeface="Cambria" pitchFamily="34" charset="-120"/>
              </a:rPr>
              <a:t>Capacity &amp; records</a:t>
            </a:r>
            <a:endParaRPr lang="en-US" sz="2600" dirty="0"/>
          </a:p>
        </p:txBody>
      </p:sp>
      <p:sp>
        <p:nvSpPr>
          <p:cNvPr id="4" name="Text 2"/>
          <p:cNvSpPr txBox="1"/>
          <p:nvPr/>
        </p:nvSpPr>
        <p:spPr>
          <a:xfrm>
            <a:off x="685800" y="1600200"/>
            <a:ext cx="10820095" cy="548640"/>
          </a:xfrm>
          <a:prstGeom prst="rect">
            <a:avLst/>
          </a:prstGeom>
          <a:noFill/>
          <a:ln/>
        </p:spPr>
        <p:txBody>
          <a:bodyPr wrap="square" lIns="0" tIns="0" rIns="0" bIns="0" rtlCol="0" anchor="ctr"/>
          <a:lstStyle/>
          <a:p>
            <a:pPr indent="0" marL="0">
              <a:buNone/>
            </a:pPr>
            <a:r>
              <a:rPr lang="en-US" sz="1500" dirty="0">
                <a:solidFill>
                  <a:srgbClr val="5A6472"/>
                </a:solidFill>
                <a:latin typeface="Calibri" pitchFamily="34" charset="0"/>
                <a:ea typeface="Calibri" pitchFamily="34" charset="-122"/>
                <a:cs typeface="Calibri" pitchFamily="34" charset="-120"/>
              </a:rPr>
              <a:t>Where the real ceiling on “how much can I sell” actually comes from.</a:t>
            </a:r>
            <a:endParaRPr lang="en-US" sz="1500" dirty="0"/>
          </a:p>
        </p:txBody>
      </p:sp>
      <p:sp>
        <p:nvSpPr>
          <p:cNvPr id="5" name="Shape 3"/>
          <p:cNvSpPr/>
          <p:nvPr/>
        </p:nvSpPr>
        <p:spPr>
          <a:xfrm>
            <a:off x="685800" y="2286000"/>
            <a:ext cx="3423818" cy="3017520"/>
          </a:xfrm>
          <a:prstGeom prst="roundRect">
            <a:avLst>
              <a:gd name="adj" fmla="val 2121"/>
            </a:avLst>
          </a:prstGeom>
          <a:solidFill>
            <a:srgbClr val="FFFFFF"/>
          </a:solidFill>
          <a:ln w="12700">
            <a:solidFill>
              <a:srgbClr val="E2E4E8"/>
            </a:solidFill>
            <a:prstDash val="solid"/>
          </a:ln>
        </p:spPr>
      </p:sp>
      <p:sp>
        <p:nvSpPr>
          <p:cNvPr id="6" name="Text 4"/>
          <p:cNvSpPr txBox="1"/>
          <p:nvPr/>
        </p:nvSpPr>
        <p:spPr>
          <a:xfrm>
            <a:off x="914400" y="2514600"/>
            <a:ext cx="2966618" cy="548640"/>
          </a:xfrm>
          <a:prstGeom prst="rect">
            <a:avLst/>
          </a:prstGeom>
          <a:noFill/>
          <a:ln/>
        </p:spPr>
        <p:txBody>
          <a:bodyPr wrap="square" lIns="0" tIns="0" rIns="0" bIns="0" rtlCol="0" anchor="ctr"/>
          <a:lstStyle/>
          <a:p>
            <a:pPr indent="0" marL="0">
              <a:lnSpc>
                <a:spcPct val="105000"/>
              </a:lnSpc>
              <a:buNone/>
            </a:pPr>
            <a:r>
              <a:rPr lang="en-US" sz="1600" b="1" dirty="0">
                <a:solidFill>
                  <a:srgbClr val="171B24"/>
                </a:solidFill>
                <a:latin typeface="Cambria" pitchFamily="34" charset="0"/>
                <a:ea typeface="Cambria" pitchFamily="34" charset="-122"/>
                <a:cs typeface="Cambria" pitchFamily="34" charset="-120"/>
              </a:rPr>
              <a:t>Transformer / feeder</a:t>
            </a:r>
            <a:endParaRPr lang="en-US" sz="1600" dirty="0"/>
          </a:p>
        </p:txBody>
      </p:sp>
      <p:sp>
        <p:nvSpPr>
          <p:cNvPr id="7" name="Text 5"/>
          <p:cNvSpPr txBox="1"/>
          <p:nvPr/>
        </p:nvSpPr>
        <p:spPr>
          <a:xfrm>
            <a:off x="914400" y="3154680"/>
            <a:ext cx="2966618" cy="1920240"/>
          </a:xfrm>
          <a:prstGeom prst="rect">
            <a:avLst/>
          </a:prstGeom>
          <a:noFill/>
          <a:ln/>
        </p:spPr>
        <p:txBody>
          <a:bodyPr wrap="square" lIns="0" tIns="0" rIns="0" bIns="0" rtlCol="0" anchor="ctr"/>
          <a:lstStyle/>
          <a:p>
            <a:pPr indent="0" marL="0">
              <a:lnSpc>
                <a:spcPct val="125000"/>
              </a:lnSpc>
              <a:buNone/>
            </a:pPr>
            <a:r>
              <a:rPr lang="en-US" sz="1250" dirty="0">
                <a:solidFill>
                  <a:srgbClr val="5A6472"/>
                </a:solidFill>
                <a:latin typeface="Calibri" pitchFamily="34" charset="0"/>
                <a:ea typeface="Calibri" pitchFamily="34" charset="-122"/>
                <a:cs typeface="Calibri" pitchFamily="34" charset="-120"/>
              </a:rPr>
              <a:t>A feeder is one branch of wiring to a cluster of homes; a transformer steps voltage down to household level. Both have real physical current limits.</a:t>
            </a:r>
            <a:endParaRPr lang="en-US" sz="1250" dirty="0"/>
          </a:p>
        </p:txBody>
      </p:sp>
      <p:sp>
        <p:nvSpPr>
          <p:cNvPr id="8" name="Shape 6"/>
          <p:cNvSpPr/>
          <p:nvPr/>
        </p:nvSpPr>
        <p:spPr>
          <a:xfrm>
            <a:off x="4383938" y="2286000"/>
            <a:ext cx="3423818" cy="3017520"/>
          </a:xfrm>
          <a:prstGeom prst="roundRect">
            <a:avLst>
              <a:gd name="adj" fmla="val 2121"/>
            </a:avLst>
          </a:prstGeom>
          <a:solidFill>
            <a:srgbClr val="FFFFFF"/>
          </a:solidFill>
          <a:ln w="12700">
            <a:solidFill>
              <a:srgbClr val="E2E4E8"/>
            </a:solidFill>
            <a:prstDash val="solid"/>
          </a:ln>
        </p:spPr>
      </p:sp>
      <p:sp>
        <p:nvSpPr>
          <p:cNvPr id="9" name="Text 7"/>
          <p:cNvSpPr txBox="1"/>
          <p:nvPr/>
        </p:nvSpPr>
        <p:spPr>
          <a:xfrm>
            <a:off x="4612538" y="2514600"/>
            <a:ext cx="2966618" cy="548640"/>
          </a:xfrm>
          <a:prstGeom prst="rect">
            <a:avLst/>
          </a:prstGeom>
          <a:noFill/>
          <a:ln/>
        </p:spPr>
        <p:txBody>
          <a:bodyPr wrap="square" lIns="0" tIns="0" rIns="0" bIns="0" rtlCol="0" anchor="ctr"/>
          <a:lstStyle/>
          <a:p>
            <a:pPr indent="0" marL="0">
              <a:lnSpc>
                <a:spcPct val="105000"/>
              </a:lnSpc>
              <a:buNone/>
            </a:pPr>
            <a:r>
              <a:rPr lang="en-US" sz="1600" b="1" dirty="0">
                <a:solidFill>
                  <a:srgbClr val="171B24"/>
                </a:solidFill>
                <a:latin typeface="Cambria" pitchFamily="34" charset="0"/>
                <a:ea typeface="Cambria" pitchFamily="34" charset="-122"/>
                <a:cs typeface="Cambria" pitchFamily="34" charset="-120"/>
              </a:rPr>
              <a:t>Sanctioned capacity</a:t>
            </a:r>
            <a:endParaRPr lang="en-US" sz="1600" dirty="0"/>
          </a:p>
        </p:txBody>
      </p:sp>
      <p:sp>
        <p:nvSpPr>
          <p:cNvPr id="10" name="Text 8"/>
          <p:cNvSpPr txBox="1"/>
          <p:nvPr/>
        </p:nvSpPr>
        <p:spPr>
          <a:xfrm>
            <a:off x="4612538" y="3154680"/>
            <a:ext cx="2966618" cy="1920240"/>
          </a:xfrm>
          <a:prstGeom prst="rect">
            <a:avLst/>
          </a:prstGeom>
          <a:noFill/>
          <a:ln/>
        </p:spPr>
        <p:txBody>
          <a:bodyPr wrap="square" lIns="0" tIns="0" rIns="0" bIns="0" rtlCol="0" anchor="ctr"/>
          <a:lstStyle/>
          <a:p>
            <a:pPr indent="0" marL="0">
              <a:lnSpc>
                <a:spcPct val="125000"/>
              </a:lnSpc>
              <a:buNone/>
            </a:pPr>
            <a:r>
              <a:rPr lang="en-US" sz="1250" dirty="0">
                <a:solidFill>
                  <a:srgbClr val="5A6472"/>
                </a:solidFill>
                <a:latin typeface="Calibri" pitchFamily="34" charset="0"/>
                <a:ea typeface="Calibri" pitchFamily="34" charset="-122"/>
                <a:cs typeface="Calibri" pitchFamily="34" charset="-120"/>
              </a:rPr>
              <a:t>The DISCOM-approved maximum export for a specific connection, set when the rooftop system was installed — based on what the local line can safely absorb.</a:t>
            </a:r>
            <a:endParaRPr lang="en-US" sz="1250" dirty="0"/>
          </a:p>
        </p:txBody>
      </p:sp>
      <p:sp>
        <p:nvSpPr>
          <p:cNvPr id="11" name="Shape 9"/>
          <p:cNvSpPr/>
          <p:nvPr/>
        </p:nvSpPr>
        <p:spPr>
          <a:xfrm>
            <a:off x="8082077" y="2286000"/>
            <a:ext cx="3423818" cy="3017520"/>
          </a:xfrm>
          <a:prstGeom prst="roundRect">
            <a:avLst>
              <a:gd name="adj" fmla="val 2121"/>
            </a:avLst>
          </a:prstGeom>
          <a:solidFill>
            <a:srgbClr val="FFFFFF"/>
          </a:solidFill>
          <a:ln w="12700">
            <a:solidFill>
              <a:srgbClr val="E2E4E8"/>
            </a:solidFill>
            <a:prstDash val="solid"/>
          </a:ln>
        </p:spPr>
      </p:sp>
      <p:sp>
        <p:nvSpPr>
          <p:cNvPr id="12" name="Text 10"/>
          <p:cNvSpPr txBox="1"/>
          <p:nvPr/>
        </p:nvSpPr>
        <p:spPr>
          <a:xfrm>
            <a:off x="8310677" y="2514600"/>
            <a:ext cx="2966618" cy="548640"/>
          </a:xfrm>
          <a:prstGeom prst="rect">
            <a:avLst/>
          </a:prstGeom>
          <a:noFill/>
          <a:ln/>
        </p:spPr>
        <p:txBody>
          <a:bodyPr wrap="square" lIns="0" tIns="0" rIns="0" bIns="0" rtlCol="0" anchor="ctr"/>
          <a:lstStyle/>
          <a:p>
            <a:pPr indent="0" marL="0">
              <a:lnSpc>
                <a:spcPct val="105000"/>
              </a:lnSpc>
              <a:buNone/>
            </a:pPr>
            <a:r>
              <a:rPr lang="en-US" sz="1600" b="1" dirty="0">
                <a:solidFill>
                  <a:srgbClr val="171B24"/>
                </a:solidFill>
                <a:latin typeface="Cambria" pitchFamily="34" charset="0"/>
                <a:ea typeface="Cambria" pitchFamily="34" charset="-122"/>
                <a:cs typeface="Cambria" pitchFamily="34" charset="-120"/>
              </a:rPr>
              <a:t>CIS</a:t>
            </a:r>
            <a:endParaRPr lang="en-US" sz="1600" dirty="0"/>
          </a:p>
        </p:txBody>
      </p:sp>
      <p:sp>
        <p:nvSpPr>
          <p:cNvPr id="13" name="Text 11"/>
          <p:cNvSpPr txBox="1"/>
          <p:nvPr/>
        </p:nvSpPr>
        <p:spPr>
          <a:xfrm>
            <a:off x="8310677" y="3154680"/>
            <a:ext cx="2966618" cy="1920240"/>
          </a:xfrm>
          <a:prstGeom prst="rect">
            <a:avLst/>
          </a:prstGeom>
          <a:noFill/>
          <a:ln/>
        </p:spPr>
        <p:txBody>
          <a:bodyPr wrap="square" lIns="0" tIns="0" rIns="0" bIns="0" rtlCol="0" anchor="ctr"/>
          <a:lstStyle/>
          <a:p>
            <a:pPr indent="0" marL="0">
              <a:lnSpc>
                <a:spcPct val="125000"/>
              </a:lnSpc>
              <a:buNone/>
            </a:pPr>
            <a:r>
              <a:rPr lang="en-US" sz="1250" dirty="0">
                <a:solidFill>
                  <a:srgbClr val="5A6472"/>
                </a:solidFill>
                <a:latin typeface="Calibri" pitchFamily="34" charset="0"/>
                <a:ea typeface="Calibri" pitchFamily="34" charset="-122"/>
                <a:cs typeface="Calibri" pitchFamily="34" charset="-120"/>
              </a:rPr>
              <a:t>Customer Information System — the DISCOM's internal account/connection database. Holds the one real number Gap 14 needs to check against.</a:t>
            </a:r>
            <a:endParaRPr lang="en-US" sz="1250" dirty="0"/>
          </a:p>
        </p:txBody>
      </p:sp>
      <p:sp>
        <p:nvSpPr>
          <p:cNvPr id="14" name="Text 12"/>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03 — The Real Systems Underneath</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85800" y="2651760"/>
            <a:ext cx="1828800" cy="457200"/>
          </a:xfrm>
          <a:prstGeom prst="rect">
            <a:avLst/>
          </a:prstGeom>
          <a:noFill/>
          <a:ln/>
        </p:spPr>
        <p:txBody>
          <a:bodyPr wrap="square" lIns="0" tIns="0" rIns="0" bIns="0" rtlCol="0" anchor="ctr"/>
          <a:lstStyle/>
          <a:p>
            <a:pPr indent="0" marL="0">
              <a:buNone/>
            </a:pPr>
            <a:r>
              <a:rPr lang="en-US" sz="2200" b="1" dirty="0">
                <a:solidFill>
                  <a:srgbClr val="C07F2A"/>
                </a:solidFill>
                <a:latin typeface="Calibri" pitchFamily="34" charset="0"/>
                <a:ea typeface="Calibri" pitchFamily="34" charset="-122"/>
                <a:cs typeface="Calibri" pitchFamily="34" charset="-120"/>
              </a:rPr>
              <a:t>04</a:t>
            </a:r>
            <a:endParaRPr lang="en-US" sz="2200" dirty="0"/>
          </a:p>
        </p:txBody>
      </p:sp>
      <p:sp>
        <p:nvSpPr>
          <p:cNvPr id="3" name="Text 1"/>
          <p:cNvSpPr txBox="1"/>
          <p:nvPr/>
        </p:nvSpPr>
        <p:spPr>
          <a:xfrm>
            <a:off x="685800" y="3063240"/>
            <a:ext cx="10515600" cy="11887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How A Real Offer Gets Published</a:t>
            </a:r>
            <a:endParaRPr lang="en-US" sz="3800" dirty="0"/>
          </a:p>
        </p:txBody>
      </p:sp>
      <p:sp>
        <p:nvSpPr>
          <p:cNvPr id="4" name="Text 2"/>
          <p:cNvSpPr txBox="1"/>
          <p:nvPr/>
        </p:nvSpPr>
        <p:spPr>
          <a:xfrm>
            <a:off x="685800" y="4114800"/>
            <a:ext cx="9784080" cy="731520"/>
          </a:xfrm>
          <a:prstGeom prst="rect">
            <a:avLst/>
          </a:prstGeom>
          <a:noFill/>
          <a:ln/>
        </p:spPr>
        <p:txBody>
          <a:bodyPr wrap="square" lIns="0" tIns="0" rIns="0" bIns="0" rtlCol="0" anchor="ctr"/>
          <a:lstStyle/>
          <a:p>
            <a:pPr indent="0" marL="0">
              <a:lnSpc>
                <a:spcPct val="130000"/>
              </a:lnSpc>
              <a:buNone/>
            </a:pPr>
            <a:r>
              <a:rPr lang="en-US" sz="1700" dirty="0">
                <a:solidFill>
                  <a:srgbClr val="A9B2C0"/>
                </a:solidFill>
                <a:latin typeface="Calibri" pitchFamily="34" charset="0"/>
                <a:ea typeface="Calibri" pitchFamily="34" charset="-122"/>
                <a:cs typeface="Calibri" pitchFamily="34" charset="-120"/>
              </a:rPr>
              <a:t>Not schema and API alone — and not invisible “embedded magic” either. Here's the whole real pipeline.</a:t>
            </a:r>
            <a:endParaRPr lang="en-US" sz="17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04 · HOW A REAL OFFER GETS PUBLISHED</a:t>
            </a:r>
            <a:endParaRPr lang="en-US" sz="1300" dirty="0"/>
          </a:p>
        </p:txBody>
      </p:sp>
      <p:sp>
        <p:nvSpPr>
          <p:cNvPr id="3" name="Text 1"/>
          <p:cNvSpPr txBox="1"/>
          <p:nvPr/>
        </p:nvSpPr>
        <p:spPr>
          <a:xfrm>
            <a:off x="685800" y="868680"/>
            <a:ext cx="10820095" cy="914400"/>
          </a:xfrm>
          <a:prstGeom prst="rect">
            <a:avLst/>
          </a:prstGeom>
          <a:noFill/>
          <a:ln/>
        </p:spPr>
        <p:txBody>
          <a:bodyPr wrap="square" lIns="0" tIns="0" rIns="0" bIns="0" rtlCol="0" anchor="ctr"/>
          <a:lstStyle/>
          <a:p>
            <a:pPr indent="0" marL="0">
              <a:lnSpc>
                <a:spcPct val="105000"/>
              </a:lnSpc>
              <a:buNone/>
            </a:pPr>
            <a:r>
              <a:rPr lang="en-US" sz="2600" b="1" dirty="0">
                <a:solidFill>
                  <a:srgbClr val="171B24"/>
                </a:solidFill>
                <a:latin typeface="Cambria" pitchFamily="34" charset="0"/>
                <a:ea typeface="Cambria" pitchFamily="34" charset="-122"/>
                <a:cs typeface="Cambria" pitchFamily="34" charset="-120"/>
              </a:rPr>
              <a:t>Today's demo vs. a real rollout</a:t>
            </a:r>
            <a:endParaRPr lang="en-US" sz="2600" dirty="0"/>
          </a:p>
        </p:txBody>
      </p:sp>
      <p:sp>
        <p:nvSpPr>
          <p:cNvPr id="4" name="Text 2"/>
          <p:cNvSpPr txBox="1"/>
          <p:nvPr/>
        </p:nvSpPr>
        <p:spPr>
          <a:xfrm>
            <a:off x="685800" y="1600200"/>
            <a:ext cx="10820095" cy="548640"/>
          </a:xfrm>
          <a:prstGeom prst="rect">
            <a:avLst/>
          </a:prstGeom>
          <a:noFill/>
          <a:ln/>
        </p:spPr>
        <p:txBody>
          <a:bodyPr wrap="square" lIns="0" tIns="0" rIns="0" bIns="0" rtlCol="0" anchor="ctr"/>
          <a:lstStyle/>
          <a:p>
            <a:pPr indent="0" marL="0">
              <a:buNone/>
            </a:pPr>
            <a:r>
              <a:rPr lang="en-US" sz="1500" dirty="0">
                <a:solidFill>
                  <a:srgbClr val="5A6472"/>
                </a:solidFill>
                <a:latin typeface="Calibri" pitchFamily="34" charset="0"/>
                <a:ea typeface="Calibri" pitchFamily="34" charset="-122"/>
                <a:cs typeface="Calibri" pitchFamily="34" charset="-120"/>
              </a:rPr>
              <a:t>Our dashboard's “type a kW number” field is a placeholder for steps 1–2 below — nobody would type this in reality.</a:t>
            </a:r>
            <a:endParaRPr lang="en-US" sz="1500" dirty="0"/>
          </a:p>
        </p:txBody>
      </p:sp>
      <p:sp>
        <p:nvSpPr>
          <p:cNvPr id="5" name="Shape 3"/>
          <p:cNvSpPr/>
          <p:nvPr/>
        </p:nvSpPr>
        <p:spPr>
          <a:xfrm>
            <a:off x="685800" y="2194560"/>
            <a:ext cx="2499284" cy="2103120"/>
          </a:xfrm>
          <a:prstGeom prst="roundRect">
            <a:avLst>
              <a:gd name="adj" fmla="val 3043"/>
            </a:avLst>
          </a:prstGeom>
          <a:solidFill>
            <a:srgbClr val="FFFFFF"/>
          </a:solidFill>
          <a:ln w="12700">
            <a:solidFill>
              <a:srgbClr val="E2E4E8"/>
            </a:solidFill>
            <a:prstDash val="solid"/>
          </a:ln>
        </p:spPr>
      </p:sp>
      <p:sp>
        <p:nvSpPr>
          <p:cNvPr id="6" name="Shape 4"/>
          <p:cNvSpPr/>
          <p:nvPr/>
        </p:nvSpPr>
        <p:spPr>
          <a:xfrm>
            <a:off x="868680" y="2359152"/>
            <a:ext cx="2133524" cy="310896"/>
          </a:xfrm>
          <a:prstGeom prst="roundRect">
            <a:avLst>
              <a:gd name="adj" fmla="val 50000"/>
            </a:avLst>
          </a:prstGeom>
          <a:solidFill>
            <a:srgbClr val="B23B2E"/>
          </a:solidFill>
          <a:ln w="12700">
            <a:solidFill>
              <a:srgbClr val="B23B2E"/>
            </a:solidFill>
            <a:prstDash val="solid"/>
          </a:ln>
        </p:spPr>
      </p:sp>
      <p:sp>
        <p:nvSpPr>
          <p:cNvPr id="7" name="Text 5"/>
          <p:cNvSpPr txBox="1"/>
          <p:nvPr/>
        </p:nvSpPr>
        <p:spPr>
          <a:xfrm>
            <a:off x="868680" y="2359152"/>
            <a:ext cx="2133524"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NOT BUILT YET</a:t>
            </a:r>
            <a:endParaRPr lang="en-US" sz="1050" dirty="0"/>
          </a:p>
        </p:txBody>
      </p:sp>
      <p:sp>
        <p:nvSpPr>
          <p:cNvPr id="8" name="Text 6"/>
          <p:cNvSpPr txBox="1"/>
          <p:nvPr/>
        </p:nvSpPr>
        <p:spPr>
          <a:xfrm>
            <a:off x="868680" y="2761488"/>
            <a:ext cx="2133524" cy="502920"/>
          </a:xfrm>
          <a:prstGeom prst="rect">
            <a:avLst/>
          </a:prstGeom>
          <a:noFill/>
          <a:ln/>
        </p:spPr>
        <p:txBody>
          <a:bodyPr wrap="square" lIns="0" tIns="0" rIns="0" bIns="0" rtlCol="0" anchor="ctr"/>
          <a:lstStyle/>
          <a:p>
            <a:pPr indent="0" marL="0">
              <a:lnSpc>
                <a:spcPct val="105000"/>
              </a:lnSpc>
              <a:buNone/>
            </a:pPr>
            <a:r>
              <a:rPr lang="en-US" sz="1400" b="1" dirty="0">
                <a:solidFill>
                  <a:srgbClr val="171B24"/>
                </a:solidFill>
                <a:latin typeface="Cambria" pitchFamily="34" charset="0"/>
                <a:ea typeface="Cambria" pitchFamily="34" charset="-122"/>
                <a:cs typeface="Cambria" pitchFamily="34" charset="-120"/>
              </a:rPr>
              <a:t>1. Forecast</a:t>
            </a:r>
            <a:endParaRPr lang="en-US" sz="1400" dirty="0"/>
          </a:p>
        </p:txBody>
      </p:sp>
      <p:sp>
        <p:nvSpPr>
          <p:cNvPr id="9" name="Text 7"/>
          <p:cNvSpPr txBox="1"/>
          <p:nvPr/>
        </p:nvSpPr>
        <p:spPr>
          <a:xfrm>
            <a:off x="868680" y="3291840"/>
            <a:ext cx="2133524" cy="822960"/>
          </a:xfrm>
          <a:prstGeom prst="rect">
            <a:avLst/>
          </a:prstGeom>
          <a:noFill/>
          <a:ln/>
        </p:spPr>
        <p:txBody>
          <a:bodyPr wrap="square" lIns="0" tIns="0" rIns="0" bIns="0" rtlCol="0" anchor="ctr"/>
          <a:lstStyle/>
          <a:p>
            <a:pPr indent="0" marL="0">
              <a:lnSpc>
                <a:spcPct val="120000"/>
              </a:lnSpc>
              <a:buNone/>
            </a:pPr>
            <a:r>
              <a:rPr lang="en-US" sz="1050" dirty="0">
                <a:solidFill>
                  <a:srgbClr val="5A6472"/>
                </a:solidFill>
                <a:latin typeface="Calibri" pitchFamily="34" charset="0"/>
                <a:ea typeface="Calibri" pitchFamily="34" charset="-122"/>
                <a:cs typeface="Calibri" pitchFamily="34" charset="-120"/>
              </a:rPr>
              <a:t>Weather + historical pattern + house load pattern → believable future availability</a:t>
            </a:r>
            <a:endParaRPr lang="en-US" sz="1050" dirty="0"/>
          </a:p>
        </p:txBody>
      </p:sp>
      <p:sp>
        <p:nvSpPr>
          <p:cNvPr id="10" name="Shape 8"/>
          <p:cNvSpPr/>
          <p:nvPr/>
        </p:nvSpPr>
        <p:spPr>
          <a:xfrm>
            <a:off x="3203372" y="3127248"/>
            <a:ext cx="237744" cy="237744"/>
          </a:xfrm>
          <a:prstGeom prst="chevron">
            <a:avLst/>
          </a:prstGeom>
          <a:solidFill>
            <a:srgbClr val="8A94A6"/>
          </a:solidFill>
          <a:ln w="12700">
            <a:solidFill>
              <a:srgbClr val="8A94A6"/>
            </a:solidFill>
            <a:prstDash val="solid"/>
          </a:ln>
        </p:spPr>
      </p:sp>
      <p:sp>
        <p:nvSpPr>
          <p:cNvPr id="11" name="Shape 9"/>
          <p:cNvSpPr/>
          <p:nvPr/>
        </p:nvSpPr>
        <p:spPr>
          <a:xfrm>
            <a:off x="3459404" y="2194560"/>
            <a:ext cx="2499284" cy="2103120"/>
          </a:xfrm>
          <a:prstGeom prst="roundRect">
            <a:avLst>
              <a:gd name="adj" fmla="val 3043"/>
            </a:avLst>
          </a:prstGeom>
          <a:solidFill>
            <a:srgbClr val="FFFFFF"/>
          </a:solidFill>
          <a:ln w="12700">
            <a:solidFill>
              <a:srgbClr val="E2E4E8"/>
            </a:solidFill>
            <a:prstDash val="solid"/>
          </a:ln>
        </p:spPr>
      </p:sp>
      <p:sp>
        <p:nvSpPr>
          <p:cNvPr id="12" name="Shape 10"/>
          <p:cNvSpPr/>
          <p:nvPr/>
        </p:nvSpPr>
        <p:spPr>
          <a:xfrm>
            <a:off x="3642284" y="2359152"/>
            <a:ext cx="2133524" cy="310896"/>
          </a:xfrm>
          <a:prstGeom prst="roundRect">
            <a:avLst>
              <a:gd name="adj" fmla="val 50000"/>
            </a:avLst>
          </a:prstGeom>
          <a:solidFill>
            <a:srgbClr val="B23B2E"/>
          </a:solidFill>
          <a:ln w="12700">
            <a:solidFill>
              <a:srgbClr val="B23B2E"/>
            </a:solidFill>
            <a:prstDash val="solid"/>
          </a:ln>
        </p:spPr>
      </p:sp>
      <p:sp>
        <p:nvSpPr>
          <p:cNvPr id="13" name="Text 11"/>
          <p:cNvSpPr txBox="1"/>
          <p:nvPr/>
        </p:nvSpPr>
        <p:spPr>
          <a:xfrm>
            <a:off x="3642284" y="2359152"/>
            <a:ext cx="2133524"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NOT BUILT YET</a:t>
            </a:r>
            <a:endParaRPr lang="en-US" sz="1050" dirty="0"/>
          </a:p>
        </p:txBody>
      </p:sp>
      <p:sp>
        <p:nvSpPr>
          <p:cNvPr id="14" name="Text 12"/>
          <p:cNvSpPr txBox="1"/>
          <p:nvPr/>
        </p:nvSpPr>
        <p:spPr>
          <a:xfrm>
            <a:off x="3642284" y="2761488"/>
            <a:ext cx="2133524" cy="502920"/>
          </a:xfrm>
          <a:prstGeom prst="rect">
            <a:avLst/>
          </a:prstGeom>
          <a:noFill/>
          <a:ln/>
        </p:spPr>
        <p:txBody>
          <a:bodyPr wrap="square" lIns="0" tIns="0" rIns="0" bIns="0" rtlCol="0" anchor="ctr"/>
          <a:lstStyle/>
          <a:p>
            <a:pPr indent="0" marL="0">
              <a:lnSpc>
                <a:spcPct val="105000"/>
              </a:lnSpc>
              <a:buNone/>
            </a:pPr>
            <a:r>
              <a:rPr lang="en-US" sz="1400" b="1" dirty="0">
                <a:solidFill>
                  <a:srgbClr val="171B24"/>
                </a:solidFill>
                <a:latin typeface="Cambria" pitchFamily="34" charset="0"/>
                <a:ea typeface="Cambria" pitchFamily="34" charset="-122"/>
                <a:cs typeface="Cambria" pitchFamily="34" charset="-120"/>
              </a:rPr>
              <a:t>2. Capacity check</a:t>
            </a:r>
            <a:endParaRPr lang="en-US" sz="1400" dirty="0"/>
          </a:p>
        </p:txBody>
      </p:sp>
      <p:sp>
        <p:nvSpPr>
          <p:cNvPr id="15" name="Text 13"/>
          <p:cNvSpPr txBox="1"/>
          <p:nvPr/>
        </p:nvSpPr>
        <p:spPr>
          <a:xfrm>
            <a:off x="3642284" y="3291840"/>
            <a:ext cx="2133524" cy="822960"/>
          </a:xfrm>
          <a:prstGeom prst="rect">
            <a:avLst/>
          </a:prstGeom>
          <a:noFill/>
          <a:ln/>
        </p:spPr>
        <p:txBody>
          <a:bodyPr wrap="square" lIns="0" tIns="0" rIns="0" bIns="0" rtlCol="0" anchor="ctr"/>
          <a:lstStyle/>
          <a:p>
            <a:pPr indent="0" marL="0">
              <a:lnSpc>
                <a:spcPct val="120000"/>
              </a:lnSpc>
              <a:buNone/>
            </a:pPr>
            <a:r>
              <a:rPr lang="en-US" sz="1050" dirty="0">
                <a:solidFill>
                  <a:srgbClr val="5A6472"/>
                </a:solidFill>
                <a:latin typeface="Calibri" pitchFamily="34" charset="0"/>
                <a:ea typeface="Calibri" pitchFamily="34" charset="-122"/>
                <a:cs typeface="Calibri" pitchFamily="34" charset="-120"/>
              </a:rPr>
              <a:t>Declared quantity checked against the DISCOM's sanctioned export limit</a:t>
            </a:r>
            <a:endParaRPr lang="en-US" sz="1050" dirty="0"/>
          </a:p>
        </p:txBody>
      </p:sp>
      <p:sp>
        <p:nvSpPr>
          <p:cNvPr id="16" name="Shape 14"/>
          <p:cNvSpPr/>
          <p:nvPr/>
        </p:nvSpPr>
        <p:spPr>
          <a:xfrm>
            <a:off x="5976976" y="3127248"/>
            <a:ext cx="237744" cy="237744"/>
          </a:xfrm>
          <a:prstGeom prst="chevron">
            <a:avLst/>
          </a:prstGeom>
          <a:solidFill>
            <a:srgbClr val="8A94A6"/>
          </a:solidFill>
          <a:ln w="12700">
            <a:solidFill>
              <a:srgbClr val="8A94A6"/>
            </a:solidFill>
            <a:prstDash val="solid"/>
          </a:ln>
        </p:spPr>
      </p:sp>
      <p:sp>
        <p:nvSpPr>
          <p:cNvPr id="17" name="Shape 15"/>
          <p:cNvSpPr/>
          <p:nvPr/>
        </p:nvSpPr>
        <p:spPr>
          <a:xfrm>
            <a:off x="6233008" y="2194560"/>
            <a:ext cx="2499284" cy="2103120"/>
          </a:xfrm>
          <a:prstGeom prst="roundRect">
            <a:avLst>
              <a:gd name="adj" fmla="val 3043"/>
            </a:avLst>
          </a:prstGeom>
          <a:solidFill>
            <a:srgbClr val="FFFFFF"/>
          </a:solidFill>
          <a:ln w="12700">
            <a:solidFill>
              <a:srgbClr val="E2E4E8"/>
            </a:solidFill>
            <a:prstDash val="solid"/>
          </a:ln>
        </p:spPr>
      </p:sp>
      <p:sp>
        <p:nvSpPr>
          <p:cNvPr id="18" name="Shape 16"/>
          <p:cNvSpPr/>
          <p:nvPr/>
        </p:nvSpPr>
        <p:spPr>
          <a:xfrm>
            <a:off x="6415888" y="2359152"/>
            <a:ext cx="2133524" cy="310896"/>
          </a:xfrm>
          <a:prstGeom prst="roundRect">
            <a:avLst>
              <a:gd name="adj" fmla="val 50000"/>
            </a:avLst>
          </a:prstGeom>
          <a:solidFill>
            <a:srgbClr val="C07F2A"/>
          </a:solidFill>
          <a:ln w="12700">
            <a:solidFill>
              <a:srgbClr val="C07F2A"/>
            </a:solidFill>
            <a:prstDash val="solid"/>
          </a:ln>
        </p:spPr>
      </p:sp>
      <p:sp>
        <p:nvSpPr>
          <p:cNvPr id="19" name="Text 17"/>
          <p:cNvSpPr txBox="1"/>
          <p:nvPr/>
        </p:nvSpPr>
        <p:spPr>
          <a:xfrm>
            <a:off x="6415888" y="2359152"/>
            <a:ext cx="2133524"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WE BUILT THIS</a:t>
            </a:r>
            <a:endParaRPr lang="en-US" sz="1050" dirty="0"/>
          </a:p>
        </p:txBody>
      </p:sp>
      <p:sp>
        <p:nvSpPr>
          <p:cNvPr id="20" name="Text 18"/>
          <p:cNvSpPr txBox="1"/>
          <p:nvPr/>
        </p:nvSpPr>
        <p:spPr>
          <a:xfrm>
            <a:off x="6415888" y="2761488"/>
            <a:ext cx="2133524" cy="502920"/>
          </a:xfrm>
          <a:prstGeom prst="rect">
            <a:avLst/>
          </a:prstGeom>
          <a:noFill/>
          <a:ln/>
        </p:spPr>
        <p:txBody>
          <a:bodyPr wrap="square" lIns="0" tIns="0" rIns="0" bIns="0" rtlCol="0" anchor="ctr"/>
          <a:lstStyle/>
          <a:p>
            <a:pPr indent="0" marL="0">
              <a:lnSpc>
                <a:spcPct val="105000"/>
              </a:lnSpc>
              <a:buNone/>
            </a:pPr>
            <a:r>
              <a:rPr lang="en-US" sz="1400" b="1" dirty="0">
                <a:solidFill>
                  <a:srgbClr val="171B24"/>
                </a:solidFill>
                <a:latin typeface="Cambria" pitchFamily="34" charset="0"/>
                <a:ea typeface="Cambria" pitchFamily="34" charset="-122"/>
                <a:cs typeface="Cambria" pitchFamily="34" charset="-120"/>
              </a:rPr>
              <a:t>3. Schema / API / routing</a:t>
            </a:r>
            <a:endParaRPr lang="en-US" sz="1400" dirty="0"/>
          </a:p>
        </p:txBody>
      </p:sp>
      <p:sp>
        <p:nvSpPr>
          <p:cNvPr id="21" name="Text 19"/>
          <p:cNvSpPr txBox="1"/>
          <p:nvPr/>
        </p:nvSpPr>
        <p:spPr>
          <a:xfrm>
            <a:off x="6415888" y="3291840"/>
            <a:ext cx="2133524" cy="822960"/>
          </a:xfrm>
          <a:prstGeom prst="rect">
            <a:avLst/>
          </a:prstGeom>
          <a:noFill/>
          <a:ln/>
        </p:spPr>
        <p:txBody>
          <a:bodyPr wrap="square" lIns="0" tIns="0" rIns="0" bIns="0" rtlCol="0" anchor="ctr"/>
          <a:lstStyle/>
          <a:p>
            <a:pPr indent="0" marL="0">
              <a:lnSpc>
                <a:spcPct val="120000"/>
              </a:lnSpc>
              <a:buNone/>
            </a:pPr>
            <a:r>
              <a:rPr lang="en-US" sz="1050" dirty="0">
                <a:solidFill>
                  <a:srgbClr val="5A6472"/>
                </a:solidFill>
                <a:latin typeface="Calibri" pitchFamily="34" charset="0"/>
                <a:ea typeface="Calibri" pitchFamily="34" charset="-122"/>
                <a:cs typeface="Calibri" pitchFamily="34" charset="-120"/>
              </a:rPr>
              <a:t>Beckn message, signed, routed network-wide — this is what we actually built</a:t>
            </a:r>
            <a:endParaRPr lang="en-US" sz="1050" dirty="0"/>
          </a:p>
        </p:txBody>
      </p:sp>
      <p:sp>
        <p:nvSpPr>
          <p:cNvPr id="22" name="Shape 20"/>
          <p:cNvSpPr/>
          <p:nvPr/>
        </p:nvSpPr>
        <p:spPr>
          <a:xfrm>
            <a:off x="8750579" y="3127248"/>
            <a:ext cx="237744" cy="237744"/>
          </a:xfrm>
          <a:prstGeom prst="chevron">
            <a:avLst/>
          </a:prstGeom>
          <a:solidFill>
            <a:srgbClr val="8A94A6"/>
          </a:solidFill>
          <a:ln w="12700">
            <a:solidFill>
              <a:srgbClr val="8A94A6"/>
            </a:solidFill>
            <a:prstDash val="solid"/>
          </a:ln>
        </p:spPr>
      </p:sp>
      <p:sp>
        <p:nvSpPr>
          <p:cNvPr id="23" name="Shape 21"/>
          <p:cNvSpPr/>
          <p:nvPr/>
        </p:nvSpPr>
        <p:spPr>
          <a:xfrm>
            <a:off x="9006611" y="2194560"/>
            <a:ext cx="2499284" cy="2103120"/>
          </a:xfrm>
          <a:prstGeom prst="roundRect">
            <a:avLst>
              <a:gd name="adj" fmla="val 3043"/>
            </a:avLst>
          </a:prstGeom>
          <a:solidFill>
            <a:srgbClr val="FFFFFF"/>
          </a:solidFill>
          <a:ln w="12700">
            <a:solidFill>
              <a:srgbClr val="E2E4E8"/>
            </a:solidFill>
            <a:prstDash val="solid"/>
          </a:ln>
        </p:spPr>
      </p:sp>
      <p:sp>
        <p:nvSpPr>
          <p:cNvPr id="24" name="Shape 22"/>
          <p:cNvSpPr/>
          <p:nvPr/>
        </p:nvSpPr>
        <p:spPr>
          <a:xfrm>
            <a:off x="9189491" y="2359152"/>
            <a:ext cx="2133524" cy="310896"/>
          </a:xfrm>
          <a:prstGeom prst="roundRect">
            <a:avLst>
              <a:gd name="adj" fmla="val 50000"/>
            </a:avLst>
          </a:prstGeom>
          <a:solidFill>
            <a:srgbClr val="2F7A4F"/>
          </a:solidFill>
          <a:ln w="12700">
            <a:solidFill>
              <a:srgbClr val="2F7A4F"/>
            </a:solidFill>
            <a:prstDash val="solid"/>
          </a:ln>
        </p:spPr>
      </p:sp>
      <p:sp>
        <p:nvSpPr>
          <p:cNvPr id="25" name="Text 23"/>
          <p:cNvSpPr txBox="1"/>
          <p:nvPr/>
        </p:nvSpPr>
        <p:spPr>
          <a:xfrm>
            <a:off x="9189491" y="2359152"/>
            <a:ext cx="2133524"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ALREADY HAPPENS</a:t>
            </a:r>
            <a:endParaRPr lang="en-US" sz="1050" dirty="0"/>
          </a:p>
        </p:txBody>
      </p:sp>
      <p:sp>
        <p:nvSpPr>
          <p:cNvPr id="26" name="Text 24"/>
          <p:cNvSpPr txBox="1"/>
          <p:nvPr/>
        </p:nvSpPr>
        <p:spPr>
          <a:xfrm>
            <a:off x="9189491" y="2761488"/>
            <a:ext cx="2133524" cy="502920"/>
          </a:xfrm>
          <a:prstGeom prst="rect">
            <a:avLst/>
          </a:prstGeom>
          <a:noFill/>
          <a:ln/>
        </p:spPr>
        <p:txBody>
          <a:bodyPr wrap="square" lIns="0" tIns="0" rIns="0" bIns="0" rtlCol="0" anchor="ctr"/>
          <a:lstStyle/>
          <a:p>
            <a:pPr indent="0" marL="0">
              <a:lnSpc>
                <a:spcPct val="105000"/>
              </a:lnSpc>
              <a:buNone/>
            </a:pPr>
            <a:r>
              <a:rPr lang="en-US" sz="1400" b="1" dirty="0">
                <a:solidFill>
                  <a:srgbClr val="171B24"/>
                </a:solidFill>
                <a:latin typeface="Cambria" pitchFamily="34" charset="0"/>
                <a:ea typeface="Cambria" pitchFamily="34" charset="-122"/>
                <a:cs typeface="Cambria" pitchFamily="34" charset="-120"/>
              </a:rPr>
              <a:t>4. Physical delivery</a:t>
            </a:r>
            <a:endParaRPr lang="en-US" sz="1400" dirty="0"/>
          </a:p>
        </p:txBody>
      </p:sp>
      <p:sp>
        <p:nvSpPr>
          <p:cNvPr id="27" name="Text 25"/>
          <p:cNvSpPr txBox="1"/>
          <p:nvPr/>
        </p:nvSpPr>
        <p:spPr>
          <a:xfrm>
            <a:off x="9189491" y="3291840"/>
            <a:ext cx="2133524" cy="822960"/>
          </a:xfrm>
          <a:prstGeom prst="rect">
            <a:avLst/>
          </a:prstGeom>
          <a:noFill/>
          <a:ln/>
        </p:spPr>
        <p:txBody>
          <a:bodyPr wrap="square" lIns="0" tIns="0" rIns="0" bIns="0" rtlCol="0" anchor="ctr"/>
          <a:lstStyle/>
          <a:p>
            <a:pPr indent="0" marL="0">
              <a:lnSpc>
                <a:spcPct val="120000"/>
              </a:lnSpc>
              <a:buNone/>
            </a:pPr>
            <a:r>
              <a:rPr lang="en-US" sz="1050" dirty="0">
                <a:solidFill>
                  <a:srgbClr val="5A6472"/>
                </a:solidFill>
                <a:latin typeface="Calibri" pitchFamily="34" charset="0"/>
                <a:ea typeface="Calibri" pitchFamily="34" charset="-122"/>
                <a:cs typeface="Calibri" pitchFamily="34" charset="-120"/>
              </a:rPr>
              <a:t>Unchanged — the panel exports exactly as it always would, trade or no trade</a:t>
            </a:r>
            <a:endParaRPr lang="en-US" sz="1050" dirty="0"/>
          </a:p>
        </p:txBody>
      </p:sp>
      <p:sp>
        <p:nvSpPr>
          <p:cNvPr id="28" name="Text 26"/>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04 — How A Real Offer Gets Published</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04 · HOW A REAL OFFER GETS PUBLISHED</a:t>
            </a:r>
            <a:endParaRPr lang="en-US" sz="1300" dirty="0"/>
          </a:p>
        </p:txBody>
      </p:sp>
      <p:sp>
        <p:nvSpPr>
          <p:cNvPr id="3" name="Text 1"/>
          <p:cNvSpPr txBox="1"/>
          <p:nvPr/>
        </p:nvSpPr>
        <p:spPr>
          <a:xfrm>
            <a:off x="685800" y="868680"/>
            <a:ext cx="10820095" cy="914400"/>
          </a:xfrm>
          <a:prstGeom prst="rect">
            <a:avLst/>
          </a:prstGeom>
          <a:noFill/>
          <a:ln/>
        </p:spPr>
        <p:txBody>
          <a:bodyPr wrap="square" lIns="0" tIns="0" rIns="0" bIns="0" rtlCol="0" anchor="ctr"/>
          <a:lstStyle/>
          <a:p>
            <a:pPr indent="0" marL="0">
              <a:lnSpc>
                <a:spcPct val="105000"/>
              </a:lnSpc>
              <a:buNone/>
            </a:pPr>
            <a:r>
              <a:rPr lang="en-US" sz="3000" b="1" dirty="0">
                <a:solidFill>
                  <a:srgbClr val="FFFFFF"/>
                </a:solidFill>
                <a:latin typeface="Cambria" pitchFamily="34" charset="0"/>
                <a:ea typeface="Cambria" pitchFamily="34" charset="-122"/>
                <a:cs typeface="Cambria" pitchFamily="34" charset="-120"/>
              </a:rPr>
              <a:t>Why it currently feels like “paperwork”</a:t>
            </a:r>
            <a:endParaRPr lang="en-US" sz="3000" dirty="0"/>
          </a:p>
        </p:txBody>
      </p:sp>
      <p:sp>
        <p:nvSpPr>
          <p:cNvPr id="4" name="Shape 2"/>
          <p:cNvSpPr/>
          <p:nvPr/>
        </p:nvSpPr>
        <p:spPr>
          <a:xfrm>
            <a:off x="685800" y="2377440"/>
            <a:ext cx="54864" cy="1463040"/>
          </a:xfrm>
          <a:prstGeom prst="rect">
            <a:avLst/>
          </a:prstGeom>
          <a:solidFill>
            <a:srgbClr val="C07F2A"/>
          </a:solidFill>
          <a:ln w="12700">
            <a:solidFill>
              <a:srgbClr val="C07F2A"/>
            </a:solidFill>
            <a:prstDash val="solid"/>
          </a:ln>
        </p:spPr>
      </p:sp>
      <p:sp>
        <p:nvSpPr>
          <p:cNvPr id="5" name="Shape 3"/>
          <p:cNvSpPr/>
          <p:nvPr/>
        </p:nvSpPr>
        <p:spPr>
          <a:xfrm>
            <a:off x="740664" y="2377440"/>
            <a:ext cx="10765231" cy="1463040"/>
          </a:xfrm>
          <a:prstGeom prst="roundRect">
            <a:avLst>
              <a:gd name="adj" fmla="val 4375"/>
            </a:avLst>
          </a:prstGeom>
          <a:solidFill>
            <a:srgbClr val="FFFFFF"/>
          </a:solidFill>
          <a:ln w="12700">
            <a:solidFill>
              <a:srgbClr val="FFFFFF"/>
            </a:solidFill>
            <a:prstDash val="solid"/>
          </a:ln>
        </p:spPr>
      </p:sp>
      <p:sp>
        <p:nvSpPr>
          <p:cNvPr id="6" name="Text 4"/>
          <p:cNvSpPr txBox="1"/>
          <p:nvPr/>
        </p:nvSpPr>
        <p:spPr>
          <a:xfrm>
            <a:off x="1005840" y="2450592"/>
            <a:ext cx="10225735" cy="1005840"/>
          </a:xfrm>
          <a:prstGeom prst="rect">
            <a:avLst/>
          </a:prstGeom>
          <a:noFill/>
          <a:ln/>
        </p:spPr>
        <p:txBody>
          <a:bodyPr wrap="square" lIns="0" tIns="0" rIns="0" bIns="0" rtlCol="0" anchor="ctr"/>
          <a:lstStyle/>
          <a:p>
            <a:pPr indent="0" marL="0">
              <a:lnSpc>
                <a:spcPct val="115000"/>
              </a:lnSpc>
              <a:buNone/>
            </a:pPr>
            <a:r>
              <a:rPr lang="en-US" sz="1350" i="1" dirty="0">
                <a:solidFill>
                  <a:srgbClr val="171B24"/>
                </a:solidFill>
                <a:latin typeface="Calibri" pitchFamily="34" charset="0"/>
                <a:ea typeface="Calibri" pitchFamily="34" charset="-122"/>
                <a:cs typeface="Calibri" pitchFamily="34" charset="-120"/>
              </a:rPr>
              <a:t>Scoped honestly, the schema/API/routing layer IS paperwork — a commercial coordination protocol. Beckn's whole design philosophy is to standardize the conversation between independent parties, not to replace each party's own metering, forecasting, or DERMS systems.</a:t>
            </a:r>
            <a:endParaRPr lang="en-US" sz="1350" dirty="0"/>
          </a:p>
        </p:txBody>
      </p:sp>
      <p:sp>
        <p:nvSpPr>
          <p:cNvPr id="7" name="Text 5"/>
          <p:cNvSpPr txBox="1"/>
          <p:nvPr/>
        </p:nvSpPr>
        <p:spPr>
          <a:xfrm>
            <a:off x="1005840" y="3520440"/>
            <a:ext cx="10225735" cy="274320"/>
          </a:xfrm>
          <a:prstGeom prst="rect">
            <a:avLst/>
          </a:prstGeom>
          <a:noFill/>
          <a:ln/>
        </p:spPr>
        <p:txBody>
          <a:bodyPr wrap="square" lIns="0" tIns="0" rIns="0" bIns="0" rtlCol="0" anchor="ctr"/>
          <a:lstStyle/>
          <a:p>
            <a:pPr indent="0" marL="0">
              <a:buNone/>
            </a:pPr>
            <a:r>
              <a:rPr lang="en-US" sz="1050" dirty="0">
                <a:solidFill>
                  <a:srgbClr val="8A94A6"/>
                </a:solidFill>
                <a:latin typeface="Calibri" pitchFamily="34" charset="0"/>
                <a:ea typeface="Calibri" pitchFamily="34" charset="-122"/>
                <a:cs typeface="Calibri" pitchFamily="34" charset="-120"/>
              </a:rPr>
              <a:t>What the protocol layer is actually for</a:t>
            </a:r>
            <a:endParaRPr lang="en-US" sz="1050" dirty="0"/>
          </a:p>
        </p:txBody>
      </p:sp>
      <p:sp>
        <p:nvSpPr>
          <p:cNvPr id="8" name="Shape 6"/>
          <p:cNvSpPr/>
          <p:nvPr/>
        </p:nvSpPr>
        <p:spPr>
          <a:xfrm>
            <a:off x="685800" y="4023360"/>
            <a:ext cx="54864" cy="1463040"/>
          </a:xfrm>
          <a:prstGeom prst="rect">
            <a:avLst/>
          </a:prstGeom>
          <a:solidFill>
            <a:srgbClr val="2F7A4F"/>
          </a:solidFill>
          <a:ln w="12700">
            <a:solidFill>
              <a:srgbClr val="2F7A4F"/>
            </a:solidFill>
            <a:prstDash val="solid"/>
          </a:ln>
        </p:spPr>
      </p:sp>
      <p:sp>
        <p:nvSpPr>
          <p:cNvPr id="9" name="Shape 7"/>
          <p:cNvSpPr/>
          <p:nvPr/>
        </p:nvSpPr>
        <p:spPr>
          <a:xfrm>
            <a:off x="740664" y="4023360"/>
            <a:ext cx="10765231" cy="1463040"/>
          </a:xfrm>
          <a:prstGeom prst="roundRect">
            <a:avLst>
              <a:gd name="adj" fmla="val 4375"/>
            </a:avLst>
          </a:prstGeom>
          <a:solidFill>
            <a:srgbClr val="FFFFFF"/>
          </a:solidFill>
          <a:ln w="12700">
            <a:solidFill>
              <a:srgbClr val="FFFFFF"/>
            </a:solidFill>
            <a:prstDash val="solid"/>
          </a:ln>
        </p:spPr>
      </p:sp>
      <p:sp>
        <p:nvSpPr>
          <p:cNvPr id="10" name="Text 8"/>
          <p:cNvSpPr txBox="1"/>
          <p:nvPr/>
        </p:nvSpPr>
        <p:spPr>
          <a:xfrm>
            <a:off x="1005840" y="4096512"/>
            <a:ext cx="10225735" cy="1005840"/>
          </a:xfrm>
          <a:prstGeom prst="rect">
            <a:avLst/>
          </a:prstGeom>
          <a:noFill/>
          <a:ln/>
        </p:spPr>
        <p:txBody>
          <a:bodyPr wrap="square" lIns="0" tIns="0" rIns="0" bIns="0" rtlCol="0" anchor="ctr"/>
          <a:lstStyle/>
          <a:p>
            <a:pPr indent="0" marL="0">
              <a:lnSpc>
                <a:spcPct val="115000"/>
              </a:lnSpc>
              <a:buNone/>
            </a:pPr>
            <a:r>
              <a:rPr lang="en-US" sz="1350" i="1" dirty="0">
                <a:solidFill>
                  <a:srgbClr val="171B24"/>
                </a:solidFill>
                <a:latin typeface="Calibri" pitchFamily="34" charset="0"/>
                <a:ea typeface="Calibri" pitchFamily="34" charset="-122"/>
                <a:cs typeface="Calibri" pitchFamily="34" charset="-120"/>
              </a:rPr>
              <a:t>The real complexity of this whole project is almost entirely in the commercial/trust/settlement layer — who's accountable for what, who gets paid, how disputes resolve — not in some exotic physical-delivery mechanism the grid doesn't actually need.</a:t>
            </a:r>
            <a:endParaRPr lang="en-US" sz="1350" dirty="0"/>
          </a:p>
        </p:txBody>
      </p:sp>
      <p:sp>
        <p:nvSpPr>
          <p:cNvPr id="11" name="Text 9"/>
          <p:cNvSpPr txBox="1"/>
          <p:nvPr/>
        </p:nvSpPr>
        <p:spPr>
          <a:xfrm>
            <a:off x="1005840" y="5166360"/>
            <a:ext cx="10225735" cy="274320"/>
          </a:xfrm>
          <a:prstGeom prst="rect">
            <a:avLst/>
          </a:prstGeom>
          <a:noFill/>
          <a:ln/>
        </p:spPr>
        <p:txBody>
          <a:bodyPr wrap="square" lIns="0" tIns="0" rIns="0" bIns="0" rtlCol="0" anchor="ctr"/>
          <a:lstStyle/>
          <a:p>
            <a:pPr indent="0" marL="0">
              <a:buNone/>
            </a:pPr>
            <a:r>
              <a:rPr lang="en-US" sz="1050" dirty="0">
                <a:solidFill>
                  <a:srgbClr val="8A94A6"/>
                </a:solidFill>
                <a:latin typeface="Calibri" pitchFamily="34" charset="0"/>
                <a:ea typeface="Calibri" pitchFamily="34" charset="-122"/>
                <a:cs typeface="Calibri" pitchFamily="34" charset="-120"/>
              </a:rPr>
              <a:t>Where the real engineering effort goes</a:t>
            </a:r>
            <a:endParaRPr lang="en-US" sz="1050" dirty="0"/>
          </a:p>
        </p:txBody>
      </p:sp>
      <p:sp>
        <p:nvSpPr>
          <p:cNvPr id="12" name="Text 10"/>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04 — How A Real Offer Gets Published</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85800" y="2651760"/>
            <a:ext cx="1828800" cy="457200"/>
          </a:xfrm>
          <a:prstGeom prst="rect">
            <a:avLst/>
          </a:prstGeom>
          <a:noFill/>
          <a:ln/>
        </p:spPr>
        <p:txBody>
          <a:bodyPr wrap="square" lIns="0" tIns="0" rIns="0" bIns="0" rtlCol="0" anchor="ctr"/>
          <a:lstStyle/>
          <a:p>
            <a:pPr indent="0" marL="0">
              <a:buNone/>
            </a:pPr>
            <a:r>
              <a:rPr lang="en-US" sz="2200" b="1" dirty="0">
                <a:solidFill>
                  <a:srgbClr val="C07F2A"/>
                </a:solidFill>
                <a:latin typeface="Calibri" pitchFamily="34" charset="0"/>
                <a:ea typeface="Calibri" pitchFamily="34" charset="-122"/>
                <a:cs typeface="Calibri" pitchFamily="34" charset="-120"/>
              </a:rPr>
              <a:t>05</a:t>
            </a:r>
            <a:endParaRPr lang="en-US" sz="2200" dirty="0"/>
          </a:p>
        </p:txBody>
      </p:sp>
      <p:sp>
        <p:nvSpPr>
          <p:cNvPr id="3" name="Text 1"/>
          <p:cNvSpPr txBox="1"/>
          <p:nvPr/>
        </p:nvSpPr>
        <p:spPr>
          <a:xfrm>
            <a:off x="685800" y="3063240"/>
            <a:ext cx="10515600" cy="11887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Business Value &amp; The Real Customer</a:t>
            </a:r>
            <a:endParaRPr lang="en-US" sz="3800" dirty="0"/>
          </a:p>
        </p:txBody>
      </p:sp>
      <p:sp>
        <p:nvSpPr>
          <p:cNvPr id="4" name="Text 2"/>
          <p:cNvSpPr txBox="1"/>
          <p:nvPr/>
        </p:nvSpPr>
        <p:spPr>
          <a:xfrm>
            <a:off x="685800" y="4114800"/>
            <a:ext cx="9784080" cy="731520"/>
          </a:xfrm>
          <a:prstGeom prst="rect">
            <a:avLst/>
          </a:prstGeom>
          <a:noFill/>
          <a:ln/>
        </p:spPr>
        <p:txBody>
          <a:bodyPr wrap="square" lIns="0" tIns="0" rIns="0" bIns="0" rtlCol="0" anchor="ctr"/>
          <a:lstStyle/>
          <a:p>
            <a:pPr indent="0" marL="0">
              <a:lnSpc>
                <a:spcPct val="130000"/>
              </a:lnSpc>
              <a:buNone/>
            </a:pPr>
            <a:r>
              <a:rPr lang="en-US" sz="1700" dirty="0">
                <a:solidFill>
                  <a:srgbClr val="A9B2C0"/>
                </a:solidFill>
                <a:latin typeface="Calibri" pitchFamily="34" charset="0"/>
                <a:ea typeface="Calibri" pitchFamily="34" charset="-122"/>
                <a:cs typeface="Calibri" pitchFamily="34" charset="-120"/>
              </a:rPr>
              <a:t>Who actually uses what we build, and whether the gaps we're finding are worth fixing.</a:t>
            </a:r>
            <a:endParaRPr lang="en-US" sz="17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05 · BUSINESS VALUE &amp; THE REAL CUSTOMER</a:t>
            </a:r>
            <a:endParaRPr lang="en-US" sz="1300" dirty="0"/>
          </a:p>
        </p:txBody>
      </p:sp>
      <p:sp>
        <p:nvSpPr>
          <p:cNvPr id="3" name="Text 1"/>
          <p:cNvSpPr txBox="1"/>
          <p:nvPr/>
        </p:nvSpPr>
        <p:spPr>
          <a:xfrm>
            <a:off x="685800" y="868680"/>
            <a:ext cx="10820095" cy="914400"/>
          </a:xfrm>
          <a:prstGeom prst="rect">
            <a:avLst/>
          </a:prstGeom>
          <a:noFill/>
          <a:ln/>
        </p:spPr>
        <p:txBody>
          <a:bodyPr wrap="square" lIns="0" tIns="0" rIns="0" bIns="0" rtlCol="0" anchor="ctr"/>
          <a:lstStyle/>
          <a:p>
            <a:pPr indent="0" marL="0">
              <a:lnSpc>
                <a:spcPct val="105000"/>
              </a:lnSpc>
              <a:buNone/>
            </a:pPr>
            <a:r>
              <a:rPr lang="en-US" sz="2600" b="1" dirty="0">
                <a:solidFill>
                  <a:srgbClr val="171B24"/>
                </a:solidFill>
                <a:latin typeface="Cambria" pitchFamily="34" charset="0"/>
                <a:ea typeface="Cambria" pitchFamily="34" charset="-122"/>
                <a:cs typeface="Cambria" pitchFamily="34" charset="-120"/>
              </a:rPr>
              <a:t>The real customer chain</a:t>
            </a:r>
            <a:endParaRPr lang="en-US" sz="2600" dirty="0"/>
          </a:p>
        </p:txBody>
      </p:sp>
      <p:sp>
        <p:nvSpPr>
          <p:cNvPr id="4" name="Text 2"/>
          <p:cNvSpPr txBox="1"/>
          <p:nvPr/>
        </p:nvSpPr>
        <p:spPr>
          <a:xfrm>
            <a:off x="685800" y="1600200"/>
            <a:ext cx="10820095" cy="548640"/>
          </a:xfrm>
          <a:prstGeom prst="rect">
            <a:avLst/>
          </a:prstGeom>
          <a:noFill/>
          <a:ln/>
        </p:spPr>
        <p:txBody>
          <a:bodyPr wrap="square" lIns="0" tIns="0" rIns="0" bIns="0" rtlCol="0" anchor="ctr"/>
          <a:lstStyle/>
          <a:p>
            <a:pPr indent="0" marL="0">
              <a:buNone/>
            </a:pPr>
            <a:r>
              <a:rPr lang="en-US" sz="1500" dirty="0">
                <a:solidFill>
                  <a:srgbClr val="5A6472"/>
                </a:solidFill>
                <a:latin typeface="Calibri" pitchFamily="34" charset="0"/>
                <a:ea typeface="Calibri" pitchFamily="34" charset="-122"/>
                <a:cs typeface="Calibri" pitchFamily="34" charset="-120"/>
              </a:rPr>
              <a:t>Not one paying company — pre-production assurance work on public DPI, same pattern as UPI/ONDC.</a:t>
            </a:r>
            <a:endParaRPr lang="en-US" sz="1500" dirty="0"/>
          </a:p>
        </p:txBody>
      </p:sp>
      <p:sp>
        <p:nvSpPr>
          <p:cNvPr id="5" name="Shape 3"/>
          <p:cNvSpPr/>
          <p:nvPr/>
        </p:nvSpPr>
        <p:spPr>
          <a:xfrm>
            <a:off x="685800" y="2194560"/>
            <a:ext cx="2499284" cy="2103120"/>
          </a:xfrm>
          <a:prstGeom prst="roundRect">
            <a:avLst>
              <a:gd name="adj" fmla="val 3043"/>
            </a:avLst>
          </a:prstGeom>
          <a:solidFill>
            <a:srgbClr val="FFFFFF"/>
          </a:solidFill>
          <a:ln w="12700">
            <a:solidFill>
              <a:srgbClr val="E2E4E8"/>
            </a:solidFill>
            <a:prstDash val="solid"/>
          </a:ln>
        </p:spPr>
      </p:sp>
      <p:sp>
        <p:nvSpPr>
          <p:cNvPr id="6" name="Shape 4"/>
          <p:cNvSpPr/>
          <p:nvPr/>
        </p:nvSpPr>
        <p:spPr>
          <a:xfrm>
            <a:off x="868680" y="2359152"/>
            <a:ext cx="2133524" cy="310896"/>
          </a:xfrm>
          <a:prstGeom prst="roundRect">
            <a:avLst>
              <a:gd name="adj" fmla="val 50000"/>
            </a:avLst>
          </a:prstGeom>
          <a:solidFill>
            <a:srgbClr val="C07F2A"/>
          </a:solidFill>
          <a:ln w="12700">
            <a:solidFill>
              <a:srgbClr val="C07F2A"/>
            </a:solidFill>
            <a:prstDash val="solid"/>
          </a:ln>
        </p:spPr>
      </p:sp>
      <p:sp>
        <p:nvSpPr>
          <p:cNvPr id="7" name="Text 5"/>
          <p:cNvSpPr txBox="1"/>
          <p:nvPr/>
        </p:nvSpPr>
        <p:spPr>
          <a:xfrm>
            <a:off x="868680" y="2359152"/>
            <a:ext cx="2133524"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IMMEDIATE</a:t>
            </a:r>
            <a:endParaRPr lang="en-US" sz="1050" dirty="0"/>
          </a:p>
        </p:txBody>
      </p:sp>
      <p:sp>
        <p:nvSpPr>
          <p:cNvPr id="8" name="Text 6"/>
          <p:cNvSpPr txBox="1"/>
          <p:nvPr/>
        </p:nvSpPr>
        <p:spPr>
          <a:xfrm>
            <a:off x="868680" y="2761488"/>
            <a:ext cx="2133524" cy="502920"/>
          </a:xfrm>
          <a:prstGeom prst="rect">
            <a:avLst/>
          </a:prstGeom>
          <a:noFill/>
          <a:ln/>
        </p:spPr>
        <p:txBody>
          <a:bodyPr wrap="square" lIns="0" tIns="0" rIns="0" bIns="0" rtlCol="0" anchor="ctr"/>
          <a:lstStyle/>
          <a:p>
            <a:pPr indent="0" marL="0">
              <a:lnSpc>
                <a:spcPct val="105000"/>
              </a:lnSpc>
              <a:buNone/>
            </a:pPr>
            <a:r>
              <a:rPr lang="en-US" sz="1400" b="1" dirty="0">
                <a:solidFill>
                  <a:srgbClr val="171B24"/>
                </a:solidFill>
                <a:latin typeface="Cambria" pitchFamily="34" charset="0"/>
                <a:ea typeface="Cambria" pitchFamily="34" charset="-122"/>
                <a:cs typeface="Cambria" pitchFamily="34" charset="-120"/>
              </a:rPr>
              <a:t>Devkit / protocol team</a:t>
            </a:r>
            <a:endParaRPr lang="en-US" sz="1400" dirty="0"/>
          </a:p>
        </p:txBody>
      </p:sp>
      <p:sp>
        <p:nvSpPr>
          <p:cNvPr id="9" name="Text 7"/>
          <p:cNvSpPr txBox="1"/>
          <p:nvPr/>
        </p:nvSpPr>
        <p:spPr>
          <a:xfrm>
            <a:off x="868680" y="3291840"/>
            <a:ext cx="2133524" cy="822960"/>
          </a:xfrm>
          <a:prstGeom prst="rect">
            <a:avLst/>
          </a:prstGeom>
          <a:noFill/>
          <a:ln/>
        </p:spPr>
        <p:txBody>
          <a:bodyPr wrap="square" lIns="0" tIns="0" rIns="0" bIns="0" rtlCol="0" anchor="ctr"/>
          <a:lstStyle/>
          <a:p>
            <a:pPr indent="0" marL="0">
              <a:lnSpc>
                <a:spcPct val="120000"/>
              </a:lnSpc>
              <a:buNone/>
            </a:pPr>
            <a:r>
              <a:rPr lang="en-US" sz="1050" dirty="0">
                <a:solidFill>
                  <a:srgbClr val="5A6472"/>
                </a:solidFill>
                <a:latin typeface="Calibri" pitchFamily="34" charset="0"/>
                <a:ea typeface="Calibri" pitchFamily="34" charset="-122"/>
                <a:cs typeface="Calibri" pitchFamily="34" charset="-120"/>
              </a:rPr>
              <a:t>The immediate consumer of this gap-hunting work — what we actually hand over</a:t>
            </a:r>
            <a:endParaRPr lang="en-US" sz="1050" dirty="0"/>
          </a:p>
        </p:txBody>
      </p:sp>
      <p:sp>
        <p:nvSpPr>
          <p:cNvPr id="10" name="Shape 8"/>
          <p:cNvSpPr/>
          <p:nvPr/>
        </p:nvSpPr>
        <p:spPr>
          <a:xfrm>
            <a:off x="3203372" y="3127248"/>
            <a:ext cx="237744" cy="237744"/>
          </a:xfrm>
          <a:prstGeom prst="chevron">
            <a:avLst/>
          </a:prstGeom>
          <a:solidFill>
            <a:srgbClr val="8A94A6"/>
          </a:solidFill>
          <a:ln w="12700">
            <a:solidFill>
              <a:srgbClr val="8A94A6"/>
            </a:solidFill>
            <a:prstDash val="solid"/>
          </a:ln>
        </p:spPr>
      </p:sp>
      <p:sp>
        <p:nvSpPr>
          <p:cNvPr id="11" name="Shape 9"/>
          <p:cNvSpPr/>
          <p:nvPr/>
        </p:nvSpPr>
        <p:spPr>
          <a:xfrm>
            <a:off x="3459404" y="2194560"/>
            <a:ext cx="2499284" cy="2103120"/>
          </a:xfrm>
          <a:prstGeom prst="roundRect">
            <a:avLst>
              <a:gd name="adj" fmla="val 3043"/>
            </a:avLst>
          </a:prstGeom>
          <a:solidFill>
            <a:srgbClr val="FFFFFF"/>
          </a:solidFill>
          <a:ln w="12700">
            <a:solidFill>
              <a:srgbClr val="E2E4E8"/>
            </a:solidFill>
            <a:prstDash val="solid"/>
          </a:ln>
        </p:spPr>
      </p:sp>
      <p:sp>
        <p:nvSpPr>
          <p:cNvPr id="12" name="Shape 10"/>
          <p:cNvSpPr/>
          <p:nvPr/>
        </p:nvSpPr>
        <p:spPr>
          <a:xfrm>
            <a:off x="3642284" y="2359152"/>
            <a:ext cx="2133524" cy="310896"/>
          </a:xfrm>
          <a:prstGeom prst="roundRect">
            <a:avLst>
              <a:gd name="adj" fmla="val 50000"/>
            </a:avLst>
          </a:prstGeom>
          <a:solidFill>
            <a:srgbClr val="8A94A6"/>
          </a:solidFill>
          <a:ln w="12700">
            <a:solidFill>
              <a:srgbClr val="8A94A6"/>
            </a:solidFill>
            <a:prstDash val="solid"/>
          </a:ln>
        </p:spPr>
      </p:sp>
      <p:sp>
        <p:nvSpPr>
          <p:cNvPr id="13" name="Text 11"/>
          <p:cNvSpPr txBox="1"/>
          <p:nvPr/>
        </p:nvSpPr>
        <p:spPr>
          <a:xfrm>
            <a:off x="3642284" y="2359152"/>
            <a:ext cx="2133524"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NEXT</a:t>
            </a:r>
            <a:endParaRPr lang="en-US" sz="1050" dirty="0"/>
          </a:p>
        </p:txBody>
      </p:sp>
      <p:sp>
        <p:nvSpPr>
          <p:cNvPr id="14" name="Text 12"/>
          <p:cNvSpPr txBox="1"/>
          <p:nvPr/>
        </p:nvSpPr>
        <p:spPr>
          <a:xfrm>
            <a:off x="3642284" y="2761488"/>
            <a:ext cx="2133524" cy="502920"/>
          </a:xfrm>
          <a:prstGeom prst="rect">
            <a:avLst/>
          </a:prstGeom>
          <a:noFill/>
          <a:ln/>
        </p:spPr>
        <p:txBody>
          <a:bodyPr wrap="square" lIns="0" tIns="0" rIns="0" bIns="0" rtlCol="0" anchor="ctr"/>
          <a:lstStyle/>
          <a:p>
            <a:pPr indent="0" marL="0">
              <a:lnSpc>
                <a:spcPct val="105000"/>
              </a:lnSpc>
              <a:buNone/>
            </a:pPr>
            <a:r>
              <a:rPr lang="en-US" sz="1400" b="1" dirty="0">
                <a:solidFill>
                  <a:srgbClr val="171B24"/>
                </a:solidFill>
                <a:latin typeface="Cambria" pitchFamily="34" charset="0"/>
                <a:ea typeface="Cambria" pitchFamily="34" charset="-122"/>
                <a:cs typeface="Cambria" pitchFamily="34" charset="-120"/>
              </a:rPr>
              <a:t>DISCOM engineering</a:t>
            </a:r>
            <a:endParaRPr lang="en-US" sz="1400" dirty="0"/>
          </a:p>
        </p:txBody>
      </p:sp>
      <p:sp>
        <p:nvSpPr>
          <p:cNvPr id="15" name="Text 13"/>
          <p:cNvSpPr txBox="1"/>
          <p:nvPr/>
        </p:nvSpPr>
        <p:spPr>
          <a:xfrm>
            <a:off x="3642284" y="3291840"/>
            <a:ext cx="2133524" cy="822960"/>
          </a:xfrm>
          <a:prstGeom prst="rect">
            <a:avLst/>
          </a:prstGeom>
          <a:noFill/>
          <a:ln/>
        </p:spPr>
        <p:txBody>
          <a:bodyPr wrap="square" lIns="0" tIns="0" rIns="0" bIns="0" rtlCol="0" anchor="ctr"/>
          <a:lstStyle/>
          <a:p>
            <a:pPr indent="0" marL="0">
              <a:lnSpc>
                <a:spcPct val="120000"/>
              </a:lnSpc>
              <a:buNone/>
            </a:pPr>
            <a:r>
              <a:rPr lang="en-US" sz="1050" dirty="0">
                <a:solidFill>
                  <a:srgbClr val="5A6472"/>
                </a:solidFill>
                <a:latin typeface="Calibri" pitchFamily="34" charset="0"/>
                <a:ea typeface="Calibri" pitchFamily="34" charset="-122"/>
                <a:cs typeface="Calibri" pitchFamily="34" charset="-120"/>
              </a:rPr>
              <a:t>Adopts the devkit to let real prosumers trade — inherits whichever gaps did or didn't get fixed</a:t>
            </a:r>
            <a:endParaRPr lang="en-US" sz="1050" dirty="0"/>
          </a:p>
        </p:txBody>
      </p:sp>
      <p:sp>
        <p:nvSpPr>
          <p:cNvPr id="16" name="Shape 14"/>
          <p:cNvSpPr/>
          <p:nvPr/>
        </p:nvSpPr>
        <p:spPr>
          <a:xfrm>
            <a:off x="5976976" y="3127248"/>
            <a:ext cx="237744" cy="237744"/>
          </a:xfrm>
          <a:prstGeom prst="chevron">
            <a:avLst/>
          </a:prstGeom>
          <a:solidFill>
            <a:srgbClr val="8A94A6"/>
          </a:solidFill>
          <a:ln w="12700">
            <a:solidFill>
              <a:srgbClr val="8A94A6"/>
            </a:solidFill>
            <a:prstDash val="solid"/>
          </a:ln>
        </p:spPr>
      </p:sp>
      <p:sp>
        <p:nvSpPr>
          <p:cNvPr id="17" name="Shape 15"/>
          <p:cNvSpPr/>
          <p:nvPr/>
        </p:nvSpPr>
        <p:spPr>
          <a:xfrm>
            <a:off x="6233008" y="2194560"/>
            <a:ext cx="2499284" cy="2103120"/>
          </a:xfrm>
          <a:prstGeom prst="roundRect">
            <a:avLst>
              <a:gd name="adj" fmla="val 3043"/>
            </a:avLst>
          </a:prstGeom>
          <a:solidFill>
            <a:srgbClr val="FFFFFF"/>
          </a:solidFill>
          <a:ln w="12700">
            <a:solidFill>
              <a:srgbClr val="E2E4E8"/>
            </a:solidFill>
            <a:prstDash val="solid"/>
          </a:ln>
        </p:spPr>
      </p:sp>
      <p:sp>
        <p:nvSpPr>
          <p:cNvPr id="18" name="Shape 16"/>
          <p:cNvSpPr/>
          <p:nvPr/>
        </p:nvSpPr>
        <p:spPr>
          <a:xfrm>
            <a:off x="6415888" y="2359152"/>
            <a:ext cx="2133524" cy="310896"/>
          </a:xfrm>
          <a:prstGeom prst="roundRect">
            <a:avLst>
              <a:gd name="adj" fmla="val 50000"/>
            </a:avLst>
          </a:prstGeom>
          <a:solidFill>
            <a:srgbClr val="8A94A6"/>
          </a:solidFill>
          <a:ln w="12700">
            <a:solidFill>
              <a:srgbClr val="8A94A6"/>
            </a:solidFill>
            <a:prstDash val="solid"/>
          </a:ln>
        </p:spPr>
      </p:sp>
      <p:sp>
        <p:nvSpPr>
          <p:cNvPr id="19" name="Text 17"/>
          <p:cNvSpPr txBox="1"/>
          <p:nvPr/>
        </p:nvSpPr>
        <p:spPr>
          <a:xfrm>
            <a:off x="6415888" y="2359152"/>
            <a:ext cx="2133524"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GATEKEEPER</a:t>
            </a:r>
            <a:endParaRPr lang="en-US" sz="1050" dirty="0"/>
          </a:p>
        </p:txBody>
      </p:sp>
      <p:sp>
        <p:nvSpPr>
          <p:cNvPr id="20" name="Text 18"/>
          <p:cNvSpPr txBox="1"/>
          <p:nvPr/>
        </p:nvSpPr>
        <p:spPr>
          <a:xfrm>
            <a:off x="6415888" y="2761488"/>
            <a:ext cx="2133524" cy="502920"/>
          </a:xfrm>
          <a:prstGeom prst="rect">
            <a:avLst/>
          </a:prstGeom>
          <a:noFill/>
          <a:ln/>
        </p:spPr>
        <p:txBody>
          <a:bodyPr wrap="square" lIns="0" tIns="0" rIns="0" bIns="0" rtlCol="0" anchor="ctr"/>
          <a:lstStyle/>
          <a:p>
            <a:pPr indent="0" marL="0">
              <a:lnSpc>
                <a:spcPct val="105000"/>
              </a:lnSpc>
              <a:buNone/>
            </a:pPr>
            <a:r>
              <a:rPr lang="en-US" sz="1400" b="1" dirty="0">
                <a:solidFill>
                  <a:srgbClr val="171B24"/>
                </a:solidFill>
                <a:latin typeface="Cambria" pitchFamily="34" charset="0"/>
                <a:ea typeface="Cambria" pitchFamily="34" charset="-122"/>
                <a:cs typeface="Cambria" pitchFamily="34" charset="-120"/>
              </a:rPr>
              <a:t>Regulators (CERC/SERC)</a:t>
            </a:r>
            <a:endParaRPr lang="en-US" sz="1400" dirty="0"/>
          </a:p>
        </p:txBody>
      </p:sp>
      <p:sp>
        <p:nvSpPr>
          <p:cNvPr id="21" name="Text 19"/>
          <p:cNvSpPr txBox="1"/>
          <p:nvPr/>
        </p:nvSpPr>
        <p:spPr>
          <a:xfrm>
            <a:off x="6415888" y="3291840"/>
            <a:ext cx="2133524" cy="822960"/>
          </a:xfrm>
          <a:prstGeom prst="rect">
            <a:avLst/>
          </a:prstGeom>
          <a:noFill/>
          <a:ln/>
        </p:spPr>
        <p:txBody>
          <a:bodyPr wrap="square" lIns="0" tIns="0" rIns="0" bIns="0" rtlCol="0" anchor="ctr"/>
          <a:lstStyle/>
          <a:p>
            <a:pPr indent="0" marL="0">
              <a:lnSpc>
                <a:spcPct val="120000"/>
              </a:lnSpc>
              <a:buNone/>
            </a:pPr>
            <a:r>
              <a:rPr lang="en-US" sz="1050" dirty="0">
                <a:solidFill>
                  <a:srgbClr val="5A6472"/>
                </a:solidFill>
                <a:latin typeface="Calibri" pitchFamily="34" charset="0"/>
                <a:ea typeface="Calibri" pitchFamily="34" charset="-122"/>
                <a:cs typeface="Calibri" pitchFamily="34" charset="-120"/>
              </a:rPr>
              <a:t>Must be convinced this is safe before real money moves on it</a:t>
            </a:r>
            <a:endParaRPr lang="en-US" sz="1050" dirty="0"/>
          </a:p>
        </p:txBody>
      </p:sp>
      <p:sp>
        <p:nvSpPr>
          <p:cNvPr id="22" name="Shape 20"/>
          <p:cNvSpPr/>
          <p:nvPr/>
        </p:nvSpPr>
        <p:spPr>
          <a:xfrm>
            <a:off x="8750579" y="3127248"/>
            <a:ext cx="237744" cy="237744"/>
          </a:xfrm>
          <a:prstGeom prst="chevron">
            <a:avLst/>
          </a:prstGeom>
          <a:solidFill>
            <a:srgbClr val="8A94A6"/>
          </a:solidFill>
          <a:ln w="12700">
            <a:solidFill>
              <a:srgbClr val="8A94A6"/>
            </a:solidFill>
            <a:prstDash val="solid"/>
          </a:ln>
        </p:spPr>
      </p:sp>
      <p:sp>
        <p:nvSpPr>
          <p:cNvPr id="23" name="Shape 21"/>
          <p:cNvSpPr/>
          <p:nvPr/>
        </p:nvSpPr>
        <p:spPr>
          <a:xfrm>
            <a:off x="9006611" y="2194560"/>
            <a:ext cx="2499284" cy="2103120"/>
          </a:xfrm>
          <a:prstGeom prst="roundRect">
            <a:avLst>
              <a:gd name="adj" fmla="val 3043"/>
            </a:avLst>
          </a:prstGeom>
          <a:solidFill>
            <a:srgbClr val="FFFFFF"/>
          </a:solidFill>
          <a:ln w="12700">
            <a:solidFill>
              <a:srgbClr val="E2E4E8"/>
            </a:solidFill>
            <a:prstDash val="solid"/>
          </a:ln>
        </p:spPr>
      </p:sp>
      <p:sp>
        <p:nvSpPr>
          <p:cNvPr id="24" name="Shape 22"/>
          <p:cNvSpPr/>
          <p:nvPr/>
        </p:nvSpPr>
        <p:spPr>
          <a:xfrm>
            <a:off x="9189491" y="2359152"/>
            <a:ext cx="2133524" cy="310896"/>
          </a:xfrm>
          <a:prstGeom prst="roundRect">
            <a:avLst>
              <a:gd name="adj" fmla="val 50000"/>
            </a:avLst>
          </a:prstGeom>
          <a:solidFill>
            <a:srgbClr val="8A94A6"/>
          </a:solidFill>
          <a:ln w="12700">
            <a:solidFill>
              <a:srgbClr val="8A94A6"/>
            </a:solidFill>
            <a:prstDash val="solid"/>
          </a:ln>
        </p:spPr>
      </p:sp>
      <p:sp>
        <p:nvSpPr>
          <p:cNvPr id="25" name="Text 23"/>
          <p:cNvSpPr txBox="1"/>
          <p:nvPr/>
        </p:nvSpPr>
        <p:spPr>
          <a:xfrm>
            <a:off x="9189491" y="2359152"/>
            <a:ext cx="2133524"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END USER</a:t>
            </a:r>
            <a:endParaRPr lang="en-US" sz="1050" dirty="0"/>
          </a:p>
        </p:txBody>
      </p:sp>
      <p:sp>
        <p:nvSpPr>
          <p:cNvPr id="26" name="Text 24"/>
          <p:cNvSpPr txBox="1"/>
          <p:nvPr/>
        </p:nvSpPr>
        <p:spPr>
          <a:xfrm>
            <a:off x="9189491" y="2761488"/>
            <a:ext cx="2133524" cy="502920"/>
          </a:xfrm>
          <a:prstGeom prst="rect">
            <a:avLst/>
          </a:prstGeom>
          <a:noFill/>
          <a:ln/>
        </p:spPr>
        <p:txBody>
          <a:bodyPr wrap="square" lIns="0" tIns="0" rIns="0" bIns="0" rtlCol="0" anchor="ctr"/>
          <a:lstStyle/>
          <a:p>
            <a:pPr indent="0" marL="0">
              <a:lnSpc>
                <a:spcPct val="105000"/>
              </a:lnSpc>
              <a:buNone/>
            </a:pPr>
            <a:r>
              <a:rPr lang="en-US" sz="1400" b="1" dirty="0">
                <a:solidFill>
                  <a:srgbClr val="171B24"/>
                </a:solidFill>
                <a:latin typeface="Cambria" pitchFamily="34" charset="0"/>
                <a:ea typeface="Cambria" pitchFamily="34" charset="-122"/>
                <a:cs typeface="Cambria" pitchFamily="34" charset="-120"/>
              </a:rPr>
              <a:t>Real households</a:t>
            </a:r>
            <a:endParaRPr lang="en-US" sz="1400" dirty="0"/>
          </a:p>
        </p:txBody>
      </p:sp>
      <p:sp>
        <p:nvSpPr>
          <p:cNvPr id="27" name="Text 25"/>
          <p:cNvSpPr txBox="1"/>
          <p:nvPr/>
        </p:nvSpPr>
        <p:spPr>
          <a:xfrm>
            <a:off x="9189491" y="3291840"/>
            <a:ext cx="2133524" cy="822960"/>
          </a:xfrm>
          <a:prstGeom prst="rect">
            <a:avLst/>
          </a:prstGeom>
          <a:noFill/>
          <a:ln/>
        </p:spPr>
        <p:txBody>
          <a:bodyPr wrap="square" lIns="0" tIns="0" rIns="0" bIns="0" rtlCol="0" anchor="ctr"/>
          <a:lstStyle/>
          <a:p>
            <a:pPr indent="0" marL="0">
              <a:lnSpc>
                <a:spcPct val="120000"/>
              </a:lnSpc>
              <a:buNone/>
            </a:pPr>
            <a:r>
              <a:rPr lang="en-US" sz="1050" dirty="0">
                <a:solidFill>
                  <a:srgbClr val="5A6472"/>
                </a:solidFill>
                <a:latin typeface="Calibri" pitchFamily="34" charset="0"/>
                <a:ea typeface="Calibri" pitchFamily="34" charset="-122"/>
                <a:cs typeface="Calibri" pitchFamily="34" charset="-120"/>
              </a:rPr>
              <a:t>The final beneficiary — real money at stake if a gap like Gap 4 ships unfixed</a:t>
            </a:r>
            <a:endParaRPr lang="en-US" sz="1050" dirty="0"/>
          </a:p>
        </p:txBody>
      </p:sp>
      <p:sp>
        <p:nvSpPr>
          <p:cNvPr id="28" name="Text 26"/>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05 — Business Value &amp; The Real Customer</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05 · BUSINESS VALUE &amp; THE REAL CUSTOMER</a:t>
            </a:r>
            <a:endParaRPr lang="en-US" sz="1300" dirty="0"/>
          </a:p>
        </p:txBody>
      </p:sp>
      <p:sp>
        <p:nvSpPr>
          <p:cNvPr id="3" name="Text 1"/>
          <p:cNvSpPr txBox="1"/>
          <p:nvPr/>
        </p:nvSpPr>
        <p:spPr>
          <a:xfrm>
            <a:off x="685800" y="868680"/>
            <a:ext cx="10820095" cy="914400"/>
          </a:xfrm>
          <a:prstGeom prst="rect">
            <a:avLst/>
          </a:prstGeom>
          <a:noFill/>
          <a:ln/>
        </p:spPr>
        <p:txBody>
          <a:bodyPr wrap="square" lIns="0" tIns="0" rIns="0" bIns="0" rtlCol="0" anchor="ctr"/>
          <a:lstStyle/>
          <a:p>
            <a:pPr indent="0" marL="0">
              <a:lnSpc>
                <a:spcPct val="105000"/>
              </a:lnSpc>
              <a:buNone/>
            </a:pPr>
            <a:r>
              <a:rPr lang="en-US" sz="2600" b="1" dirty="0">
                <a:solidFill>
                  <a:srgbClr val="171B24"/>
                </a:solidFill>
                <a:latin typeface="Cambria" pitchFamily="34" charset="0"/>
                <a:ea typeface="Cambria" pitchFamily="34" charset="-122"/>
                <a:cs typeface="Cambria" pitchFamily="34" charset="-120"/>
              </a:rPr>
              <a:t>What we consume vs. what we change</a:t>
            </a:r>
            <a:endParaRPr lang="en-US" sz="2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85800" y="2286000"/>
          <a:ext cx="10820095" cy="914400"/>
        </p:xfrm>
        <a:graphic>
          <a:graphicData uri="http://schemas.openxmlformats.org/drawingml/2006/table">
            <a:tbl>
              <a:tblPr/>
              <a:tblGrid>
                <a:gridCol w="2377440"/>
                <a:gridCol w="4480560"/>
                <a:gridCol w="3959352"/>
              </a:tblGrid>
              <a:tr h="777240">
                <a:tc>
                  <a:txBody>
                    <a:bodyPr/>
                    <a:lstStyle/>
                    <a:p>
                      <a:pPr indent="0" marL="0">
                        <a:buNone/>
                      </a:pPr>
                      <a:r>
                        <a:rPr lang="en-US" sz="1100" b="1" dirty="0">
                          <a:solidFill>
                            <a:srgbClr val="FFFFFF"/>
                          </a:solidFill>
                        </a:rPr>
                        <a:t>LAYER</a:t>
                      </a:r>
                      <a:endParaRPr lang="en-US" sz="1100" dirty="0"/>
                    </a:p>
                  </a:txBody>
                  <a:tcPr marL="127000" marR="127000" marT="76200" marB="762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2A3242"/>
                    </a:solidFill>
                  </a:tcPr>
                </a:tc>
                <a:tc>
                  <a:txBody>
                    <a:bodyPr/>
                    <a:lstStyle/>
                    <a:p>
                      <a:pPr indent="0" marL="0">
                        <a:buNone/>
                      </a:pPr>
                      <a:r>
                        <a:rPr lang="en-US" sz="1100" b="1" dirty="0">
                          <a:solidFill>
                            <a:srgbClr val="FFFFFF"/>
                          </a:solidFill>
                        </a:rPr>
                        <a:t>WE CONSUME (existing, untouched)</a:t>
                      </a:r>
                      <a:endParaRPr lang="en-US" sz="1100" dirty="0"/>
                    </a:p>
                  </a:txBody>
                  <a:tcPr marL="127000" marR="127000" marT="76200" marB="762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2A3242"/>
                    </a:solidFill>
                  </a:tcPr>
                </a:tc>
                <a:tc>
                  <a:txBody>
                    <a:bodyPr/>
                    <a:lstStyle/>
                    <a:p>
                      <a:pPr indent="0" marL="0">
                        <a:buNone/>
                      </a:pPr>
                      <a:r>
                        <a:rPr lang="en-US" sz="1100" b="1" dirty="0">
                          <a:solidFill>
                            <a:srgbClr val="FFFFFF"/>
                          </a:solidFill>
                        </a:rPr>
                        <a:t>WE CHANGE / ADD</a:t>
                      </a:r>
                      <a:endParaRPr lang="en-US" sz="1100" dirty="0"/>
                    </a:p>
                  </a:txBody>
                  <a:tcPr marL="127000" marR="127000" marT="76200" marB="762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2A3242"/>
                    </a:solidFill>
                  </a:tcPr>
                </a:tc>
              </a:tr>
              <a:tr h="777240">
                <a:tc>
                  <a:txBody>
                    <a:bodyPr/>
                    <a:lstStyle/>
                    <a:p>
                      <a:pPr indent="0" marL="0">
                        <a:buNone/>
                      </a:pPr>
                      <a:r>
                        <a:rPr lang="en-US" sz="1100" b="1" dirty="0">
                          <a:solidFill>
                            <a:srgbClr val="171B24"/>
                          </a:solidFill>
                        </a:rPr>
                        <a:t>Physical delivery</a:t>
                      </a:r>
                      <a:endParaRPr lang="en-US" sz="1100" dirty="0"/>
                    </a:p>
                  </a:txBody>
                  <a:tcPr marL="127000" marR="127000" marT="76200" marB="762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050" dirty="0">
                          <a:solidFill>
                            <a:srgbClr val="5A6472"/>
                          </a:solidFill>
                        </a:rPr>
                        <a:t>The actual flow of electricity — unaffected by any trade</a:t>
                      </a:r>
                      <a:endParaRPr lang="en-US" sz="1050" dirty="0"/>
                    </a:p>
                  </a:txBody>
                  <a:tcPr marL="127000" marR="127000" marT="76200" marB="762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050" dirty="0">
                          <a:solidFill>
                            <a:srgbClr val="8A94A6"/>
                          </a:solidFill>
                        </a:rPr>
                        <a:t>Nothing</a:t>
                      </a:r>
                      <a:endParaRPr lang="en-US" sz="1050" dirty="0"/>
                    </a:p>
                  </a:txBody>
                  <a:tcPr marL="127000" marR="127000" marT="76200" marB="762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r>
              <a:tr h="777240">
                <a:tc>
                  <a:txBody>
                    <a:bodyPr/>
                    <a:lstStyle/>
                    <a:p>
                      <a:pPr indent="0" marL="0">
                        <a:buNone/>
                      </a:pPr>
                      <a:r>
                        <a:rPr lang="en-US" sz="1100" b="1" dirty="0">
                          <a:solidFill>
                            <a:srgbClr val="171B24"/>
                          </a:solidFill>
                        </a:rPr>
                        <a:t>Metering &amp; telemetry</a:t>
                      </a:r>
                      <a:endParaRPr lang="en-US" sz="1100" dirty="0"/>
                    </a:p>
                  </a:txBody>
                  <a:tcPr marL="127000" marR="127000" marT="76200" marB="762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050" dirty="0">
                          <a:solidFill>
                            <a:srgbClr val="5A6472"/>
                          </a:solidFill>
                        </a:rPr>
                        <a:t>Smart meters, AMI, HES, MDM — we only read from these</a:t>
                      </a:r>
                      <a:endParaRPr lang="en-US" sz="1050" dirty="0"/>
                    </a:p>
                  </a:txBody>
                  <a:tcPr marL="127000" marR="127000" marT="76200" marB="762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050" dirty="0">
                          <a:solidFill>
                            <a:srgbClr val="C07F2A"/>
                          </a:solidFill>
                        </a:rPr>
                        <a:t>How often we read the feed (Gap 15)</a:t>
                      </a:r>
                      <a:endParaRPr lang="en-US" sz="1050" dirty="0"/>
                    </a:p>
                  </a:txBody>
                  <a:tcPr marL="127000" marR="127000" marT="76200" marB="762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r>
              <a:tr h="777240">
                <a:tc>
                  <a:txBody>
                    <a:bodyPr/>
                    <a:lstStyle/>
                    <a:p>
                      <a:pPr indent="0" marL="0">
                        <a:buNone/>
                      </a:pPr>
                      <a:r>
                        <a:rPr lang="en-US" sz="1100" b="1" dirty="0">
                          <a:solidFill>
                            <a:srgbClr val="171B24"/>
                          </a:solidFill>
                        </a:rPr>
                        <a:t>Hardware control &amp; safety</a:t>
                      </a:r>
                      <a:endParaRPr lang="en-US" sz="1100" dirty="0"/>
                    </a:p>
                  </a:txBody>
                  <a:tcPr marL="127000" marR="127000" marT="76200" marB="762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050" dirty="0">
                          <a:solidFill>
                            <a:srgbClr val="5A6472"/>
                          </a:solidFill>
                        </a:rPr>
                        <a:t>DERMS, anti-islanding — we never command a device directly</a:t>
                      </a:r>
                      <a:endParaRPr lang="en-US" sz="1050" dirty="0"/>
                    </a:p>
                  </a:txBody>
                  <a:tcPr marL="127000" marR="127000" marT="76200" marB="762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050" dirty="0">
                          <a:solidFill>
                            <a:srgbClr val="8A94A6"/>
                          </a:solidFill>
                        </a:rPr>
                        <a:t>Nothing — by design</a:t>
                      </a:r>
                      <a:endParaRPr lang="en-US" sz="1050" dirty="0"/>
                    </a:p>
                  </a:txBody>
                  <a:tcPr marL="127000" marR="127000" marT="76200" marB="762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r>
              <a:tr h="777240">
                <a:tc>
                  <a:txBody>
                    <a:bodyPr/>
                    <a:lstStyle/>
                    <a:p>
                      <a:pPr indent="0" marL="0">
                        <a:buNone/>
                      </a:pPr>
                      <a:r>
                        <a:rPr lang="en-US" sz="1100" b="1" dirty="0">
                          <a:solidFill>
                            <a:srgbClr val="171B24"/>
                          </a:solidFill>
                        </a:rPr>
                        <a:t>Commercial rules &amp; trust</a:t>
                      </a:r>
                      <a:endParaRPr lang="en-US" sz="1100" dirty="0"/>
                    </a:p>
                  </a:txBody>
                  <a:tcPr marL="127000" marR="127000" marT="76200" marB="762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050" dirty="0">
                          <a:solidFill>
                            <a:srgbClr val="5A6472"/>
                          </a:solidFill>
                        </a:rPr>
                        <a:t>The Beckn protocol's message shapes and routing mechanics</a:t>
                      </a:r>
                      <a:endParaRPr lang="en-US" sz="1050" dirty="0"/>
                    </a:p>
                  </a:txBody>
                  <a:tcPr marL="127000" marR="127000" marT="76200" marB="762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050" dirty="0">
                          <a:solidFill>
                            <a:srgbClr val="C07F2A"/>
                          </a:solidFill>
                        </a:rPr>
                        <a:t>Penalties, price bands, disputes, capacity checks (Gaps 1–24)</a:t>
                      </a:r>
                      <a:endParaRPr lang="en-US" sz="1050" dirty="0"/>
                    </a:p>
                  </a:txBody>
                  <a:tcPr marL="127000" marR="127000" marT="76200" marB="7620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05 — Business Value &amp; The Real Customer</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05 · BUSINESS VALUE &amp; THE REAL CUSTOMER</a:t>
            </a:r>
            <a:endParaRPr lang="en-US" sz="1300" dirty="0"/>
          </a:p>
        </p:txBody>
      </p:sp>
      <p:sp>
        <p:nvSpPr>
          <p:cNvPr id="3" name="Text 1"/>
          <p:cNvSpPr txBox="1"/>
          <p:nvPr/>
        </p:nvSpPr>
        <p:spPr>
          <a:xfrm>
            <a:off x="685800" y="868680"/>
            <a:ext cx="10820095" cy="914400"/>
          </a:xfrm>
          <a:prstGeom prst="rect">
            <a:avLst/>
          </a:prstGeom>
          <a:noFill/>
          <a:ln/>
        </p:spPr>
        <p:txBody>
          <a:bodyPr wrap="square" lIns="0" tIns="0" rIns="0" bIns="0" rtlCol="0" anchor="ctr"/>
          <a:lstStyle/>
          <a:p>
            <a:pPr indent="0" marL="0">
              <a:lnSpc>
                <a:spcPct val="105000"/>
              </a:lnSpc>
              <a:buNone/>
            </a:pPr>
            <a:r>
              <a:rPr lang="en-US" sz="3000" b="1" dirty="0">
                <a:solidFill>
                  <a:srgbClr val="FFFFFF"/>
                </a:solidFill>
                <a:latin typeface="Cambria" pitchFamily="34" charset="0"/>
                <a:ea typeface="Cambria" pitchFamily="34" charset="-122"/>
                <a:cs typeface="Cambria" pitchFamily="34" charset="-120"/>
              </a:rPr>
              <a:t>Is it worth it?</a:t>
            </a:r>
            <a:endParaRPr lang="en-US" sz="3000" dirty="0"/>
          </a:p>
        </p:txBody>
      </p:sp>
      <p:sp>
        <p:nvSpPr>
          <p:cNvPr id="4" name="Text 2"/>
          <p:cNvSpPr txBox="1"/>
          <p:nvPr/>
        </p:nvSpPr>
        <p:spPr>
          <a:xfrm>
            <a:off x="685800" y="1783080"/>
            <a:ext cx="10820095" cy="548640"/>
          </a:xfrm>
          <a:prstGeom prst="rect">
            <a:avLst/>
          </a:prstGeom>
          <a:noFill/>
          <a:ln/>
        </p:spPr>
        <p:txBody>
          <a:bodyPr wrap="square" lIns="0" tIns="0" rIns="0" bIns="0" rtlCol="0" anchor="ctr"/>
          <a:lstStyle/>
          <a:p>
            <a:pPr indent="0" marL="0">
              <a:buNone/>
            </a:pPr>
            <a:r>
              <a:rPr lang="en-US" sz="1500" dirty="0">
                <a:solidFill>
                  <a:srgbClr val="A9B2C0"/>
                </a:solidFill>
                <a:latin typeface="Calibri" pitchFamily="34" charset="0"/>
                <a:ea typeface="Calibri" pitchFamily="34" charset="-122"/>
                <a:cs typeface="Calibri" pitchFamily="34" charset="-120"/>
              </a:rPr>
              <a:t>The cost asymmetry is the whole argument: catching this now is a pull request; catching it after go-live is an incident.</a:t>
            </a:r>
            <a:endParaRPr lang="en-US" sz="1500" dirty="0"/>
          </a:p>
        </p:txBody>
      </p:sp>
      <p:sp>
        <p:nvSpPr>
          <p:cNvPr id="5" name="Shape 3"/>
          <p:cNvSpPr/>
          <p:nvPr/>
        </p:nvSpPr>
        <p:spPr>
          <a:xfrm>
            <a:off x="685800" y="2468880"/>
            <a:ext cx="2499284" cy="1554480"/>
          </a:xfrm>
          <a:prstGeom prst="roundRect">
            <a:avLst>
              <a:gd name="adj" fmla="val 4118"/>
            </a:avLst>
          </a:prstGeom>
          <a:solidFill>
            <a:srgbClr val="2A3242"/>
          </a:solidFill>
          <a:ln w="12700">
            <a:solidFill>
              <a:srgbClr val="2A3242"/>
            </a:solidFill>
            <a:prstDash val="solid"/>
          </a:ln>
        </p:spPr>
      </p:sp>
      <p:sp>
        <p:nvSpPr>
          <p:cNvPr id="6" name="Text 4"/>
          <p:cNvSpPr txBox="1"/>
          <p:nvPr/>
        </p:nvSpPr>
        <p:spPr>
          <a:xfrm>
            <a:off x="777240" y="2697480"/>
            <a:ext cx="2316404" cy="685800"/>
          </a:xfrm>
          <a:prstGeom prst="rect">
            <a:avLst/>
          </a:prstGeom>
          <a:noFill/>
          <a:ln/>
        </p:spPr>
        <p:txBody>
          <a:bodyPr wrap="square" lIns="0" tIns="0" rIns="0" bIns="0" rtlCol="0" anchor="ctr"/>
          <a:lstStyle/>
          <a:p>
            <a:pPr algn="ctr" indent="0" marL="0">
              <a:buNone/>
            </a:pPr>
            <a:r>
              <a:rPr lang="en-US" sz="4000" b="1" dirty="0">
                <a:solidFill>
                  <a:srgbClr val="C07F2A"/>
                </a:solidFill>
                <a:latin typeface="Cambria" pitchFamily="34" charset="0"/>
                <a:ea typeface="Cambria" pitchFamily="34" charset="-122"/>
                <a:cs typeface="Cambria" pitchFamily="34" charset="-120"/>
              </a:rPr>
              <a:t>24</a:t>
            </a:r>
            <a:endParaRPr lang="en-US" sz="4000" dirty="0"/>
          </a:p>
        </p:txBody>
      </p:sp>
      <p:sp>
        <p:nvSpPr>
          <p:cNvPr id="7" name="Text 5"/>
          <p:cNvSpPr txBox="1"/>
          <p:nvPr/>
        </p:nvSpPr>
        <p:spPr>
          <a:xfrm>
            <a:off x="868680" y="3383280"/>
            <a:ext cx="2133524" cy="594360"/>
          </a:xfrm>
          <a:prstGeom prst="rect">
            <a:avLst/>
          </a:prstGeom>
          <a:noFill/>
          <a:ln/>
        </p:spPr>
        <p:txBody>
          <a:bodyPr wrap="square" lIns="0" tIns="0" rIns="0" bIns="0" rtlCol="0" anchor="ctr"/>
          <a:lstStyle/>
          <a:p>
            <a:pPr algn="ctr" indent="0" marL="0">
              <a:lnSpc>
                <a:spcPct val="120000"/>
              </a:lnSpc>
              <a:buNone/>
            </a:pPr>
            <a:r>
              <a:rPr lang="en-US" sz="1100" dirty="0">
                <a:solidFill>
                  <a:srgbClr val="C3CAD6"/>
                </a:solidFill>
                <a:latin typeface="Calibri" pitchFamily="34" charset="0"/>
                <a:ea typeface="Calibri" pitchFamily="34" charset="-122"/>
                <a:cs typeface="Calibri" pitchFamily="34" charset="-120"/>
              </a:rPr>
              <a:t>gaps found across two rounds — reviewer-prompted and self-hunted</a:t>
            </a:r>
            <a:endParaRPr lang="en-US" sz="1100" dirty="0"/>
          </a:p>
        </p:txBody>
      </p:sp>
      <p:sp>
        <p:nvSpPr>
          <p:cNvPr id="8" name="Shape 6"/>
          <p:cNvSpPr/>
          <p:nvPr/>
        </p:nvSpPr>
        <p:spPr>
          <a:xfrm>
            <a:off x="3459404" y="2468880"/>
            <a:ext cx="2499284" cy="1554480"/>
          </a:xfrm>
          <a:prstGeom prst="roundRect">
            <a:avLst>
              <a:gd name="adj" fmla="val 4118"/>
            </a:avLst>
          </a:prstGeom>
          <a:solidFill>
            <a:srgbClr val="2A3242"/>
          </a:solidFill>
          <a:ln w="12700">
            <a:solidFill>
              <a:srgbClr val="2A3242"/>
            </a:solidFill>
            <a:prstDash val="solid"/>
          </a:ln>
        </p:spPr>
      </p:sp>
      <p:sp>
        <p:nvSpPr>
          <p:cNvPr id="9" name="Text 7"/>
          <p:cNvSpPr txBox="1"/>
          <p:nvPr/>
        </p:nvSpPr>
        <p:spPr>
          <a:xfrm>
            <a:off x="3550844" y="2697480"/>
            <a:ext cx="2316404" cy="685800"/>
          </a:xfrm>
          <a:prstGeom prst="rect">
            <a:avLst/>
          </a:prstGeom>
          <a:noFill/>
          <a:ln/>
        </p:spPr>
        <p:txBody>
          <a:bodyPr wrap="square" lIns="0" tIns="0" rIns="0" bIns="0" rtlCol="0" anchor="ctr"/>
          <a:lstStyle/>
          <a:p>
            <a:pPr algn="ctr" indent="0" marL="0">
              <a:buNone/>
            </a:pPr>
            <a:r>
              <a:rPr lang="en-US" sz="4000" b="1" dirty="0">
                <a:solidFill>
                  <a:srgbClr val="C07F2A"/>
                </a:solidFill>
                <a:latin typeface="Cambria" pitchFamily="34" charset="0"/>
                <a:ea typeface="Cambria" pitchFamily="34" charset="-122"/>
                <a:cs typeface="Cambria" pitchFamily="34" charset="-120"/>
              </a:rPr>
              <a:t>5</a:t>
            </a:r>
            <a:endParaRPr lang="en-US" sz="4000" dirty="0"/>
          </a:p>
        </p:txBody>
      </p:sp>
      <p:sp>
        <p:nvSpPr>
          <p:cNvPr id="10" name="Text 8"/>
          <p:cNvSpPr txBox="1"/>
          <p:nvPr/>
        </p:nvSpPr>
        <p:spPr>
          <a:xfrm>
            <a:off x="3642284" y="3383280"/>
            <a:ext cx="2133524" cy="594360"/>
          </a:xfrm>
          <a:prstGeom prst="rect">
            <a:avLst/>
          </a:prstGeom>
          <a:noFill/>
          <a:ln/>
        </p:spPr>
        <p:txBody>
          <a:bodyPr wrap="square" lIns="0" tIns="0" rIns="0" bIns="0" rtlCol="0" anchor="ctr"/>
          <a:lstStyle/>
          <a:p>
            <a:pPr algn="ctr" indent="0" marL="0">
              <a:lnSpc>
                <a:spcPct val="120000"/>
              </a:lnSpc>
              <a:buNone/>
            </a:pPr>
            <a:r>
              <a:rPr lang="en-US" sz="1100" dirty="0">
                <a:solidFill>
                  <a:srgbClr val="C3CAD6"/>
                </a:solidFill>
                <a:latin typeface="Calibri" pitchFamily="34" charset="0"/>
                <a:ea typeface="Calibri" pitchFamily="34" charset="-122"/>
                <a:cs typeface="Calibri" pitchFamily="34" charset="-120"/>
              </a:rPr>
              <a:t>verified against the real running code this week, not asserted</a:t>
            </a:r>
            <a:endParaRPr lang="en-US" sz="1100" dirty="0"/>
          </a:p>
        </p:txBody>
      </p:sp>
      <p:sp>
        <p:nvSpPr>
          <p:cNvPr id="11" name="Shape 9"/>
          <p:cNvSpPr/>
          <p:nvPr/>
        </p:nvSpPr>
        <p:spPr>
          <a:xfrm>
            <a:off x="6233008" y="2468880"/>
            <a:ext cx="2499284" cy="1554480"/>
          </a:xfrm>
          <a:prstGeom prst="roundRect">
            <a:avLst>
              <a:gd name="adj" fmla="val 4118"/>
            </a:avLst>
          </a:prstGeom>
          <a:solidFill>
            <a:srgbClr val="2A3242"/>
          </a:solidFill>
          <a:ln w="12700">
            <a:solidFill>
              <a:srgbClr val="2A3242"/>
            </a:solidFill>
            <a:prstDash val="solid"/>
          </a:ln>
        </p:spPr>
      </p:sp>
      <p:sp>
        <p:nvSpPr>
          <p:cNvPr id="12" name="Text 10"/>
          <p:cNvSpPr txBox="1"/>
          <p:nvPr/>
        </p:nvSpPr>
        <p:spPr>
          <a:xfrm>
            <a:off x="6324448" y="2697480"/>
            <a:ext cx="2316404" cy="685800"/>
          </a:xfrm>
          <a:prstGeom prst="rect">
            <a:avLst/>
          </a:prstGeom>
          <a:noFill/>
          <a:ln/>
        </p:spPr>
        <p:txBody>
          <a:bodyPr wrap="square" lIns="0" tIns="0" rIns="0" bIns="0" rtlCol="0" anchor="ctr"/>
          <a:lstStyle/>
          <a:p>
            <a:pPr algn="ctr" indent="0" marL="0">
              <a:buNone/>
            </a:pPr>
            <a:r>
              <a:rPr lang="en-US" sz="4000" b="1" dirty="0">
                <a:solidFill>
                  <a:srgbClr val="C07F2A"/>
                </a:solidFill>
                <a:latin typeface="Cambria" pitchFamily="34" charset="0"/>
                <a:ea typeface="Cambria" pitchFamily="34" charset="-122"/>
                <a:cs typeface="Cambria" pitchFamily="34" charset="-120"/>
              </a:rPr>
              <a:t>1</a:t>
            </a:r>
            <a:endParaRPr lang="en-US" sz="4000" dirty="0"/>
          </a:p>
        </p:txBody>
      </p:sp>
      <p:sp>
        <p:nvSpPr>
          <p:cNvPr id="13" name="Text 11"/>
          <p:cNvSpPr txBox="1"/>
          <p:nvPr/>
        </p:nvSpPr>
        <p:spPr>
          <a:xfrm>
            <a:off x="6415888" y="3383280"/>
            <a:ext cx="2133524" cy="594360"/>
          </a:xfrm>
          <a:prstGeom prst="rect">
            <a:avLst/>
          </a:prstGeom>
          <a:noFill/>
          <a:ln/>
        </p:spPr>
        <p:txBody>
          <a:bodyPr wrap="square" lIns="0" tIns="0" rIns="0" bIns="0" rtlCol="0" anchor="ctr"/>
          <a:lstStyle/>
          <a:p>
            <a:pPr algn="ctr" indent="0" marL="0">
              <a:lnSpc>
                <a:spcPct val="120000"/>
              </a:lnSpc>
              <a:buNone/>
            </a:pPr>
            <a:r>
              <a:rPr lang="en-US" sz="1100" dirty="0">
                <a:solidFill>
                  <a:srgbClr val="C3CAD6"/>
                </a:solidFill>
                <a:latin typeface="Calibri" pitchFamily="34" charset="0"/>
                <a:ea typeface="Calibri" pitchFamily="34" charset="-122"/>
                <a:cs typeface="Calibri" pitchFamily="34" charset="-120"/>
              </a:rPr>
              <a:t>proven exploitable live — a real ₹0.01/kWh trade cleared every check</a:t>
            </a:r>
            <a:endParaRPr lang="en-US" sz="1100" dirty="0"/>
          </a:p>
        </p:txBody>
      </p:sp>
      <p:sp>
        <p:nvSpPr>
          <p:cNvPr id="14" name="Shape 12"/>
          <p:cNvSpPr/>
          <p:nvPr/>
        </p:nvSpPr>
        <p:spPr>
          <a:xfrm>
            <a:off x="9006611" y="2468880"/>
            <a:ext cx="2499284" cy="1554480"/>
          </a:xfrm>
          <a:prstGeom prst="roundRect">
            <a:avLst>
              <a:gd name="adj" fmla="val 4118"/>
            </a:avLst>
          </a:prstGeom>
          <a:solidFill>
            <a:srgbClr val="2A3242"/>
          </a:solidFill>
          <a:ln w="12700">
            <a:solidFill>
              <a:srgbClr val="2A3242"/>
            </a:solidFill>
            <a:prstDash val="solid"/>
          </a:ln>
        </p:spPr>
      </p:sp>
      <p:sp>
        <p:nvSpPr>
          <p:cNvPr id="15" name="Text 13"/>
          <p:cNvSpPr txBox="1"/>
          <p:nvPr/>
        </p:nvSpPr>
        <p:spPr>
          <a:xfrm>
            <a:off x="9098051" y="2697480"/>
            <a:ext cx="2316404" cy="685800"/>
          </a:xfrm>
          <a:prstGeom prst="rect">
            <a:avLst/>
          </a:prstGeom>
          <a:noFill/>
          <a:ln/>
        </p:spPr>
        <p:txBody>
          <a:bodyPr wrap="square" lIns="0" tIns="0" rIns="0" bIns="0" rtlCol="0" anchor="ctr"/>
          <a:lstStyle/>
          <a:p>
            <a:pPr algn="ctr" indent="0" marL="0">
              <a:buNone/>
            </a:pPr>
            <a:r>
              <a:rPr lang="en-US" sz="4000" b="1" dirty="0">
                <a:solidFill>
                  <a:srgbClr val="C07F2A"/>
                </a:solidFill>
                <a:latin typeface="Cambria" pitchFamily="34" charset="0"/>
                <a:ea typeface="Cambria" pitchFamily="34" charset="-122"/>
                <a:cs typeface="Cambria" pitchFamily="34" charset="-120"/>
              </a:rPr>
              <a:t>0</a:t>
            </a:r>
            <a:endParaRPr lang="en-US" sz="4000" dirty="0"/>
          </a:p>
        </p:txBody>
      </p:sp>
      <p:sp>
        <p:nvSpPr>
          <p:cNvPr id="16" name="Text 14"/>
          <p:cNvSpPr txBox="1"/>
          <p:nvPr/>
        </p:nvSpPr>
        <p:spPr>
          <a:xfrm>
            <a:off x="9189491" y="3383280"/>
            <a:ext cx="2133524" cy="594360"/>
          </a:xfrm>
          <a:prstGeom prst="rect">
            <a:avLst/>
          </a:prstGeom>
          <a:noFill/>
          <a:ln/>
        </p:spPr>
        <p:txBody>
          <a:bodyPr wrap="square" lIns="0" tIns="0" rIns="0" bIns="0" rtlCol="0" anchor="ctr"/>
          <a:lstStyle/>
          <a:p>
            <a:pPr algn="ctr" indent="0" marL="0">
              <a:lnSpc>
                <a:spcPct val="120000"/>
              </a:lnSpc>
              <a:buNone/>
            </a:pPr>
            <a:r>
              <a:rPr lang="en-US" sz="1100" dirty="0">
                <a:solidFill>
                  <a:srgbClr val="C3CAD6"/>
                </a:solidFill>
                <a:latin typeface="Calibri" pitchFamily="34" charset="0"/>
                <a:ea typeface="Calibri" pitchFamily="34" charset="-122"/>
                <a:cs typeface="Calibri" pitchFamily="34" charset="-120"/>
              </a:rPr>
              <a:t>fixes required touching physical hardware — all commercial-layer</a:t>
            </a:r>
            <a:endParaRPr lang="en-US" sz="1100" dirty="0"/>
          </a:p>
        </p:txBody>
      </p:sp>
      <p:sp>
        <p:nvSpPr>
          <p:cNvPr id="17" name="Text 15"/>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05 — Business Value &amp; The Real Customer</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685800" y="2651760"/>
            <a:ext cx="1828800" cy="457200"/>
          </a:xfrm>
          <a:prstGeom prst="rect">
            <a:avLst/>
          </a:prstGeom>
          <a:noFill/>
          <a:ln/>
        </p:spPr>
        <p:txBody>
          <a:bodyPr wrap="square" lIns="0" tIns="0" rIns="0" bIns="0" rtlCol="0" anchor="ctr"/>
          <a:lstStyle/>
          <a:p>
            <a:pPr indent="0" marL="0">
              <a:buNone/>
            </a:pPr>
            <a:r>
              <a:rPr lang="en-US" sz="2200" b="1" dirty="0">
                <a:solidFill>
                  <a:srgbClr val="C07F2A"/>
                </a:solidFill>
                <a:latin typeface="Calibri" pitchFamily="34" charset="0"/>
                <a:ea typeface="Calibri" pitchFamily="34" charset="-122"/>
                <a:cs typeface="Calibri" pitchFamily="34" charset="-120"/>
              </a:rPr>
              <a:t>06</a:t>
            </a:r>
            <a:endParaRPr lang="en-US" sz="2200" dirty="0"/>
          </a:p>
        </p:txBody>
      </p:sp>
      <p:sp>
        <p:nvSpPr>
          <p:cNvPr id="3" name="Text 1"/>
          <p:cNvSpPr txBox="1"/>
          <p:nvPr/>
        </p:nvSpPr>
        <p:spPr>
          <a:xfrm>
            <a:off x="685800" y="3063240"/>
            <a:ext cx="10515600" cy="11887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Aggregation Opportunity</a:t>
            </a:r>
            <a:endParaRPr lang="en-US" sz="3800" dirty="0"/>
          </a:p>
        </p:txBody>
      </p:sp>
      <p:sp>
        <p:nvSpPr>
          <p:cNvPr id="4" name="Text 2"/>
          <p:cNvSpPr txBox="1"/>
          <p:nvPr/>
        </p:nvSpPr>
        <p:spPr>
          <a:xfrm>
            <a:off x="685800" y="4114800"/>
            <a:ext cx="9784080" cy="731520"/>
          </a:xfrm>
          <a:prstGeom prst="rect">
            <a:avLst/>
          </a:prstGeom>
          <a:noFill/>
          <a:ln/>
        </p:spPr>
        <p:txBody>
          <a:bodyPr wrap="square" lIns="0" tIns="0" rIns="0" bIns="0" rtlCol="0" anchor="ctr"/>
          <a:lstStyle/>
          <a:p>
            <a:pPr indent="0" marL="0">
              <a:lnSpc>
                <a:spcPct val="130000"/>
              </a:lnSpc>
              <a:buNone/>
            </a:pPr>
            <a:r>
              <a:rPr lang="en-US" sz="1700" dirty="0">
                <a:solidFill>
                  <a:srgbClr val="A9B2C0"/>
                </a:solidFill>
                <a:latin typeface="Calibri" pitchFamily="34" charset="0"/>
                <a:ea typeface="Calibri" pitchFamily="34" charset="-122"/>
                <a:cs typeface="Calibri" pitchFamily="34" charset="-120"/>
              </a:rPr>
              <a:t>Does pooling small offers for big buyers actually have value, or is it a fictional concept?</a:t>
            </a:r>
            <a:endParaRPr lang="en-US" sz="17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685800" y="502920"/>
            <a:ext cx="10820095" cy="320040"/>
          </a:xfrm>
          <a:prstGeom prst="rect">
            <a:avLst/>
          </a:prstGeom>
          <a:noFill/>
          <a:ln/>
        </p:spPr>
        <p:txBody>
          <a:bodyPr wrap="square" lIns="0" tIns="0" rIns="0" bIns="0" rtlCol="0" anchor="ctr"/>
          <a:lstStyle/>
          <a:p>
            <a:pPr indent="0" marL="0">
              <a:buNone/>
            </a:pPr>
            <a:r>
              <a:rPr lang="en-US" sz="1300" b="1" spc="100" kern="0" dirty="0">
                <a:solidFill>
                  <a:srgbClr val="C07F2A"/>
                </a:solidFill>
                <a:latin typeface="Calibri" pitchFamily="34" charset="0"/>
                <a:ea typeface="Calibri" pitchFamily="34" charset="-122"/>
                <a:cs typeface="Calibri" pitchFamily="34" charset="-120"/>
              </a:rPr>
              <a:t>06 · THE AGGREGATION OPPORTUNITY</a:t>
            </a:r>
            <a:endParaRPr lang="en-US" sz="1300" dirty="0"/>
          </a:p>
        </p:txBody>
      </p:sp>
      <p:sp>
        <p:nvSpPr>
          <p:cNvPr id="3" name="Text 1"/>
          <p:cNvSpPr txBox="1"/>
          <p:nvPr/>
        </p:nvSpPr>
        <p:spPr>
          <a:xfrm>
            <a:off x="685800" y="868680"/>
            <a:ext cx="10820095" cy="914400"/>
          </a:xfrm>
          <a:prstGeom prst="rect">
            <a:avLst/>
          </a:prstGeom>
          <a:noFill/>
          <a:ln/>
        </p:spPr>
        <p:txBody>
          <a:bodyPr wrap="square" lIns="0" tIns="0" rIns="0" bIns="0" rtlCol="0" anchor="ctr"/>
          <a:lstStyle/>
          <a:p>
            <a:pPr indent="0" marL="0">
              <a:lnSpc>
                <a:spcPct val="105000"/>
              </a:lnSpc>
              <a:buNone/>
            </a:pPr>
            <a:r>
              <a:rPr lang="en-US" sz="2600" b="1" dirty="0">
                <a:solidFill>
                  <a:srgbClr val="171B24"/>
                </a:solidFill>
                <a:latin typeface="Cambria" pitchFamily="34" charset="0"/>
                <a:ea typeface="Cambria" pitchFamily="34" charset="-122"/>
                <a:cs typeface="Cambria" pitchFamily="34" charset="-120"/>
              </a:rPr>
              <a:t>Two real reasons it has value</a:t>
            </a:r>
            <a:endParaRPr lang="en-US" sz="2600" dirty="0"/>
          </a:p>
        </p:txBody>
      </p:sp>
      <p:sp>
        <p:nvSpPr>
          <p:cNvPr id="4" name="Shape 2"/>
          <p:cNvSpPr/>
          <p:nvPr/>
        </p:nvSpPr>
        <p:spPr>
          <a:xfrm>
            <a:off x="685800" y="2194560"/>
            <a:ext cx="5250028" cy="2377440"/>
          </a:xfrm>
          <a:prstGeom prst="roundRect">
            <a:avLst>
              <a:gd name="adj" fmla="val 2692"/>
            </a:avLst>
          </a:prstGeom>
          <a:solidFill>
            <a:srgbClr val="FFFFFF"/>
          </a:solidFill>
          <a:ln w="12700">
            <a:solidFill>
              <a:srgbClr val="E2E4E8"/>
            </a:solidFill>
            <a:prstDash val="solid"/>
          </a:ln>
        </p:spPr>
      </p:sp>
      <p:sp>
        <p:nvSpPr>
          <p:cNvPr id="5" name="Shape 3"/>
          <p:cNvSpPr/>
          <p:nvPr/>
        </p:nvSpPr>
        <p:spPr>
          <a:xfrm>
            <a:off x="960120" y="2423160"/>
            <a:ext cx="2377440" cy="365760"/>
          </a:xfrm>
          <a:prstGeom prst="roundRect">
            <a:avLst>
              <a:gd name="adj" fmla="val 50000"/>
            </a:avLst>
          </a:prstGeom>
          <a:solidFill>
            <a:srgbClr val="C07F2A"/>
          </a:solidFill>
          <a:ln w="12700">
            <a:solidFill>
              <a:srgbClr val="C07F2A"/>
            </a:solidFill>
            <a:prstDash val="solid"/>
          </a:ln>
        </p:spPr>
      </p:sp>
      <p:sp>
        <p:nvSpPr>
          <p:cNvPr id="6" name="Text 4"/>
          <p:cNvSpPr txBox="1"/>
          <p:nvPr/>
        </p:nvSpPr>
        <p:spPr>
          <a:xfrm>
            <a:off x="960120" y="2423160"/>
            <a:ext cx="237744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REASON 1 — LOT SIZE</a:t>
            </a:r>
            <a:endParaRPr lang="en-US" sz="1150" dirty="0"/>
          </a:p>
        </p:txBody>
      </p:sp>
      <p:sp>
        <p:nvSpPr>
          <p:cNvPr id="7" name="Text 5"/>
          <p:cNvSpPr txBox="1"/>
          <p:nvPr/>
        </p:nvSpPr>
        <p:spPr>
          <a:xfrm>
            <a:off x="960120" y="2971800"/>
            <a:ext cx="4701388" cy="1417320"/>
          </a:xfrm>
          <a:prstGeom prst="rect">
            <a:avLst/>
          </a:prstGeom>
          <a:noFill/>
          <a:ln/>
        </p:spPr>
        <p:txBody>
          <a:bodyPr wrap="square" lIns="0" tIns="0" rIns="0" bIns="0" rtlCol="0" anchor="ctr"/>
          <a:lstStyle/>
          <a:p>
            <a:pPr indent="0" marL="0">
              <a:lnSpc>
                <a:spcPct val="125000"/>
              </a:lnSpc>
              <a:buNone/>
            </a:pPr>
            <a:r>
              <a:rPr lang="en-US" sz="1300" dirty="0">
                <a:solidFill>
                  <a:srgbClr val="5A6472"/>
                </a:solidFill>
                <a:latin typeface="Calibri" pitchFamily="34" charset="0"/>
                <a:ea typeface="Calibri" pitchFamily="34" charset="-122"/>
                <a:cs typeface="Calibri" pitchFamily="34" charset="-120"/>
              </a:rPr>
              <a:t>A single rooftop might produce 3–5 kWh a day — far below any real market's minimum lot size (India's power exchange, IEX, trades in much larger blocks). Too small to matter alone.</a:t>
            </a:r>
            <a:endParaRPr lang="en-US" sz="1300" dirty="0"/>
          </a:p>
        </p:txBody>
      </p:sp>
      <p:sp>
        <p:nvSpPr>
          <p:cNvPr id="8" name="Shape 6"/>
          <p:cNvSpPr/>
          <p:nvPr/>
        </p:nvSpPr>
        <p:spPr>
          <a:xfrm>
            <a:off x="6255868" y="2194560"/>
            <a:ext cx="5250028" cy="2377440"/>
          </a:xfrm>
          <a:prstGeom prst="roundRect">
            <a:avLst>
              <a:gd name="adj" fmla="val 2692"/>
            </a:avLst>
          </a:prstGeom>
          <a:solidFill>
            <a:srgbClr val="FFFFFF"/>
          </a:solidFill>
          <a:ln w="12700">
            <a:solidFill>
              <a:srgbClr val="E2E4E8"/>
            </a:solidFill>
            <a:prstDash val="solid"/>
          </a:ln>
        </p:spPr>
      </p:sp>
      <p:sp>
        <p:nvSpPr>
          <p:cNvPr id="9" name="Shape 7"/>
          <p:cNvSpPr/>
          <p:nvPr/>
        </p:nvSpPr>
        <p:spPr>
          <a:xfrm>
            <a:off x="6530188" y="2423160"/>
            <a:ext cx="2651760" cy="365760"/>
          </a:xfrm>
          <a:prstGeom prst="roundRect">
            <a:avLst>
              <a:gd name="adj" fmla="val 50000"/>
            </a:avLst>
          </a:prstGeom>
          <a:solidFill>
            <a:srgbClr val="2F7A4F"/>
          </a:solidFill>
          <a:ln w="12700">
            <a:solidFill>
              <a:srgbClr val="2F7A4F"/>
            </a:solidFill>
            <a:prstDash val="solid"/>
          </a:ln>
        </p:spPr>
      </p:sp>
      <p:sp>
        <p:nvSpPr>
          <p:cNvPr id="10" name="Text 8"/>
          <p:cNvSpPr txBox="1"/>
          <p:nvPr/>
        </p:nvSpPr>
        <p:spPr>
          <a:xfrm>
            <a:off x="6530188" y="2423160"/>
            <a:ext cx="2651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REASON 2 — RISK POOLING</a:t>
            </a:r>
            <a:endParaRPr lang="en-US" sz="1150" dirty="0"/>
          </a:p>
        </p:txBody>
      </p:sp>
      <p:sp>
        <p:nvSpPr>
          <p:cNvPr id="11" name="Text 9"/>
          <p:cNvSpPr txBox="1"/>
          <p:nvPr/>
        </p:nvSpPr>
        <p:spPr>
          <a:xfrm>
            <a:off x="6530188" y="2971800"/>
            <a:ext cx="4701388" cy="1417320"/>
          </a:xfrm>
          <a:prstGeom prst="rect">
            <a:avLst/>
          </a:prstGeom>
          <a:noFill/>
          <a:ln/>
        </p:spPr>
        <p:txBody>
          <a:bodyPr wrap="square" lIns="0" tIns="0" rIns="0" bIns="0" rtlCol="0" anchor="ctr"/>
          <a:lstStyle/>
          <a:p>
            <a:pPr indent="0" marL="0">
              <a:lnSpc>
                <a:spcPct val="125000"/>
              </a:lnSpc>
              <a:buNone/>
            </a:pPr>
            <a:r>
              <a:rPr lang="en-US" sz="1300" dirty="0">
                <a:solidFill>
                  <a:srgbClr val="5A6472"/>
                </a:solidFill>
                <a:latin typeface="Calibri" pitchFamily="34" charset="0"/>
                <a:ea typeface="Calibri" pitchFamily="34" charset="-122"/>
                <a:cs typeface="Calibri" pitchFamily="34" charset="-120"/>
              </a:rPr>
              <a:t>One rooftop's output is unpredictable; a thousand independent rooftops' SUM is far more predictable — randomness cancels out. This is why aggregators can sell something close to FIRM capacity from unreliable parts.</a:t>
            </a:r>
            <a:endParaRPr lang="en-US" sz="1300" dirty="0"/>
          </a:p>
        </p:txBody>
      </p:sp>
      <p:sp>
        <p:nvSpPr>
          <p:cNvPr id="12" name="Shape 10"/>
          <p:cNvSpPr/>
          <p:nvPr/>
        </p:nvSpPr>
        <p:spPr>
          <a:xfrm>
            <a:off x="685800" y="4846320"/>
            <a:ext cx="10820095" cy="777240"/>
          </a:xfrm>
          <a:prstGeom prst="roundRect">
            <a:avLst>
              <a:gd name="adj" fmla="val 8235"/>
            </a:avLst>
          </a:prstGeom>
          <a:solidFill>
            <a:srgbClr val="2A3242"/>
          </a:solidFill>
          <a:ln w="12700">
            <a:solidFill>
              <a:srgbClr val="2A3242"/>
            </a:solidFill>
            <a:prstDash val="solid"/>
          </a:ln>
        </p:spPr>
      </p:sp>
      <p:sp>
        <p:nvSpPr>
          <p:cNvPr id="13" name="Text 11"/>
          <p:cNvSpPr txBox="1"/>
          <p:nvPr/>
        </p:nvSpPr>
        <p:spPr>
          <a:xfrm>
            <a:off x="1005840" y="4983480"/>
            <a:ext cx="10180015"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Already real, already funded, already mainstream: Tesla's VPP, Octopus Energy's Kraken, Enel X — none of this is a fictional concept.</a:t>
            </a:r>
            <a:endParaRPr lang="en-US" sz="1400" dirty="0"/>
          </a:p>
        </p:txBody>
      </p:sp>
      <p:sp>
        <p:nvSpPr>
          <p:cNvPr id="14" name="Text 12"/>
          <p:cNvSpPr txBox="1"/>
          <p:nvPr/>
        </p:nvSpPr>
        <p:spPr>
          <a:xfrm>
            <a:off x="685800" y="6428232"/>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Section 06 — The Aggregation Opportunity</a:t>
            </a:r>
            <a:endParaRPr lang="en-US" sz="11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685800" y="1828800"/>
            <a:ext cx="10820095" cy="365760"/>
          </a:xfrm>
          <a:prstGeom prst="rect">
            <a:avLst/>
          </a:prstGeom>
          <a:noFill/>
          <a:ln/>
        </p:spPr>
        <p:txBody>
          <a:bodyPr wrap="square" lIns="0" tIns="0" rIns="0" bIns="0" rtlCol="0" anchor="ctr"/>
          <a:lstStyle/>
          <a:p>
            <a:pPr indent="0" marL="0">
              <a:buNone/>
            </a:pPr>
            <a:r>
              <a:rPr lang="en-US" sz="1500" b="1" spc="200" kern="0" dirty="0">
                <a:solidFill>
                  <a:srgbClr val="C07F2A"/>
                </a:solidFill>
                <a:latin typeface="Calibri" pitchFamily="34" charset="0"/>
                <a:ea typeface="Calibri" pitchFamily="34" charset="-122"/>
                <a:cs typeface="Calibri" pitchFamily="34" charset="-120"/>
              </a:rPr>
              <a:t>THE TAKEAWAY</a:t>
            </a:r>
            <a:endParaRPr lang="en-US" sz="1500" dirty="0"/>
          </a:p>
        </p:txBody>
      </p:sp>
      <p:sp>
        <p:nvSpPr>
          <p:cNvPr id="3" name="Text 1"/>
          <p:cNvSpPr txBox="1"/>
          <p:nvPr/>
        </p:nvSpPr>
        <p:spPr>
          <a:xfrm>
            <a:off x="685800" y="2286000"/>
            <a:ext cx="10424160" cy="1463040"/>
          </a:xfrm>
          <a:prstGeom prst="rect">
            <a:avLst/>
          </a:prstGeom>
          <a:noFill/>
          <a:ln/>
        </p:spPr>
        <p:txBody>
          <a:bodyPr wrap="square" lIns="0" tIns="0" rIns="0" bIns="0" rtlCol="0" anchor="ctr"/>
          <a:lstStyle/>
          <a:p>
            <a:pPr indent="0" marL="0">
              <a:lnSpc>
                <a:spcPct val="115000"/>
              </a:lnSpc>
              <a:buNone/>
            </a:pPr>
            <a:r>
              <a:rPr lang="en-US" sz="3200" b="1" dirty="0">
                <a:solidFill>
                  <a:srgbClr val="FFFFFF"/>
                </a:solidFill>
                <a:latin typeface="Cambria" pitchFamily="34" charset="0"/>
                <a:ea typeface="Cambria" pitchFamily="34" charset="-122"/>
                <a:cs typeface="Cambria" pitchFamily="34" charset="-120"/>
              </a:rPr>
              <a:t>We're building the trust layer on a grid that already works — not reinventing the grid.</a:t>
            </a:r>
            <a:endParaRPr lang="en-US" sz="3200" dirty="0"/>
          </a:p>
        </p:txBody>
      </p:sp>
      <p:sp>
        <p:nvSpPr>
          <p:cNvPr id="4" name="Text 2"/>
          <p:cNvSpPr txBox="1"/>
          <p:nvPr/>
        </p:nvSpPr>
        <p:spPr>
          <a:xfrm>
            <a:off x="685800" y="3977640"/>
            <a:ext cx="9875520" cy="1280160"/>
          </a:xfrm>
          <a:prstGeom prst="rect">
            <a:avLst/>
          </a:prstGeom>
          <a:noFill/>
          <a:ln/>
        </p:spPr>
        <p:txBody>
          <a:bodyPr wrap="square" lIns="0" tIns="0" rIns="0" bIns="0" rtlCol="0" anchor="ctr"/>
          <a:lstStyle/>
          <a:p>
            <a:pPr indent="0" marL="0">
              <a:lnSpc>
                <a:spcPct val="130000"/>
              </a:lnSpc>
              <a:buNone/>
            </a:pPr>
            <a:r>
              <a:rPr lang="en-US" sz="1500" dirty="0">
                <a:solidFill>
                  <a:srgbClr val="A9B2C0"/>
                </a:solidFill>
                <a:latin typeface="Calibri" pitchFamily="34" charset="0"/>
                <a:ea typeface="Calibri" pitchFamily="34" charset="-122"/>
                <a:cs typeface="Calibri" pitchFamily="34" charset="-120"/>
              </a:rPr>
              <a:t>Every physical system — metering, telemetry, hardware control, safety — already exists and keeps working exactly as it does today. What this project adds is the one layer that didn't exist: a shared, trustworthy commercial language so independent companies' systems can transact. That's a real, scoped, defensible thing to be building — and the gaps we keep finding are about making that one layer actually trustworthy before real money moves on it.</a:t>
            </a:r>
            <a:endParaRPr lang="en-US" sz="1500" dirty="0"/>
          </a:p>
        </p:txBody>
      </p:sp>
      <p:sp>
        <p:nvSpPr>
          <p:cNvPr id="5" name="Text 3"/>
          <p:cNvSpPr txBox="1"/>
          <p:nvPr/>
        </p:nvSpPr>
        <p:spPr>
          <a:xfrm>
            <a:off x="685800" y="6035040"/>
            <a:ext cx="5486400" cy="274320"/>
          </a:xfrm>
          <a:prstGeom prst="rect">
            <a:avLst/>
          </a:prstGeom>
          <a:noFill/>
          <a:ln/>
        </p:spPr>
        <p:txBody>
          <a:bodyPr wrap="square" lIns="0" tIns="0" rIns="0" bIns="0" rtlCol="0" anchor="ctr"/>
          <a:lstStyle/>
          <a:p>
            <a:pPr indent="0" marL="0">
              <a:buNone/>
            </a:pPr>
            <a:r>
              <a:rPr lang="en-US" sz="1300" dirty="0">
                <a:solidFill>
                  <a:srgbClr val="8A94A6"/>
                </a:solidFill>
                <a:latin typeface="Calibri" pitchFamily="34" charset="0"/>
                <a:ea typeface="Calibri" pitchFamily="34" charset="-122"/>
                <a:cs typeface="Calibri" pitchFamily="34" charset="-120"/>
              </a:rPr>
              <a:t>Questions welcome</a:t>
            </a:r>
            <a:endParaRPr lang="en-US" sz="1300" dirty="0"/>
          </a:p>
        </p:txBody>
      </p:sp>
      <p:sp>
        <p:nvSpPr>
          <p:cNvPr id="25" name="Slide Number Placeholder 0"/>
          <p:cNvSpPr>
            <a:spLocks noGrp="1"/>
          </p:cNvSpPr>
          <p:nvPr>
            <p:ph type="sldNum" sz="quarter" idx="4294967295"/>
          </p:nvPr>
        </p:nvSpPr>
        <p:spPr>
          <a:xfrm>
            <a:off x="11430000" y="64282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8A94A6"/>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P2P Foundations">
  <a:themeElements>
    <a:clrScheme name="P2P Foundations">
      <a:dk1>
        <a:srgbClr val="171B24"/>
      </a:dk1>
      <a:lt1>
        <a:srgbClr val="FFFFFF"/>
      </a:lt1>
      <a:dk2>
        <a:srgbClr val="10151F"/>
      </a:dk2>
      <a:lt2>
        <a:srgbClr val="F4F5F7"/>
      </a:lt2>
      <a:accent1>
        <a:srgbClr val="C07F2A"/>
      </a:accent1>
      <a:accent2>
        <a:srgbClr val="B23B2E"/>
      </a:accent2>
      <a:accent3>
        <a:srgbClr val="8A94A6"/>
      </a:accent3>
      <a:accent4>
        <a:srgbClr val="2F7A4F"/>
      </a:accent4>
      <a:accent5>
        <a:srgbClr val="5FC98A"/>
      </a:accent5>
      <a:accent6>
        <a:srgbClr val="2A3242"/>
      </a:accent6>
      <a:hlink>
        <a:srgbClr val="C07F2A"/>
      </a:hlink>
      <a:folHlink>
        <a:srgbClr val="C07F2A"/>
      </a:folHlink>
    </a:clrScheme>
    <a:fontScheme name="P2P Foundation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2026-10-14T22:09:05Z</dcterms:created>
  <dcterms:modified xsi:type="dcterms:W3CDTF">2026-10-14T22:09:05Z</dcterms:modified>
</cp:coreProperties>
</file>