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why you're in the room, not what's on the slide. Say something like: "I want to walk you through a real opportunity I've been digging into over the last few weeks — India's government is building a piece of national digital infrastructure for the power sector, and there's an open, unclaimed problem inside it that I think we're well positioned to attempt."</a:t>
            </a:r>
          </a:p>
          <a:p/>
          <a:p>
            <a:r>
              <a:t>Set expectations up front: this is a proposal for a small, low-cost evaluation pilot — not a request to commit to a big program today. That framing matters because it lowers the bar for people to say yes.</a:t>
            </a:r>
          </a:p>
          <a:p/>
          <a:p>
            <a:r>
              <a:t>Transition: "Let me start with why this matters right now, before I get into the specific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 walk through the six sections at a high level so people know the shape of the talk — this slide is a map, not content. One sentence per row is enough: "First I'll show you why this is a real, urgent problem. Then the idea behind the fix, and India's actual government program building it. Then where the market opportunity is for a company like ours, the specific piece I think we should target, and finally the plan and what I'm asking for."</a:t>
            </a:r>
          </a:p>
          <a:p/>
          <a:p>
            <a:r>
              <a:t>Don't linger here more than 30 seconds — its only job is orientation.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establish that the problem is big and real, not a niche curiosity. Walk through the four numbers left to right:</a:t>
            </a:r>
          </a:p>
          <a:p/>
          <a:p>
            <a:r>
              <a:t>- 429% — rooftop solar in India is about to grow more than fivefold by 2035. That's the "supply side" of the problem: way more small, distributed power sources than before.</a:t>
            </a:r>
          </a:p>
          <a:p>
            <a:r>
              <a:t>- $100B — this is the cost of NOT solving coordination problems in energy grids worldwide every year, in blackouts alone.</a:t>
            </a:r>
          </a:p>
          <a:p>
            <a:r>
              <a:t>- 748.5M — there's still a basic access problem globally, so this isn't just a rich-country problem.</a:t>
            </a:r>
          </a:p>
          <a:p>
            <a:r>
              <a:t>- 250M — India itself is in the middle of installing 250 million smart meters right now. The digital plumbing is being laid whether or not the software to use it exists yet.</a:t>
            </a:r>
          </a:p>
          <a:p/>
          <a:p>
            <a:r>
              <a:t>The point to land: physical infrastructure (solar panels, meters, EVs) is being added faster than the software to coordinate it. That gap is the opportunity. Transition: "So what does that coordination gap actually look like, concretely?"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this as a factual, verified process, not a dramatized story — this version is deliberately conservative because it needs to survive a skeptical technical audience. "A state regulator — a SERC — issues a tariff order as a legal PDF, following a fixed legal process: it's mandated to be issued within 120 days of the utility's rate petition. The utility's billing team then updates their billing engine's rate tables to match it. In many states, there's also a fuel-cost surcharge on top that can update monthly."</a:t>
            </a:r>
          </a:p>
          <a:p/>
          <a:p>
            <a:r>
              <a:t>Then the key reframe — say this part deliberately, since it's the load-bearing claim of the whole pitch: "The redundancy isn't really inside any one utility — a big utility with dedicated staff handles its own annual update fine. The real cost is that every OTHER organisation that needs this same data — tariff comparison apps, researchers, other states' regulators — has no shared source and has to independently re-read the same PDF from scratch."</a:t>
            </a:r>
          </a:p>
          <a:p/>
          <a:p>
            <a:r>
              <a:t>Walk the right card as your evidence, not assertion: "This is confirmed, not hypothetical — tariff comparison websites literally run standing research teams to manually re-extract this every quarter, across every state. The Forum of Regulators, which coordinates all the state commissions, does the same by hand for its own comparison studies. And incorrect tariff application is a real, formally recognised dispute category that can escalate to the regulator itself." If someone asks "so is this actually costing real money" — you can honestly say: "I don't have a single dollar figure for this specific piece, but the fact that comparison sites maintain permanent research teams for exactly this task is real, confirmed, ongoing cost — not speculation."</a:t>
            </a:r>
          </a:p>
          <a:p/>
          <a:p>
            <a:r>
              <a:t>Transition: "It's easier to see this than describe it — here's the same idea as a picture."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slide's job is to show REDUNDANT WORK, not "different bill amounts" — that's a deliberate change, so don't slip back into talking about mismatched bills. Point at the left panel: "One tariff order, as a PDF. A tariff-comparison app re-extracts it every quarter. A regulator doing a cross-state study re-extracts it by hand. An EV or solar calculator app re-extracts it independently. Same document, read from scratch, over and over, by everyone who needs it — forever."</a:t>
            </a:r>
          </a:p>
          <a:p/>
          <a:p>
            <a:r>
              <a:t>Then the right panel: "Now imagine that same tariff is published once as signed, structured data. Every one of those same organisations just reads it directly — no re-extraction, no research team needed, no repeated manual work."</a:t>
            </a:r>
          </a:p>
          <a:p/>
          <a:p>
            <a:r>
              <a:t>If someone asks "isn't this just data entry, once a year, easy for the utility" — that's a fair challenge, and you should agree with the premise rather than fight it: "You're right that for the utility itself, it's a manageable annual task. The value isn't really about the utility's own workload — it's about everyone downstream of that PDF who has no authoritative source and re-does the same extraction work, indefinitely, in parallel." That's a stronger, more honest answer than defending the original framing.</a:t>
            </a:r>
          </a:p>
          <a:p/>
          <a:p>
            <a:r>
              <a:t>Transition: "So — where does this idea of 'publish it once as data' actually come from?"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as the origin of the whole idea, not India-specific yet. "In February 2025, a nonprofit called FIDE published a proposal called the Digital Energy Grid — not a product, a shared set of rules that any energy system in the world could agree to speak, so that different software can talk to each other."</a:t>
            </a:r>
          </a:p>
          <a:p/>
          <a:p>
            <a:r>
              <a:t>Walk through the three pillars simply:</a:t>
            </a:r>
          </a:p>
          <a:p>
            <a:r>
              <a:t>1. Universal Identity — every asset gets a unique ID, like a phone number.</a:t>
            </a:r>
          </a:p>
          <a:p>
            <a:r>
              <a:t>2. Machine-Readable Data — information exists as structured data instead of PDFs.</a:t>
            </a:r>
          </a:p>
          <a:p>
            <a:r>
              <a:t>3. Verifiability — everything is digitally signed so you can trust it without a phone call.</a:t>
            </a:r>
          </a:p>
          <a:p/>
          <a:p>
            <a:r>
              <a:t>The credibility line matters a lot for a skeptical room: "This was co-authored by FIDE, whose co-founder is Nandan Nilekani — the same person behind India's Aadhaar identity system and a driving force behind UPI and ONDC. The International Energy Agency also co-authored part of it." This is the moment that answers "who says this is a good idea" before anyone asks.</a:t>
            </a:r>
          </a:p>
          <a:p/>
          <a:p>
            <a:r>
              <a:t>Transition: "That's the global proposal. Here's what India's government actually did with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moment you go from "an idea" to "a real, funded program." Be very clear and factual: "India's Ministry of Power is building this for real, under a program called India Energy Stack, or IES. It's run by REC Limited as the government-designated builder, with a firm called FSR Global as their technical partner."</a:t>
            </a:r>
          </a:p>
          <a:p/>
          <a:p>
            <a:r>
              <a:t>Explain "Digital Public Infrastructure" simply if anyone looks confused: "Same category as Aadhaar or UPI — the government builds a shared foundation, and other companies build services on top of it. The government isn't trying to build every app itself."</a:t>
            </a:r>
          </a:p>
          <a:p/>
          <a:p>
            <a:r>
              <a:t>The pilot-proof card is important for credibility: "Four real electricity utilities — in UP, Andhra Pradesh, Gujarat, and Maharashtra — already built adapters and ran a real 30-day pilot. And a real cross-state solar energy trade was publicly demonstrated at a national AI summit this year." This shows it's not vaporware.</a:t>
            </a:r>
          </a:p>
          <a:p/>
          <a:p>
            <a:r>
              <a:t>Transition: "So how does this actually work, mechanically?"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simple and lean on the UPI comparison the whole way through: "IES holds no data of its own, exactly the way UPI holds no money — it only sets the rules for how systems find and trust each other."</a:t>
            </a:r>
          </a:p>
          <a:p/>
          <a:p>
            <a:r>
              <a:t>Walk through the three steps: "Register — you get a verifiable digital identity, done once. Discover — two systems look each other up over an open protocol called Beckn. Exchange — the actual data moves, in a format both sides already agreed on."</a:t>
            </a:r>
          </a:p>
          <a:p/>
          <a:p>
            <a:r>
              <a:t>The most important sentence on this slide, and one worth saying slowly: "For us as an outside company, the important thing is that this whole layer — identity, discovery, signed exchange — is already built and running. We would not be building any of this. Our work would be a small piece that sits on top of it." This directly pre-empts the "how much are we actually building here" question.</a:t>
            </a:r>
          </a:p>
          <a:p/>
          <a:p>
            <a:r>
              <a:t>Transition: "Given that the plumbing already exists, where's the actual business opportunity for a company like ours?"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"why would we make any money here" — lean into the UPI/ONDC comparison hard, since it's the most convincing argument in the whole deck: "UPI itself didn't make any single company rich — but PhonePe, Google Pay, and Paytm built billion-dollar businesses on top of it. Same with ONDC — the network itself is free, but companies built real revenue on top."</a:t>
            </a:r>
          </a:p>
          <a:p/>
          <a:p>
            <a:r>
              <a:t>Then explain the actual on-ramp: "REC Limited periodically puts out open invitations — Expressions of Interest, or EOIs — saying 'here's a specific unsolved problem, show us a working prototype in a few weeks.' There's no procurement process, no license fee. It's a very low-cost way to build real credibility before any formal contract exists."</a:t>
            </a:r>
          </a:p>
          <a:p/>
          <a:p>
            <a:r>
              <a:t>If someone asks "so what's actually in it for us financially, concretely, today" — be honest: "Nothing guaranteed yet. This is about establishing technical credibility early, cheaply, before the market matures — the same way early UPI and ONDC builders did." Transition: "Given that, where specifically should we point our effort?"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table plainly: "IES has named eight specific problems it needs to solve. Five are already done — built and proven by those four pilot utilities. Two more are still officially unfinished. One of those is our proposed target."</a:t>
            </a:r>
          </a:p>
          <a:p/>
          <a:p>
            <a:r>
              <a:t>Point at the highlighted row: "Policy as Code, sometimes called Tariff Intelligence — this is the tariff-as-data idea from the picture I showed you earlier."</a:t>
            </a:r>
          </a:p>
          <a:p/>
          <a:p>
            <a:r>
              <a:t>If asked "why not the other open one, DISCOM-Regulator Data Exchange" — you can say: "That one's also open, and it's worth watching, but Tariff Intelligence doesn't require any access to real utility systems to start evaluating — public tariff orders are enough. That makes it a much lower-cost way to test our capability." Transition: "Let's go one level deeper into exactly what we'd be proposing to build."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recap/bridge slide — quick, don't over-explain since slide 5 already made the visual case. "Today: PDF, manual retyping, drift. Proposed: one signed object, read the same way by every system, no drift." You can move through this in under a minute — its job is just to restate the problem/solution pairing right before you get technical.</a:t>
            </a:r>
          </a:p>
          <a:p/>
          <a:p>
            <a:r>
              <a:t>Transition: "Now let's actually look at what this would look like as data — because this is where I want to show you we've done real homework, not just talked in the abstract."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your most important credibility slides — say clearly: "This is not something we invented. These are the actual field names from IES's own published specification." Point to each row:</a:t>
            </a:r>
          </a:p>
          <a:p/>
          <a:p>
            <a:r>
              <a:t>- policyID — a stable name for this tariff that survives corrections.</a:t>
            </a:r>
          </a:p>
          <a:p>
            <a:r>
              <a:t>- policyType — just says "this is a pricing rule."</a:t>
            </a:r>
          </a:p>
          <a:p>
            <a:r>
              <a:t>- energySlabs — the tiered pricing: cheaper for the first 100 units, pricier after.</a:t>
            </a:r>
          </a:p>
          <a:p>
            <a:r>
              <a:t>- surchargeTariffs — the time-of-day adjustments, like the +20% evening surcharge.</a:t>
            </a:r>
          </a:p>
          <a:p/>
          <a:p>
            <a:r>
              <a:t>If a technical person asks to see the raw JSON or asks what "@type" or other fields look like — it's fine to say: "There's a full field reference in the appendix if you want to go deeper," and flip there live. That's exactly why the appendix exists.</a:t>
            </a:r>
          </a:p>
          <a:p/>
          <a:p>
            <a:r>
              <a:t>Transition: "Given that shape of data, here's how it would actually travel through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then down: "The regulator authors the tariff. It gets wrapped as a signed policy object — that's the middle box, and that's the piece we would actually build. Then it travels over the Beckn and ONIX network — and I want to be really clear, that network is already built and live. We are not building that."</a:t>
            </a:r>
          </a:p>
          <a:p/>
          <a:p>
            <a:r>
              <a:t>Then point down to the three fan-out boxes: "Whichever system reads it — a DISCOM's billing software, a consumer app, or even meter firmware — computes the exact same result, because they're all reading the same signed object instead of independently interpreting a PDF."</a:t>
            </a:r>
          </a:p>
          <a:p/>
          <a:p>
            <a:r>
              <a:t>This slide is your direct, visual answer to "what exactly would we be building" — the middle box, nothing else. Transition: "While reviewing this specification closely to prepare this, we actually found some real gaps worth flagging."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strongest technical-credibility slide — deliver it as "here's proof we did real diligence," not as a complaint about IES's work. "Reading their draft specification closely, we found four things that aren't yet resolved."</a:t>
            </a:r>
          </a:p>
          <a:p/>
          <a:p>
            <a:r>
              <a:t>Go through the severity tags: "Two are medium severity — no way to prove who published a tariff, and no rule for how a correction replaces an earlier version. One is low — currency isn't explicitly stated, though it's implied. The one I want to highlight is marked High: there's no rule for whether a time-of-day surcharge applies to the cheap rate, the expensive rate, or something in between when a customer's usage spans multiple pricing tiers. Two different, both-compliant systems could compute different bills for the exact same signed rule — which is precisely the failure mode this whole use case is supposed to eliminate."</a:t>
            </a:r>
          </a:p>
          <a:p/>
          <a:p>
            <a:r>
              <a:t>If someone asks "did you validate that this is actually a problem" or "how did you find these" — you can honestly say: "This came from a close technical reading of their specification and thinking through how a real billing calculation would need to work against it." You don't need to say more than that. Transition: "So that's what we'd need to resolve. Here's how we'd propose doing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phases as a plan, in future tense throughout: "First, we'd author a real tariff order in this data format. Second, we'd sign it, so authenticity can be verified without a phone call. Third — and this is the important validation step — we'd build two separate billing calculators, independently, and confirm they compute identical results. If two independently-built systems agree, that's real evidence the rule is unambiguous. Fourth, we'd run this over IES's own public test network and confirm their own validation software accepts it."</a:t>
            </a:r>
          </a:p>
          <a:p/>
          <a:p>
            <a:r>
              <a:t>The closing line matters for the budget conversation: "None of this requires access to real utility systems or any paid access — public tariff data and IES's free public sandbox are enough to run this whole validation." Transition: "Let me zoom out and make the case for why this is worth doing now."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"why should we say yes" slide — go through it as a tight argument, not a list to read verbatim:</a:t>
            </a:r>
          </a:p>
          <a:p/>
          <a:p>
            <a:r>
              <a:t>"It's genuinely unclaimed — IES's own team marked it unfinished, and there's no active sprint racing to finish it right now. The barrier to entry is low — no procurement, no license fee, nothing needed to start except effort. It's cheap to test — public data, free tools. There's a standing public submission channel with no deadline pressuring us. And being an early, credible technical voice here is worth something ahead of whatever the next formal opportunity looks like."</a:t>
            </a:r>
          </a:p>
          <a:p/>
          <a:p>
            <a:r>
              <a:t>Transition: "Here's what that actually looks like as a plan, week by week."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stages left to right, keeping timeframes concrete: "Weeks 1 and 2 are setup — registering a test identity, standing up the sandbox, studying the schema in real depth. Weeks 3 and 4 are the actual build and validation — authoring the tariff, the signing, the dual-calculator proof. Weeks 5 and 6 take that and run it against IES's live network for independent validation. Week 7 onward is packaging what we learned and submitting it through their public channel."</a:t>
            </a:r>
          </a:p>
          <a:p/>
          <a:p>
            <a:r>
              <a:t>Flag the checkpoint explicitly, since it's your risk-management story: "There's a natural pause point at the end of week 4 — that's a good moment to decide whether to continue into live integration or stop." Transition: "Concretely, here's what I'm asking for to run weeks 1 through 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actual budget ask — be specific and modest, since that's the whole strategic point: "One to two engineers, part time, for about seven weeks. One cloud VM or even just a decent laptop — nothing exotic. Minimal direct cost, because the sandbox and tooling are free and public. And a checkpoint at week four before anyone commits further."</a:t>
            </a:r>
          </a:p>
          <a:p/>
          <a:p>
            <a:r>
              <a:t>If someone pushes on "why so little" — that's a good thing, not a gap to defend: "That's the point — this is designed to be a cheap way to find out if there's something real here before we consider any bigger investment." Transition: "I want to be upfront about the risks too, rather than skip past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through these as honest, paired statements — risk on the left, how we've thought about it on the right. Don't rush this slide; addressing risk directly is what makes the rest of the pitch credible.</a:t>
            </a:r>
          </a:p>
          <a:p/>
          <a:p>
            <a:r>
              <a:t>"The spec might change — we're building against what's published today, and the underlying protocol is stable either way. There's no guaranteed contract — that's exactly why we're proposing a small, gated pilot instead of a big commitment. Other companies might attempt this too — that's fine, the process is designed to take in multiple contributions, not pick one winner. And we can't guarantee a government review timeline — so the deliverable we're optimizing for is a real, working, checkable result, independent of whether or when someone reviews it."</a:t>
            </a:r>
          </a:p>
          <a:p/>
          <a:p>
            <a:r>
              <a:t>Transition: "So, concretely, here's what I'm asking you to approve today."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close — say it plainly and stop talking after the ask, let it sit: "I'm asking for approval of a seven-week evaluation pilot: one to two engineers part time, minimal infrastructure spend, a checkpoint at week four, and if that goes well, approval to submit through IES's public channel."</a:t>
            </a:r>
          </a:p>
          <a:p/>
          <a:p>
            <a:r>
              <a:t>The last line is your one-sentence summary if you only remember one thing to say: "Low cost, low commitment, and a real, checkable technical result either way — even if nothing else comes of it, we'll know definitively whether this is worth pursuing further."</a:t>
            </a:r>
          </a:p>
          <a:p/>
          <a:p>
            <a:r>
              <a:t>Stop here for questions before moving to the appendix — don't flip past this slide quickly.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 say: "I've got some deeper technical material in the appendix if anyone wants to go further into the specifics — happy to jump to any of it." Then only continue past this slide if someone actually asks a question that warrants it. Otherwise this is a natural place to end the main walkthrough and open the floor.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show this if someone asks "what exactly are the fields" or similar. Talk through it as a reference, not something to explain field-by-field unprompted: "This is the fuller field list — types, and what each one means. Happy to leave this up if it's useful for a follow-up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if the gaps slide (14) generated real technical pushback. It has the same four items with more reasoning behind each — read whichever specific one someone asked about, rather than all four.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this up if someone technical asks "how does the message actually move between systems." Explain simply: "Discover is like asking 'who has this kind of data.' Confirm is agreeing on terms. Status is where the actual signed policy gets delivered and verified." The BAP/BPP definitions at the bottom are just there in case someone asks what those acronyms mean.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safety net — if anyone in the room, technical or not, gets lost on a term (DID, DeDi, Beckn, ONIX, IES, DEG, TSP), you can flip here instantly instead of fumbling an explanation live. Consider glancing at this slide yourself once before the meeting so all these terms are fresh in your own head — that's probably the single fastest way to feel more prepared tomorrow.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credibility backstop — every claim in this deck traces back to a real, public source, and this slide proves it. You don't need to read it aloud; its job is to be there if someone asks "where did you get this" or "can I see the source myself."</a:t>
            </a:r>
          </a:p>
          <a:p/>
          <a:p>
            <a:r>
              <a:t>If someone asks specifically about the IES specification claims — point to the first section (Strategy/Architecture documents and the official GitHub repo). If someone questions the problem-statement evidence from earlier (the research-team claim, the regulator comparison studies) — point to the last section.</a:t>
            </a:r>
          </a:p>
          <a:p/>
          <a:p>
            <a:r>
              <a:t>One thing to note for yourself: everything listed here is IES's or the government's own public material — none of it is anything we built ourselves. That's intentional, and it's actually a strength: it means every factual claim in this pitch is independently checkable by anyone in the room, without needing to take your word for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41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48840"/>
            <a:ext cx="10058400" cy="365760"/>
          </a:xfrm>
          <a:prstGeom prst="rect">
            <a:avLst/>
          </a:prstGeom>
          <a:noFill/>
        </p:spPr>
        <p:txBody>
          <a:bodyPr wrap="square" anchor="t" lIns="0" rIns="0" tIns="0" bIns="0">
            <a:spAutoFit/>
          </a:bodyPr>
          <a:lstStyle/>
          <a:p>
            <a:pPr algn="l">
              <a:lnSpc>
                <a:spcPct val="100000"/>
              </a:lnSpc>
            </a:pPr>
            <a:r>
              <a:rPr sz="1400" b="1" i="0">
                <a:solidFill>
                  <a:srgbClr val="E8A33D"/>
                </a:solidFill>
                <a:latin typeface="Segoe UI Semibold"/>
              </a:rPr>
              <a:t>PROPOSAL  ·  NEW MARKET ENTRY</a:t>
            </a:r>
          </a:p>
        </p:txBody>
      </p:sp>
      <p:sp>
        <p:nvSpPr>
          <p:cNvPr id="4" name="TextBox 3"/>
          <p:cNvSpPr txBox="1"/>
          <p:nvPr/>
        </p:nvSpPr>
        <p:spPr>
          <a:xfrm>
            <a:off x="822960" y="2560320"/>
            <a:ext cx="10515600" cy="1554480"/>
          </a:xfrm>
          <a:prstGeom prst="rect">
            <a:avLst/>
          </a:prstGeom>
          <a:noFill/>
        </p:spPr>
        <p:txBody>
          <a:bodyPr wrap="square" anchor="t" lIns="0" rIns="0" tIns="0" bIns="0">
            <a:spAutoFit/>
          </a:bodyPr>
          <a:lstStyle/>
          <a:p>
            <a:pPr algn="l">
              <a:lnSpc>
                <a:spcPct val="105000"/>
              </a:lnSpc>
            </a:pPr>
            <a:r>
              <a:rPr sz="4000" b="1" i="0">
                <a:solidFill>
                  <a:srgbClr val="FFFFFF"/>
                </a:solidFill>
                <a:latin typeface="Segoe UI Semibold"/>
              </a:rPr>
              <a:t>Entering India Energy Stack</a:t>
            </a:r>
          </a:p>
          <a:p>
            <a:pPr algn="l">
              <a:lnSpc>
                <a:spcPct val="105000"/>
              </a:lnSpc>
            </a:pPr>
            <a:r>
              <a:rPr sz="4000" b="1" i="0">
                <a:solidFill>
                  <a:srgbClr val="FFFFFF"/>
                </a:solidFill>
                <a:latin typeface="Segoe UI Semibold"/>
              </a:rPr>
              <a:t>as a Technology Service Provider</a:t>
            </a:r>
          </a:p>
        </p:txBody>
      </p:sp>
      <p:sp>
        <p:nvSpPr>
          <p:cNvPr id="5" name="TextBox 4"/>
          <p:cNvSpPr txBox="1"/>
          <p:nvPr/>
        </p:nvSpPr>
        <p:spPr>
          <a:xfrm>
            <a:off x="822960" y="4114800"/>
            <a:ext cx="9601200" cy="731520"/>
          </a:xfrm>
          <a:prstGeom prst="rect">
            <a:avLst/>
          </a:prstGeom>
          <a:noFill/>
        </p:spPr>
        <p:txBody>
          <a:bodyPr wrap="square" anchor="t" lIns="0" rIns="0" tIns="0" bIns="0">
            <a:spAutoFit/>
          </a:bodyPr>
          <a:lstStyle/>
          <a:p>
            <a:pPr algn="l">
              <a:lnSpc>
                <a:spcPct val="130000"/>
              </a:lnSpc>
            </a:pPr>
            <a:r>
              <a:rPr sz="1650" b="0" i="0">
                <a:solidFill>
                  <a:srgbClr val="AEBBCB"/>
                </a:solidFill>
                <a:latin typeface="Segoe UI"/>
              </a:rPr>
              <a:t>A proposal to evaluate and pilot a Policy-as-Code / Tariff Intelligence solution</a:t>
            </a:r>
          </a:p>
          <a:p>
            <a:pPr algn="l">
              <a:lnSpc>
                <a:spcPct val="130000"/>
              </a:lnSpc>
            </a:pPr>
            <a:r>
              <a:rPr sz="1650" b="0" i="0">
                <a:solidFill>
                  <a:srgbClr val="AEBBCB"/>
                </a:solidFill>
                <a:latin typeface="Segoe UI"/>
              </a:rPr>
              <a:t>on India's national power-sector digital public infrastructure</a:t>
            </a:r>
          </a:p>
        </p:txBody>
      </p:sp>
      <p:sp>
        <p:nvSpPr>
          <p:cNvPr id="6" name="TextBox 5"/>
          <p:cNvSpPr txBox="1"/>
          <p:nvPr/>
        </p:nvSpPr>
        <p:spPr>
          <a:xfrm>
            <a:off x="822960" y="5989320"/>
            <a:ext cx="7315200" cy="365760"/>
          </a:xfrm>
          <a:prstGeom prst="rect">
            <a:avLst/>
          </a:prstGeom>
          <a:noFill/>
        </p:spPr>
        <p:txBody>
          <a:bodyPr wrap="square" anchor="t" lIns="0" rIns="0" tIns="0" bIns="0">
            <a:spAutoFit/>
          </a:bodyPr>
          <a:lstStyle/>
          <a:p>
            <a:pPr algn="l">
              <a:lnSpc>
                <a:spcPct val="100000"/>
              </a:lnSpc>
            </a:pPr>
            <a:r>
              <a:rPr sz="1250" b="0" i="0">
                <a:solidFill>
                  <a:srgbClr val="78889C"/>
                </a:solidFill>
                <a:latin typeface="Segoe UI"/>
              </a:rPr>
              <a:t>Prepared for: Leadership Review  |  Budget &amp; Go-Ahead Decision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AGENDA</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What we'll cover</a:t>
            </a:r>
          </a:p>
        </p:txBody>
      </p:sp>
      <p:sp>
        <p:nvSpPr>
          <p:cNvPr id="4" name="TextBox 3"/>
          <p:cNvSpPr txBox="1"/>
          <p:nvPr/>
        </p:nvSpPr>
        <p:spPr>
          <a:xfrm>
            <a:off x="731520" y="1600200"/>
            <a:ext cx="822960" cy="457200"/>
          </a:xfrm>
          <a:prstGeom prst="rect">
            <a:avLst/>
          </a:prstGeom>
          <a:noFill/>
        </p:spPr>
        <p:txBody>
          <a:bodyPr wrap="square" anchor="t" lIns="0" rIns="0" tIns="0" bIns="0">
            <a:spAutoFit/>
          </a:bodyPr>
          <a:lstStyle/>
          <a:p>
            <a:pPr algn="l">
              <a:lnSpc>
                <a:spcPct val="100000"/>
              </a:lnSpc>
            </a:pPr>
            <a:r>
              <a:rPr sz="2200" b="1" i="0">
                <a:solidFill>
                  <a:srgbClr val="C87C1C"/>
                </a:solidFill>
                <a:latin typeface="Segoe UI Semibold"/>
              </a:rPr>
              <a:t>01</a:t>
            </a:r>
          </a:p>
        </p:txBody>
      </p:sp>
      <p:sp>
        <p:nvSpPr>
          <p:cNvPr id="5" name="TextBox 4"/>
          <p:cNvSpPr txBox="1"/>
          <p:nvPr/>
        </p:nvSpPr>
        <p:spPr>
          <a:xfrm>
            <a:off x="1463040" y="1600200"/>
            <a:ext cx="4206240" cy="411480"/>
          </a:xfrm>
          <a:prstGeom prst="rect">
            <a:avLst/>
          </a:prstGeom>
          <a:noFill/>
        </p:spPr>
        <p:txBody>
          <a:bodyPr wrap="square" anchor="t" lIns="0" rIns="0" tIns="0" bIns="0">
            <a:spAutoFit/>
          </a:bodyPr>
          <a:lstStyle/>
          <a:p>
            <a:pPr algn="l">
              <a:lnSpc>
                <a:spcPct val="100000"/>
              </a:lnSpc>
            </a:pPr>
            <a:r>
              <a:rPr sz="1700" b="1" i="0">
                <a:solidFill>
                  <a:srgbClr val="121B27"/>
                </a:solidFill>
                <a:latin typeface="Segoe UI Semibold"/>
              </a:rPr>
              <a:t>The Opportunity</a:t>
            </a:r>
          </a:p>
        </p:txBody>
      </p:sp>
      <p:sp>
        <p:nvSpPr>
          <p:cNvPr id="6" name="TextBox 5"/>
          <p:cNvSpPr txBox="1"/>
          <p:nvPr/>
        </p:nvSpPr>
        <p:spPr>
          <a:xfrm>
            <a:off x="5760720" y="1618488"/>
            <a:ext cx="5669280" cy="457200"/>
          </a:xfrm>
          <a:prstGeom prst="rect">
            <a:avLst/>
          </a:prstGeom>
          <a:noFill/>
        </p:spPr>
        <p:txBody>
          <a:bodyPr wrap="square" anchor="t" lIns="0" rIns="0" tIns="0" bIns="0">
            <a:spAutoFit/>
          </a:bodyPr>
          <a:lstStyle/>
          <a:p>
            <a:pPr algn="l">
              <a:lnSpc>
                <a:spcPct val="100000"/>
              </a:lnSpc>
            </a:pPr>
            <a:r>
              <a:rPr sz="1300" b="0" i="0">
                <a:solidFill>
                  <a:srgbClr val="48576A"/>
                </a:solidFill>
                <a:latin typeface="Segoe UI"/>
              </a:rPr>
              <a:t>Why India's power sector is a live, urgent coordination problem</a:t>
            </a:r>
          </a:p>
        </p:txBody>
      </p:sp>
      <p:sp>
        <p:nvSpPr>
          <p:cNvPr id="7" name="TextBox 6"/>
          <p:cNvSpPr txBox="1"/>
          <p:nvPr/>
        </p:nvSpPr>
        <p:spPr>
          <a:xfrm>
            <a:off x="731520" y="2350008"/>
            <a:ext cx="822960" cy="457200"/>
          </a:xfrm>
          <a:prstGeom prst="rect">
            <a:avLst/>
          </a:prstGeom>
          <a:noFill/>
        </p:spPr>
        <p:txBody>
          <a:bodyPr wrap="square" anchor="t" lIns="0" rIns="0" tIns="0" bIns="0">
            <a:spAutoFit/>
          </a:bodyPr>
          <a:lstStyle/>
          <a:p>
            <a:pPr algn="l">
              <a:lnSpc>
                <a:spcPct val="100000"/>
              </a:lnSpc>
            </a:pPr>
            <a:r>
              <a:rPr sz="2200" b="1" i="0">
                <a:solidFill>
                  <a:srgbClr val="C87C1C"/>
                </a:solidFill>
                <a:latin typeface="Segoe UI Semibold"/>
              </a:rPr>
              <a:t>02</a:t>
            </a:r>
          </a:p>
        </p:txBody>
      </p:sp>
      <p:sp>
        <p:nvSpPr>
          <p:cNvPr id="8" name="TextBox 7"/>
          <p:cNvSpPr txBox="1"/>
          <p:nvPr/>
        </p:nvSpPr>
        <p:spPr>
          <a:xfrm>
            <a:off x="1463040" y="2350008"/>
            <a:ext cx="4206240" cy="411480"/>
          </a:xfrm>
          <a:prstGeom prst="rect">
            <a:avLst/>
          </a:prstGeom>
          <a:noFill/>
        </p:spPr>
        <p:txBody>
          <a:bodyPr wrap="square" anchor="t" lIns="0" rIns="0" tIns="0" bIns="0">
            <a:spAutoFit/>
          </a:bodyPr>
          <a:lstStyle/>
          <a:p>
            <a:pPr algn="l">
              <a:lnSpc>
                <a:spcPct val="100000"/>
              </a:lnSpc>
            </a:pPr>
            <a:r>
              <a:rPr sz="1700" b="1" i="0">
                <a:solidFill>
                  <a:srgbClr val="121B27"/>
                </a:solidFill>
                <a:latin typeface="Segoe UI Semibold"/>
              </a:rPr>
              <a:t>The Global Idea</a:t>
            </a:r>
          </a:p>
        </p:txBody>
      </p:sp>
      <p:sp>
        <p:nvSpPr>
          <p:cNvPr id="9" name="TextBox 8"/>
          <p:cNvSpPr txBox="1"/>
          <p:nvPr/>
        </p:nvSpPr>
        <p:spPr>
          <a:xfrm>
            <a:off x="5760720" y="2368296"/>
            <a:ext cx="5669280" cy="457200"/>
          </a:xfrm>
          <a:prstGeom prst="rect">
            <a:avLst/>
          </a:prstGeom>
          <a:noFill/>
        </p:spPr>
        <p:txBody>
          <a:bodyPr wrap="square" anchor="t" lIns="0" rIns="0" tIns="0" bIns="0">
            <a:spAutoFit/>
          </a:bodyPr>
          <a:lstStyle/>
          <a:p>
            <a:pPr algn="l">
              <a:lnSpc>
                <a:spcPct val="100000"/>
              </a:lnSpc>
            </a:pPr>
            <a:r>
              <a:rPr sz="1300" b="0" i="0">
                <a:solidFill>
                  <a:srgbClr val="48576A"/>
                </a:solidFill>
                <a:latin typeface="Segoe UI"/>
              </a:rPr>
              <a:t>Digital Energy Grid (DEG) — the shared-language proposal behind this</a:t>
            </a:r>
          </a:p>
        </p:txBody>
      </p:sp>
      <p:sp>
        <p:nvSpPr>
          <p:cNvPr id="10" name="TextBox 9"/>
          <p:cNvSpPr txBox="1"/>
          <p:nvPr/>
        </p:nvSpPr>
        <p:spPr>
          <a:xfrm>
            <a:off x="731520" y="3099816"/>
            <a:ext cx="822960" cy="457200"/>
          </a:xfrm>
          <a:prstGeom prst="rect">
            <a:avLst/>
          </a:prstGeom>
          <a:noFill/>
        </p:spPr>
        <p:txBody>
          <a:bodyPr wrap="square" anchor="t" lIns="0" rIns="0" tIns="0" bIns="0">
            <a:spAutoFit/>
          </a:bodyPr>
          <a:lstStyle/>
          <a:p>
            <a:pPr algn="l">
              <a:lnSpc>
                <a:spcPct val="100000"/>
              </a:lnSpc>
            </a:pPr>
            <a:r>
              <a:rPr sz="2200" b="1" i="0">
                <a:solidFill>
                  <a:srgbClr val="C87C1C"/>
                </a:solidFill>
                <a:latin typeface="Segoe UI Semibold"/>
              </a:rPr>
              <a:t>03</a:t>
            </a:r>
          </a:p>
        </p:txBody>
      </p:sp>
      <p:sp>
        <p:nvSpPr>
          <p:cNvPr id="11" name="TextBox 10"/>
          <p:cNvSpPr txBox="1"/>
          <p:nvPr/>
        </p:nvSpPr>
        <p:spPr>
          <a:xfrm>
            <a:off x="1463040" y="3099816"/>
            <a:ext cx="4206240" cy="411480"/>
          </a:xfrm>
          <a:prstGeom prst="rect">
            <a:avLst/>
          </a:prstGeom>
          <a:noFill/>
        </p:spPr>
        <p:txBody>
          <a:bodyPr wrap="square" anchor="t" lIns="0" rIns="0" tIns="0" bIns="0">
            <a:spAutoFit/>
          </a:bodyPr>
          <a:lstStyle/>
          <a:p>
            <a:pPr algn="l">
              <a:lnSpc>
                <a:spcPct val="100000"/>
              </a:lnSpc>
            </a:pPr>
            <a:r>
              <a:rPr sz="1700" b="1" i="0">
                <a:solidFill>
                  <a:srgbClr val="121B27"/>
                </a:solidFill>
                <a:latin typeface="Segoe UI Semibold"/>
              </a:rPr>
              <a:t>India's Real Program</a:t>
            </a:r>
          </a:p>
        </p:txBody>
      </p:sp>
      <p:sp>
        <p:nvSpPr>
          <p:cNvPr id="12" name="TextBox 11"/>
          <p:cNvSpPr txBox="1"/>
          <p:nvPr/>
        </p:nvSpPr>
        <p:spPr>
          <a:xfrm>
            <a:off x="5760720" y="3118104"/>
            <a:ext cx="5669280" cy="457200"/>
          </a:xfrm>
          <a:prstGeom prst="rect">
            <a:avLst/>
          </a:prstGeom>
          <a:noFill/>
        </p:spPr>
        <p:txBody>
          <a:bodyPr wrap="square" anchor="t" lIns="0" rIns="0" tIns="0" bIns="0">
            <a:spAutoFit/>
          </a:bodyPr>
          <a:lstStyle/>
          <a:p>
            <a:pPr algn="l">
              <a:lnSpc>
                <a:spcPct val="100000"/>
              </a:lnSpc>
            </a:pPr>
            <a:r>
              <a:rPr sz="1300" b="0" i="0">
                <a:solidFill>
                  <a:srgbClr val="48576A"/>
                </a:solidFill>
                <a:latin typeface="Segoe UI"/>
              </a:rPr>
              <a:t>India Energy Stack (IES) — a funded, government-run national build</a:t>
            </a:r>
          </a:p>
        </p:txBody>
      </p:sp>
      <p:sp>
        <p:nvSpPr>
          <p:cNvPr id="13" name="TextBox 12"/>
          <p:cNvSpPr txBox="1"/>
          <p:nvPr/>
        </p:nvSpPr>
        <p:spPr>
          <a:xfrm>
            <a:off x="731520" y="3849624"/>
            <a:ext cx="822960" cy="457200"/>
          </a:xfrm>
          <a:prstGeom prst="rect">
            <a:avLst/>
          </a:prstGeom>
          <a:noFill/>
        </p:spPr>
        <p:txBody>
          <a:bodyPr wrap="square" anchor="t" lIns="0" rIns="0" tIns="0" bIns="0">
            <a:spAutoFit/>
          </a:bodyPr>
          <a:lstStyle/>
          <a:p>
            <a:pPr algn="l">
              <a:lnSpc>
                <a:spcPct val="100000"/>
              </a:lnSpc>
            </a:pPr>
            <a:r>
              <a:rPr sz="2200" b="1" i="0">
                <a:solidFill>
                  <a:srgbClr val="C87C1C"/>
                </a:solidFill>
                <a:latin typeface="Segoe UI Semibold"/>
              </a:rPr>
              <a:t>04</a:t>
            </a:r>
          </a:p>
        </p:txBody>
      </p:sp>
      <p:sp>
        <p:nvSpPr>
          <p:cNvPr id="14" name="TextBox 13"/>
          <p:cNvSpPr txBox="1"/>
          <p:nvPr/>
        </p:nvSpPr>
        <p:spPr>
          <a:xfrm>
            <a:off x="1463040" y="3849624"/>
            <a:ext cx="4206240" cy="411480"/>
          </a:xfrm>
          <a:prstGeom prst="rect">
            <a:avLst/>
          </a:prstGeom>
          <a:noFill/>
        </p:spPr>
        <p:txBody>
          <a:bodyPr wrap="square" anchor="t" lIns="0" rIns="0" tIns="0" bIns="0">
            <a:spAutoFit/>
          </a:bodyPr>
          <a:lstStyle/>
          <a:p>
            <a:pPr algn="l">
              <a:lnSpc>
                <a:spcPct val="100000"/>
              </a:lnSpc>
            </a:pPr>
            <a:r>
              <a:rPr sz="1700" b="1" i="0">
                <a:solidFill>
                  <a:srgbClr val="121B27"/>
                </a:solidFill>
                <a:latin typeface="Segoe UI Semibold"/>
              </a:rPr>
              <a:t>The Market Opening</a:t>
            </a:r>
          </a:p>
        </p:txBody>
      </p:sp>
      <p:sp>
        <p:nvSpPr>
          <p:cNvPr id="15" name="TextBox 14"/>
          <p:cNvSpPr txBox="1"/>
          <p:nvPr/>
        </p:nvSpPr>
        <p:spPr>
          <a:xfrm>
            <a:off x="5760720" y="3867912"/>
            <a:ext cx="5669280" cy="457200"/>
          </a:xfrm>
          <a:prstGeom prst="rect">
            <a:avLst/>
          </a:prstGeom>
          <a:noFill/>
        </p:spPr>
        <p:txBody>
          <a:bodyPr wrap="square" anchor="t" lIns="0" rIns="0" tIns="0" bIns="0">
            <a:spAutoFit/>
          </a:bodyPr>
          <a:lstStyle/>
          <a:p>
            <a:pPr algn="l">
              <a:lnSpc>
                <a:spcPct val="100000"/>
              </a:lnSpc>
            </a:pPr>
            <a:r>
              <a:rPr sz="1300" b="0" i="0">
                <a:solidFill>
                  <a:srgbClr val="48576A"/>
                </a:solidFill>
                <a:latin typeface="Segoe UI"/>
              </a:rPr>
              <a:t>How outside companies plug in, and why economics favour early movers</a:t>
            </a:r>
          </a:p>
        </p:txBody>
      </p:sp>
      <p:sp>
        <p:nvSpPr>
          <p:cNvPr id="16" name="TextBox 15"/>
          <p:cNvSpPr txBox="1"/>
          <p:nvPr/>
        </p:nvSpPr>
        <p:spPr>
          <a:xfrm>
            <a:off x="731520" y="4599432"/>
            <a:ext cx="822960" cy="457200"/>
          </a:xfrm>
          <a:prstGeom prst="rect">
            <a:avLst/>
          </a:prstGeom>
          <a:noFill/>
        </p:spPr>
        <p:txBody>
          <a:bodyPr wrap="square" anchor="t" lIns="0" rIns="0" tIns="0" bIns="0">
            <a:spAutoFit/>
          </a:bodyPr>
          <a:lstStyle/>
          <a:p>
            <a:pPr algn="l">
              <a:lnSpc>
                <a:spcPct val="100000"/>
              </a:lnSpc>
            </a:pPr>
            <a:r>
              <a:rPr sz="2200" b="1" i="0">
                <a:solidFill>
                  <a:srgbClr val="C87C1C"/>
                </a:solidFill>
                <a:latin typeface="Segoe UI Semibold"/>
              </a:rPr>
              <a:t>05</a:t>
            </a:r>
          </a:p>
        </p:txBody>
      </p:sp>
      <p:sp>
        <p:nvSpPr>
          <p:cNvPr id="17" name="TextBox 16"/>
          <p:cNvSpPr txBox="1"/>
          <p:nvPr/>
        </p:nvSpPr>
        <p:spPr>
          <a:xfrm>
            <a:off x="1463040" y="4599432"/>
            <a:ext cx="4206240" cy="411480"/>
          </a:xfrm>
          <a:prstGeom prst="rect">
            <a:avLst/>
          </a:prstGeom>
          <a:noFill/>
        </p:spPr>
        <p:txBody>
          <a:bodyPr wrap="square" anchor="t" lIns="0" rIns="0" tIns="0" bIns="0">
            <a:spAutoFit/>
          </a:bodyPr>
          <a:lstStyle/>
          <a:p>
            <a:pPr algn="l">
              <a:lnSpc>
                <a:spcPct val="100000"/>
              </a:lnSpc>
            </a:pPr>
            <a:r>
              <a:rPr sz="1700" b="1" i="0">
                <a:solidFill>
                  <a:srgbClr val="121B27"/>
                </a:solidFill>
                <a:latin typeface="Segoe UI Semibold"/>
              </a:rPr>
              <a:t>Our Proposed Focus</a:t>
            </a:r>
          </a:p>
        </p:txBody>
      </p:sp>
      <p:sp>
        <p:nvSpPr>
          <p:cNvPr id="18" name="TextBox 17"/>
          <p:cNvSpPr txBox="1"/>
          <p:nvPr/>
        </p:nvSpPr>
        <p:spPr>
          <a:xfrm>
            <a:off x="5760720" y="4617720"/>
            <a:ext cx="5669280" cy="457200"/>
          </a:xfrm>
          <a:prstGeom prst="rect">
            <a:avLst/>
          </a:prstGeom>
          <a:noFill/>
        </p:spPr>
        <p:txBody>
          <a:bodyPr wrap="square" anchor="t" lIns="0" rIns="0" tIns="0" bIns="0">
            <a:spAutoFit/>
          </a:bodyPr>
          <a:lstStyle/>
          <a:p>
            <a:pPr algn="l">
              <a:lnSpc>
                <a:spcPct val="100000"/>
              </a:lnSpc>
            </a:pPr>
            <a:r>
              <a:rPr sz="1300" b="0" i="0">
                <a:solidFill>
                  <a:srgbClr val="48576A"/>
                </a:solidFill>
                <a:latin typeface="Segoe UI"/>
              </a:rPr>
              <a:t>Policy as Code / Tariff Intelligence — schema, architecture, and open risks</a:t>
            </a:r>
          </a:p>
        </p:txBody>
      </p:sp>
      <p:sp>
        <p:nvSpPr>
          <p:cNvPr id="19" name="TextBox 18"/>
          <p:cNvSpPr txBox="1"/>
          <p:nvPr/>
        </p:nvSpPr>
        <p:spPr>
          <a:xfrm>
            <a:off x="731520" y="5349240"/>
            <a:ext cx="822960" cy="457200"/>
          </a:xfrm>
          <a:prstGeom prst="rect">
            <a:avLst/>
          </a:prstGeom>
          <a:noFill/>
        </p:spPr>
        <p:txBody>
          <a:bodyPr wrap="square" anchor="t" lIns="0" rIns="0" tIns="0" bIns="0">
            <a:spAutoFit/>
          </a:bodyPr>
          <a:lstStyle/>
          <a:p>
            <a:pPr algn="l">
              <a:lnSpc>
                <a:spcPct val="100000"/>
              </a:lnSpc>
            </a:pPr>
            <a:r>
              <a:rPr sz="2200" b="1" i="0">
                <a:solidFill>
                  <a:srgbClr val="C87C1C"/>
                </a:solidFill>
                <a:latin typeface="Segoe UI Semibold"/>
              </a:rPr>
              <a:t>06</a:t>
            </a:r>
          </a:p>
        </p:txBody>
      </p:sp>
      <p:sp>
        <p:nvSpPr>
          <p:cNvPr id="20" name="TextBox 19"/>
          <p:cNvSpPr txBox="1"/>
          <p:nvPr/>
        </p:nvSpPr>
        <p:spPr>
          <a:xfrm>
            <a:off x="1463040" y="5349240"/>
            <a:ext cx="4206240" cy="411480"/>
          </a:xfrm>
          <a:prstGeom prst="rect">
            <a:avLst/>
          </a:prstGeom>
          <a:noFill/>
        </p:spPr>
        <p:txBody>
          <a:bodyPr wrap="square" anchor="t" lIns="0" rIns="0" tIns="0" bIns="0">
            <a:spAutoFit/>
          </a:bodyPr>
          <a:lstStyle/>
          <a:p>
            <a:pPr algn="l">
              <a:lnSpc>
                <a:spcPct val="100000"/>
              </a:lnSpc>
            </a:pPr>
            <a:r>
              <a:rPr sz="1700" b="1" i="0">
                <a:solidFill>
                  <a:srgbClr val="121B27"/>
                </a:solidFill>
                <a:latin typeface="Segoe UI Semibold"/>
              </a:rPr>
              <a:t>Plan, Ask &amp; Risks</a:t>
            </a:r>
          </a:p>
        </p:txBody>
      </p:sp>
      <p:sp>
        <p:nvSpPr>
          <p:cNvPr id="21" name="TextBox 20"/>
          <p:cNvSpPr txBox="1"/>
          <p:nvPr/>
        </p:nvSpPr>
        <p:spPr>
          <a:xfrm>
            <a:off x="5760720" y="5367528"/>
            <a:ext cx="5669280" cy="457200"/>
          </a:xfrm>
          <a:prstGeom prst="rect">
            <a:avLst/>
          </a:prstGeom>
          <a:noFill/>
        </p:spPr>
        <p:txBody>
          <a:bodyPr wrap="square" anchor="t" lIns="0" rIns="0" tIns="0" bIns="0">
            <a:spAutoFit/>
          </a:bodyPr>
          <a:lstStyle/>
          <a:p>
            <a:pPr algn="l">
              <a:lnSpc>
                <a:spcPct val="100000"/>
              </a:lnSpc>
            </a:pPr>
            <a:r>
              <a:rPr sz="1300" b="0" i="0">
                <a:solidFill>
                  <a:srgbClr val="48576A"/>
                </a:solidFill>
                <a:latin typeface="Segoe UI"/>
              </a:rPr>
              <a:t>Roadmap, resourcing, and what we need approved today</a:t>
            </a:r>
          </a:p>
        </p:txBody>
      </p:sp>
      <p:sp>
        <p:nvSpPr>
          <p:cNvPr id="22" name="TextBox 21"/>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Confidential — Internal Proposal</a:t>
            </a:r>
          </a:p>
        </p:txBody>
      </p:sp>
      <p:sp>
        <p:nvSpPr>
          <p:cNvPr id="23" name="TextBox 22"/>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2</a:t>
            </a:r>
          </a:p>
        </p:txBody>
      </p:sp>
      <p:sp>
        <p:nvSpPr>
          <p:cNvPr id="24" name="Rectangle 23"/>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01 · THE OPPORTUNITY</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India's power sector is mid-transformation</a:t>
            </a:r>
          </a:p>
        </p:txBody>
      </p:sp>
      <p:sp>
        <p:nvSpPr>
          <p:cNvPr id="4" name="TextBox 3"/>
          <p:cNvSpPr txBox="1"/>
          <p:nvPr/>
        </p:nvSpPr>
        <p:spPr>
          <a:xfrm>
            <a:off x="640080" y="1417320"/>
            <a:ext cx="10515600" cy="548640"/>
          </a:xfrm>
          <a:prstGeom prst="rect">
            <a:avLst/>
          </a:prstGeom>
          <a:noFill/>
        </p:spPr>
        <p:txBody>
          <a:bodyPr wrap="square" anchor="t" lIns="0" rIns="0" tIns="0" bIns="0">
            <a:spAutoFit/>
          </a:bodyPr>
          <a:lstStyle/>
          <a:p>
            <a:pPr algn="l">
              <a:lnSpc>
                <a:spcPct val="100000"/>
              </a:lnSpc>
            </a:pPr>
            <a:r>
              <a:rPr sz="1450" b="0" i="0">
                <a:solidFill>
                  <a:srgbClr val="48576A"/>
                </a:solidFill>
                <a:latin typeface="Segoe UI"/>
              </a:rPr>
              <a:t>Millions of households are becoming producers, not just consumers — and the coordination layer hasn't caught up.</a:t>
            </a:r>
          </a:p>
        </p:txBody>
      </p:sp>
      <p:sp>
        <p:nvSpPr>
          <p:cNvPr id="5" name="Rectangle 4"/>
          <p:cNvSpPr/>
          <p:nvPr/>
        </p:nvSpPr>
        <p:spPr>
          <a:xfrm>
            <a:off x="640080" y="2331720"/>
            <a:ext cx="2606040" cy="155448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459736"/>
            <a:ext cx="2276856" cy="548640"/>
          </a:xfrm>
          <a:prstGeom prst="rect">
            <a:avLst/>
          </a:prstGeom>
          <a:noFill/>
        </p:spPr>
        <p:txBody>
          <a:bodyPr wrap="square" anchor="t" lIns="0" rIns="0" tIns="0" bIns="0">
            <a:spAutoFit/>
          </a:bodyPr>
          <a:lstStyle/>
          <a:p>
            <a:pPr algn="l">
              <a:lnSpc>
                <a:spcPct val="100000"/>
              </a:lnSpc>
            </a:pPr>
            <a:r>
              <a:rPr sz="2700" b="1" i="0">
                <a:solidFill>
                  <a:srgbClr val="C87C1C"/>
                </a:solidFill>
                <a:latin typeface="Segoe UI Semibold"/>
              </a:rPr>
              <a:t>429%</a:t>
            </a:r>
          </a:p>
        </p:txBody>
      </p:sp>
      <p:sp>
        <p:nvSpPr>
          <p:cNvPr id="7" name="TextBox 6"/>
          <p:cNvSpPr txBox="1"/>
          <p:nvPr/>
        </p:nvSpPr>
        <p:spPr>
          <a:xfrm>
            <a:off x="804672" y="3319272"/>
            <a:ext cx="2276856" cy="502920"/>
          </a:xfrm>
          <a:prstGeom prst="rect">
            <a:avLst/>
          </a:prstGeom>
          <a:noFill/>
        </p:spPr>
        <p:txBody>
          <a:bodyPr wrap="square" anchor="t" lIns="0" rIns="0" tIns="0" bIns="0">
            <a:spAutoFit/>
          </a:bodyPr>
          <a:lstStyle/>
          <a:p>
            <a:pPr algn="l">
              <a:lnSpc>
                <a:spcPct val="105000"/>
              </a:lnSpc>
            </a:pPr>
            <a:r>
              <a:rPr sz="1150" b="0" i="0">
                <a:solidFill>
                  <a:srgbClr val="48576A"/>
                </a:solidFill>
                <a:latin typeface="Segoe UI"/>
              </a:rPr>
              <a:t>Projected growth in India's</a:t>
            </a:r>
          </a:p>
          <a:p>
            <a:pPr algn="l">
              <a:lnSpc>
                <a:spcPct val="105000"/>
              </a:lnSpc>
            </a:pPr>
            <a:r>
              <a:rPr sz="1150" b="0" i="0">
                <a:solidFill>
                  <a:srgbClr val="48576A"/>
                </a:solidFill>
                <a:latin typeface="Segoe UI"/>
              </a:rPr>
              <a:t>rooftop solar capacity by 2035</a:t>
            </a:r>
          </a:p>
        </p:txBody>
      </p:sp>
      <p:sp>
        <p:nvSpPr>
          <p:cNvPr id="8" name="Rectangle 7"/>
          <p:cNvSpPr/>
          <p:nvPr/>
        </p:nvSpPr>
        <p:spPr>
          <a:xfrm>
            <a:off x="3429000" y="2331720"/>
            <a:ext cx="2606040" cy="155448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3592" y="2459736"/>
            <a:ext cx="2276856" cy="548640"/>
          </a:xfrm>
          <a:prstGeom prst="rect">
            <a:avLst/>
          </a:prstGeom>
          <a:noFill/>
        </p:spPr>
        <p:txBody>
          <a:bodyPr wrap="square" anchor="t" lIns="0" rIns="0" tIns="0" bIns="0">
            <a:spAutoFit/>
          </a:bodyPr>
          <a:lstStyle/>
          <a:p>
            <a:pPr algn="l">
              <a:lnSpc>
                <a:spcPct val="100000"/>
              </a:lnSpc>
            </a:pPr>
            <a:r>
              <a:rPr sz="2700" b="1" i="0">
                <a:solidFill>
                  <a:srgbClr val="C87C1C"/>
                </a:solidFill>
                <a:latin typeface="Segoe UI Semibold"/>
              </a:rPr>
              <a:t>$100B</a:t>
            </a:r>
          </a:p>
        </p:txBody>
      </p:sp>
      <p:sp>
        <p:nvSpPr>
          <p:cNvPr id="10" name="TextBox 9"/>
          <p:cNvSpPr txBox="1"/>
          <p:nvPr/>
        </p:nvSpPr>
        <p:spPr>
          <a:xfrm>
            <a:off x="3593592" y="3319272"/>
            <a:ext cx="2276856" cy="502920"/>
          </a:xfrm>
          <a:prstGeom prst="rect">
            <a:avLst/>
          </a:prstGeom>
          <a:noFill/>
        </p:spPr>
        <p:txBody>
          <a:bodyPr wrap="square" anchor="t" lIns="0" rIns="0" tIns="0" bIns="0">
            <a:spAutoFit/>
          </a:bodyPr>
          <a:lstStyle/>
          <a:p>
            <a:pPr algn="l">
              <a:lnSpc>
                <a:spcPct val="105000"/>
              </a:lnSpc>
            </a:pPr>
            <a:r>
              <a:rPr sz="1150" b="0" i="0">
                <a:solidFill>
                  <a:srgbClr val="48576A"/>
                </a:solidFill>
                <a:latin typeface="Segoe UI"/>
              </a:rPr>
              <a:t>Lost worldwide every year</a:t>
            </a:r>
          </a:p>
          <a:p>
            <a:pPr algn="l">
              <a:lnSpc>
                <a:spcPct val="105000"/>
              </a:lnSpc>
            </a:pPr>
            <a:r>
              <a:rPr sz="1150" b="0" i="0">
                <a:solidFill>
                  <a:srgbClr val="48576A"/>
                </a:solidFill>
                <a:latin typeface="Segoe UI"/>
              </a:rPr>
              <a:t>to blackouts and outages</a:t>
            </a:r>
          </a:p>
        </p:txBody>
      </p:sp>
      <p:sp>
        <p:nvSpPr>
          <p:cNvPr id="11" name="Rectangle 10"/>
          <p:cNvSpPr/>
          <p:nvPr/>
        </p:nvSpPr>
        <p:spPr>
          <a:xfrm>
            <a:off x="6217920" y="2331720"/>
            <a:ext cx="2606040" cy="155448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459736"/>
            <a:ext cx="2276856" cy="548640"/>
          </a:xfrm>
          <a:prstGeom prst="rect">
            <a:avLst/>
          </a:prstGeom>
          <a:noFill/>
        </p:spPr>
        <p:txBody>
          <a:bodyPr wrap="square" anchor="t" lIns="0" rIns="0" tIns="0" bIns="0">
            <a:spAutoFit/>
          </a:bodyPr>
          <a:lstStyle/>
          <a:p>
            <a:pPr algn="l">
              <a:lnSpc>
                <a:spcPct val="100000"/>
              </a:lnSpc>
            </a:pPr>
            <a:r>
              <a:rPr sz="2700" b="1" i="0">
                <a:solidFill>
                  <a:srgbClr val="C87C1C"/>
                </a:solidFill>
                <a:latin typeface="Segoe UI Semibold"/>
              </a:rPr>
              <a:t>748.5M</a:t>
            </a:r>
          </a:p>
        </p:txBody>
      </p:sp>
      <p:sp>
        <p:nvSpPr>
          <p:cNvPr id="13" name="TextBox 12"/>
          <p:cNvSpPr txBox="1"/>
          <p:nvPr/>
        </p:nvSpPr>
        <p:spPr>
          <a:xfrm>
            <a:off x="6382512" y="3319272"/>
            <a:ext cx="2276856" cy="502920"/>
          </a:xfrm>
          <a:prstGeom prst="rect">
            <a:avLst/>
          </a:prstGeom>
          <a:noFill/>
        </p:spPr>
        <p:txBody>
          <a:bodyPr wrap="square" anchor="t" lIns="0" rIns="0" tIns="0" bIns="0">
            <a:spAutoFit/>
          </a:bodyPr>
          <a:lstStyle/>
          <a:p>
            <a:pPr algn="l">
              <a:lnSpc>
                <a:spcPct val="105000"/>
              </a:lnSpc>
            </a:pPr>
            <a:r>
              <a:rPr sz="1150" b="0" i="0">
                <a:solidFill>
                  <a:srgbClr val="48576A"/>
                </a:solidFill>
                <a:latin typeface="Segoe UI"/>
              </a:rPr>
              <a:t>People still without any</a:t>
            </a:r>
          </a:p>
          <a:p>
            <a:pPr algn="l">
              <a:lnSpc>
                <a:spcPct val="105000"/>
              </a:lnSpc>
            </a:pPr>
            <a:r>
              <a:rPr sz="1150" b="0" i="0">
                <a:solidFill>
                  <a:srgbClr val="48576A"/>
                </a:solidFill>
                <a:latin typeface="Segoe UI"/>
              </a:rPr>
              <a:t>electricity access globally</a:t>
            </a:r>
          </a:p>
        </p:txBody>
      </p:sp>
      <p:sp>
        <p:nvSpPr>
          <p:cNvPr id="14" name="Rectangle 13"/>
          <p:cNvSpPr/>
          <p:nvPr/>
        </p:nvSpPr>
        <p:spPr>
          <a:xfrm>
            <a:off x="9006840" y="2331720"/>
            <a:ext cx="2606040" cy="155448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71432" y="2459736"/>
            <a:ext cx="2276856" cy="548640"/>
          </a:xfrm>
          <a:prstGeom prst="rect">
            <a:avLst/>
          </a:prstGeom>
          <a:noFill/>
        </p:spPr>
        <p:txBody>
          <a:bodyPr wrap="square" anchor="t" lIns="0" rIns="0" tIns="0" bIns="0">
            <a:spAutoFit/>
          </a:bodyPr>
          <a:lstStyle/>
          <a:p>
            <a:pPr algn="l">
              <a:lnSpc>
                <a:spcPct val="100000"/>
              </a:lnSpc>
            </a:pPr>
            <a:r>
              <a:rPr sz="2700" b="1" i="0">
                <a:solidFill>
                  <a:srgbClr val="C87C1C"/>
                </a:solidFill>
                <a:latin typeface="Segoe UI Semibold"/>
              </a:rPr>
              <a:t>250M</a:t>
            </a:r>
          </a:p>
        </p:txBody>
      </p:sp>
      <p:sp>
        <p:nvSpPr>
          <p:cNvPr id="16" name="TextBox 15"/>
          <p:cNvSpPr txBox="1"/>
          <p:nvPr/>
        </p:nvSpPr>
        <p:spPr>
          <a:xfrm>
            <a:off x="9171432" y="3319272"/>
            <a:ext cx="2276856" cy="502920"/>
          </a:xfrm>
          <a:prstGeom prst="rect">
            <a:avLst/>
          </a:prstGeom>
          <a:noFill/>
        </p:spPr>
        <p:txBody>
          <a:bodyPr wrap="square" anchor="t" lIns="0" rIns="0" tIns="0" bIns="0">
            <a:spAutoFit/>
          </a:bodyPr>
          <a:lstStyle/>
          <a:p>
            <a:pPr algn="l">
              <a:lnSpc>
                <a:spcPct val="105000"/>
              </a:lnSpc>
            </a:pPr>
            <a:r>
              <a:rPr sz="1150" b="0" i="0">
                <a:solidFill>
                  <a:srgbClr val="48576A"/>
                </a:solidFill>
                <a:latin typeface="Segoe UI"/>
              </a:rPr>
              <a:t>Smart meters being deployed</a:t>
            </a:r>
          </a:p>
          <a:p>
            <a:pPr algn="l">
              <a:lnSpc>
                <a:spcPct val="105000"/>
              </a:lnSpc>
            </a:pPr>
            <a:r>
              <a:rPr sz="1150" b="0" i="0">
                <a:solidFill>
                  <a:srgbClr val="48576A"/>
                </a:solidFill>
                <a:latin typeface="Segoe UI"/>
              </a:rPr>
              <a:t>across India (RDSS programme)</a:t>
            </a:r>
          </a:p>
        </p:txBody>
      </p:sp>
      <p:sp>
        <p:nvSpPr>
          <p:cNvPr id="17" name="TextBox 16"/>
          <p:cNvSpPr txBox="1"/>
          <p:nvPr/>
        </p:nvSpPr>
        <p:spPr>
          <a:xfrm>
            <a:off x="640080" y="4434840"/>
            <a:ext cx="10881360" cy="1554480"/>
          </a:xfrm>
          <a:prstGeom prst="rect">
            <a:avLst/>
          </a:prstGeom>
          <a:noFill/>
        </p:spPr>
        <p:txBody>
          <a:bodyPr wrap="square" anchor="t" lIns="0" rIns="0" tIns="0" bIns="0">
            <a:spAutoFit/>
          </a:bodyPr>
          <a:lstStyle/>
          <a:p>
            <a:pPr algn="l">
              <a:lnSpc>
                <a:spcPct val="135000"/>
              </a:lnSpc>
            </a:pPr>
            <a:r>
              <a:rPr sz="1400" b="0" i="0">
                <a:solidFill>
                  <a:srgbClr val="48576A"/>
                </a:solidFill>
                <a:latin typeface="Segoe UI"/>
              </a:rPr>
              <a:t>The pattern behind every one of these numbers is the same: physical infrastructure is being added faster than the digital coordination needed to manage it. Rooftop solar, EVs, and batteries turn a one-way grid into a two-way, real-time balancing problem — and today's utility software, subsidy portals, and regulatory filings were never built to talk to each other.</a:t>
            </a:r>
          </a:p>
        </p:txBody>
      </p:sp>
      <p:sp>
        <p:nvSpPr>
          <p:cNvPr id="18" name="TextBox 17"/>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Section 01 — The Opportunity</a:t>
            </a:r>
          </a:p>
        </p:txBody>
      </p:sp>
      <p:sp>
        <p:nvSpPr>
          <p:cNvPr id="19" name="TextBox 18"/>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3</a:t>
            </a:r>
          </a:p>
        </p:txBody>
      </p:sp>
      <p:sp>
        <p:nvSpPr>
          <p:cNvPr id="20" name="Rectangle 19"/>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01 · THE OPPORTUNITY</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The problem is redundant re-work, not electricity</a:t>
            </a:r>
          </a:p>
        </p:txBody>
      </p:sp>
      <p:sp>
        <p:nvSpPr>
          <p:cNvPr id="4" name="TextBox 3"/>
          <p:cNvSpPr txBox="1"/>
          <p:nvPr/>
        </p:nvSpPr>
        <p:spPr>
          <a:xfrm>
            <a:off x="640080" y="1417320"/>
            <a:ext cx="5120640" cy="822960"/>
          </a:xfrm>
          <a:prstGeom prst="rect">
            <a:avLst/>
          </a:prstGeom>
          <a:noFill/>
        </p:spPr>
        <p:txBody>
          <a:bodyPr wrap="square" anchor="t" lIns="0" rIns="0" tIns="0" bIns="0">
            <a:spAutoFit/>
          </a:bodyPr>
          <a:lstStyle/>
          <a:p>
            <a:pPr algn="l">
              <a:lnSpc>
                <a:spcPct val="120000"/>
              </a:lnSpc>
            </a:pPr>
            <a:r>
              <a:rPr sz="1500" b="1" i="0">
                <a:solidFill>
                  <a:srgbClr val="121B27"/>
                </a:solidFill>
                <a:latin typeface="Segoe UI Semibold"/>
              </a:rPr>
              <a:t>A regulator issues a new tariff order. What happens next, today:</a:t>
            </a:r>
          </a:p>
        </p:txBody>
      </p:sp>
      <p:sp>
        <p:nvSpPr>
          <p:cNvPr id="5" name="TextBox 4"/>
          <p:cNvSpPr txBox="1"/>
          <p:nvPr/>
        </p:nvSpPr>
        <p:spPr>
          <a:xfrm>
            <a:off x="640080" y="2331720"/>
            <a:ext cx="5120640" cy="2926080"/>
          </a:xfrm>
          <a:prstGeom prst="rect">
            <a:avLst/>
          </a:prstGeom>
          <a:noFill/>
        </p:spPr>
        <p:txBody>
          <a:bodyPr wrap="square" lIns="0" rIns="0" tIns="0" bIns="0">
            <a:spAutoFit/>
          </a:bodyPr>
          <a:lstStyle/>
          <a:p>
            <a:pPr>
              <a:lnSpc>
                <a:spcPct val="115000"/>
              </a:lnSpc>
              <a:spcAft>
                <a:spcPts val="1400"/>
              </a:spcAft>
            </a:pPr>
            <a:r>
              <a:rPr sz="1400" b="1">
                <a:solidFill>
                  <a:srgbClr val="C87C1C"/>
                </a:solidFill>
                <a:latin typeface="Segoe UI"/>
              </a:rPr>
              <a:t>—  </a:t>
            </a:r>
            <a:r>
              <a:rPr sz="1400">
                <a:solidFill>
                  <a:srgbClr val="48576A"/>
                </a:solidFill>
                <a:latin typeface="Segoe UI"/>
              </a:rPr>
              <a:t>Published as a legal PDF, following a fixed regulatory process (SERC order, within 120 days of filing)</a:t>
            </a:r>
          </a:p>
          <a:p>
            <a:pPr>
              <a:lnSpc>
                <a:spcPct val="115000"/>
              </a:lnSpc>
              <a:spcAft>
                <a:spcPts val="1400"/>
              </a:spcAft>
            </a:pPr>
            <a:r>
              <a:rPr sz="1400" b="1">
                <a:solidFill>
                  <a:srgbClr val="C87C1C"/>
                </a:solidFill>
                <a:latin typeface="Segoe UI"/>
              </a:rPr>
              <a:t>—  </a:t>
            </a:r>
            <a:r>
              <a:rPr sz="1400">
                <a:solidFill>
                  <a:srgbClr val="48576A"/>
                </a:solidFill>
                <a:latin typeface="Segoe UI"/>
              </a:rPr>
              <a:t>DISCOM billing teams configure their billing engine's rate tables to match it</a:t>
            </a:r>
          </a:p>
          <a:p>
            <a:pPr>
              <a:lnSpc>
                <a:spcPct val="115000"/>
              </a:lnSpc>
              <a:spcAft>
                <a:spcPts val="1400"/>
              </a:spcAft>
            </a:pPr>
            <a:r>
              <a:rPr sz="1400" b="1">
                <a:solidFill>
                  <a:srgbClr val="C87C1C"/>
                </a:solidFill>
                <a:latin typeface="Segoe UI"/>
              </a:rPr>
              <a:t>—  </a:t>
            </a:r>
            <a:r>
              <a:rPr sz="1400">
                <a:solidFill>
                  <a:srgbClr val="48576A"/>
                </a:solidFill>
                <a:latin typeface="Segoe UI"/>
              </a:rPr>
              <a:t>A fuel/power-cost surcharge on top of this can update monthly, in many states</a:t>
            </a:r>
          </a:p>
          <a:p>
            <a:pPr>
              <a:lnSpc>
                <a:spcPct val="115000"/>
              </a:lnSpc>
              <a:spcAft>
                <a:spcPts val="1400"/>
              </a:spcAft>
            </a:pPr>
            <a:r>
              <a:rPr sz="1400" b="1">
                <a:solidFill>
                  <a:srgbClr val="C87C1C"/>
                </a:solidFill>
                <a:latin typeface="Segoe UI"/>
              </a:rPr>
              <a:t>—  </a:t>
            </a:r>
            <a:r>
              <a:rPr sz="1400">
                <a:solidFill>
                  <a:srgbClr val="48576A"/>
                </a:solidFill>
                <a:latin typeface="Segoe UI"/>
              </a:rPr>
              <a:t>Every other consumer of this data — apps, researchers, other regulators — separately re-extracts it from the same PDF</a:t>
            </a:r>
          </a:p>
        </p:txBody>
      </p:sp>
      <p:sp>
        <p:nvSpPr>
          <p:cNvPr id="6" name="Rectangle 5"/>
          <p:cNvSpPr/>
          <p:nvPr/>
        </p:nvSpPr>
        <p:spPr>
          <a:xfrm>
            <a:off x="6126480" y="1417320"/>
            <a:ext cx="5394960" cy="448056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27648" y="1563624"/>
            <a:ext cx="4992624" cy="411480"/>
          </a:xfrm>
          <a:prstGeom prst="rect">
            <a:avLst/>
          </a:prstGeom>
          <a:noFill/>
        </p:spPr>
        <p:txBody>
          <a:bodyPr wrap="square" anchor="t" lIns="0" rIns="0" tIns="0" bIns="0">
            <a:spAutoFit/>
          </a:bodyPr>
          <a:lstStyle/>
          <a:p>
            <a:pPr algn="l">
              <a:lnSpc>
                <a:spcPct val="100000"/>
              </a:lnSpc>
            </a:pPr>
            <a:r>
              <a:rPr sz="1550" b="1" i="0">
                <a:solidFill>
                  <a:srgbClr val="121B27"/>
                </a:solidFill>
                <a:latin typeface="Segoe UI Semibold"/>
              </a:rPr>
              <a:t>Why this matters at scale — confirmed, not hypothetical</a:t>
            </a:r>
          </a:p>
        </p:txBody>
      </p:sp>
      <p:sp>
        <p:nvSpPr>
          <p:cNvPr id="8" name="TextBox 7"/>
          <p:cNvSpPr txBox="1"/>
          <p:nvPr/>
        </p:nvSpPr>
        <p:spPr>
          <a:xfrm>
            <a:off x="6327648" y="1984248"/>
            <a:ext cx="4992624" cy="3749040"/>
          </a:xfrm>
          <a:prstGeom prst="rect">
            <a:avLst/>
          </a:prstGeom>
          <a:noFill/>
        </p:spPr>
        <p:txBody>
          <a:bodyPr wrap="square" lIns="0" rIns="0" tIns="0" bIns="0">
            <a:spAutoFit/>
          </a:bodyPr>
          <a:lstStyle/>
          <a:p>
            <a:pPr>
              <a:lnSpc>
                <a:spcPct val="115000"/>
              </a:lnSpc>
              <a:spcAft>
                <a:spcPts val="600"/>
              </a:spcAft>
            </a:pPr>
            <a:r>
              <a:rPr sz="1250" b="1">
                <a:solidFill>
                  <a:srgbClr val="C87C1C"/>
                </a:solidFill>
                <a:latin typeface="Segoe UI"/>
              </a:rPr>
              <a:t>—  </a:t>
            </a:r>
            <a:r>
              <a:rPr sz="1250">
                <a:solidFill>
                  <a:srgbClr val="48576A"/>
                </a:solidFill>
                <a:latin typeface="Segoe UI"/>
              </a:rPr>
              <a:t>Tariff-comparison apps run standing research teams to manually re-extract this data from PDFs every quarter, across 28+ states</a:t>
            </a:r>
          </a:p>
          <a:p>
            <a:pPr>
              <a:lnSpc>
                <a:spcPct val="115000"/>
              </a:lnSpc>
              <a:spcAft>
                <a:spcPts val="600"/>
              </a:spcAft>
            </a:pPr>
            <a:r>
              <a:rPr sz="1250" b="1">
                <a:solidFill>
                  <a:srgbClr val="C87C1C"/>
                </a:solidFill>
                <a:latin typeface="Segoe UI"/>
              </a:rPr>
              <a:t>—  </a:t>
            </a:r>
            <a:r>
              <a:rPr sz="1250">
                <a:solidFill>
                  <a:srgbClr val="48576A"/>
                </a:solidFill>
                <a:latin typeface="Segoe UI"/>
              </a:rPr>
              <a:t>The Forum of Regulators (coordinating all state SERCs) manually compares tariff orders across states for its own published studies</a:t>
            </a:r>
          </a:p>
          <a:p>
            <a:pPr>
              <a:lnSpc>
                <a:spcPct val="115000"/>
              </a:lnSpc>
              <a:spcAft>
                <a:spcPts val="600"/>
              </a:spcAft>
            </a:pPr>
            <a:r>
              <a:rPr sz="1250" b="1">
                <a:solidFill>
                  <a:srgbClr val="C87C1C"/>
                </a:solidFill>
                <a:latin typeface="Segoe UI"/>
              </a:rPr>
              <a:t>—  </a:t>
            </a:r>
            <a:r>
              <a:rPr sz="1250">
                <a:solidFill>
                  <a:srgbClr val="48576A"/>
                </a:solidFill>
                <a:latin typeface="Segoe UI"/>
              </a:rPr>
              <a:t>Systemic tariff mis-application is a recognised formal dispute category, escalating to the SERC itself</a:t>
            </a:r>
          </a:p>
          <a:p>
            <a:pPr>
              <a:lnSpc>
                <a:spcPct val="115000"/>
              </a:lnSpc>
              <a:spcAft>
                <a:spcPts val="600"/>
              </a:spcAft>
            </a:pPr>
            <a:r>
              <a:rPr sz="1250" b="1">
                <a:solidFill>
                  <a:srgbClr val="C87C1C"/>
                </a:solidFill>
                <a:latin typeface="Segoe UI"/>
              </a:rPr>
              <a:t>—  </a:t>
            </a:r>
            <a:r>
              <a:rPr sz="1250">
                <a:solidFill>
                  <a:srgbClr val="48576A"/>
                </a:solidFill>
                <a:latin typeface="Segoe UI"/>
              </a:rPr>
              <a:t>None of this has one authoritative, machine-readable source — every actor re-derives it independently, indefinitely</a:t>
            </a:r>
          </a:p>
        </p:txBody>
      </p:sp>
      <p:sp>
        <p:nvSpPr>
          <p:cNvPr id="9" name="TextBox 8"/>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Section 01 — The Opportunity</a:t>
            </a:r>
          </a:p>
        </p:txBody>
      </p:sp>
      <p:sp>
        <p:nvSpPr>
          <p:cNvPr id="10" name="TextBox 9"/>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4</a:t>
            </a:r>
          </a:p>
        </p:txBody>
      </p:sp>
      <p:sp>
        <p:nvSpPr>
          <p:cNvPr id="11" name="Rectangle 10"/>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01 · THE OPPORTUNITY</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Seeing it in one picture</a:t>
            </a:r>
          </a:p>
        </p:txBody>
      </p:sp>
      <p:sp>
        <p:nvSpPr>
          <p:cNvPr id="4" name="TextBox 3"/>
          <p:cNvSpPr txBox="1"/>
          <p:nvPr/>
        </p:nvSpPr>
        <p:spPr>
          <a:xfrm>
            <a:off x="640080" y="1371600"/>
            <a:ext cx="10881360" cy="457200"/>
          </a:xfrm>
          <a:prstGeom prst="rect">
            <a:avLst/>
          </a:prstGeom>
          <a:noFill/>
        </p:spPr>
        <p:txBody>
          <a:bodyPr wrap="square" anchor="t" lIns="0" rIns="0" tIns="0" bIns="0">
            <a:spAutoFit/>
          </a:bodyPr>
          <a:lstStyle/>
          <a:p>
            <a:pPr algn="l">
              <a:lnSpc>
                <a:spcPct val="100000"/>
              </a:lnSpc>
            </a:pPr>
            <a:r>
              <a:rPr sz="1400" b="0" i="0">
                <a:solidFill>
                  <a:srgbClr val="48576A"/>
                </a:solidFill>
                <a:latin typeface="Segoe UI"/>
              </a:rPr>
              <a:t>The same tariff order gets manually re-extracted, from scratch, by every organisation that needs it.</a:t>
            </a:r>
          </a:p>
        </p:txBody>
      </p:sp>
      <p:sp>
        <p:nvSpPr>
          <p:cNvPr id="5" name="Rectangle 4"/>
          <p:cNvSpPr/>
          <p:nvPr/>
        </p:nvSpPr>
        <p:spPr>
          <a:xfrm>
            <a:off x="640080" y="1965960"/>
            <a:ext cx="5257800" cy="41148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39112"/>
            <a:ext cx="5257800" cy="274320"/>
          </a:xfrm>
          <a:prstGeom prst="rect">
            <a:avLst/>
          </a:prstGeom>
          <a:noFill/>
        </p:spPr>
        <p:txBody>
          <a:bodyPr wrap="square" anchor="t" lIns="0" rIns="0" tIns="0" bIns="0">
            <a:spAutoFit/>
          </a:bodyPr>
          <a:lstStyle/>
          <a:p>
            <a:pPr algn="ctr">
              <a:lnSpc>
                <a:spcPct val="100000"/>
              </a:lnSpc>
            </a:pPr>
            <a:r>
              <a:rPr sz="1250" b="1" i="0">
                <a:solidFill>
                  <a:srgbClr val="FFFFFF"/>
                </a:solidFill>
                <a:latin typeface="Segoe UI Semibold"/>
              </a:rPr>
              <a:t>TODAY — ONE PDF, RE-READ BY EVERYONE</a:t>
            </a:r>
          </a:p>
        </p:txBody>
      </p:sp>
      <p:sp>
        <p:nvSpPr>
          <p:cNvPr id="7" name="Rectangle 6"/>
          <p:cNvSpPr/>
          <p:nvPr/>
        </p:nvSpPr>
        <p:spPr>
          <a:xfrm>
            <a:off x="1645920" y="2514600"/>
            <a:ext cx="3246120" cy="502920"/>
          </a:xfrm>
          <a:prstGeom prst="rect">
            <a:avLst/>
          </a:prstGeom>
          <a:solidFill>
            <a:srgbClr val="FFFFFF"/>
          </a:solidFill>
          <a:ln w="12700">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37360" y="2514600"/>
            <a:ext cx="3063240" cy="502920"/>
          </a:xfrm>
          <a:prstGeom prst="rect">
            <a:avLst/>
          </a:prstGeom>
          <a:noFill/>
        </p:spPr>
        <p:txBody>
          <a:bodyPr wrap="square" anchor="ctr" lIns="0" rIns="0" tIns="0" bIns="0">
            <a:spAutoFit/>
          </a:bodyPr>
          <a:lstStyle/>
          <a:p>
            <a:pPr algn="ctr">
              <a:lnSpc>
                <a:spcPct val="105000"/>
              </a:lnSpc>
            </a:pPr>
            <a:r>
              <a:rPr sz="1350" b="1" i="0">
                <a:solidFill>
                  <a:srgbClr val="121B27"/>
                </a:solidFill>
                <a:latin typeface="Segoe UI Semibold"/>
              </a:rPr>
              <a:t>SERC Tariff Order (PDF)</a:t>
            </a:r>
          </a:p>
        </p:txBody>
      </p:sp>
      <p:cxnSp>
        <p:nvCxnSpPr>
          <p:cNvPr id="9" name="Connector 8"/>
          <p:cNvCxnSpPr/>
          <p:nvPr/>
        </p:nvCxnSpPr>
        <p:spPr>
          <a:xfrm>
            <a:off x="3264408" y="3017520"/>
            <a:ext cx="0" cy="365760"/>
          </a:xfrm>
          <a:prstGeom prst="line">
            <a:avLst/>
          </a:prstGeom>
          <a:ln w="19050">
            <a:solidFill>
              <a:srgbClr val="B03A2E"/>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914400" y="3383280"/>
            <a:ext cx="4709160" cy="502920"/>
          </a:xfrm>
          <a:prstGeom prst="rect">
            <a:avLst/>
          </a:prstGeom>
          <a:solidFill>
            <a:srgbClr val="FBEFED"/>
          </a:solidFill>
          <a:ln w="12700">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383280"/>
            <a:ext cx="4526280" cy="502920"/>
          </a:xfrm>
          <a:prstGeom prst="rect">
            <a:avLst/>
          </a:prstGeom>
          <a:noFill/>
        </p:spPr>
        <p:txBody>
          <a:bodyPr wrap="square" anchor="ctr" lIns="0" rIns="0" tIns="0" bIns="0">
            <a:spAutoFit/>
          </a:bodyPr>
          <a:lstStyle/>
          <a:p>
            <a:pPr algn="ctr">
              <a:lnSpc>
                <a:spcPct val="105000"/>
              </a:lnSpc>
            </a:pPr>
            <a:r>
              <a:rPr sz="1250" b="1" i="0">
                <a:solidFill>
                  <a:srgbClr val="B03A2E"/>
                </a:solidFill>
                <a:latin typeface="Segoe UI Semibold"/>
              </a:rPr>
              <a:t>Tariff-comparison app:  re-extracted quarterly</a:t>
            </a:r>
          </a:p>
        </p:txBody>
      </p:sp>
      <p:cxnSp>
        <p:nvCxnSpPr>
          <p:cNvPr id="12" name="Connector 11"/>
          <p:cNvCxnSpPr/>
          <p:nvPr/>
        </p:nvCxnSpPr>
        <p:spPr>
          <a:xfrm>
            <a:off x="3264408" y="3017520"/>
            <a:ext cx="0" cy="1024128"/>
          </a:xfrm>
          <a:prstGeom prst="line">
            <a:avLst/>
          </a:prstGeom>
          <a:ln w="19050">
            <a:solidFill>
              <a:srgbClr val="B03A2E"/>
            </a:solidFill>
          </a:ln>
          <a:effectLst/>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14400" y="4041648"/>
            <a:ext cx="4709160" cy="502920"/>
          </a:xfrm>
          <a:prstGeom prst="rect">
            <a:avLst/>
          </a:prstGeom>
          <a:solidFill>
            <a:srgbClr val="FBEFED"/>
          </a:solidFill>
          <a:ln w="12700">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041648"/>
            <a:ext cx="4526280" cy="502920"/>
          </a:xfrm>
          <a:prstGeom prst="rect">
            <a:avLst/>
          </a:prstGeom>
          <a:noFill/>
        </p:spPr>
        <p:txBody>
          <a:bodyPr wrap="square" anchor="ctr" lIns="0" rIns="0" tIns="0" bIns="0">
            <a:spAutoFit/>
          </a:bodyPr>
          <a:lstStyle/>
          <a:p>
            <a:pPr algn="ctr">
              <a:lnSpc>
                <a:spcPct val="105000"/>
              </a:lnSpc>
            </a:pPr>
            <a:r>
              <a:rPr sz="1250" b="1" i="0">
                <a:solidFill>
                  <a:srgbClr val="B03A2E"/>
                </a:solidFill>
                <a:latin typeface="Segoe UI Semibold"/>
              </a:rPr>
              <a:t>Cross-state regulator study:  re-extracted by hand</a:t>
            </a:r>
          </a:p>
        </p:txBody>
      </p:sp>
      <p:cxnSp>
        <p:nvCxnSpPr>
          <p:cNvPr id="15" name="Connector 14"/>
          <p:cNvCxnSpPr/>
          <p:nvPr/>
        </p:nvCxnSpPr>
        <p:spPr>
          <a:xfrm>
            <a:off x="3264408" y="3017520"/>
            <a:ext cx="0" cy="1682496"/>
          </a:xfrm>
          <a:prstGeom prst="line">
            <a:avLst/>
          </a:prstGeom>
          <a:ln w="19050">
            <a:solidFill>
              <a:srgbClr val="B03A2E"/>
            </a:solidFill>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914400" y="4700016"/>
            <a:ext cx="4709160" cy="502920"/>
          </a:xfrm>
          <a:prstGeom prst="rect">
            <a:avLst/>
          </a:prstGeom>
          <a:solidFill>
            <a:srgbClr val="FBEFED"/>
          </a:solidFill>
          <a:ln w="12700">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700016"/>
            <a:ext cx="4526280" cy="502920"/>
          </a:xfrm>
          <a:prstGeom prst="rect">
            <a:avLst/>
          </a:prstGeom>
          <a:noFill/>
        </p:spPr>
        <p:txBody>
          <a:bodyPr wrap="square" anchor="ctr" lIns="0" rIns="0" tIns="0" bIns="0">
            <a:spAutoFit/>
          </a:bodyPr>
          <a:lstStyle/>
          <a:p>
            <a:pPr algn="ctr">
              <a:lnSpc>
                <a:spcPct val="105000"/>
              </a:lnSpc>
            </a:pPr>
            <a:r>
              <a:rPr sz="1250" b="1" i="0">
                <a:solidFill>
                  <a:srgbClr val="B03A2E"/>
                </a:solidFill>
                <a:latin typeface="Segoe UI Semibold"/>
              </a:rPr>
              <a:t>EV / solar calculator app:  re-extracted independently</a:t>
            </a:r>
          </a:p>
        </p:txBody>
      </p:sp>
      <p:sp>
        <p:nvSpPr>
          <p:cNvPr id="18" name="TextBox 17"/>
          <p:cNvSpPr txBox="1"/>
          <p:nvPr/>
        </p:nvSpPr>
        <p:spPr>
          <a:xfrm>
            <a:off x="640080" y="5413248"/>
            <a:ext cx="5257800" cy="365760"/>
          </a:xfrm>
          <a:prstGeom prst="rect">
            <a:avLst/>
          </a:prstGeom>
          <a:noFill/>
        </p:spPr>
        <p:txBody>
          <a:bodyPr wrap="square" anchor="t" lIns="0" rIns="0" tIns="0" bIns="0">
            <a:spAutoFit/>
          </a:bodyPr>
          <a:lstStyle/>
          <a:p>
            <a:pPr algn="ctr">
              <a:lnSpc>
                <a:spcPct val="100000"/>
              </a:lnSpc>
            </a:pPr>
            <a:r>
              <a:rPr sz="1250" b="0" i="1">
                <a:solidFill>
                  <a:srgbClr val="B03A2E"/>
                </a:solidFill>
                <a:latin typeface="Segoe UI"/>
              </a:rPr>
              <a:t>Same document. Re-read from scratch, indefinitely.</a:t>
            </a:r>
          </a:p>
        </p:txBody>
      </p:sp>
      <p:sp>
        <p:nvSpPr>
          <p:cNvPr id="19" name="Rectangle 18"/>
          <p:cNvSpPr/>
          <p:nvPr/>
        </p:nvSpPr>
        <p:spPr>
          <a:xfrm>
            <a:off x="6263640" y="1965960"/>
            <a:ext cx="5257800" cy="411480"/>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2039112"/>
            <a:ext cx="5257800" cy="274320"/>
          </a:xfrm>
          <a:prstGeom prst="rect">
            <a:avLst/>
          </a:prstGeom>
          <a:noFill/>
        </p:spPr>
        <p:txBody>
          <a:bodyPr wrap="square" anchor="t" lIns="0" rIns="0" tIns="0" bIns="0">
            <a:spAutoFit/>
          </a:bodyPr>
          <a:lstStyle/>
          <a:p>
            <a:pPr algn="ctr">
              <a:lnSpc>
                <a:spcPct val="100000"/>
              </a:lnSpc>
            </a:pPr>
            <a:r>
              <a:rPr sz="1250" b="1" i="0">
                <a:solidFill>
                  <a:srgbClr val="FFFFFF"/>
                </a:solidFill>
                <a:latin typeface="Segoe UI Semibold"/>
              </a:rPr>
              <a:t>PROPOSED — PUBLISHED ONCE, READ BY ALL</a:t>
            </a:r>
          </a:p>
        </p:txBody>
      </p:sp>
      <p:sp>
        <p:nvSpPr>
          <p:cNvPr id="21" name="Rectangle 20"/>
          <p:cNvSpPr/>
          <p:nvPr/>
        </p:nvSpPr>
        <p:spPr>
          <a:xfrm>
            <a:off x="7269480" y="2514600"/>
            <a:ext cx="3246120" cy="502920"/>
          </a:xfrm>
          <a:prstGeom prst="rect">
            <a:avLst/>
          </a:prstGeom>
          <a:solidFill>
            <a:srgbClr val="FFFFFF"/>
          </a:solidFill>
          <a:ln w="12700">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0920" y="2514600"/>
            <a:ext cx="3063240" cy="502920"/>
          </a:xfrm>
          <a:prstGeom prst="rect">
            <a:avLst/>
          </a:prstGeom>
          <a:noFill/>
        </p:spPr>
        <p:txBody>
          <a:bodyPr wrap="square" anchor="ctr" lIns="0" rIns="0" tIns="0" bIns="0">
            <a:spAutoFit/>
          </a:bodyPr>
          <a:lstStyle/>
          <a:p>
            <a:pPr algn="ctr">
              <a:lnSpc>
                <a:spcPct val="105000"/>
              </a:lnSpc>
            </a:pPr>
            <a:r>
              <a:rPr sz="1350" b="1" i="0">
                <a:solidFill>
                  <a:srgbClr val="121B27"/>
                </a:solidFill>
                <a:latin typeface="Segoe UI Semibold"/>
              </a:rPr>
              <a:t>SERC Tariff — signed data</a:t>
            </a:r>
          </a:p>
        </p:txBody>
      </p:sp>
      <p:cxnSp>
        <p:nvCxnSpPr>
          <p:cNvPr id="23" name="Connector 22"/>
          <p:cNvCxnSpPr/>
          <p:nvPr/>
        </p:nvCxnSpPr>
        <p:spPr>
          <a:xfrm>
            <a:off x="8887968" y="3017520"/>
            <a:ext cx="0" cy="365760"/>
          </a:xfrm>
          <a:prstGeom prst="line">
            <a:avLst/>
          </a:prstGeom>
          <a:ln w="19050">
            <a:solidFill>
              <a:srgbClr val="2E7D4F"/>
            </a:solidFill>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537960" y="3383280"/>
            <a:ext cx="4709160" cy="502920"/>
          </a:xfrm>
          <a:prstGeom prst="rect">
            <a:avLst/>
          </a:prstGeom>
          <a:solidFill>
            <a:srgbClr val="ECF5EE"/>
          </a:solidFill>
          <a:ln w="12700">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3383280"/>
            <a:ext cx="4526280" cy="502920"/>
          </a:xfrm>
          <a:prstGeom prst="rect">
            <a:avLst/>
          </a:prstGeom>
          <a:noFill/>
        </p:spPr>
        <p:txBody>
          <a:bodyPr wrap="square" anchor="ctr" lIns="0" rIns="0" tIns="0" bIns="0">
            <a:spAutoFit/>
          </a:bodyPr>
          <a:lstStyle/>
          <a:p>
            <a:pPr algn="ctr">
              <a:lnSpc>
                <a:spcPct val="105000"/>
              </a:lnSpc>
            </a:pPr>
            <a:r>
              <a:rPr sz="1250" b="1" i="0">
                <a:solidFill>
                  <a:srgbClr val="2E7D4F"/>
                </a:solidFill>
                <a:latin typeface="Segoe UI Semibold"/>
              </a:rPr>
              <a:t>Tariff-comparison app:  reads it directly</a:t>
            </a:r>
          </a:p>
        </p:txBody>
      </p:sp>
      <p:cxnSp>
        <p:nvCxnSpPr>
          <p:cNvPr id="26" name="Connector 25"/>
          <p:cNvCxnSpPr/>
          <p:nvPr/>
        </p:nvCxnSpPr>
        <p:spPr>
          <a:xfrm>
            <a:off x="8887968" y="3017520"/>
            <a:ext cx="0" cy="1024128"/>
          </a:xfrm>
          <a:prstGeom prst="line">
            <a:avLst/>
          </a:prstGeom>
          <a:ln w="19050">
            <a:solidFill>
              <a:srgbClr val="2E7D4F"/>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537960" y="4041648"/>
            <a:ext cx="4709160" cy="502920"/>
          </a:xfrm>
          <a:prstGeom prst="rect">
            <a:avLst/>
          </a:prstGeom>
          <a:solidFill>
            <a:srgbClr val="ECF5EE"/>
          </a:solidFill>
          <a:ln w="12700">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9400" y="4041648"/>
            <a:ext cx="4526280" cy="502920"/>
          </a:xfrm>
          <a:prstGeom prst="rect">
            <a:avLst/>
          </a:prstGeom>
          <a:noFill/>
        </p:spPr>
        <p:txBody>
          <a:bodyPr wrap="square" anchor="ctr" lIns="0" rIns="0" tIns="0" bIns="0">
            <a:spAutoFit/>
          </a:bodyPr>
          <a:lstStyle/>
          <a:p>
            <a:pPr algn="ctr">
              <a:lnSpc>
                <a:spcPct val="105000"/>
              </a:lnSpc>
            </a:pPr>
            <a:r>
              <a:rPr sz="1250" b="1" i="0">
                <a:solidFill>
                  <a:srgbClr val="2E7D4F"/>
                </a:solidFill>
                <a:latin typeface="Segoe UI Semibold"/>
              </a:rPr>
              <a:t>Cross-state regulator study:  reads it directly</a:t>
            </a:r>
          </a:p>
        </p:txBody>
      </p:sp>
      <p:cxnSp>
        <p:nvCxnSpPr>
          <p:cNvPr id="29" name="Connector 28"/>
          <p:cNvCxnSpPr/>
          <p:nvPr/>
        </p:nvCxnSpPr>
        <p:spPr>
          <a:xfrm>
            <a:off x="8887968" y="3017520"/>
            <a:ext cx="0" cy="1682496"/>
          </a:xfrm>
          <a:prstGeom prst="line">
            <a:avLst/>
          </a:prstGeom>
          <a:ln w="19050">
            <a:solidFill>
              <a:srgbClr val="2E7D4F"/>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537960" y="4700016"/>
            <a:ext cx="4709160" cy="502920"/>
          </a:xfrm>
          <a:prstGeom prst="rect">
            <a:avLst/>
          </a:prstGeom>
          <a:solidFill>
            <a:srgbClr val="ECF5EE"/>
          </a:solidFill>
          <a:ln w="12700">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9400" y="4700016"/>
            <a:ext cx="4526280" cy="502920"/>
          </a:xfrm>
          <a:prstGeom prst="rect">
            <a:avLst/>
          </a:prstGeom>
          <a:noFill/>
        </p:spPr>
        <p:txBody>
          <a:bodyPr wrap="square" anchor="ctr" lIns="0" rIns="0" tIns="0" bIns="0">
            <a:spAutoFit/>
          </a:bodyPr>
          <a:lstStyle/>
          <a:p>
            <a:pPr algn="ctr">
              <a:lnSpc>
                <a:spcPct val="105000"/>
              </a:lnSpc>
            </a:pPr>
            <a:r>
              <a:rPr sz="1250" b="1" i="0">
                <a:solidFill>
                  <a:srgbClr val="2E7D4F"/>
                </a:solidFill>
                <a:latin typeface="Segoe UI Semibold"/>
              </a:rPr>
              <a:t>EV / solar calculator app:  reads it directly</a:t>
            </a:r>
          </a:p>
        </p:txBody>
      </p:sp>
      <p:sp>
        <p:nvSpPr>
          <p:cNvPr id="32" name="TextBox 31"/>
          <p:cNvSpPr txBox="1"/>
          <p:nvPr/>
        </p:nvSpPr>
        <p:spPr>
          <a:xfrm>
            <a:off x="6263640" y="5413248"/>
            <a:ext cx="5257800" cy="365760"/>
          </a:xfrm>
          <a:prstGeom prst="rect">
            <a:avLst/>
          </a:prstGeom>
          <a:noFill/>
        </p:spPr>
        <p:txBody>
          <a:bodyPr wrap="square" anchor="t" lIns="0" rIns="0" tIns="0" bIns="0">
            <a:spAutoFit/>
          </a:bodyPr>
          <a:lstStyle/>
          <a:p>
            <a:pPr algn="ctr">
              <a:lnSpc>
                <a:spcPct val="100000"/>
              </a:lnSpc>
            </a:pPr>
            <a:r>
              <a:rPr sz="1250" b="0" i="1">
                <a:solidFill>
                  <a:srgbClr val="2E7D4F"/>
                </a:solidFill>
                <a:latin typeface="Segoe UI"/>
              </a:rPr>
              <a:t>Same document. Read once, verified, by everyone.</a:t>
            </a:r>
          </a:p>
        </p:txBody>
      </p:sp>
      <p:sp>
        <p:nvSpPr>
          <p:cNvPr id="33" name="TextBox 32"/>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Section 01 — The Opportunity</a:t>
            </a:r>
          </a:p>
        </p:txBody>
      </p:sp>
      <p:sp>
        <p:nvSpPr>
          <p:cNvPr id="34" name="TextBox 33"/>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5</a:t>
            </a:r>
          </a:p>
        </p:txBody>
      </p:sp>
      <p:sp>
        <p:nvSpPr>
          <p:cNvPr id="35" name="Rectangle 34"/>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41F"/>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E8A33D"/>
                </a:solidFill>
                <a:latin typeface="Segoe UI Semibold"/>
              </a:rPr>
              <a:t>02 · THE GLOBAL IDEA</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Segoe UI Semibold"/>
              </a:rPr>
              <a:t>Digital Energy Grid (DEG)</a:t>
            </a:r>
          </a:p>
        </p:txBody>
      </p:sp>
      <p:sp>
        <p:nvSpPr>
          <p:cNvPr id="4" name="TextBox 3"/>
          <p:cNvSpPr txBox="1"/>
          <p:nvPr/>
        </p:nvSpPr>
        <p:spPr>
          <a:xfrm>
            <a:off x="640080" y="1417320"/>
            <a:ext cx="10881360" cy="548640"/>
          </a:xfrm>
          <a:prstGeom prst="rect">
            <a:avLst/>
          </a:prstGeom>
          <a:noFill/>
        </p:spPr>
        <p:txBody>
          <a:bodyPr wrap="square" anchor="t" lIns="0" rIns="0" tIns="0" bIns="0">
            <a:spAutoFit/>
          </a:bodyPr>
          <a:lstStyle/>
          <a:p>
            <a:pPr algn="l">
              <a:lnSpc>
                <a:spcPct val="100000"/>
              </a:lnSpc>
            </a:pPr>
            <a:r>
              <a:rPr sz="1450" b="0" i="0">
                <a:solidFill>
                  <a:srgbClr val="AEBBCB"/>
                </a:solidFill>
                <a:latin typeface="Segoe UI"/>
              </a:rPr>
              <a:t>A February 2025 proposal: give the power sector a shared digital language, the way UPI gave banks one for payments.</a:t>
            </a:r>
          </a:p>
        </p:txBody>
      </p:sp>
      <p:sp>
        <p:nvSpPr>
          <p:cNvPr id="5" name="Rectangle 4"/>
          <p:cNvSpPr/>
          <p:nvPr/>
        </p:nvSpPr>
        <p:spPr>
          <a:xfrm>
            <a:off x="640080" y="2331720"/>
            <a:ext cx="3429000" cy="2468880"/>
          </a:xfrm>
          <a:prstGeom prst="rect">
            <a:avLst/>
          </a:prstGeom>
          <a:solidFill>
            <a:srgbClr val="121B27"/>
          </a:solidFill>
          <a:ln w="9525">
            <a:solidFill>
              <a:srgbClr val="26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478024"/>
            <a:ext cx="3026664" cy="411480"/>
          </a:xfrm>
          <a:prstGeom prst="rect">
            <a:avLst/>
          </a:prstGeom>
          <a:noFill/>
        </p:spPr>
        <p:txBody>
          <a:bodyPr wrap="square" anchor="t" lIns="0" rIns="0" tIns="0" bIns="0">
            <a:spAutoFit/>
          </a:bodyPr>
          <a:lstStyle/>
          <a:p>
            <a:pPr algn="l">
              <a:lnSpc>
                <a:spcPct val="100000"/>
              </a:lnSpc>
            </a:pPr>
            <a:r>
              <a:rPr sz="1550" b="1" i="0">
                <a:solidFill>
                  <a:srgbClr val="FFFFFF"/>
                </a:solidFill>
                <a:latin typeface="Segoe UI Semibold"/>
              </a:rPr>
              <a:t>1.  Universal Identity</a:t>
            </a:r>
          </a:p>
        </p:txBody>
      </p:sp>
      <p:sp>
        <p:nvSpPr>
          <p:cNvPr id="7" name="TextBox 6"/>
          <p:cNvSpPr txBox="1"/>
          <p:nvPr/>
        </p:nvSpPr>
        <p:spPr>
          <a:xfrm>
            <a:off x="841248" y="2898648"/>
            <a:ext cx="3026664" cy="1737360"/>
          </a:xfrm>
          <a:prstGeom prst="rect">
            <a:avLst/>
          </a:prstGeom>
          <a:noFill/>
        </p:spPr>
        <p:txBody>
          <a:bodyPr wrap="square" lIns="0" rIns="0" tIns="0" bIns="0">
            <a:spAutoFit/>
          </a:bodyPr>
          <a:lstStyle/>
          <a:p>
            <a:pPr>
              <a:lnSpc>
                <a:spcPct val="115000"/>
              </a:lnSpc>
              <a:spcAft>
                <a:spcPts val="600"/>
              </a:spcAft>
            </a:pPr>
            <a:r>
              <a:rPr sz="1250" b="1">
                <a:solidFill>
                  <a:srgbClr val="C87C1C"/>
                </a:solidFill>
                <a:latin typeface="Segoe UI"/>
              </a:rPr>
              <a:t>—  </a:t>
            </a:r>
            <a:r>
              <a:rPr sz="1250">
                <a:solidFill>
                  <a:srgbClr val="AEBBCB"/>
                </a:solidFill>
                <a:latin typeface="Segoe UI"/>
              </a:rPr>
              <a:t>Every asset and actor gets a globally unique ID — a solar panel, a meter, a utility, a consumer.</a:t>
            </a:r>
          </a:p>
        </p:txBody>
      </p:sp>
      <p:sp>
        <p:nvSpPr>
          <p:cNvPr id="8" name="Rectangle 7"/>
          <p:cNvSpPr/>
          <p:nvPr/>
        </p:nvSpPr>
        <p:spPr>
          <a:xfrm>
            <a:off x="4297680" y="2331720"/>
            <a:ext cx="3429000" cy="2468880"/>
          </a:xfrm>
          <a:prstGeom prst="rect">
            <a:avLst/>
          </a:prstGeom>
          <a:solidFill>
            <a:srgbClr val="121B27"/>
          </a:solidFill>
          <a:ln w="9525">
            <a:solidFill>
              <a:srgbClr val="26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98848" y="2478024"/>
            <a:ext cx="3026664" cy="411480"/>
          </a:xfrm>
          <a:prstGeom prst="rect">
            <a:avLst/>
          </a:prstGeom>
          <a:noFill/>
        </p:spPr>
        <p:txBody>
          <a:bodyPr wrap="square" anchor="t" lIns="0" rIns="0" tIns="0" bIns="0">
            <a:spAutoFit/>
          </a:bodyPr>
          <a:lstStyle/>
          <a:p>
            <a:pPr algn="l">
              <a:lnSpc>
                <a:spcPct val="100000"/>
              </a:lnSpc>
            </a:pPr>
            <a:r>
              <a:rPr sz="1550" b="1" i="0">
                <a:solidFill>
                  <a:srgbClr val="FFFFFF"/>
                </a:solidFill>
                <a:latin typeface="Segoe UI Semibold"/>
              </a:rPr>
              <a:t>2.  Machine-Readable Data</a:t>
            </a:r>
          </a:p>
        </p:txBody>
      </p:sp>
      <p:sp>
        <p:nvSpPr>
          <p:cNvPr id="10" name="TextBox 9"/>
          <p:cNvSpPr txBox="1"/>
          <p:nvPr/>
        </p:nvSpPr>
        <p:spPr>
          <a:xfrm>
            <a:off x="4498848" y="2898648"/>
            <a:ext cx="3026664" cy="1737360"/>
          </a:xfrm>
          <a:prstGeom prst="rect">
            <a:avLst/>
          </a:prstGeom>
          <a:noFill/>
        </p:spPr>
        <p:txBody>
          <a:bodyPr wrap="square" lIns="0" rIns="0" tIns="0" bIns="0">
            <a:spAutoFit/>
          </a:bodyPr>
          <a:lstStyle/>
          <a:p>
            <a:pPr>
              <a:lnSpc>
                <a:spcPct val="115000"/>
              </a:lnSpc>
              <a:spcAft>
                <a:spcPts val="600"/>
              </a:spcAft>
            </a:pPr>
            <a:r>
              <a:rPr sz="1250" b="1">
                <a:solidFill>
                  <a:srgbClr val="C87C1C"/>
                </a:solidFill>
                <a:latin typeface="Segoe UI"/>
              </a:rPr>
              <a:t>—  </a:t>
            </a:r>
            <a:r>
              <a:rPr sz="1250">
                <a:solidFill>
                  <a:srgbClr val="AEBBCB"/>
                </a:solidFill>
                <a:latin typeface="Segoe UI"/>
              </a:rPr>
              <a:t>Certificates, tariffs, and readings exist as structured data, not PDFs a human must open.</a:t>
            </a:r>
          </a:p>
        </p:txBody>
      </p:sp>
      <p:sp>
        <p:nvSpPr>
          <p:cNvPr id="11" name="Rectangle 10"/>
          <p:cNvSpPr/>
          <p:nvPr/>
        </p:nvSpPr>
        <p:spPr>
          <a:xfrm>
            <a:off x="7955280" y="2331720"/>
            <a:ext cx="3429000" cy="2468880"/>
          </a:xfrm>
          <a:prstGeom prst="rect">
            <a:avLst/>
          </a:prstGeom>
          <a:solidFill>
            <a:srgbClr val="121B27"/>
          </a:solidFill>
          <a:ln w="9525">
            <a:solidFill>
              <a:srgbClr val="26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6448" y="2478024"/>
            <a:ext cx="3026664" cy="411480"/>
          </a:xfrm>
          <a:prstGeom prst="rect">
            <a:avLst/>
          </a:prstGeom>
          <a:noFill/>
        </p:spPr>
        <p:txBody>
          <a:bodyPr wrap="square" anchor="t" lIns="0" rIns="0" tIns="0" bIns="0">
            <a:spAutoFit/>
          </a:bodyPr>
          <a:lstStyle/>
          <a:p>
            <a:pPr algn="l">
              <a:lnSpc>
                <a:spcPct val="100000"/>
              </a:lnSpc>
            </a:pPr>
            <a:r>
              <a:rPr sz="1550" b="1" i="0">
                <a:solidFill>
                  <a:srgbClr val="FFFFFF"/>
                </a:solidFill>
                <a:latin typeface="Segoe UI Semibold"/>
              </a:rPr>
              <a:t>3.  Verifiability</a:t>
            </a:r>
          </a:p>
        </p:txBody>
      </p:sp>
      <p:sp>
        <p:nvSpPr>
          <p:cNvPr id="13" name="TextBox 12"/>
          <p:cNvSpPr txBox="1"/>
          <p:nvPr/>
        </p:nvSpPr>
        <p:spPr>
          <a:xfrm>
            <a:off x="8156448" y="2898648"/>
            <a:ext cx="3026664" cy="1737360"/>
          </a:xfrm>
          <a:prstGeom prst="rect">
            <a:avLst/>
          </a:prstGeom>
          <a:noFill/>
        </p:spPr>
        <p:txBody>
          <a:bodyPr wrap="square" lIns="0" rIns="0" tIns="0" bIns="0">
            <a:spAutoFit/>
          </a:bodyPr>
          <a:lstStyle/>
          <a:p>
            <a:pPr>
              <a:lnSpc>
                <a:spcPct val="115000"/>
              </a:lnSpc>
              <a:spcAft>
                <a:spcPts val="600"/>
              </a:spcAft>
            </a:pPr>
            <a:r>
              <a:rPr sz="1250" b="1">
                <a:solidFill>
                  <a:srgbClr val="C87C1C"/>
                </a:solidFill>
                <a:latin typeface="Segoe UI"/>
              </a:rPr>
              <a:t>—  </a:t>
            </a:r>
            <a:r>
              <a:rPr sz="1250">
                <a:solidFill>
                  <a:srgbClr val="AEBBCB"/>
                </a:solidFill>
                <a:latin typeface="Segoe UI"/>
              </a:rPr>
              <a:t>Every record is digitally signed — anyone can confirm it's genuine without phoning the source.</a:t>
            </a:r>
          </a:p>
        </p:txBody>
      </p:sp>
      <p:sp>
        <p:nvSpPr>
          <p:cNvPr id="14" name="TextBox 13"/>
          <p:cNvSpPr txBox="1"/>
          <p:nvPr/>
        </p:nvSpPr>
        <p:spPr>
          <a:xfrm>
            <a:off x="640080" y="5074920"/>
            <a:ext cx="10881360" cy="1188720"/>
          </a:xfrm>
          <a:prstGeom prst="rect">
            <a:avLst/>
          </a:prstGeom>
          <a:noFill/>
        </p:spPr>
        <p:txBody>
          <a:bodyPr wrap="square" anchor="t" lIns="0" rIns="0" tIns="0" bIns="0">
            <a:spAutoFit/>
          </a:bodyPr>
          <a:lstStyle/>
          <a:p>
            <a:pPr algn="l">
              <a:lnSpc>
                <a:spcPct val="130000"/>
              </a:lnSpc>
            </a:pPr>
            <a:r>
              <a:rPr sz="1350" b="0" i="1">
                <a:solidFill>
                  <a:srgbClr val="9CACC0"/>
                </a:solidFill>
                <a:latin typeface="Segoe UI"/>
              </a:rPr>
              <a:t>Credibility behind it: co-authored by FIDE (Nandan Nilekani's nonprofit — the same lineage as Aadhaar, UPI, and ONDC) with the International Energy Agency co-authoring and endorsing part of the paper.</a:t>
            </a:r>
          </a:p>
        </p:txBody>
      </p:sp>
      <p:sp>
        <p:nvSpPr>
          <p:cNvPr id="15" name="TextBox 14"/>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6B7C91"/>
                </a:solidFill>
                <a:latin typeface="Segoe UI"/>
              </a:rPr>
              <a:t>Section 02 — The Global Idea</a:t>
            </a:r>
          </a:p>
        </p:txBody>
      </p:sp>
      <p:sp>
        <p:nvSpPr>
          <p:cNvPr id="16" name="TextBox 15"/>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6B7C91"/>
                </a:solidFill>
                <a:latin typeface="Segoe UI"/>
              </a:rPr>
              <a:t>6</a:t>
            </a:r>
          </a:p>
        </p:txBody>
      </p:sp>
      <p:sp>
        <p:nvSpPr>
          <p:cNvPr id="17" name="Rectangle 16"/>
          <p:cNvSpPr/>
          <p:nvPr/>
        </p:nvSpPr>
        <p:spPr>
          <a:xfrm>
            <a:off x="640080" y="6446520"/>
            <a:ext cx="10908792" cy="9525"/>
          </a:xfrm>
          <a:prstGeom prst="rect">
            <a:avLst/>
          </a:prstGeom>
          <a:solidFill>
            <a:srgbClr val="2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03 · INDIA'S REAL PROGRAM</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India Energy Stack (IES)</a:t>
            </a:r>
          </a:p>
        </p:txBody>
      </p:sp>
      <p:sp>
        <p:nvSpPr>
          <p:cNvPr id="4" name="TextBox 3"/>
          <p:cNvSpPr txBox="1"/>
          <p:nvPr/>
        </p:nvSpPr>
        <p:spPr>
          <a:xfrm>
            <a:off x="640080" y="1417320"/>
            <a:ext cx="10881360" cy="548640"/>
          </a:xfrm>
          <a:prstGeom prst="rect">
            <a:avLst/>
          </a:prstGeom>
          <a:noFill/>
        </p:spPr>
        <p:txBody>
          <a:bodyPr wrap="square" anchor="t" lIns="0" rIns="0" tIns="0" bIns="0">
            <a:spAutoFit/>
          </a:bodyPr>
          <a:lstStyle/>
          <a:p>
            <a:pPr algn="l">
              <a:lnSpc>
                <a:spcPct val="100000"/>
              </a:lnSpc>
            </a:pPr>
            <a:r>
              <a:rPr sz="1450" b="0" i="0">
                <a:solidFill>
                  <a:srgbClr val="48576A"/>
                </a:solidFill>
                <a:latin typeface="Segoe UI"/>
              </a:rPr>
              <a:t>India's government took the DEG idea and is building it, for real, as national digital public infrastructure (DPI).</a:t>
            </a:r>
          </a:p>
        </p:txBody>
      </p:sp>
      <p:sp>
        <p:nvSpPr>
          <p:cNvPr id="5" name="Rectangle 4"/>
          <p:cNvSpPr/>
          <p:nvPr/>
        </p:nvSpPr>
        <p:spPr>
          <a:xfrm>
            <a:off x="640080" y="2286000"/>
            <a:ext cx="2103120" cy="502920"/>
          </a:xfrm>
          <a:prstGeom prst="rect">
            <a:avLst/>
          </a:prstGeom>
          <a:solidFill>
            <a:srgbClr val="121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395728"/>
            <a:ext cx="2103120" cy="320040"/>
          </a:xfrm>
          <a:prstGeom prst="rect">
            <a:avLst/>
          </a:prstGeom>
          <a:noFill/>
        </p:spPr>
        <p:txBody>
          <a:bodyPr wrap="square" anchor="t" lIns="0" rIns="0" tIns="0" bIns="0">
            <a:spAutoFit/>
          </a:bodyPr>
          <a:lstStyle/>
          <a:p>
            <a:pPr algn="ctr">
              <a:lnSpc>
                <a:spcPct val="100000"/>
              </a:lnSpc>
            </a:pPr>
            <a:r>
              <a:rPr sz="1100" b="1" i="0">
                <a:solidFill>
                  <a:srgbClr val="E8A33D"/>
                </a:solidFill>
                <a:latin typeface="Segoe UI Semibold"/>
              </a:rPr>
              <a:t>OWNER</a:t>
            </a:r>
          </a:p>
        </p:txBody>
      </p:sp>
      <p:sp>
        <p:nvSpPr>
          <p:cNvPr id="7" name="TextBox 6"/>
          <p:cNvSpPr txBox="1"/>
          <p:nvPr/>
        </p:nvSpPr>
        <p:spPr>
          <a:xfrm>
            <a:off x="2880360" y="2368296"/>
            <a:ext cx="8412480" cy="457200"/>
          </a:xfrm>
          <a:prstGeom prst="rect">
            <a:avLst/>
          </a:prstGeom>
          <a:noFill/>
        </p:spPr>
        <p:txBody>
          <a:bodyPr wrap="square" anchor="t" lIns="0" rIns="0" tIns="0" bIns="0">
            <a:spAutoFit/>
          </a:bodyPr>
          <a:lstStyle/>
          <a:p>
            <a:pPr algn="l">
              <a:lnSpc>
                <a:spcPct val="100000"/>
              </a:lnSpc>
            </a:pPr>
            <a:r>
              <a:rPr sz="1450" b="0" i="0">
                <a:solidFill>
                  <a:srgbClr val="121B27"/>
                </a:solidFill>
                <a:latin typeface="Segoe UI"/>
              </a:rPr>
              <a:t>Ministry of Power, Government of India</a:t>
            </a:r>
          </a:p>
        </p:txBody>
      </p:sp>
      <p:sp>
        <p:nvSpPr>
          <p:cNvPr id="8" name="Rectangle 7"/>
          <p:cNvSpPr/>
          <p:nvPr/>
        </p:nvSpPr>
        <p:spPr>
          <a:xfrm>
            <a:off x="640080" y="2907792"/>
            <a:ext cx="2103120" cy="502920"/>
          </a:xfrm>
          <a:prstGeom prst="rect">
            <a:avLst/>
          </a:prstGeom>
          <a:solidFill>
            <a:srgbClr val="121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2103120" cy="320040"/>
          </a:xfrm>
          <a:prstGeom prst="rect">
            <a:avLst/>
          </a:prstGeom>
          <a:noFill/>
        </p:spPr>
        <p:txBody>
          <a:bodyPr wrap="square" anchor="t" lIns="0" rIns="0" tIns="0" bIns="0">
            <a:spAutoFit/>
          </a:bodyPr>
          <a:lstStyle/>
          <a:p>
            <a:pPr algn="ctr">
              <a:lnSpc>
                <a:spcPct val="100000"/>
              </a:lnSpc>
            </a:pPr>
            <a:r>
              <a:rPr sz="1100" b="1" i="0">
                <a:solidFill>
                  <a:srgbClr val="E8A33D"/>
                </a:solidFill>
                <a:latin typeface="Segoe UI Semibold"/>
              </a:rPr>
              <a:t>BUILDER</a:t>
            </a:r>
          </a:p>
        </p:txBody>
      </p:sp>
      <p:sp>
        <p:nvSpPr>
          <p:cNvPr id="10" name="TextBox 9"/>
          <p:cNvSpPr txBox="1"/>
          <p:nvPr/>
        </p:nvSpPr>
        <p:spPr>
          <a:xfrm>
            <a:off x="2880360" y="2990088"/>
            <a:ext cx="8412480" cy="457200"/>
          </a:xfrm>
          <a:prstGeom prst="rect">
            <a:avLst/>
          </a:prstGeom>
          <a:noFill/>
        </p:spPr>
        <p:txBody>
          <a:bodyPr wrap="square" anchor="t" lIns="0" rIns="0" tIns="0" bIns="0">
            <a:spAutoFit/>
          </a:bodyPr>
          <a:lstStyle/>
          <a:p>
            <a:pPr algn="l">
              <a:lnSpc>
                <a:spcPct val="100000"/>
              </a:lnSpc>
            </a:pPr>
            <a:r>
              <a:rPr sz="1450" b="0" i="0">
                <a:solidFill>
                  <a:srgbClr val="121B27"/>
                </a:solidFill>
                <a:latin typeface="Segoe UI"/>
              </a:rPr>
              <a:t>REC Limited (nodal agency) + FSR Global (knowledge partner)</a:t>
            </a:r>
          </a:p>
        </p:txBody>
      </p:sp>
      <p:sp>
        <p:nvSpPr>
          <p:cNvPr id="11" name="Rectangle 10"/>
          <p:cNvSpPr/>
          <p:nvPr/>
        </p:nvSpPr>
        <p:spPr>
          <a:xfrm>
            <a:off x="640080" y="3529584"/>
            <a:ext cx="2103120" cy="502920"/>
          </a:xfrm>
          <a:prstGeom prst="rect">
            <a:avLst/>
          </a:prstGeom>
          <a:solidFill>
            <a:srgbClr val="121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639312"/>
            <a:ext cx="2103120" cy="320040"/>
          </a:xfrm>
          <a:prstGeom prst="rect">
            <a:avLst/>
          </a:prstGeom>
          <a:noFill/>
        </p:spPr>
        <p:txBody>
          <a:bodyPr wrap="square" anchor="t" lIns="0" rIns="0" tIns="0" bIns="0">
            <a:spAutoFit/>
          </a:bodyPr>
          <a:lstStyle/>
          <a:p>
            <a:pPr algn="ctr">
              <a:lnSpc>
                <a:spcPct val="100000"/>
              </a:lnSpc>
            </a:pPr>
            <a:r>
              <a:rPr sz="1100" b="1" i="0">
                <a:solidFill>
                  <a:srgbClr val="E8A33D"/>
                </a:solidFill>
                <a:latin typeface="Segoe UI Semibold"/>
              </a:rPr>
              <a:t>CATEGORY</a:t>
            </a:r>
          </a:p>
        </p:txBody>
      </p:sp>
      <p:sp>
        <p:nvSpPr>
          <p:cNvPr id="13" name="TextBox 12"/>
          <p:cNvSpPr txBox="1"/>
          <p:nvPr/>
        </p:nvSpPr>
        <p:spPr>
          <a:xfrm>
            <a:off x="2880360" y="3611880"/>
            <a:ext cx="8412480" cy="457200"/>
          </a:xfrm>
          <a:prstGeom prst="rect">
            <a:avLst/>
          </a:prstGeom>
          <a:noFill/>
        </p:spPr>
        <p:txBody>
          <a:bodyPr wrap="square" anchor="t" lIns="0" rIns="0" tIns="0" bIns="0">
            <a:spAutoFit/>
          </a:bodyPr>
          <a:lstStyle/>
          <a:p>
            <a:pPr algn="l">
              <a:lnSpc>
                <a:spcPct val="100000"/>
              </a:lnSpc>
            </a:pPr>
            <a:r>
              <a:rPr sz="1450" b="0" i="0">
                <a:solidFill>
                  <a:srgbClr val="121B27"/>
                </a:solidFill>
                <a:latin typeface="Segoe UI"/>
              </a:rPr>
              <a:t>Digital Public Infrastructure — same class as Aadhaar, UPI, DigiLocker</a:t>
            </a:r>
          </a:p>
        </p:txBody>
      </p:sp>
      <p:sp>
        <p:nvSpPr>
          <p:cNvPr id="14" name="Rectangle 13"/>
          <p:cNvSpPr/>
          <p:nvPr/>
        </p:nvSpPr>
        <p:spPr>
          <a:xfrm>
            <a:off x="640080" y="4151376"/>
            <a:ext cx="2103120" cy="502920"/>
          </a:xfrm>
          <a:prstGeom prst="rect">
            <a:avLst/>
          </a:prstGeom>
          <a:solidFill>
            <a:srgbClr val="121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261104"/>
            <a:ext cx="2103120" cy="320040"/>
          </a:xfrm>
          <a:prstGeom prst="rect">
            <a:avLst/>
          </a:prstGeom>
          <a:noFill/>
        </p:spPr>
        <p:txBody>
          <a:bodyPr wrap="square" anchor="t" lIns="0" rIns="0" tIns="0" bIns="0">
            <a:spAutoFit/>
          </a:bodyPr>
          <a:lstStyle/>
          <a:p>
            <a:pPr algn="ctr">
              <a:lnSpc>
                <a:spcPct val="100000"/>
              </a:lnSpc>
            </a:pPr>
            <a:r>
              <a:rPr sz="1100" b="1" i="0">
                <a:solidFill>
                  <a:srgbClr val="E8A33D"/>
                </a:solidFill>
                <a:latin typeface="Segoe UI Semibold"/>
              </a:rPr>
              <a:t>STATUS</a:t>
            </a:r>
          </a:p>
        </p:txBody>
      </p:sp>
      <p:sp>
        <p:nvSpPr>
          <p:cNvPr id="16" name="TextBox 15"/>
          <p:cNvSpPr txBox="1"/>
          <p:nvPr/>
        </p:nvSpPr>
        <p:spPr>
          <a:xfrm>
            <a:off x="2880360" y="4233672"/>
            <a:ext cx="8412480" cy="457200"/>
          </a:xfrm>
          <a:prstGeom prst="rect">
            <a:avLst/>
          </a:prstGeom>
          <a:noFill/>
        </p:spPr>
        <p:txBody>
          <a:bodyPr wrap="square" anchor="t" lIns="0" rIns="0" tIns="0" bIns="0">
            <a:spAutoFit/>
          </a:bodyPr>
          <a:lstStyle/>
          <a:p>
            <a:pPr algn="l">
              <a:lnSpc>
                <a:spcPct val="100000"/>
              </a:lnSpc>
            </a:pPr>
            <a:r>
              <a:rPr sz="1450" b="0" i="0">
                <a:solidFill>
                  <a:srgbClr val="121B27"/>
                </a:solidFill>
                <a:latin typeface="Segoe UI"/>
              </a:rPr>
              <a:t>Strategy/Architecture at v0.4 (March 2026); actively evolving</a:t>
            </a:r>
          </a:p>
        </p:txBody>
      </p:sp>
      <p:sp>
        <p:nvSpPr>
          <p:cNvPr id="17" name="Rectangle 16"/>
          <p:cNvSpPr/>
          <p:nvPr/>
        </p:nvSpPr>
        <p:spPr>
          <a:xfrm>
            <a:off x="640080" y="4892040"/>
            <a:ext cx="10881360" cy="141732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5038344"/>
            <a:ext cx="10479024" cy="411480"/>
          </a:xfrm>
          <a:prstGeom prst="rect">
            <a:avLst/>
          </a:prstGeom>
          <a:noFill/>
        </p:spPr>
        <p:txBody>
          <a:bodyPr wrap="square" anchor="t" lIns="0" rIns="0" tIns="0" bIns="0">
            <a:spAutoFit/>
          </a:bodyPr>
          <a:lstStyle/>
          <a:p>
            <a:pPr algn="l">
              <a:lnSpc>
                <a:spcPct val="100000"/>
              </a:lnSpc>
            </a:pPr>
            <a:r>
              <a:rPr sz="1550" b="1" i="0">
                <a:solidFill>
                  <a:srgbClr val="121B27"/>
                </a:solidFill>
                <a:latin typeface="Segoe UI Semibold"/>
              </a:rPr>
              <a:t>Already proven, not theoretical</a:t>
            </a:r>
          </a:p>
        </p:txBody>
      </p:sp>
      <p:sp>
        <p:nvSpPr>
          <p:cNvPr id="19" name="TextBox 18"/>
          <p:cNvSpPr txBox="1"/>
          <p:nvPr/>
        </p:nvSpPr>
        <p:spPr>
          <a:xfrm>
            <a:off x="841248" y="5458968"/>
            <a:ext cx="10479024" cy="685800"/>
          </a:xfrm>
          <a:prstGeom prst="rect">
            <a:avLst/>
          </a:prstGeom>
          <a:noFill/>
        </p:spPr>
        <p:txBody>
          <a:bodyPr wrap="square" lIns="0" rIns="0" tIns="0" bIns="0">
            <a:spAutoFit/>
          </a:bodyPr>
          <a:lstStyle/>
          <a:p>
            <a:pPr>
              <a:lnSpc>
                <a:spcPct val="115000"/>
              </a:lnSpc>
              <a:spcAft>
                <a:spcPts val="600"/>
              </a:spcAft>
            </a:pPr>
            <a:r>
              <a:rPr sz="1250" b="1">
                <a:solidFill>
                  <a:srgbClr val="C87C1C"/>
                </a:solidFill>
                <a:latin typeface="Segoe UI"/>
              </a:rPr>
              <a:t>—  </a:t>
            </a:r>
            <a:r>
              <a:rPr sz="1250">
                <a:solidFill>
                  <a:srgbClr val="48576A"/>
                </a:solidFill>
                <a:latin typeface="Segoe UI"/>
              </a:rPr>
              <a:t>4 real DISCOMs (Uttar Pradesh, Andhra Pradesh, Gujarat, Maharashtra) built adapters and demonstrated live use cases in a 30-day pilot</a:t>
            </a:r>
          </a:p>
          <a:p>
            <a:pPr>
              <a:lnSpc>
                <a:spcPct val="115000"/>
              </a:lnSpc>
              <a:spcAft>
                <a:spcPts val="600"/>
              </a:spcAft>
            </a:pPr>
            <a:r>
              <a:rPr sz="1250" b="1">
                <a:solidFill>
                  <a:srgbClr val="C87C1C"/>
                </a:solidFill>
                <a:latin typeface="Segoe UI"/>
              </a:rPr>
              <a:t>—  </a:t>
            </a:r>
            <a:r>
              <a:rPr sz="1250">
                <a:solidFill>
                  <a:srgbClr val="48576A"/>
                </a:solidFill>
                <a:latin typeface="Segoe UI"/>
              </a:rPr>
              <a:t>A real inter-state peer-to-peer energy trade (Meerut farmer -&gt; Delhi shop) was demonstrated publicly at the India AI Impact Summit 2026</a:t>
            </a:r>
          </a:p>
        </p:txBody>
      </p:sp>
      <p:sp>
        <p:nvSpPr>
          <p:cNvPr id="20" name="TextBox 19"/>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Section 03 — India's Real Program</a:t>
            </a:r>
          </a:p>
        </p:txBody>
      </p:sp>
      <p:sp>
        <p:nvSpPr>
          <p:cNvPr id="21" name="TextBox 20"/>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7</a:t>
            </a:r>
          </a:p>
        </p:txBody>
      </p:sp>
      <p:sp>
        <p:nvSpPr>
          <p:cNvPr id="22" name="Rectangle 21"/>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03 · INDIA'S REAL PROGRAM</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How IES actually works</a:t>
            </a:r>
          </a:p>
        </p:txBody>
      </p:sp>
      <p:sp>
        <p:nvSpPr>
          <p:cNvPr id="4" name="TextBox 3"/>
          <p:cNvSpPr txBox="1"/>
          <p:nvPr/>
        </p:nvSpPr>
        <p:spPr>
          <a:xfrm>
            <a:off x="640080" y="1417320"/>
            <a:ext cx="10881360" cy="457200"/>
          </a:xfrm>
          <a:prstGeom prst="rect">
            <a:avLst/>
          </a:prstGeom>
          <a:noFill/>
        </p:spPr>
        <p:txBody>
          <a:bodyPr wrap="square" anchor="t" lIns="0" rIns="0" tIns="0" bIns="0">
            <a:spAutoFit/>
          </a:bodyPr>
          <a:lstStyle/>
          <a:p>
            <a:pPr algn="l">
              <a:lnSpc>
                <a:spcPct val="100000"/>
              </a:lnSpc>
            </a:pPr>
            <a:r>
              <a:rPr sz="1400" b="0" i="0">
                <a:solidFill>
                  <a:srgbClr val="48576A"/>
                </a:solidFill>
                <a:latin typeface="Segoe UI"/>
              </a:rPr>
              <a:t>IES holds no data of its own — exactly like UPI holds no money. It only standardises how systems find and trust each other.</a:t>
            </a:r>
          </a:p>
        </p:txBody>
      </p:sp>
      <p:sp>
        <p:nvSpPr>
          <p:cNvPr id="5" name="Rectangle 4"/>
          <p:cNvSpPr/>
          <p:nvPr/>
        </p:nvSpPr>
        <p:spPr>
          <a:xfrm>
            <a:off x="777240" y="2286000"/>
            <a:ext cx="3108960" cy="237744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2514600"/>
            <a:ext cx="502920" cy="502920"/>
          </a:xfrm>
          <a:prstGeom prst="roundRect">
            <a:avLst>
              <a:gd name="adj" fmla="val 50000"/>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a:solidFill>
                  <a:srgbClr val="FFFFFF"/>
                </a:solidFill>
                <a:latin typeface="Segoe UI Semibold"/>
              </a:rPr>
              <a:t>1</a:t>
            </a:r>
          </a:p>
        </p:txBody>
      </p:sp>
      <p:sp>
        <p:nvSpPr>
          <p:cNvPr id="7" name="TextBox 6"/>
          <p:cNvSpPr txBox="1"/>
          <p:nvPr/>
        </p:nvSpPr>
        <p:spPr>
          <a:xfrm>
            <a:off x="1005840" y="3200400"/>
            <a:ext cx="2651760" cy="365760"/>
          </a:xfrm>
          <a:prstGeom prst="rect">
            <a:avLst/>
          </a:prstGeom>
          <a:noFill/>
        </p:spPr>
        <p:txBody>
          <a:bodyPr wrap="square" anchor="t" lIns="0" rIns="0" tIns="0" bIns="0">
            <a:spAutoFit/>
          </a:bodyPr>
          <a:lstStyle/>
          <a:p>
            <a:pPr algn="l">
              <a:lnSpc>
                <a:spcPct val="100000"/>
              </a:lnSpc>
            </a:pPr>
            <a:r>
              <a:rPr sz="1700" b="1" i="0">
                <a:solidFill>
                  <a:srgbClr val="121B27"/>
                </a:solidFill>
                <a:latin typeface="Segoe UI Semibold"/>
              </a:rPr>
              <a:t>REGISTER</a:t>
            </a:r>
          </a:p>
        </p:txBody>
      </p:sp>
      <p:sp>
        <p:nvSpPr>
          <p:cNvPr id="8" name="TextBox 7"/>
          <p:cNvSpPr txBox="1"/>
          <p:nvPr/>
        </p:nvSpPr>
        <p:spPr>
          <a:xfrm>
            <a:off x="1005840" y="3611880"/>
            <a:ext cx="2651760" cy="1005840"/>
          </a:xfrm>
          <a:prstGeom prst="rect">
            <a:avLst/>
          </a:prstGeom>
          <a:noFill/>
        </p:spPr>
        <p:txBody>
          <a:bodyPr wrap="square" anchor="t" lIns="0" rIns="0" tIns="0" bIns="0">
            <a:spAutoFit/>
          </a:bodyPr>
          <a:lstStyle/>
          <a:p>
            <a:pPr algn="l">
              <a:lnSpc>
                <a:spcPct val="125000"/>
              </a:lnSpc>
            </a:pPr>
            <a:r>
              <a:rPr sz="1250" b="0" i="0">
                <a:solidFill>
                  <a:srgbClr val="48576A"/>
                </a:solidFill>
                <a:latin typeface="Segoe UI"/>
              </a:rPr>
              <a:t>Get a verifiable digital identity</a:t>
            </a:r>
          </a:p>
          <a:p>
            <a:pPr algn="l">
              <a:lnSpc>
                <a:spcPct val="125000"/>
              </a:lnSpc>
            </a:pPr>
            <a:r>
              <a:rPr sz="1250" b="0" i="0">
                <a:solidFill>
                  <a:srgbClr val="48576A"/>
                </a:solidFill>
                <a:latin typeface="Segoe UI"/>
              </a:rPr>
              <a:t>(a did:web) and list it in a shared</a:t>
            </a:r>
          </a:p>
          <a:p>
            <a:pPr algn="l">
              <a:lnSpc>
                <a:spcPct val="125000"/>
              </a:lnSpc>
            </a:pPr>
            <a:r>
              <a:rPr sz="1250" b="0" i="0">
                <a:solidFill>
                  <a:srgbClr val="48576A"/>
                </a:solidFill>
                <a:latin typeface="Segoe UI"/>
              </a:rPr>
              <a:t>directory. Done once.</a:t>
            </a:r>
          </a:p>
        </p:txBody>
      </p:sp>
      <p:sp>
        <p:nvSpPr>
          <p:cNvPr id="9" name="Right Arrow 8"/>
          <p:cNvSpPr/>
          <p:nvPr/>
        </p:nvSpPr>
        <p:spPr>
          <a:xfrm>
            <a:off x="3941064" y="3337560"/>
            <a:ext cx="365760" cy="320040"/>
          </a:xfrm>
          <a:prstGeom prst="rightArrow">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2286000"/>
            <a:ext cx="3108960" cy="237744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2514600"/>
            <a:ext cx="502920" cy="502920"/>
          </a:xfrm>
          <a:prstGeom prst="roundRect">
            <a:avLst>
              <a:gd name="adj" fmla="val 50000"/>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a:solidFill>
                  <a:srgbClr val="FFFFFF"/>
                </a:solidFill>
                <a:latin typeface="Segoe UI Semibold"/>
              </a:rPr>
              <a:t>2</a:t>
            </a:r>
          </a:p>
        </p:txBody>
      </p:sp>
      <p:sp>
        <p:nvSpPr>
          <p:cNvPr id="12" name="TextBox 11"/>
          <p:cNvSpPr txBox="1"/>
          <p:nvPr/>
        </p:nvSpPr>
        <p:spPr>
          <a:xfrm>
            <a:off x="4572000" y="3200400"/>
            <a:ext cx="2651760" cy="365760"/>
          </a:xfrm>
          <a:prstGeom prst="rect">
            <a:avLst/>
          </a:prstGeom>
          <a:noFill/>
        </p:spPr>
        <p:txBody>
          <a:bodyPr wrap="square" anchor="t" lIns="0" rIns="0" tIns="0" bIns="0">
            <a:spAutoFit/>
          </a:bodyPr>
          <a:lstStyle/>
          <a:p>
            <a:pPr algn="l">
              <a:lnSpc>
                <a:spcPct val="100000"/>
              </a:lnSpc>
            </a:pPr>
            <a:r>
              <a:rPr sz="1700" b="1" i="0">
                <a:solidFill>
                  <a:srgbClr val="121B27"/>
                </a:solidFill>
                <a:latin typeface="Segoe UI Semibold"/>
              </a:rPr>
              <a:t>DISCOVER</a:t>
            </a:r>
          </a:p>
        </p:txBody>
      </p:sp>
      <p:sp>
        <p:nvSpPr>
          <p:cNvPr id="13" name="TextBox 12"/>
          <p:cNvSpPr txBox="1"/>
          <p:nvPr/>
        </p:nvSpPr>
        <p:spPr>
          <a:xfrm>
            <a:off x="4572000" y="3611880"/>
            <a:ext cx="2651760" cy="1005840"/>
          </a:xfrm>
          <a:prstGeom prst="rect">
            <a:avLst/>
          </a:prstGeom>
          <a:noFill/>
        </p:spPr>
        <p:txBody>
          <a:bodyPr wrap="square" anchor="t" lIns="0" rIns="0" tIns="0" bIns="0">
            <a:spAutoFit/>
          </a:bodyPr>
          <a:lstStyle/>
          <a:p>
            <a:pPr algn="l">
              <a:lnSpc>
                <a:spcPct val="125000"/>
              </a:lnSpc>
            </a:pPr>
            <a:r>
              <a:rPr sz="1250" b="0" i="0">
                <a:solidFill>
                  <a:srgbClr val="48576A"/>
                </a:solidFill>
                <a:latin typeface="Segoe UI"/>
              </a:rPr>
              <a:t>Two systems look each other up</a:t>
            </a:r>
          </a:p>
          <a:p>
            <a:pPr algn="l">
              <a:lnSpc>
                <a:spcPct val="125000"/>
              </a:lnSpc>
            </a:pPr>
            <a:r>
              <a:rPr sz="1250" b="0" i="0">
                <a:solidFill>
                  <a:srgbClr val="48576A"/>
                </a:solidFill>
                <a:latin typeface="Segoe UI"/>
              </a:rPr>
              <a:t>and agree terms, over the open</a:t>
            </a:r>
          </a:p>
          <a:p>
            <a:pPr algn="l">
              <a:lnSpc>
                <a:spcPct val="125000"/>
              </a:lnSpc>
            </a:pPr>
            <a:r>
              <a:rPr sz="1250" b="0" i="0">
                <a:solidFill>
                  <a:srgbClr val="48576A"/>
                </a:solidFill>
                <a:latin typeface="Segoe UI"/>
              </a:rPr>
              <a:t>Beckn protocol.</a:t>
            </a:r>
          </a:p>
        </p:txBody>
      </p:sp>
      <p:sp>
        <p:nvSpPr>
          <p:cNvPr id="14" name="Right Arrow 13"/>
          <p:cNvSpPr/>
          <p:nvPr/>
        </p:nvSpPr>
        <p:spPr>
          <a:xfrm>
            <a:off x="7507224" y="3337560"/>
            <a:ext cx="365760" cy="320040"/>
          </a:xfrm>
          <a:prstGeom prst="rightArrow">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09560" y="2286000"/>
            <a:ext cx="3108960" cy="237744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38160" y="2514600"/>
            <a:ext cx="502920" cy="502920"/>
          </a:xfrm>
          <a:prstGeom prst="roundRect">
            <a:avLst>
              <a:gd name="adj" fmla="val 50000"/>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a:solidFill>
                  <a:srgbClr val="FFFFFF"/>
                </a:solidFill>
                <a:latin typeface="Segoe UI Semibold"/>
              </a:rPr>
              <a:t>3</a:t>
            </a:r>
          </a:p>
        </p:txBody>
      </p:sp>
      <p:sp>
        <p:nvSpPr>
          <p:cNvPr id="17" name="TextBox 16"/>
          <p:cNvSpPr txBox="1"/>
          <p:nvPr/>
        </p:nvSpPr>
        <p:spPr>
          <a:xfrm>
            <a:off x="8138160" y="3200400"/>
            <a:ext cx="2651760" cy="365760"/>
          </a:xfrm>
          <a:prstGeom prst="rect">
            <a:avLst/>
          </a:prstGeom>
          <a:noFill/>
        </p:spPr>
        <p:txBody>
          <a:bodyPr wrap="square" anchor="t" lIns="0" rIns="0" tIns="0" bIns="0">
            <a:spAutoFit/>
          </a:bodyPr>
          <a:lstStyle/>
          <a:p>
            <a:pPr algn="l">
              <a:lnSpc>
                <a:spcPct val="100000"/>
              </a:lnSpc>
            </a:pPr>
            <a:r>
              <a:rPr sz="1700" b="1" i="0">
                <a:solidFill>
                  <a:srgbClr val="121B27"/>
                </a:solidFill>
                <a:latin typeface="Segoe UI Semibold"/>
              </a:rPr>
              <a:t>EXCHANGE</a:t>
            </a:r>
          </a:p>
        </p:txBody>
      </p:sp>
      <p:sp>
        <p:nvSpPr>
          <p:cNvPr id="18" name="TextBox 17"/>
          <p:cNvSpPr txBox="1"/>
          <p:nvPr/>
        </p:nvSpPr>
        <p:spPr>
          <a:xfrm>
            <a:off x="8138160" y="3611880"/>
            <a:ext cx="2651760" cy="1005840"/>
          </a:xfrm>
          <a:prstGeom prst="rect">
            <a:avLst/>
          </a:prstGeom>
          <a:noFill/>
        </p:spPr>
        <p:txBody>
          <a:bodyPr wrap="square" anchor="t" lIns="0" rIns="0" tIns="0" bIns="0">
            <a:spAutoFit/>
          </a:bodyPr>
          <a:lstStyle/>
          <a:p>
            <a:pPr algn="l">
              <a:lnSpc>
                <a:spcPct val="125000"/>
              </a:lnSpc>
            </a:pPr>
            <a:r>
              <a:rPr sz="1250" b="0" i="0">
                <a:solidFill>
                  <a:srgbClr val="48576A"/>
                </a:solidFill>
                <a:latin typeface="Segoe UI"/>
              </a:rPr>
              <a:t>Data moves over a signed channel,</a:t>
            </a:r>
          </a:p>
          <a:p>
            <a:pPr algn="l">
              <a:lnSpc>
                <a:spcPct val="125000"/>
              </a:lnSpc>
            </a:pPr>
            <a:r>
              <a:rPr sz="1250" b="0" i="0">
                <a:solidFill>
                  <a:srgbClr val="48576A"/>
                </a:solidFill>
                <a:latin typeface="Segoe UI"/>
              </a:rPr>
              <a:t>shaped by a published schema —</a:t>
            </a:r>
          </a:p>
          <a:p>
            <a:pPr algn="l">
              <a:lnSpc>
                <a:spcPct val="125000"/>
              </a:lnSpc>
            </a:pPr>
            <a:r>
              <a:rPr sz="1250" b="0" i="0">
                <a:solidFill>
                  <a:srgbClr val="48576A"/>
                </a:solidFill>
                <a:latin typeface="Segoe UI"/>
              </a:rPr>
              <a:t>no bespoke integration per pair.</a:t>
            </a:r>
          </a:p>
        </p:txBody>
      </p:sp>
      <p:sp>
        <p:nvSpPr>
          <p:cNvPr id="19" name="TextBox 18"/>
          <p:cNvSpPr txBox="1"/>
          <p:nvPr/>
        </p:nvSpPr>
        <p:spPr>
          <a:xfrm>
            <a:off x="640080" y="5074920"/>
            <a:ext cx="10881360" cy="1188720"/>
          </a:xfrm>
          <a:prstGeom prst="rect">
            <a:avLst/>
          </a:prstGeom>
          <a:noFill/>
        </p:spPr>
        <p:txBody>
          <a:bodyPr wrap="square" anchor="t" lIns="0" rIns="0" tIns="0" bIns="0">
            <a:spAutoFit/>
          </a:bodyPr>
          <a:lstStyle/>
          <a:p>
            <a:pPr algn="l">
              <a:lnSpc>
                <a:spcPct val="130000"/>
              </a:lnSpc>
            </a:pPr>
            <a:r>
              <a:rPr sz="1350" b="0" i="0">
                <a:solidFill>
                  <a:srgbClr val="48576A"/>
                </a:solidFill>
                <a:latin typeface="Segoe UI"/>
              </a:rPr>
              <a:t>Critically for us as an outside company: the protocol layer above — identity, discovery, signed exchange — is already built and running. Our own work would sit entirely on top of it: a small mapping between a specific data source and IES's published schema, typically 200-1,000 lines of code per use case.</a:t>
            </a:r>
          </a:p>
        </p:txBody>
      </p:sp>
      <p:sp>
        <p:nvSpPr>
          <p:cNvPr id="20" name="TextBox 19"/>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Section 03 — India's Real Program</a:t>
            </a:r>
          </a:p>
        </p:txBody>
      </p:sp>
      <p:sp>
        <p:nvSpPr>
          <p:cNvPr id="21" name="TextBox 20"/>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8</a:t>
            </a:r>
          </a:p>
        </p:txBody>
      </p:sp>
      <p:sp>
        <p:nvSpPr>
          <p:cNvPr id="22" name="Rectangle 21"/>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41F"/>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E8A33D"/>
                </a:solidFill>
                <a:latin typeface="Segoe UI Semibold"/>
              </a:rPr>
              <a:t>04 · THE MARKET OPENING</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Segoe UI Semibold"/>
              </a:rPr>
              <a:t>Where the money actually is</a:t>
            </a:r>
          </a:p>
        </p:txBody>
      </p:sp>
      <p:sp>
        <p:nvSpPr>
          <p:cNvPr id="4" name="TextBox 3"/>
          <p:cNvSpPr txBox="1"/>
          <p:nvPr/>
        </p:nvSpPr>
        <p:spPr>
          <a:xfrm>
            <a:off x="640080" y="1417320"/>
            <a:ext cx="10881360" cy="548640"/>
          </a:xfrm>
          <a:prstGeom prst="rect">
            <a:avLst/>
          </a:prstGeom>
          <a:noFill/>
        </p:spPr>
        <p:txBody>
          <a:bodyPr wrap="square" anchor="t" lIns="0" rIns="0" tIns="0" bIns="0">
            <a:spAutoFit/>
          </a:bodyPr>
          <a:lstStyle/>
          <a:p>
            <a:pPr algn="l">
              <a:lnSpc>
                <a:spcPct val="100000"/>
              </a:lnSpc>
            </a:pPr>
            <a:r>
              <a:rPr sz="1450" b="0" i="0">
                <a:solidFill>
                  <a:srgbClr val="AEBBCB"/>
                </a:solidFill>
                <a:latin typeface="Segoe UI"/>
              </a:rPr>
              <a:t>The infrastructure is free and public. Value accrues to whoever builds on top of it — the same pattern as UPI and ONDC.</a:t>
            </a:r>
          </a:p>
        </p:txBody>
      </p:sp>
      <p:sp>
        <p:nvSpPr>
          <p:cNvPr id="5" name="Rectangle 4"/>
          <p:cNvSpPr/>
          <p:nvPr/>
        </p:nvSpPr>
        <p:spPr>
          <a:xfrm>
            <a:off x="640080" y="2194560"/>
            <a:ext cx="5257800" cy="1874519"/>
          </a:xfrm>
          <a:prstGeom prst="rect">
            <a:avLst/>
          </a:prstGeom>
          <a:solidFill>
            <a:srgbClr val="121B27"/>
          </a:solidFill>
          <a:ln w="9525">
            <a:solidFill>
              <a:srgbClr val="26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340864"/>
            <a:ext cx="4855464" cy="411480"/>
          </a:xfrm>
          <a:prstGeom prst="rect">
            <a:avLst/>
          </a:prstGeom>
          <a:noFill/>
        </p:spPr>
        <p:txBody>
          <a:bodyPr wrap="square" anchor="t" lIns="0" rIns="0" tIns="0" bIns="0">
            <a:spAutoFit/>
          </a:bodyPr>
          <a:lstStyle/>
          <a:p>
            <a:pPr algn="l">
              <a:lnSpc>
                <a:spcPct val="100000"/>
              </a:lnSpc>
            </a:pPr>
            <a:r>
              <a:rPr sz="1550" b="1" i="0">
                <a:solidFill>
                  <a:srgbClr val="FFFFFF"/>
                </a:solidFill>
                <a:latin typeface="Segoe UI Semibold"/>
              </a:rPr>
              <a:t>What happened with UPI</a:t>
            </a:r>
          </a:p>
        </p:txBody>
      </p:sp>
      <p:sp>
        <p:nvSpPr>
          <p:cNvPr id="7" name="TextBox 6"/>
          <p:cNvSpPr txBox="1"/>
          <p:nvPr/>
        </p:nvSpPr>
        <p:spPr>
          <a:xfrm>
            <a:off x="841248" y="2761488"/>
            <a:ext cx="4855464" cy="1142999"/>
          </a:xfrm>
          <a:prstGeom prst="rect">
            <a:avLst/>
          </a:prstGeom>
          <a:noFill/>
        </p:spPr>
        <p:txBody>
          <a:bodyPr wrap="square" lIns="0" rIns="0" tIns="0" bIns="0">
            <a:spAutoFit/>
          </a:bodyPr>
          <a:lstStyle/>
          <a:p>
            <a:pPr>
              <a:lnSpc>
                <a:spcPct val="115000"/>
              </a:lnSpc>
              <a:spcAft>
                <a:spcPts val="600"/>
              </a:spcAft>
            </a:pPr>
            <a:r>
              <a:rPr sz="1250" b="1">
                <a:solidFill>
                  <a:srgbClr val="C87C1C"/>
                </a:solidFill>
                <a:latin typeface="Segoe UI"/>
              </a:rPr>
              <a:t>—  </a:t>
            </a:r>
            <a:r>
              <a:rPr sz="1250">
                <a:solidFill>
                  <a:srgbClr val="AEBBCB"/>
                </a:solidFill>
                <a:latin typeface="Segoe UI"/>
              </a:rPr>
              <a:t>UPI itself made no company money</a:t>
            </a:r>
          </a:p>
          <a:p>
            <a:pPr>
              <a:lnSpc>
                <a:spcPct val="115000"/>
              </a:lnSpc>
              <a:spcAft>
                <a:spcPts val="600"/>
              </a:spcAft>
            </a:pPr>
            <a:r>
              <a:rPr sz="1250" b="1">
                <a:solidFill>
                  <a:srgbClr val="C87C1C"/>
                </a:solidFill>
                <a:latin typeface="Segoe UI"/>
              </a:rPr>
              <a:t>—  </a:t>
            </a:r>
            <a:r>
              <a:rPr sz="1250">
                <a:solidFill>
                  <a:srgbClr val="AEBBCB"/>
                </a:solidFill>
                <a:latin typeface="Segoe UI"/>
              </a:rPr>
              <a:t>PhonePe, Google Pay, Paytm built billion-dollar businesses ON TOP of it</a:t>
            </a:r>
          </a:p>
        </p:txBody>
      </p:sp>
      <p:sp>
        <p:nvSpPr>
          <p:cNvPr id="8" name="Rectangle 7"/>
          <p:cNvSpPr/>
          <p:nvPr/>
        </p:nvSpPr>
        <p:spPr>
          <a:xfrm>
            <a:off x="6263640" y="2194560"/>
            <a:ext cx="5257800" cy="1874519"/>
          </a:xfrm>
          <a:prstGeom prst="rect">
            <a:avLst/>
          </a:prstGeom>
          <a:solidFill>
            <a:srgbClr val="121B27"/>
          </a:solidFill>
          <a:ln w="9525">
            <a:solidFill>
              <a:srgbClr val="26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4808" y="2340864"/>
            <a:ext cx="4855464" cy="411480"/>
          </a:xfrm>
          <a:prstGeom prst="rect">
            <a:avLst/>
          </a:prstGeom>
          <a:noFill/>
        </p:spPr>
        <p:txBody>
          <a:bodyPr wrap="square" anchor="t" lIns="0" rIns="0" tIns="0" bIns="0">
            <a:spAutoFit/>
          </a:bodyPr>
          <a:lstStyle/>
          <a:p>
            <a:pPr algn="l">
              <a:lnSpc>
                <a:spcPct val="100000"/>
              </a:lnSpc>
            </a:pPr>
            <a:r>
              <a:rPr sz="1550" b="1" i="0">
                <a:solidFill>
                  <a:srgbClr val="FFFFFF"/>
                </a:solidFill>
                <a:latin typeface="Segoe UI Semibold"/>
              </a:rPr>
              <a:t>What happened with ONDC</a:t>
            </a:r>
          </a:p>
        </p:txBody>
      </p:sp>
      <p:sp>
        <p:nvSpPr>
          <p:cNvPr id="10" name="TextBox 9"/>
          <p:cNvSpPr txBox="1"/>
          <p:nvPr/>
        </p:nvSpPr>
        <p:spPr>
          <a:xfrm>
            <a:off x="6464808" y="2761488"/>
            <a:ext cx="4855464" cy="1142999"/>
          </a:xfrm>
          <a:prstGeom prst="rect">
            <a:avLst/>
          </a:prstGeom>
          <a:noFill/>
        </p:spPr>
        <p:txBody>
          <a:bodyPr wrap="square" lIns="0" rIns="0" tIns="0" bIns="0">
            <a:spAutoFit/>
          </a:bodyPr>
          <a:lstStyle/>
          <a:p>
            <a:pPr>
              <a:lnSpc>
                <a:spcPct val="115000"/>
              </a:lnSpc>
              <a:spcAft>
                <a:spcPts val="600"/>
              </a:spcAft>
            </a:pPr>
            <a:r>
              <a:rPr sz="1250" b="1">
                <a:solidFill>
                  <a:srgbClr val="C87C1C"/>
                </a:solidFill>
                <a:latin typeface="Segoe UI"/>
              </a:rPr>
              <a:t>—  </a:t>
            </a:r>
            <a:r>
              <a:rPr sz="1250">
                <a:solidFill>
                  <a:srgbClr val="AEBBCB"/>
                </a:solidFill>
                <a:latin typeface="Segoe UI"/>
              </a:rPr>
              <a:t>ONDC itself is a free, open network</a:t>
            </a:r>
          </a:p>
          <a:p>
            <a:pPr>
              <a:lnSpc>
                <a:spcPct val="115000"/>
              </a:lnSpc>
              <a:spcAft>
                <a:spcPts val="600"/>
              </a:spcAft>
            </a:pPr>
            <a:r>
              <a:rPr sz="1250" b="1">
                <a:solidFill>
                  <a:srgbClr val="C87C1C"/>
                </a:solidFill>
                <a:latin typeface="Segoe UI"/>
              </a:rPr>
              <a:t>—  </a:t>
            </a:r>
            <a:r>
              <a:rPr sz="1250">
                <a:solidFill>
                  <a:srgbClr val="AEBBCB"/>
                </a:solidFill>
                <a:latin typeface="Segoe UI"/>
              </a:rPr>
              <a:t>Seller apps and ride-hailing platforms (e.g. Namma Yatri) built real revenue on top</a:t>
            </a:r>
          </a:p>
        </p:txBody>
      </p:sp>
      <p:sp>
        <p:nvSpPr>
          <p:cNvPr id="11" name="Rectangle 10"/>
          <p:cNvSpPr/>
          <p:nvPr/>
        </p:nvSpPr>
        <p:spPr>
          <a:xfrm>
            <a:off x="640080" y="4206240"/>
            <a:ext cx="10881360" cy="1874519"/>
          </a:xfrm>
          <a:prstGeom prst="rect">
            <a:avLst/>
          </a:prstGeom>
          <a:solidFill>
            <a:srgbClr val="121B27"/>
          </a:solidFill>
          <a:ln w="9525">
            <a:solidFill>
              <a:srgbClr val="26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352544"/>
            <a:ext cx="10479024" cy="411480"/>
          </a:xfrm>
          <a:prstGeom prst="rect">
            <a:avLst/>
          </a:prstGeom>
          <a:noFill/>
        </p:spPr>
        <p:txBody>
          <a:bodyPr wrap="square" anchor="t" lIns="0" rIns="0" tIns="0" bIns="0">
            <a:spAutoFit/>
          </a:bodyPr>
          <a:lstStyle/>
          <a:p>
            <a:pPr algn="l">
              <a:lnSpc>
                <a:spcPct val="100000"/>
              </a:lnSpc>
            </a:pPr>
            <a:r>
              <a:rPr sz="1550" b="1" i="0">
                <a:solidFill>
                  <a:srgbClr val="FFFFFF"/>
                </a:solidFill>
                <a:latin typeface="Segoe UI Semibold"/>
              </a:rPr>
              <a:t>How outside companies get in today</a:t>
            </a:r>
          </a:p>
        </p:txBody>
      </p:sp>
      <p:sp>
        <p:nvSpPr>
          <p:cNvPr id="13" name="TextBox 12"/>
          <p:cNvSpPr txBox="1"/>
          <p:nvPr/>
        </p:nvSpPr>
        <p:spPr>
          <a:xfrm>
            <a:off x="841248" y="4773168"/>
            <a:ext cx="10479024" cy="1142999"/>
          </a:xfrm>
          <a:prstGeom prst="rect">
            <a:avLst/>
          </a:prstGeom>
          <a:noFill/>
        </p:spPr>
        <p:txBody>
          <a:bodyPr wrap="square" lIns="0" rIns="0" tIns="0" bIns="0">
            <a:spAutoFit/>
          </a:bodyPr>
          <a:lstStyle/>
          <a:p>
            <a:pPr>
              <a:lnSpc>
                <a:spcPct val="115000"/>
              </a:lnSpc>
              <a:spcAft>
                <a:spcPts val="600"/>
              </a:spcAft>
            </a:pPr>
            <a:r>
              <a:rPr sz="1250" b="1">
                <a:solidFill>
                  <a:srgbClr val="C87C1C"/>
                </a:solidFill>
                <a:latin typeface="Segoe UI"/>
              </a:rPr>
              <a:t>—  </a:t>
            </a:r>
            <a:r>
              <a:rPr sz="1250">
                <a:solidFill>
                  <a:srgbClr val="AEBBCB"/>
                </a:solidFill>
                <a:latin typeface="Segoe UI"/>
              </a:rPr>
              <a:t>REC Limited periodically issues open EOIs (Expression of Interest): here's a problem, submit a working prototype in weeks</a:t>
            </a:r>
          </a:p>
          <a:p>
            <a:pPr>
              <a:lnSpc>
                <a:spcPct val="115000"/>
              </a:lnSpc>
              <a:spcAft>
                <a:spcPts val="600"/>
              </a:spcAft>
            </a:pPr>
            <a:r>
              <a:rPr sz="1250" b="1">
                <a:solidFill>
                  <a:srgbClr val="C87C1C"/>
                </a:solidFill>
                <a:latin typeface="Segoe UI"/>
              </a:rPr>
              <a:t>—  </a:t>
            </a:r>
            <a:r>
              <a:rPr sz="1250">
                <a:solidFill>
                  <a:srgbClr val="AEBBCB"/>
                </a:solidFill>
                <a:latin typeface="Segoe UI"/>
              </a:rPr>
              <a:t>No procurement contract, no licence fee — participation is via a public sandbox and a public GitHub-based feedback channel</a:t>
            </a:r>
          </a:p>
          <a:p>
            <a:pPr>
              <a:lnSpc>
                <a:spcPct val="115000"/>
              </a:lnSpc>
              <a:spcAft>
                <a:spcPts val="600"/>
              </a:spcAft>
            </a:pPr>
            <a:r>
              <a:rPr sz="1250" b="1">
                <a:solidFill>
                  <a:srgbClr val="C87C1C"/>
                </a:solidFill>
                <a:latin typeface="Segoe UI"/>
              </a:rPr>
              <a:t>—  </a:t>
            </a:r>
            <a:r>
              <a:rPr sz="1250">
                <a:solidFill>
                  <a:srgbClr val="AEBBCB"/>
                </a:solidFill>
                <a:latin typeface="Segoe UI"/>
              </a:rPr>
              <a:t>This is a low-cost, low-commitment way to establish real technical credibility before any formal contract exists</a:t>
            </a:r>
          </a:p>
        </p:txBody>
      </p:sp>
      <p:sp>
        <p:nvSpPr>
          <p:cNvPr id="14" name="TextBox 13"/>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6B7C91"/>
                </a:solidFill>
                <a:latin typeface="Segoe UI"/>
              </a:rPr>
              <a:t>Section 04 — The Market Opening</a:t>
            </a:r>
          </a:p>
        </p:txBody>
      </p:sp>
      <p:sp>
        <p:nvSpPr>
          <p:cNvPr id="15" name="TextBox 14"/>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6B7C91"/>
                </a:solidFill>
                <a:latin typeface="Segoe UI"/>
              </a:rPr>
              <a:t>9</a:t>
            </a:r>
          </a:p>
        </p:txBody>
      </p:sp>
      <p:sp>
        <p:nvSpPr>
          <p:cNvPr id="16" name="Rectangle 15"/>
          <p:cNvSpPr/>
          <p:nvPr/>
        </p:nvSpPr>
        <p:spPr>
          <a:xfrm>
            <a:off x="640080" y="6446520"/>
            <a:ext cx="10908792" cy="9525"/>
          </a:xfrm>
          <a:prstGeom prst="rect">
            <a:avLst/>
          </a:prstGeom>
          <a:solidFill>
            <a:srgbClr val="2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05 · OUR PROPOSED FOCUS</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Eight named problems — five solved, two open</a:t>
            </a:r>
          </a:p>
        </p:txBody>
      </p:sp>
      <p:sp>
        <p:nvSpPr>
          <p:cNvPr id="4" name="Rectangle 3"/>
          <p:cNvSpPr/>
          <p:nvPr/>
        </p:nvSpPr>
        <p:spPr>
          <a:xfrm>
            <a:off x="640080" y="1508760"/>
            <a:ext cx="10881360" cy="566928"/>
          </a:xfrm>
          <a:prstGeom prst="rect">
            <a:avLst/>
          </a:prstGeom>
          <a:solidFill>
            <a:srgbClr val="FFFFFF"/>
          </a:solidFill>
          <a:ln w="6350">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18488"/>
            <a:ext cx="6675120" cy="365760"/>
          </a:xfrm>
          <a:prstGeom prst="rect">
            <a:avLst/>
          </a:prstGeom>
          <a:noFill/>
        </p:spPr>
        <p:txBody>
          <a:bodyPr wrap="square" anchor="t" lIns="0" rIns="0" tIns="0" bIns="0">
            <a:spAutoFit/>
          </a:bodyPr>
          <a:lstStyle/>
          <a:p>
            <a:pPr algn="l">
              <a:lnSpc>
                <a:spcPct val="100000"/>
              </a:lnSpc>
            </a:pPr>
            <a:r>
              <a:rPr sz="1400" b="0" i="0">
                <a:solidFill>
                  <a:srgbClr val="121B27"/>
                </a:solidFill>
                <a:latin typeface="Segoe UI"/>
              </a:rPr>
              <a:t>P2P Energy Exchange</a:t>
            </a:r>
          </a:p>
        </p:txBody>
      </p:sp>
      <p:sp>
        <p:nvSpPr>
          <p:cNvPr id="6" name="Rounded Rectangle 5"/>
          <p:cNvSpPr/>
          <p:nvPr/>
        </p:nvSpPr>
        <p:spPr>
          <a:xfrm>
            <a:off x="9784080" y="1600200"/>
            <a:ext cx="1554480" cy="384048"/>
          </a:xfrm>
          <a:prstGeom prst="roundRect">
            <a:avLst>
              <a:gd name="adj" fmla="val 50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50" b="1">
                <a:solidFill>
                  <a:srgbClr val="FFFFFF"/>
                </a:solidFill>
                <a:latin typeface="Segoe UI Semibold"/>
              </a:rPr>
              <a:t>DONE</a:t>
            </a:r>
          </a:p>
        </p:txBody>
      </p:sp>
      <p:sp>
        <p:nvSpPr>
          <p:cNvPr id="7" name="Rectangle 6"/>
          <p:cNvSpPr/>
          <p:nvPr/>
        </p:nvSpPr>
        <p:spPr>
          <a:xfrm>
            <a:off x="640080" y="2130552"/>
            <a:ext cx="10881360" cy="566928"/>
          </a:xfrm>
          <a:prstGeom prst="rect">
            <a:avLst/>
          </a:prstGeom>
          <a:solidFill>
            <a:srgbClr val="EEF1F5"/>
          </a:solidFill>
          <a:ln w="6350">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40280"/>
            <a:ext cx="6675120" cy="365760"/>
          </a:xfrm>
          <a:prstGeom prst="rect">
            <a:avLst/>
          </a:prstGeom>
          <a:noFill/>
        </p:spPr>
        <p:txBody>
          <a:bodyPr wrap="square" anchor="t" lIns="0" rIns="0" tIns="0" bIns="0">
            <a:spAutoFit/>
          </a:bodyPr>
          <a:lstStyle/>
          <a:p>
            <a:pPr algn="l">
              <a:lnSpc>
                <a:spcPct val="100000"/>
              </a:lnSpc>
            </a:pPr>
            <a:r>
              <a:rPr sz="1400" b="0" i="0">
                <a:solidFill>
                  <a:srgbClr val="121B27"/>
                </a:solidFill>
                <a:latin typeface="Segoe UI"/>
              </a:rPr>
              <a:t>DER Visibility</a:t>
            </a:r>
          </a:p>
        </p:txBody>
      </p:sp>
      <p:sp>
        <p:nvSpPr>
          <p:cNvPr id="9" name="Rounded Rectangle 8"/>
          <p:cNvSpPr/>
          <p:nvPr/>
        </p:nvSpPr>
        <p:spPr>
          <a:xfrm>
            <a:off x="9784080" y="2221992"/>
            <a:ext cx="1554480" cy="384048"/>
          </a:xfrm>
          <a:prstGeom prst="roundRect">
            <a:avLst>
              <a:gd name="adj" fmla="val 50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50" b="1">
                <a:solidFill>
                  <a:srgbClr val="FFFFFF"/>
                </a:solidFill>
                <a:latin typeface="Segoe UI Semibold"/>
              </a:rPr>
              <a:t>DONE</a:t>
            </a:r>
          </a:p>
        </p:txBody>
      </p:sp>
      <p:sp>
        <p:nvSpPr>
          <p:cNvPr id="10" name="Rectangle 9"/>
          <p:cNvSpPr/>
          <p:nvPr/>
        </p:nvSpPr>
        <p:spPr>
          <a:xfrm>
            <a:off x="640080" y="2752344"/>
            <a:ext cx="10881360" cy="566928"/>
          </a:xfrm>
          <a:prstGeom prst="rect">
            <a:avLst/>
          </a:prstGeom>
          <a:solidFill>
            <a:srgbClr val="FFFFFF"/>
          </a:solidFill>
          <a:ln w="6350">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62072"/>
            <a:ext cx="6675120" cy="365760"/>
          </a:xfrm>
          <a:prstGeom prst="rect">
            <a:avLst/>
          </a:prstGeom>
          <a:noFill/>
        </p:spPr>
        <p:txBody>
          <a:bodyPr wrap="square" anchor="t" lIns="0" rIns="0" tIns="0" bIns="0">
            <a:spAutoFit/>
          </a:bodyPr>
          <a:lstStyle/>
          <a:p>
            <a:pPr algn="l">
              <a:lnSpc>
                <a:spcPct val="100000"/>
              </a:lnSpc>
            </a:pPr>
            <a:r>
              <a:rPr sz="1400" b="0" i="0">
                <a:solidFill>
                  <a:srgbClr val="121B27"/>
                </a:solidFill>
                <a:latin typeface="Segoe UI"/>
              </a:rPr>
              <a:t>Demand Side Flexibility</a:t>
            </a:r>
          </a:p>
        </p:txBody>
      </p:sp>
      <p:sp>
        <p:nvSpPr>
          <p:cNvPr id="12" name="Rounded Rectangle 11"/>
          <p:cNvSpPr/>
          <p:nvPr/>
        </p:nvSpPr>
        <p:spPr>
          <a:xfrm>
            <a:off x="9784080" y="2843784"/>
            <a:ext cx="1554480" cy="384048"/>
          </a:xfrm>
          <a:prstGeom prst="roundRect">
            <a:avLst>
              <a:gd name="adj" fmla="val 50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50" b="1">
                <a:solidFill>
                  <a:srgbClr val="FFFFFF"/>
                </a:solidFill>
                <a:latin typeface="Segoe UI Semibold"/>
              </a:rPr>
              <a:t>DONE</a:t>
            </a:r>
          </a:p>
        </p:txBody>
      </p:sp>
      <p:sp>
        <p:nvSpPr>
          <p:cNvPr id="13" name="Rectangle 12"/>
          <p:cNvSpPr/>
          <p:nvPr/>
        </p:nvSpPr>
        <p:spPr>
          <a:xfrm>
            <a:off x="640080" y="3374136"/>
            <a:ext cx="10881360" cy="566928"/>
          </a:xfrm>
          <a:prstGeom prst="rect">
            <a:avLst/>
          </a:prstGeom>
          <a:solidFill>
            <a:srgbClr val="EEF1F5"/>
          </a:solidFill>
          <a:ln w="6350">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483864"/>
            <a:ext cx="6675120" cy="365760"/>
          </a:xfrm>
          <a:prstGeom prst="rect">
            <a:avLst/>
          </a:prstGeom>
          <a:noFill/>
        </p:spPr>
        <p:txBody>
          <a:bodyPr wrap="square" anchor="t" lIns="0" rIns="0" tIns="0" bIns="0">
            <a:spAutoFit/>
          </a:bodyPr>
          <a:lstStyle/>
          <a:p>
            <a:pPr algn="l">
              <a:lnSpc>
                <a:spcPct val="100000"/>
              </a:lnSpc>
            </a:pPr>
            <a:r>
              <a:rPr sz="1400" b="0" i="0">
                <a:solidFill>
                  <a:srgbClr val="121B27"/>
                </a:solidFill>
                <a:latin typeface="Segoe UI"/>
              </a:rPr>
              <a:t>Consumer Energy Passport</a:t>
            </a:r>
          </a:p>
        </p:txBody>
      </p:sp>
      <p:sp>
        <p:nvSpPr>
          <p:cNvPr id="15" name="Rounded Rectangle 14"/>
          <p:cNvSpPr/>
          <p:nvPr/>
        </p:nvSpPr>
        <p:spPr>
          <a:xfrm>
            <a:off x="9784080" y="3465576"/>
            <a:ext cx="1554480" cy="384048"/>
          </a:xfrm>
          <a:prstGeom prst="roundRect">
            <a:avLst>
              <a:gd name="adj" fmla="val 50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50" b="1">
                <a:solidFill>
                  <a:srgbClr val="FFFFFF"/>
                </a:solidFill>
                <a:latin typeface="Segoe UI Semibold"/>
              </a:rPr>
              <a:t>DONE</a:t>
            </a:r>
          </a:p>
        </p:txBody>
      </p:sp>
      <p:sp>
        <p:nvSpPr>
          <p:cNvPr id="16" name="Rectangle 15"/>
          <p:cNvSpPr/>
          <p:nvPr/>
        </p:nvSpPr>
        <p:spPr>
          <a:xfrm>
            <a:off x="640080" y="3995928"/>
            <a:ext cx="10881360" cy="566928"/>
          </a:xfrm>
          <a:prstGeom prst="rect">
            <a:avLst/>
          </a:prstGeom>
          <a:solidFill>
            <a:srgbClr val="FFFFFF"/>
          </a:solidFill>
          <a:ln w="6350">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105656"/>
            <a:ext cx="6675120" cy="365760"/>
          </a:xfrm>
          <a:prstGeom prst="rect">
            <a:avLst/>
          </a:prstGeom>
          <a:noFill/>
        </p:spPr>
        <p:txBody>
          <a:bodyPr wrap="square" anchor="t" lIns="0" rIns="0" tIns="0" bIns="0">
            <a:spAutoFit/>
          </a:bodyPr>
          <a:lstStyle/>
          <a:p>
            <a:pPr algn="l">
              <a:lnSpc>
                <a:spcPct val="100000"/>
              </a:lnSpc>
            </a:pPr>
            <a:r>
              <a:rPr sz="1400" b="0" i="0">
                <a:solidFill>
                  <a:srgbClr val="121B27"/>
                </a:solidFill>
                <a:latin typeface="Segoe UI"/>
              </a:rPr>
              <a:t>My Energy Digest</a:t>
            </a:r>
          </a:p>
        </p:txBody>
      </p:sp>
      <p:sp>
        <p:nvSpPr>
          <p:cNvPr id="18" name="Rounded Rectangle 17"/>
          <p:cNvSpPr/>
          <p:nvPr/>
        </p:nvSpPr>
        <p:spPr>
          <a:xfrm>
            <a:off x="9784080" y="4087368"/>
            <a:ext cx="1554480" cy="384048"/>
          </a:xfrm>
          <a:prstGeom prst="roundRect">
            <a:avLst>
              <a:gd name="adj" fmla="val 50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50" b="1">
                <a:solidFill>
                  <a:srgbClr val="FFFFFF"/>
                </a:solidFill>
                <a:latin typeface="Segoe UI Semibold"/>
              </a:rPr>
              <a:t>DONE</a:t>
            </a:r>
          </a:p>
        </p:txBody>
      </p:sp>
      <p:sp>
        <p:nvSpPr>
          <p:cNvPr id="19" name="Rectangle 18"/>
          <p:cNvSpPr/>
          <p:nvPr/>
        </p:nvSpPr>
        <p:spPr>
          <a:xfrm>
            <a:off x="640080" y="4617720"/>
            <a:ext cx="10881360" cy="566928"/>
          </a:xfrm>
          <a:prstGeom prst="rect">
            <a:avLst/>
          </a:prstGeom>
          <a:solidFill>
            <a:srgbClr val="EEF1F5"/>
          </a:solidFill>
          <a:ln w="6350">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727448"/>
            <a:ext cx="6675120" cy="365760"/>
          </a:xfrm>
          <a:prstGeom prst="rect">
            <a:avLst/>
          </a:prstGeom>
          <a:noFill/>
        </p:spPr>
        <p:txBody>
          <a:bodyPr wrap="square" anchor="t" lIns="0" rIns="0" tIns="0" bIns="0">
            <a:spAutoFit/>
          </a:bodyPr>
          <a:lstStyle/>
          <a:p>
            <a:pPr algn="l">
              <a:lnSpc>
                <a:spcPct val="100000"/>
              </a:lnSpc>
            </a:pPr>
            <a:r>
              <a:rPr sz="1400" b="0" i="0">
                <a:solidFill>
                  <a:srgbClr val="121B27"/>
                </a:solidFill>
                <a:latin typeface="Segoe UI"/>
              </a:rPr>
              <a:t>DISCOM-Regulator Data Exchange</a:t>
            </a:r>
          </a:p>
        </p:txBody>
      </p:sp>
      <p:sp>
        <p:nvSpPr>
          <p:cNvPr id="21" name="Rounded Rectangle 20"/>
          <p:cNvSpPr/>
          <p:nvPr/>
        </p:nvSpPr>
        <p:spPr>
          <a:xfrm>
            <a:off x="9784080" y="4709160"/>
            <a:ext cx="1554480" cy="384048"/>
          </a:xfrm>
          <a:prstGeom prst="roundRect">
            <a:avLst>
              <a:gd name="adj" fmla="val 50000"/>
            </a:avLst>
          </a:prstGeom>
          <a:solidFill>
            <a:srgbClr val="8391A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50" b="1">
                <a:solidFill>
                  <a:srgbClr val="FFFFFF"/>
                </a:solidFill>
                <a:latin typeface="Segoe UI Semibold"/>
              </a:rPr>
              <a:t>OPEN</a:t>
            </a:r>
          </a:p>
        </p:txBody>
      </p:sp>
      <p:sp>
        <p:nvSpPr>
          <p:cNvPr id="22" name="Rectangle 21"/>
          <p:cNvSpPr/>
          <p:nvPr/>
        </p:nvSpPr>
        <p:spPr>
          <a:xfrm>
            <a:off x="640080" y="5239512"/>
            <a:ext cx="10881360" cy="566928"/>
          </a:xfrm>
          <a:prstGeom prst="rect">
            <a:avLst/>
          </a:prstGeom>
          <a:solidFill>
            <a:srgbClr val="FBF0DD"/>
          </a:solidFill>
          <a:ln w="6350">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349240"/>
            <a:ext cx="6675120" cy="365760"/>
          </a:xfrm>
          <a:prstGeom prst="rect">
            <a:avLst/>
          </a:prstGeom>
          <a:noFill/>
        </p:spPr>
        <p:txBody>
          <a:bodyPr wrap="square" anchor="t" lIns="0" rIns="0" tIns="0" bIns="0">
            <a:spAutoFit/>
          </a:bodyPr>
          <a:lstStyle/>
          <a:p>
            <a:pPr algn="l">
              <a:lnSpc>
                <a:spcPct val="100000"/>
              </a:lnSpc>
            </a:pPr>
            <a:r>
              <a:rPr sz="1400" b="1" i="0">
                <a:solidFill>
                  <a:srgbClr val="121B27"/>
                </a:solidFill>
                <a:latin typeface="Segoe UI Semibold"/>
              </a:rPr>
              <a:t>Policy as Code / Tariff Intelligence</a:t>
            </a:r>
          </a:p>
        </p:txBody>
      </p:sp>
      <p:sp>
        <p:nvSpPr>
          <p:cNvPr id="24" name="Rounded Rectangle 23"/>
          <p:cNvSpPr/>
          <p:nvPr/>
        </p:nvSpPr>
        <p:spPr>
          <a:xfrm>
            <a:off x="9784080" y="5330952"/>
            <a:ext cx="1554480" cy="384048"/>
          </a:xfrm>
          <a:prstGeom prst="roundRect">
            <a:avLst>
              <a:gd name="adj" fmla="val 50000"/>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50" b="1">
                <a:solidFill>
                  <a:srgbClr val="FFFFFF"/>
                </a:solidFill>
                <a:latin typeface="Segoe UI Semibold"/>
              </a:rPr>
              <a:t>TARGET</a:t>
            </a:r>
          </a:p>
        </p:txBody>
      </p:sp>
      <p:sp>
        <p:nvSpPr>
          <p:cNvPr id="25" name="Rectangle 24"/>
          <p:cNvSpPr/>
          <p:nvPr/>
        </p:nvSpPr>
        <p:spPr>
          <a:xfrm>
            <a:off x="640080" y="5861304"/>
            <a:ext cx="10881360" cy="566928"/>
          </a:xfrm>
          <a:prstGeom prst="rect">
            <a:avLst/>
          </a:prstGeom>
          <a:solidFill>
            <a:srgbClr val="EEF1F5"/>
          </a:solidFill>
          <a:ln w="6350">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5971032"/>
            <a:ext cx="6675120" cy="365760"/>
          </a:xfrm>
          <a:prstGeom prst="rect">
            <a:avLst/>
          </a:prstGeom>
          <a:noFill/>
        </p:spPr>
        <p:txBody>
          <a:bodyPr wrap="square" anchor="t" lIns="0" rIns="0" tIns="0" bIns="0">
            <a:spAutoFit/>
          </a:bodyPr>
          <a:lstStyle/>
          <a:p>
            <a:pPr algn="l">
              <a:lnSpc>
                <a:spcPct val="100000"/>
              </a:lnSpc>
            </a:pPr>
            <a:r>
              <a:rPr sz="1400" b="0" i="0">
                <a:solidFill>
                  <a:srgbClr val="121B27"/>
                </a:solidFill>
                <a:latin typeface="Segoe UI"/>
              </a:rPr>
              <a:t>Open Access Validation</a:t>
            </a:r>
          </a:p>
        </p:txBody>
      </p:sp>
      <p:sp>
        <p:nvSpPr>
          <p:cNvPr id="27" name="Rounded Rectangle 26"/>
          <p:cNvSpPr/>
          <p:nvPr/>
        </p:nvSpPr>
        <p:spPr>
          <a:xfrm>
            <a:off x="9784080" y="5952744"/>
            <a:ext cx="1554480" cy="384048"/>
          </a:xfrm>
          <a:prstGeom prst="roundRect">
            <a:avLst>
              <a:gd name="adj" fmla="val 50000"/>
            </a:avLst>
          </a:prstGeom>
          <a:solidFill>
            <a:srgbClr val="8391A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50" b="1">
                <a:solidFill>
                  <a:srgbClr val="FFFFFF"/>
                </a:solidFill>
                <a:latin typeface="Segoe UI Semibold"/>
              </a:rPr>
              <a:t>OPEN</a:t>
            </a:r>
          </a:p>
        </p:txBody>
      </p:sp>
      <p:sp>
        <p:nvSpPr>
          <p:cNvPr id="28" name="TextBox 27"/>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Section 05 — Our Proposed Focus</a:t>
            </a:r>
          </a:p>
        </p:txBody>
      </p:sp>
      <p:sp>
        <p:nvSpPr>
          <p:cNvPr id="29" name="TextBox 28"/>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10</a:t>
            </a:r>
          </a:p>
        </p:txBody>
      </p:sp>
      <p:sp>
        <p:nvSpPr>
          <p:cNvPr id="30" name="Rectangle 29"/>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05 · OUR PROPOSED FOCUS</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Policy as Code / Tariff Intelligence</a:t>
            </a:r>
          </a:p>
        </p:txBody>
      </p:sp>
      <p:sp>
        <p:nvSpPr>
          <p:cNvPr id="4" name="TextBox 3"/>
          <p:cNvSpPr txBox="1"/>
          <p:nvPr/>
        </p:nvSpPr>
        <p:spPr>
          <a:xfrm>
            <a:off x="640080" y="1417320"/>
            <a:ext cx="10881360" cy="548640"/>
          </a:xfrm>
          <a:prstGeom prst="rect">
            <a:avLst/>
          </a:prstGeom>
          <a:noFill/>
        </p:spPr>
        <p:txBody>
          <a:bodyPr wrap="square" anchor="t" lIns="0" rIns="0" tIns="0" bIns="0">
            <a:spAutoFit/>
          </a:bodyPr>
          <a:lstStyle/>
          <a:p>
            <a:pPr algn="l">
              <a:lnSpc>
                <a:spcPct val="100000"/>
              </a:lnSpc>
            </a:pPr>
            <a:r>
              <a:rPr sz="1450" b="0" i="0">
                <a:solidFill>
                  <a:srgbClr val="48576A"/>
                </a:solidFill>
                <a:latin typeface="Segoe UI"/>
              </a:rPr>
              <a:t>Proposal: publish an electricity tariff order once, as signed data, so every billing system computes an identical bill.</a:t>
            </a:r>
          </a:p>
        </p:txBody>
      </p:sp>
      <p:sp>
        <p:nvSpPr>
          <p:cNvPr id="5" name="Rectangle 4"/>
          <p:cNvSpPr/>
          <p:nvPr/>
        </p:nvSpPr>
        <p:spPr>
          <a:xfrm>
            <a:off x="640080" y="2148840"/>
            <a:ext cx="5257800" cy="388620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295144"/>
            <a:ext cx="4855464" cy="411480"/>
          </a:xfrm>
          <a:prstGeom prst="rect">
            <a:avLst/>
          </a:prstGeom>
          <a:noFill/>
        </p:spPr>
        <p:txBody>
          <a:bodyPr wrap="square" anchor="t" lIns="0" rIns="0" tIns="0" bIns="0">
            <a:spAutoFit/>
          </a:bodyPr>
          <a:lstStyle/>
          <a:p>
            <a:pPr algn="l">
              <a:lnSpc>
                <a:spcPct val="100000"/>
              </a:lnSpc>
            </a:pPr>
            <a:r>
              <a:rPr sz="1550" b="1" i="0">
                <a:solidFill>
                  <a:srgbClr val="B03A2E"/>
                </a:solidFill>
                <a:latin typeface="Segoe UI Semibold"/>
              </a:rPr>
              <a:t>Today (the problem)</a:t>
            </a:r>
          </a:p>
        </p:txBody>
      </p:sp>
      <p:sp>
        <p:nvSpPr>
          <p:cNvPr id="7" name="TextBox 6"/>
          <p:cNvSpPr txBox="1"/>
          <p:nvPr/>
        </p:nvSpPr>
        <p:spPr>
          <a:xfrm>
            <a:off x="841248" y="2715768"/>
            <a:ext cx="4855464" cy="3154680"/>
          </a:xfrm>
          <a:prstGeom prst="rect">
            <a:avLst/>
          </a:prstGeom>
          <a:noFill/>
        </p:spPr>
        <p:txBody>
          <a:bodyPr wrap="square" lIns="0" rIns="0" tIns="0" bIns="0">
            <a:spAutoFit/>
          </a:bodyPr>
          <a:lstStyle/>
          <a:p>
            <a:pPr>
              <a:lnSpc>
                <a:spcPct val="115000"/>
              </a:lnSpc>
              <a:spcAft>
                <a:spcPts val="600"/>
              </a:spcAft>
            </a:pPr>
            <a:r>
              <a:rPr sz="1250" b="1">
                <a:solidFill>
                  <a:srgbClr val="C87C1C"/>
                </a:solidFill>
                <a:latin typeface="Segoe UI"/>
              </a:rPr>
              <a:t>—  </a:t>
            </a:r>
            <a:r>
              <a:rPr sz="1250">
                <a:solidFill>
                  <a:srgbClr val="48576A"/>
                </a:solidFill>
                <a:latin typeface="Segoe UI"/>
              </a:rPr>
              <a:t>Regulator issues tariff order as a PDF</a:t>
            </a:r>
          </a:p>
          <a:p>
            <a:pPr>
              <a:lnSpc>
                <a:spcPct val="115000"/>
              </a:lnSpc>
              <a:spcAft>
                <a:spcPts val="600"/>
              </a:spcAft>
            </a:pPr>
            <a:r>
              <a:rPr sz="1250" b="1">
                <a:solidFill>
                  <a:srgbClr val="C87C1C"/>
                </a:solidFill>
                <a:latin typeface="Segoe UI"/>
              </a:rPr>
              <a:t>—  </a:t>
            </a:r>
            <a:r>
              <a:rPr sz="1250">
                <a:solidFill>
                  <a:srgbClr val="48576A"/>
                </a:solidFill>
                <a:latin typeface="Segoe UI"/>
              </a:rPr>
              <a:t>Every DISCOM billing system re-keys it by hand</a:t>
            </a:r>
          </a:p>
          <a:p>
            <a:pPr>
              <a:lnSpc>
                <a:spcPct val="115000"/>
              </a:lnSpc>
              <a:spcAft>
                <a:spcPts val="600"/>
              </a:spcAft>
            </a:pPr>
            <a:r>
              <a:rPr sz="1250" b="1">
                <a:solidFill>
                  <a:srgbClr val="C87C1C"/>
                </a:solidFill>
                <a:latin typeface="Segoe UI"/>
              </a:rPr>
              <a:t>—  </a:t>
            </a:r>
            <a:r>
              <a:rPr sz="1250">
                <a:solidFill>
                  <a:srgbClr val="48576A"/>
                </a:solidFill>
                <a:latin typeface="Segoe UI"/>
              </a:rPr>
              <a:t>Every consumer app re-interprets the same PDF independently</a:t>
            </a:r>
          </a:p>
          <a:p>
            <a:pPr>
              <a:lnSpc>
                <a:spcPct val="115000"/>
              </a:lnSpc>
              <a:spcAft>
                <a:spcPts val="600"/>
              </a:spcAft>
            </a:pPr>
            <a:r>
              <a:rPr sz="1250" b="1">
                <a:solidFill>
                  <a:srgbClr val="C87C1C"/>
                </a:solidFill>
                <a:latin typeface="Segoe UI"/>
              </a:rPr>
              <a:t>—  </a:t>
            </a:r>
            <a:r>
              <a:rPr sz="1250">
                <a:solidFill>
                  <a:srgbClr val="48576A"/>
                </a:solidFill>
                <a:latin typeface="Segoe UI"/>
              </a:rPr>
              <a:t>Drift and disputes are inevitable</a:t>
            </a:r>
          </a:p>
        </p:txBody>
      </p:sp>
      <p:sp>
        <p:nvSpPr>
          <p:cNvPr id="8" name="Rectangle 7"/>
          <p:cNvSpPr/>
          <p:nvPr/>
        </p:nvSpPr>
        <p:spPr>
          <a:xfrm>
            <a:off x="6263640" y="2148840"/>
            <a:ext cx="5257800" cy="388620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4808" y="2295144"/>
            <a:ext cx="4855464" cy="411480"/>
          </a:xfrm>
          <a:prstGeom prst="rect">
            <a:avLst/>
          </a:prstGeom>
          <a:noFill/>
        </p:spPr>
        <p:txBody>
          <a:bodyPr wrap="square" anchor="t" lIns="0" rIns="0" tIns="0" bIns="0">
            <a:spAutoFit/>
          </a:bodyPr>
          <a:lstStyle/>
          <a:p>
            <a:pPr algn="l">
              <a:lnSpc>
                <a:spcPct val="100000"/>
              </a:lnSpc>
            </a:pPr>
            <a:r>
              <a:rPr sz="1550" b="1" i="0">
                <a:solidFill>
                  <a:srgbClr val="2E7D4F"/>
                </a:solidFill>
                <a:latin typeface="Segoe UI Semibold"/>
              </a:rPr>
              <a:t>Proposed (what we'd build)</a:t>
            </a:r>
          </a:p>
        </p:txBody>
      </p:sp>
      <p:sp>
        <p:nvSpPr>
          <p:cNvPr id="10" name="TextBox 9"/>
          <p:cNvSpPr txBox="1"/>
          <p:nvPr/>
        </p:nvSpPr>
        <p:spPr>
          <a:xfrm>
            <a:off x="6464808" y="2715768"/>
            <a:ext cx="4855464" cy="3154680"/>
          </a:xfrm>
          <a:prstGeom prst="rect">
            <a:avLst/>
          </a:prstGeom>
          <a:noFill/>
        </p:spPr>
        <p:txBody>
          <a:bodyPr wrap="square" lIns="0" rIns="0" tIns="0" bIns="0">
            <a:spAutoFit/>
          </a:bodyPr>
          <a:lstStyle/>
          <a:p>
            <a:pPr>
              <a:lnSpc>
                <a:spcPct val="115000"/>
              </a:lnSpc>
              <a:spcAft>
                <a:spcPts val="600"/>
              </a:spcAft>
            </a:pPr>
            <a:r>
              <a:rPr sz="1250" b="1">
                <a:solidFill>
                  <a:srgbClr val="C87C1C"/>
                </a:solidFill>
                <a:latin typeface="Segoe UI"/>
              </a:rPr>
              <a:t>—  </a:t>
            </a:r>
            <a:r>
              <a:rPr sz="1250">
                <a:solidFill>
                  <a:srgbClr val="48576A"/>
                </a:solidFill>
                <a:latin typeface="Segoe UI"/>
              </a:rPr>
              <a:t>Author the tariff as one signed, structured data object</a:t>
            </a:r>
          </a:p>
          <a:p>
            <a:pPr>
              <a:lnSpc>
                <a:spcPct val="115000"/>
              </a:lnSpc>
              <a:spcAft>
                <a:spcPts val="600"/>
              </a:spcAft>
            </a:pPr>
            <a:r>
              <a:rPr sz="1250" b="1">
                <a:solidFill>
                  <a:srgbClr val="C87C1C"/>
                </a:solidFill>
                <a:latin typeface="Segoe UI"/>
              </a:rPr>
              <a:t>—  </a:t>
            </a:r>
            <a:r>
              <a:rPr sz="1250">
                <a:solidFill>
                  <a:srgbClr val="48576A"/>
                </a:solidFill>
                <a:latin typeface="Segoe UI"/>
              </a:rPr>
              <a:t>Publish it once over IES's exchange layer</a:t>
            </a:r>
          </a:p>
          <a:p>
            <a:pPr>
              <a:lnSpc>
                <a:spcPct val="115000"/>
              </a:lnSpc>
              <a:spcAft>
                <a:spcPts val="600"/>
              </a:spcAft>
            </a:pPr>
            <a:r>
              <a:rPr sz="1250" b="1">
                <a:solidFill>
                  <a:srgbClr val="C87C1C"/>
                </a:solidFill>
                <a:latin typeface="Segoe UI"/>
              </a:rPr>
              <a:t>—  </a:t>
            </a:r>
            <a:r>
              <a:rPr sz="1250">
                <a:solidFill>
                  <a:srgbClr val="48576A"/>
                </a:solidFill>
                <a:latin typeface="Segoe UI"/>
              </a:rPr>
              <a:t>Any billing system reads the same object and computes the same bill</a:t>
            </a:r>
          </a:p>
          <a:p>
            <a:pPr>
              <a:lnSpc>
                <a:spcPct val="115000"/>
              </a:lnSpc>
              <a:spcAft>
                <a:spcPts val="600"/>
              </a:spcAft>
            </a:pPr>
            <a:r>
              <a:rPr sz="1250" b="1">
                <a:solidFill>
                  <a:srgbClr val="C87C1C"/>
                </a:solidFill>
                <a:latin typeface="Segoe UI"/>
              </a:rPr>
              <a:t>—  </a:t>
            </a:r>
            <a:r>
              <a:rPr sz="1250">
                <a:solidFill>
                  <a:srgbClr val="48576A"/>
                </a:solidFill>
                <a:latin typeface="Segoe UI"/>
              </a:rPr>
              <a:t>No re-keying, no PDF parsing, no drift</a:t>
            </a:r>
          </a:p>
        </p:txBody>
      </p:sp>
      <p:sp>
        <p:nvSpPr>
          <p:cNvPr id="11" name="TextBox 10"/>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Section 05 — Our Proposed Focus</a:t>
            </a:r>
          </a:p>
        </p:txBody>
      </p:sp>
      <p:sp>
        <p:nvSpPr>
          <p:cNvPr id="12" name="TextBox 11"/>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11</a:t>
            </a:r>
          </a:p>
        </p:txBody>
      </p:sp>
      <p:sp>
        <p:nvSpPr>
          <p:cNvPr id="13" name="Rectangle 12"/>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05 · OUR PROPOSED FOCUS</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The actual data shape we'd build against</a:t>
            </a:r>
          </a:p>
        </p:txBody>
      </p:sp>
      <p:sp>
        <p:nvSpPr>
          <p:cNvPr id="4" name="TextBox 3"/>
          <p:cNvSpPr txBox="1"/>
          <p:nvPr/>
        </p:nvSpPr>
        <p:spPr>
          <a:xfrm>
            <a:off x="640080" y="1371600"/>
            <a:ext cx="10881360" cy="457200"/>
          </a:xfrm>
          <a:prstGeom prst="rect">
            <a:avLst/>
          </a:prstGeom>
          <a:noFill/>
        </p:spPr>
        <p:txBody>
          <a:bodyPr wrap="square" anchor="t" lIns="0" rIns="0" tIns="0" bIns="0">
            <a:spAutoFit/>
          </a:bodyPr>
          <a:lstStyle/>
          <a:p>
            <a:pPr algn="l">
              <a:lnSpc>
                <a:spcPct val="100000"/>
              </a:lnSpc>
            </a:pPr>
            <a:r>
              <a:rPr sz="1400" b="0" i="0">
                <a:solidFill>
                  <a:srgbClr val="48576A"/>
                </a:solidFill>
                <a:latin typeface="Segoe UI"/>
              </a:rPr>
              <a:t>This is IES's own published field structure for a tariff (IES_Policy) — not something we're inventing.</a:t>
            </a:r>
          </a:p>
        </p:txBody>
      </p:sp>
      <p:sp>
        <p:nvSpPr>
          <p:cNvPr id="5" name="Rectangle 4"/>
          <p:cNvSpPr/>
          <p:nvPr/>
        </p:nvSpPr>
        <p:spPr>
          <a:xfrm>
            <a:off x="640080" y="1874519"/>
            <a:ext cx="10881360" cy="4206240"/>
          </a:xfrm>
          <a:prstGeom prst="rect">
            <a:avLst/>
          </a:prstGeom>
          <a:solidFill>
            <a:srgbClr val="121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57400"/>
            <a:ext cx="10332720" cy="365760"/>
          </a:xfrm>
          <a:prstGeom prst="rect">
            <a:avLst/>
          </a:prstGeom>
          <a:noFill/>
        </p:spPr>
        <p:txBody>
          <a:bodyPr wrap="square" anchor="t" lIns="0" rIns="0" tIns="0" bIns="0">
            <a:spAutoFit/>
          </a:bodyPr>
          <a:lstStyle/>
          <a:p>
            <a:pPr algn="l">
              <a:lnSpc>
                <a:spcPct val="100000"/>
              </a:lnSpc>
            </a:pPr>
            <a:r>
              <a:rPr sz="1500" b="1" i="0">
                <a:solidFill>
                  <a:srgbClr val="E8A33D"/>
                </a:solidFill>
                <a:latin typeface="Segoe UI Semibold"/>
              </a:rPr>
              <a:t>IES_Policy  —  "the tariff, as a form everyone reads the same way"</a:t>
            </a:r>
          </a:p>
        </p:txBody>
      </p:sp>
      <p:sp>
        <p:nvSpPr>
          <p:cNvPr id="7" name="TextBox 6"/>
          <p:cNvSpPr txBox="1"/>
          <p:nvPr/>
        </p:nvSpPr>
        <p:spPr>
          <a:xfrm>
            <a:off x="914400" y="2606040"/>
            <a:ext cx="2468880" cy="548640"/>
          </a:xfrm>
          <a:prstGeom prst="rect">
            <a:avLst/>
          </a:prstGeom>
          <a:noFill/>
        </p:spPr>
        <p:txBody>
          <a:bodyPr wrap="square" anchor="t" lIns="0" rIns="0" tIns="0" bIns="0">
            <a:spAutoFit/>
          </a:bodyPr>
          <a:lstStyle/>
          <a:p>
            <a:pPr algn="l">
              <a:lnSpc>
                <a:spcPct val="100000"/>
              </a:lnSpc>
            </a:pPr>
            <a:r>
              <a:rPr sz="1400" b="1" i="0">
                <a:solidFill>
                  <a:srgbClr val="FFFFFF"/>
                </a:solidFill>
                <a:latin typeface="Consolas"/>
              </a:rPr>
              <a:t>policyID</a:t>
            </a:r>
          </a:p>
        </p:txBody>
      </p:sp>
      <p:sp>
        <p:nvSpPr>
          <p:cNvPr id="8" name="TextBox 7"/>
          <p:cNvSpPr txBox="1"/>
          <p:nvPr/>
        </p:nvSpPr>
        <p:spPr>
          <a:xfrm>
            <a:off x="3474720" y="2606040"/>
            <a:ext cx="4206240" cy="548640"/>
          </a:xfrm>
          <a:prstGeom prst="rect">
            <a:avLst/>
          </a:prstGeom>
          <a:noFill/>
        </p:spPr>
        <p:txBody>
          <a:bodyPr wrap="square" anchor="t" lIns="0" rIns="0" tIns="0" bIns="0">
            <a:spAutoFit/>
          </a:bodyPr>
          <a:lstStyle/>
          <a:p>
            <a:pPr algn="l">
              <a:lnSpc>
                <a:spcPct val="115000"/>
              </a:lnSpc>
            </a:pPr>
            <a:r>
              <a:rPr sz="1250" b="0" i="0">
                <a:solidFill>
                  <a:srgbClr val="E8A33D"/>
                </a:solidFill>
                <a:latin typeface="Consolas"/>
              </a:rPr>
              <a:t>MUM-RES-T1</a:t>
            </a:r>
          </a:p>
        </p:txBody>
      </p:sp>
      <p:sp>
        <p:nvSpPr>
          <p:cNvPr id="9" name="TextBox 8"/>
          <p:cNvSpPr txBox="1"/>
          <p:nvPr/>
        </p:nvSpPr>
        <p:spPr>
          <a:xfrm>
            <a:off x="7863840" y="2606040"/>
            <a:ext cx="3429000" cy="548640"/>
          </a:xfrm>
          <a:prstGeom prst="rect">
            <a:avLst/>
          </a:prstGeom>
          <a:noFill/>
        </p:spPr>
        <p:txBody>
          <a:bodyPr wrap="square" anchor="t" lIns="0" rIns="0" tIns="0" bIns="0">
            <a:spAutoFit/>
          </a:bodyPr>
          <a:lstStyle/>
          <a:p>
            <a:pPr algn="l">
              <a:lnSpc>
                <a:spcPct val="115000"/>
              </a:lnSpc>
            </a:pPr>
            <a:r>
              <a:rPr sz="1150" b="0" i="1">
                <a:solidFill>
                  <a:srgbClr val="9CACC0"/>
                </a:solidFill>
                <a:latin typeface="Segoe UI"/>
              </a:rPr>
              <a:t>Stable handle for this tariff, kept across corrections</a:t>
            </a:r>
          </a:p>
        </p:txBody>
      </p:sp>
      <p:sp>
        <p:nvSpPr>
          <p:cNvPr id="10" name="TextBox 9"/>
          <p:cNvSpPr txBox="1"/>
          <p:nvPr/>
        </p:nvSpPr>
        <p:spPr>
          <a:xfrm>
            <a:off x="914400" y="3383280"/>
            <a:ext cx="2468880" cy="548640"/>
          </a:xfrm>
          <a:prstGeom prst="rect">
            <a:avLst/>
          </a:prstGeom>
          <a:noFill/>
        </p:spPr>
        <p:txBody>
          <a:bodyPr wrap="square" anchor="t" lIns="0" rIns="0" tIns="0" bIns="0">
            <a:spAutoFit/>
          </a:bodyPr>
          <a:lstStyle/>
          <a:p>
            <a:pPr algn="l">
              <a:lnSpc>
                <a:spcPct val="100000"/>
              </a:lnSpc>
            </a:pPr>
            <a:r>
              <a:rPr sz="1400" b="1" i="0">
                <a:solidFill>
                  <a:srgbClr val="FFFFFF"/>
                </a:solidFill>
                <a:latin typeface="Consolas"/>
              </a:rPr>
              <a:t>policyType</a:t>
            </a:r>
          </a:p>
        </p:txBody>
      </p:sp>
      <p:sp>
        <p:nvSpPr>
          <p:cNvPr id="11" name="TextBox 10"/>
          <p:cNvSpPr txBox="1"/>
          <p:nvPr/>
        </p:nvSpPr>
        <p:spPr>
          <a:xfrm>
            <a:off x="3474720" y="3383280"/>
            <a:ext cx="4206240" cy="548640"/>
          </a:xfrm>
          <a:prstGeom prst="rect">
            <a:avLst/>
          </a:prstGeom>
          <a:noFill/>
        </p:spPr>
        <p:txBody>
          <a:bodyPr wrap="square" anchor="t" lIns="0" rIns="0" tIns="0" bIns="0">
            <a:spAutoFit/>
          </a:bodyPr>
          <a:lstStyle/>
          <a:p>
            <a:pPr algn="l">
              <a:lnSpc>
                <a:spcPct val="115000"/>
              </a:lnSpc>
            </a:pPr>
            <a:r>
              <a:rPr sz="1250" b="0" i="0">
                <a:solidFill>
                  <a:srgbClr val="E8A33D"/>
                </a:solidFill>
                <a:latin typeface="Consolas"/>
              </a:rPr>
              <a:t>TARIFF</a:t>
            </a:r>
          </a:p>
        </p:txBody>
      </p:sp>
      <p:sp>
        <p:nvSpPr>
          <p:cNvPr id="12" name="TextBox 11"/>
          <p:cNvSpPr txBox="1"/>
          <p:nvPr/>
        </p:nvSpPr>
        <p:spPr>
          <a:xfrm>
            <a:off x="7863840" y="3383280"/>
            <a:ext cx="3429000" cy="548640"/>
          </a:xfrm>
          <a:prstGeom prst="rect">
            <a:avLst/>
          </a:prstGeom>
          <a:noFill/>
        </p:spPr>
        <p:txBody>
          <a:bodyPr wrap="square" anchor="t" lIns="0" rIns="0" tIns="0" bIns="0">
            <a:spAutoFit/>
          </a:bodyPr>
          <a:lstStyle/>
          <a:p>
            <a:pPr algn="l">
              <a:lnSpc>
                <a:spcPct val="115000"/>
              </a:lnSpc>
            </a:pPr>
            <a:r>
              <a:rPr sz="1150" b="0" i="1">
                <a:solidFill>
                  <a:srgbClr val="9CACC0"/>
                </a:solidFill>
                <a:latin typeface="Segoe UI"/>
              </a:rPr>
              <a:t>Marks this as a pricing rule (vs. a dispatch or DR rule)</a:t>
            </a:r>
          </a:p>
        </p:txBody>
      </p:sp>
      <p:sp>
        <p:nvSpPr>
          <p:cNvPr id="13" name="TextBox 12"/>
          <p:cNvSpPr txBox="1"/>
          <p:nvPr/>
        </p:nvSpPr>
        <p:spPr>
          <a:xfrm>
            <a:off x="914400" y="4160520"/>
            <a:ext cx="2468880" cy="548640"/>
          </a:xfrm>
          <a:prstGeom prst="rect">
            <a:avLst/>
          </a:prstGeom>
          <a:noFill/>
        </p:spPr>
        <p:txBody>
          <a:bodyPr wrap="square" anchor="t" lIns="0" rIns="0" tIns="0" bIns="0">
            <a:spAutoFit/>
          </a:bodyPr>
          <a:lstStyle/>
          <a:p>
            <a:pPr algn="l">
              <a:lnSpc>
                <a:spcPct val="100000"/>
              </a:lnSpc>
            </a:pPr>
            <a:r>
              <a:rPr sz="1400" b="1" i="0">
                <a:solidFill>
                  <a:srgbClr val="FFFFFF"/>
                </a:solidFill>
                <a:latin typeface="Consolas"/>
              </a:rPr>
              <a:t>energySlabs[]</a:t>
            </a:r>
          </a:p>
        </p:txBody>
      </p:sp>
      <p:sp>
        <p:nvSpPr>
          <p:cNvPr id="14" name="TextBox 13"/>
          <p:cNvSpPr txBox="1"/>
          <p:nvPr/>
        </p:nvSpPr>
        <p:spPr>
          <a:xfrm>
            <a:off x="3474720" y="4160520"/>
            <a:ext cx="4206240" cy="548640"/>
          </a:xfrm>
          <a:prstGeom prst="rect">
            <a:avLst/>
          </a:prstGeom>
          <a:noFill/>
        </p:spPr>
        <p:txBody>
          <a:bodyPr wrap="square" anchor="t" lIns="0" rIns="0" tIns="0" bIns="0">
            <a:spAutoFit/>
          </a:bodyPr>
          <a:lstStyle/>
          <a:p>
            <a:pPr algn="l">
              <a:lnSpc>
                <a:spcPct val="115000"/>
              </a:lnSpc>
            </a:pPr>
            <a:r>
              <a:rPr sz="1250" b="0" i="0">
                <a:solidFill>
                  <a:srgbClr val="E8A33D"/>
                </a:solidFill>
                <a:latin typeface="Consolas"/>
              </a:rPr>
              <a:t>0-100 units @ Rs4.50 | 101-300 @ Rs7.20 | 301+ @ Rs9.80</a:t>
            </a:r>
          </a:p>
        </p:txBody>
      </p:sp>
      <p:sp>
        <p:nvSpPr>
          <p:cNvPr id="15" name="TextBox 14"/>
          <p:cNvSpPr txBox="1"/>
          <p:nvPr/>
        </p:nvSpPr>
        <p:spPr>
          <a:xfrm>
            <a:off x="7863840" y="4160520"/>
            <a:ext cx="3429000" cy="548640"/>
          </a:xfrm>
          <a:prstGeom prst="rect">
            <a:avLst/>
          </a:prstGeom>
          <a:noFill/>
        </p:spPr>
        <p:txBody>
          <a:bodyPr wrap="square" anchor="t" lIns="0" rIns="0" tIns="0" bIns="0">
            <a:spAutoFit/>
          </a:bodyPr>
          <a:lstStyle/>
          <a:p>
            <a:pPr algn="l">
              <a:lnSpc>
                <a:spcPct val="115000"/>
              </a:lnSpc>
            </a:pPr>
            <a:r>
              <a:rPr sz="1150" b="0" i="1">
                <a:solidFill>
                  <a:srgbClr val="9CACC0"/>
                </a:solidFill>
                <a:latin typeface="Segoe UI"/>
              </a:rPr>
              <a:t>Progressive pricing tiers</a:t>
            </a:r>
          </a:p>
        </p:txBody>
      </p:sp>
      <p:sp>
        <p:nvSpPr>
          <p:cNvPr id="16" name="TextBox 15"/>
          <p:cNvSpPr txBox="1"/>
          <p:nvPr/>
        </p:nvSpPr>
        <p:spPr>
          <a:xfrm>
            <a:off x="914400" y="4937760"/>
            <a:ext cx="2468880" cy="548640"/>
          </a:xfrm>
          <a:prstGeom prst="rect">
            <a:avLst/>
          </a:prstGeom>
          <a:noFill/>
        </p:spPr>
        <p:txBody>
          <a:bodyPr wrap="square" anchor="t" lIns="0" rIns="0" tIns="0" bIns="0">
            <a:spAutoFit/>
          </a:bodyPr>
          <a:lstStyle/>
          <a:p>
            <a:pPr algn="l">
              <a:lnSpc>
                <a:spcPct val="100000"/>
              </a:lnSpc>
            </a:pPr>
            <a:r>
              <a:rPr sz="1400" b="1" i="0">
                <a:solidFill>
                  <a:srgbClr val="FFFFFF"/>
                </a:solidFill>
                <a:latin typeface="Consolas"/>
              </a:rPr>
              <a:t>surchargeTariffs[]</a:t>
            </a:r>
          </a:p>
        </p:txBody>
      </p:sp>
      <p:sp>
        <p:nvSpPr>
          <p:cNvPr id="17" name="TextBox 16"/>
          <p:cNvSpPr txBox="1"/>
          <p:nvPr/>
        </p:nvSpPr>
        <p:spPr>
          <a:xfrm>
            <a:off x="3474720" y="4937760"/>
            <a:ext cx="4206240" cy="548640"/>
          </a:xfrm>
          <a:prstGeom prst="rect">
            <a:avLst/>
          </a:prstGeom>
          <a:noFill/>
        </p:spPr>
        <p:txBody>
          <a:bodyPr wrap="square" anchor="t" lIns="0" rIns="0" tIns="0" bIns="0">
            <a:spAutoFit/>
          </a:bodyPr>
          <a:lstStyle/>
          <a:p>
            <a:pPr algn="l">
              <a:lnSpc>
                <a:spcPct val="115000"/>
              </a:lnSpc>
            </a:pPr>
            <a:r>
              <a:rPr sz="1250" b="0" i="0">
                <a:solidFill>
                  <a:srgbClr val="E8A33D"/>
                </a:solidFill>
                <a:latin typeface="Consolas"/>
              </a:rPr>
              <a:t>18:00-22:00  +20%  |  23:00-05:00  -10%</a:t>
            </a:r>
          </a:p>
        </p:txBody>
      </p:sp>
      <p:sp>
        <p:nvSpPr>
          <p:cNvPr id="18" name="TextBox 17"/>
          <p:cNvSpPr txBox="1"/>
          <p:nvPr/>
        </p:nvSpPr>
        <p:spPr>
          <a:xfrm>
            <a:off x="7863840" y="4937760"/>
            <a:ext cx="3429000" cy="548640"/>
          </a:xfrm>
          <a:prstGeom prst="rect">
            <a:avLst/>
          </a:prstGeom>
          <a:noFill/>
        </p:spPr>
        <p:txBody>
          <a:bodyPr wrap="square" anchor="t" lIns="0" rIns="0" tIns="0" bIns="0">
            <a:spAutoFit/>
          </a:bodyPr>
          <a:lstStyle/>
          <a:p>
            <a:pPr algn="l">
              <a:lnSpc>
                <a:spcPct val="115000"/>
              </a:lnSpc>
            </a:pPr>
            <a:r>
              <a:rPr sz="1150" b="0" i="1">
                <a:solidFill>
                  <a:srgbClr val="9CACC0"/>
                </a:solidFill>
                <a:latin typeface="Segoe UI"/>
              </a:rPr>
              <a:t>Time-of-day adjustments</a:t>
            </a:r>
          </a:p>
        </p:txBody>
      </p:sp>
      <p:sp>
        <p:nvSpPr>
          <p:cNvPr id="19" name="TextBox 18"/>
          <p:cNvSpPr txBox="1"/>
          <p:nvPr/>
        </p:nvSpPr>
        <p:spPr>
          <a:xfrm>
            <a:off x="914400" y="5806440"/>
            <a:ext cx="10332720" cy="365760"/>
          </a:xfrm>
          <a:prstGeom prst="rect">
            <a:avLst/>
          </a:prstGeom>
          <a:noFill/>
        </p:spPr>
        <p:txBody>
          <a:bodyPr wrap="square" anchor="t" lIns="0" rIns="0" tIns="0" bIns="0">
            <a:spAutoFit/>
          </a:bodyPr>
          <a:lstStyle/>
          <a:p>
            <a:pPr algn="l">
              <a:lnSpc>
                <a:spcPct val="100000"/>
              </a:lnSpc>
            </a:pPr>
            <a:r>
              <a:rPr sz="1050" b="0" i="1">
                <a:solidFill>
                  <a:srgbClr val="6B7C91"/>
                </a:solidFill>
                <a:latin typeface="Segoe UI"/>
              </a:rPr>
              <a:t>Source: india-energy-stack.gitbook.io/docs — public specification</a:t>
            </a:r>
          </a:p>
        </p:txBody>
      </p:sp>
      <p:sp>
        <p:nvSpPr>
          <p:cNvPr id="20" name="TextBox 19"/>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Section 05 — Our Proposed Focus</a:t>
            </a:r>
          </a:p>
        </p:txBody>
      </p:sp>
      <p:sp>
        <p:nvSpPr>
          <p:cNvPr id="21" name="TextBox 20"/>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12</a:t>
            </a:r>
          </a:p>
        </p:txBody>
      </p:sp>
      <p:sp>
        <p:nvSpPr>
          <p:cNvPr id="22" name="Rectangle 21"/>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05 · OUR PROPOSED FOCUS</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How the solution would actually flow</a:t>
            </a:r>
          </a:p>
        </p:txBody>
      </p:sp>
      <p:sp>
        <p:nvSpPr>
          <p:cNvPr id="4" name="Rectangle 3"/>
          <p:cNvSpPr/>
          <p:nvPr/>
        </p:nvSpPr>
        <p:spPr>
          <a:xfrm>
            <a:off x="777240" y="1737360"/>
            <a:ext cx="3063240" cy="868680"/>
          </a:xfrm>
          <a:prstGeom prst="rect">
            <a:avLst/>
          </a:prstGeom>
          <a:solidFill>
            <a:srgbClr val="FFFFFF"/>
          </a:solidFill>
          <a:ln w="12700">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10512"/>
            <a:ext cx="2880360" cy="477774"/>
          </a:xfrm>
          <a:prstGeom prst="rect">
            <a:avLst/>
          </a:prstGeom>
          <a:noFill/>
        </p:spPr>
        <p:txBody>
          <a:bodyPr wrap="square" anchor="b" lIns="0" rIns="0" tIns="0" bIns="0">
            <a:spAutoFit/>
          </a:bodyPr>
          <a:lstStyle/>
          <a:p>
            <a:pPr algn="ctr">
              <a:lnSpc>
                <a:spcPct val="105000"/>
              </a:lnSpc>
            </a:pPr>
            <a:r>
              <a:rPr sz="1350" b="1" i="0">
                <a:solidFill>
                  <a:srgbClr val="121B27"/>
                </a:solidFill>
                <a:latin typeface="Segoe UI Semibold"/>
              </a:rPr>
              <a:t>SERC / Regulator</a:t>
            </a:r>
          </a:p>
        </p:txBody>
      </p:sp>
      <p:sp>
        <p:nvSpPr>
          <p:cNvPr id="6" name="TextBox 5"/>
          <p:cNvSpPr txBox="1"/>
          <p:nvPr/>
        </p:nvSpPr>
        <p:spPr>
          <a:xfrm>
            <a:off x="868680" y="2215134"/>
            <a:ext cx="2880360" cy="336042"/>
          </a:xfrm>
          <a:prstGeom prst="rect">
            <a:avLst/>
          </a:prstGeom>
          <a:noFill/>
        </p:spPr>
        <p:txBody>
          <a:bodyPr wrap="square" anchor="t" lIns="0" rIns="0" tIns="0" bIns="0">
            <a:spAutoFit/>
          </a:bodyPr>
          <a:lstStyle/>
          <a:p>
            <a:pPr algn="ctr">
              <a:lnSpc>
                <a:spcPct val="105000"/>
              </a:lnSpc>
            </a:pPr>
            <a:r>
              <a:rPr sz="1050" b="0" i="0">
                <a:solidFill>
                  <a:srgbClr val="48576A"/>
                </a:solidFill>
                <a:latin typeface="Segoe UI"/>
              </a:rPr>
              <a:t>authors the tariff</a:t>
            </a:r>
          </a:p>
        </p:txBody>
      </p:sp>
      <p:sp>
        <p:nvSpPr>
          <p:cNvPr id="7" name="Right Arrow 6"/>
          <p:cNvSpPr/>
          <p:nvPr/>
        </p:nvSpPr>
        <p:spPr>
          <a:xfrm>
            <a:off x="3858768" y="2061972"/>
            <a:ext cx="283464" cy="219456"/>
          </a:xfrm>
          <a:prstGeom prst="rightArrow">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60520" y="1737360"/>
            <a:ext cx="3063240" cy="868680"/>
          </a:xfrm>
          <a:prstGeom prst="rect">
            <a:avLst/>
          </a:prstGeom>
          <a:solidFill>
            <a:srgbClr val="FBF0DD"/>
          </a:solidFill>
          <a:ln w="12700">
            <a:solidFill>
              <a:srgbClr val="C87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51960" y="1810512"/>
            <a:ext cx="2880360" cy="477774"/>
          </a:xfrm>
          <a:prstGeom prst="rect">
            <a:avLst/>
          </a:prstGeom>
          <a:noFill/>
        </p:spPr>
        <p:txBody>
          <a:bodyPr wrap="square" anchor="b" lIns="0" rIns="0" tIns="0" bIns="0">
            <a:spAutoFit/>
          </a:bodyPr>
          <a:lstStyle/>
          <a:p>
            <a:pPr algn="ctr">
              <a:lnSpc>
                <a:spcPct val="105000"/>
              </a:lnSpc>
            </a:pPr>
            <a:r>
              <a:rPr sz="1350" b="1" i="0">
                <a:solidFill>
                  <a:srgbClr val="C87C1C"/>
                </a:solidFill>
                <a:latin typeface="Segoe UI Semibold"/>
              </a:rPr>
              <a:t>Signed Policy Object</a:t>
            </a:r>
          </a:p>
        </p:txBody>
      </p:sp>
      <p:sp>
        <p:nvSpPr>
          <p:cNvPr id="10" name="TextBox 9"/>
          <p:cNvSpPr txBox="1"/>
          <p:nvPr/>
        </p:nvSpPr>
        <p:spPr>
          <a:xfrm>
            <a:off x="4251960" y="2215134"/>
            <a:ext cx="2880360" cy="336042"/>
          </a:xfrm>
          <a:prstGeom prst="rect">
            <a:avLst/>
          </a:prstGeom>
          <a:noFill/>
        </p:spPr>
        <p:txBody>
          <a:bodyPr wrap="square" anchor="t" lIns="0" rIns="0" tIns="0" bIns="0">
            <a:spAutoFit/>
          </a:bodyPr>
          <a:lstStyle/>
          <a:p>
            <a:pPr algn="ctr">
              <a:lnSpc>
                <a:spcPct val="105000"/>
              </a:lnSpc>
            </a:pPr>
            <a:r>
              <a:rPr sz="1050" b="0" i="0">
                <a:solidFill>
                  <a:srgbClr val="48576A"/>
                </a:solidFill>
                <a:latin typeface="Segoe UI"/>
              </a:rPr>
              <a:t>IES_Policy + signature</a:t>
            </a:r>
          </a:p>
        </p:txBody>
      </p:sp>
      <p:sp>
        <p:nvSpPr>
          <p:cNvPr id="11" name="Right Arrow 10"/>
          <p:cNvSpPr/>
          <p:nvPr/>
        </p:nvSpPr>
        <p:spPr>
          <a:xfrm>
            <a:off x="7242048" y="2061972"/>
            <a:ext cx="283464" cy="219456"/>
          </a:xfrm>
          <a:prstGeom prst="rightArrow">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43800" y="1737360"/>
            <a:ext cx="3063240" cy="868680"/>
          </a:xfrm>
          <a:prstGeom prst="rect">
            <a:avLst/>
          </a:prstGeom>
          <a:solidFill>
            <a:srgbClr val="121B27"/>
          </a:solidFill>
          <a:ln w="12700">
            <a:solidFill>
              <a:srgbClr val="26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810512"/>
            <a:ext cx="2880360" cy="477774"/>
          </a:xfrm>
          <a:prstGeom prst="rect">
            <a:avLst/>
          </a:prstGeom>
          <a:noFill/>
        </p:spPr>
        <p:txBody>
          <a:bodyPr wrap="square" anchor="b" lIns="0" rIns="0" tIns="0" bIns="0">
            <a:spAutoFit/>
          </a:bodyPr>
          <a:lstStyle/>
          <a:p>
            <a:pPr algn="ctr">
              <a:lnSpc>
                <a:spcPct val="105000"/>
              </a:lnSpc>
            </a:pPr>
            <a:r>
              <a:rPr sz="1350" b="1" i="0">
                <a:solidFill>
                  <a:srgbClr val="FFFFFF"/>
                </a:solidFill>
                <a:latin typeface="Segoe UI Semibold"/>
              </a:rPr>
              <a:t>Beckn / ONIX Network</a:t>
            </a:r>
          </a:p>
        </p:txBody>
      </p:sp>
      <p:sp>
        <p:nvSpPr>
          <p:cNvPr id="14" name="TextBox 13"/>
          <p:cNvSpPr txBox="1"/>
          <p:nvPr/>
        </p:nvSpPr>
        <p:spPr>
          <a:xfrm>
            <a:off x="7635240" y="2215134"/>
            <a:ext cx="2880360" cy="336042"/>
          </a:xfrm>
          <a:prstGeom prst="rect">
            <a:avLst/>
          </a:prstGeom>
          <a:noFill/>
        </p:spPr>
        <p:txBody>
          <a:bodyPr wrap="square" anchor="t" lIns="0" rIns="0" tIns="0" bIns="0">
            <a:spAutoFit/>
          </a:bodyPr>
          <a:lstStyle/>
          <a:p>
            <a:pPr algn="ctr">
              <a:lnSpc>
                <a:spcPct val="105000"/>
              </a:lnSpc>
            </a:pPr>
            <a:r>
              <a:rPr sz="1050" b="0" i="0">
                <a:solidFill>
                  <a:srgbClr val="AEBBCB"/>
                </a:solidFill>
                <a:latin typeface="Segoe UI"/>
              </a:rPr>
              <a:t>already built &amp; live — we don't build this</a:t>
            </a:r>
          </a:p>
        </p:txBody>
      </p:sp>
      <p:cxnSp>
        <p:nvCxnSpPr>
          <p:cNvPr id="15" name="Connector 14"/>
          <p:cNvCxnSpPr/>
          <p:nvPr/>
        </p:nvCxnSpPr>
        <p:spPr>
          <a:xfrm flipH="1">
            <a:off x="2331720" y="2606040"/>
            <a:ext cx="6743700" cy="1508760"/>
          </a:xfrm>
          <a:prstGeom prst="line">
            <a:avLst/>
          </a:prstGeom>
          <a:ln w="15875">
            <a:solidFill>
              <a:srgbClr val="8391A2"/>
            </a:solidFill>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914400" y="4114800"/>
            <a:ext cx="2834640" cy="868680"/>
          </a:xfrm>
          <a:prstGeom prst="rect">
            <a:avLst/>
          </a:prstGeom>
          <a:solidFill>
            <a:srgbClr val="FFFFFF"/>
          </a:solidFill>
          <a:ln w="12700">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187952"/>
            <a:ext cx="2651760" cy="477774"/>
          </a:xfrm>
          <a:prstGeom prst="rect">
            <a:avLst/>
          </a:prstGeom>
          <a:noFill/>
        </p:spPr>
        <p:txBody>
          <a:bodyPr wrap="square" anchor="b" lIns="0" rIns="0" tIns="0" bIns="0">
            <a:spAutoFit/>
          </a:bodyPr>
          <a:lstStyle/>
          <a:p>
            <a:pPr algn="ctr">
              <a:lnSpc>
                <a:spcPct val="105000"/>
              </a:lnSpc>
            </a:pPr>
            <a:r>
              <a:rPr sz="1350" b="1" i="0">
                <a:solidFill>
                  <a:srgbClr val="121B27"/>
                </a:solidFill>
                <a:latin typeface="Segoe UI Semibold"/>
              </a:rPr>
              <a:t>DISCOM Billing System</a:t>
            </a:r>
          </a:p>
        </p:txBody>
      </p:sp>
      <p:sp>
        <p:nvSpPr>
          <p:cNvPr id="18" name="TextBox 17"/>
          <p:cNvSpPr txBox="1"/>
          <p:nvPr/>
        </p:nvSpPr>
        <p:spPr>
          <a:xfrm>
            <a:off x="1005840" y="4592574"/>
            <a:ext cx="2651760" cy="336042"/>
          </a:xfrm>
          <a:prstGeom prst="rect">
            <a:avLst/>
          </a:prstGeom>
          <a:noFill/>
        </p:spPr>
        <p:txBody>
          <a:bodyPr wrap="square" anchor="t" lIns="0" rIns="0" tIns="0" bIns="0">
            <a:spAutoFit/>
          </a:bodyPr>
          <a:lstStyle/>
          <a:p>
            <a:pPr algn="ctr">
              <a:lnSpc>
                <a:spcPct val="105000"/>
              </a:lnSpc>
            </a:pPr>
            <a:r>
              <a:rPr sz="1050" b="0" i="0">
                <a:solidFill>
                  <a:srgbClr val="48576A"/>
                </a:solidFill>
                <a:latin typeface="Segoe UI"/>
              </a:rPr>
              <a:t>computes the bill</a:t>
            </a:r>
          </a:p>
        </p:txBody>
      </p:sp>
      <p:sp>
        <p:nvSpPr>
          <p:cNvPr id="19" name="Rounded Rectangle 18"/>
          <p:cNvSpPr/>
          <p:nvPr/>
        </p:nvSpPr>
        <p:spPr>
          <a:xfrm>
            <a:off x="1828800" y="5074920"/>
            <a:ext cx="1005840" cy="292608"/>
          </a:xfrm>
          <a:prstGeom prst="roundRect">
            <a:avLst>
              <a:gd name="adj" fmla="val 50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50" b="1">
                <a:solidFill>
                  <a:srgbClr val="FFFFFF"/>
                </a:solidFill>
                <a:latin typeface="Segoe UI Semibold"/>
              </a:rPr>
              <a:t>SAME RESULT</a:t>
            </a:r>
          </a:p>
        </p:txBody>
      </p:sp>
      <p:cxnSp>
        <p:nvCxnSpPr>
          <p:cNvPr id="20" name="Connector 19"/>
          <p:cNvCxnSpPr/>
          <p:nvPr/>
        </p:nvCxnSpPr>
        <p:spPr>
          <a:xfrm flipH="1">
            <a:off x="5532120" y="2606040"/>
            <a:ext cx="3543300" cy="1508760"/>
          </a:xfrm>
          <a:prstGeom prst="line">
            <a:avLst/>
          </a:prstGeom>
          <a:ln w="15875">
            <a:solidFill>
              <a:srgbClr val="8391A2"/>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114800" y="4114800"/>
            <a:ext cx="2834640" cy="868680"/>
          </a:xfrm>
          <a:prstGeom prst="rect">
            <a:avLst/>
          </a:prstGeom>
          <a:solidFill>
            <a:srgbClr val="FFFFFF"/>
          </a:solidFill>
          <a:ln w="12700">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06240" y="4187952"/>
            <a:ext cx="2651760" cy="477774"/>
          </a:xfrm>
          <a:prstGeom prst="rect">
            <a:avLst/>
          </a:prstGeom>
          <a:noFill/>
        </p:spPr>
        <p:txBody>
          <a:bodyPr wrap="square" anchor="b" lIns="0" rIns="0" tIns="0" bIns="0">
            <a:spAutoFit/>
          </a:bodyPr>
          <a:lstStyle/>
          <a:p>
            <a:pPr algn="ctr">
              <a:lnSpc>
                <a:spcPct val="105000"/>
              </a:lnSpc>
            </a:pPr>
            <a:r>
              <a:rPr sz="1350" b="1" i="0">
                <a:solidFill>
                  <a:srgbClr val="121B27"/>
                </a:solidFill>
                <a:latin typeface="Segoe UI Semibold"/>
              </a:rPr>
              <a:t>Consumer App</a:t>
            </a:r>
          </a:p>
        </p:txBody>
      </p:sp>
      <p:sp>
        <p:nvSpPr>
          <p:cNvPr id="23" name="TextBox 22"/>
          <p:cNvSpPr txBox="1"/>
          <p:nvPr/>
        </p:nvSpPr>
        <p:spPr>
          <a:xfrm>
            <a:off x="4206240" y="4592574"/>
            <a:ext cx="2651760" cy="336042"/>
          </a:xfrm>
          <a:prstGeom prst="rect">
            <a:avLst/>
          </a:prstGeom>
          <a:noFill/>
        </p:spPr>
        <p:txBody>
          <a:bodyPr wrap="square" anchor="t" lIns="0" rIns="0" tIns="0" bIns="0">
            <a:spAutoFit/>
          </a:bodyPr>
          <a:lstStyle/>
          <a:p>
            <a:pPr algn="ctr">
              <a:lnSpc>
                <a:spcPct val="105000"/>
              </a:lnSpc>
            </a:pPr>
            <a:r>
              <a:rPr sz="1050" b="0" i="0">
                <a:solidFill>
                  <a:srgbClr val="48576A"/>
                </a:solidFill>
                <a:latin typeface="Segoe UI"/>
              </a:rPr>
              <a:t>estimates the bill</a:t>
            </a:r>
          </a:p>
        </p:txBody>
      </p:sp>
      <p:sp>
        <p:nvSpPr>
          <p:cNvPr id="24" name="Rounded Rectangle 23"/>
          <p:cNvSpPr/>
          <p:nvPr/>
        </p:nvSpPr>
        <p:spPr>
          <a:xfrm>
            <a:off x="5029200" y="5074920"/>
            <a:ext cx="1005840" cy="292608"/>
          </a:xfrm>
          <a:prstGeom prst="roundRect">
            <a:avLst>
              <a:gd name="adj" fmla="val 50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50" b="1">
                <a:solidFill>
                  <a:srgbClr val="FFFFFF"/>
                </a:solidFill>
                <a:latin typeface="Segoe UI Semibold"/>
              </a:rPr>
              <a:t>SAME RESULT</a:t>
            </a:r>
          </a:p>
        </p:txBody>
      </p:sp>
      <p:cxnSp>
        <p:nvCxnSpPr>
          <p:cNvPr id="25" name="Connector 24"/>
          <p:cNvCxnSpPr/>
          <p:nvPr/>
        </p:nvCxnSpPr>
        <p:spPr>
          <a:xfrm flipH="1">
            <a:off x="8732520" y="2606040"/>
            <a:ext cx="342900" cy="1508760"/>
          </a:xfrm>
          <a:prstGeom prst="line">
            <a:avLst/>
          </a:prstGeom>
          <a:ln w="15875">
            <a:solidFill>
              <a:srgbClr val="8391A2"/>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315200" y="4114800"/>
            <a:ext cx="2834640" cy="868680"/>
          </a:xfrm>
          <a:prstGeom prst="rect">
            <a:avLst/>
          </a:prstGeom>
          <a:solidFill>
            <a:srgbClr val="FFFFFF"/>
          </a:solidFill>
          <a:ln w="12700">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4187952"/>
            <a:ext cx="2651760" cy="477774"/>
          </a:xfrm>
          <a:prstGeom prst="rect">
            <a:avLst/>
          </a:prstGeom>
          <a:noFill/>
        </p:spPr>
        <p:txBody>
          <a:bodyPr wrap="square" anchor="b" lIns="0" rIns="0" tIns="0" bIns="0">
            <a:spAutoFit/>
          </a:bodyPr>
          <a:lstStyle/>
          <a:p>
            <a:pPr algn="ctr">
              <a:lnSpc>
                <a:spcPct val="105000"/>
              </a:lnSpc>
            </a:pPr>
            <a:r>
              <a:rPr sz="1350" b="1" i="0">
                <a:solidFill>
                  <a:srgbClr val="121B27"/>
                </a:solidFill>
                <a:latin typeface="Segoe UI Semibold"/>
              </a:rPr>
              <a:t>Smart Meter Firmware</a:t>
            </a:r>
          </a:p>
        </p:txBody>
      </p:sp>
      <p:sp>
        <p:nvSpPr>
          <p:cNvPr id="28" name="TextBox 27"/>
          <p:cNvSpPr txBox="1"/>
          <p:nvPr/>
        </p:nvSpPr>
        <p:spPr>
          <a:xfrm>
            <a:off x="7406640" y="4592574"/>
            <a:ext cx="2651760" cy="336042"/>
          </a:xfrm>
          <a:prstGeom prst="rect">
            <a:avLst/>
          </a:prstGeom>
          <a:noFill/>
        </p:spPr>
        <p:txBody>
          <a:bodyPr wrap="square" anchor="t" lIns="0" rIns="0" tIns="0" bIns="0">
            <a:spAutoFit/>
          </a:bodyPr>
          <a:lstStyle/>
          <a:p>
            <a:pPr algn="ctr">
              <a:lnSpc>
                <a:spcPct val="105000"/>
              </a:lnSpc>
            </a:pPr>
            <a:r>
              <a:rPr sz="1050" b="0" i="0">
                <a:solidFill>
                  <a:srgbClr val="48576A"/>
                </a:solidFill>
                <a:latin typeface="Segoe UI"/>
              </a:rPr>
              <a:t>applies time-of-day logic</a:t>
            </a:r>
          </a:p>
        </p:txBody>
      </p:sp>
      <p:sp>
        <p:nvSpPr>
          <p:cNvPr id="29" name="Rounded Rectangle 28"/>
          <p:cNvSpPr/>
          <p:nvPr/>
        </p:nvSpPr>
        <p:spPr>
          <a:xfrm>
            <a:off x="8229600" y="5074920"/>
            <a:ext cx="1005840" cy="292608"/>
          </a:xfrm>
          <a:prstGeom prst="roundRect">
            <a:avLst>
              <a:gd name="adj" fmla="val 50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950" b="1">
                <a:solidFill>
                  <a:srgbClr val="FFFFFF"/>
                </a:solidFill>
                <a:latin typeface="Segoe UI Semibold"/>
              </a:rPr>
              <a:t>SAME RESULT</a:t>
            </a:r>
          </a:p>
        </p:txBody>
      </p:sp>
      <p:sp>
        <p:nvSpPr>
          <p:cNvPr id="30" name="TextBox 29"/>
          <p:cNvSpPr txBox="1"/>
          <p:nvPr/>
        </p:nvSpPr>
        <p:spPr>
          <a:xfrm>
            <a:off x="640080" y="5989320"/>
            <a:ext cx="10881360" cy="457200"/>
          </a:xfrm>
          <a:prstGeom prst="rect">
            <a:avLst/>
          </a:prstGeom>
          <a:noFill/>
        </p:spPr>
        <p:txBody>
          <a:bodyPr wrap="square" anchor="t" lIns="0" rIns="0" tIns="0" bIns="0">
            <a:spAutoFit/>
          </a:bodyPr>
          <a:lstStyle/>
          <a:p>
            <a:pPr algn="l">
              <a:lnSpc>
                <a:spcPct val="100000"/>
              </a:lnSpc>
            </a:pPr>
            <a:r>
              <a:rPr sz="1250" b="0" i="1">
                <a:solidFill>
                  <a:srgbClr val="48576A"/>
                </a:solidFill>
                <a:latin typeface="Segoe UI"/>
              </a:rPr>
              <a:t>Our proposed build is the middle box only — the network each side already exists and works.</a:t>
            </a:r>
          </a:p>
        </p:txBody>
      </p:sp>
      <p:sp>
        <p:nvSpPr>
          <p:cNvPr id="31" name="TextBox 30"/>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Section 05 — Our Proposed Focus</a:t>
            </a:r>
          </a:p>
        </p:txBody>
      </p:sp>
      <p:sp>
        <p:nvSpPr>
          <p:cNvPr id="32" name="TextBox 31"/>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13</a:t>
            </a:r>
          </a:p>
        </p:txBody>
      </p:sp>
      <p:sp>
        <p:nvSpPr>
          <p:cNvPr id="33" name="Rectangle 32"/>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05 · OUR PROPOSED FOCUS</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Open items found during technical review</a:t>
            </a:r>
          </a:p>
        </p:txBody>
      </p:sp>
      <p:sp>
        <p:nvSpPr>
          <p:cNvPr id="4" name="TextBox 3"/>
          <p:cNvSpPr txBox="1"/>
          <p:nvPr/>
        </p:nvSpPr>
        <p:spPr>
          <a:xfrm>
            <a:off x="640080" y="1371600"/>
            <a:ext cx="10881360" cy="457200"/>
          </a:xfrm>
          <a:prstGeom prst="rect">
            <a:avLst/>
          </a:prstGeom>
          <a:noFill/>
        </p:spPr>
        <p:txBody>
          <a:bodyPr wrap="square" anchor="t" lIns="0" rIns="0" tIns="0" bIns="0">
            <a:spAutoFit/>
          </a:bodyPr>
          <a:lstStyle/>
          <a:p>
            <a:pPr algn="l">
              <a:lnSpc>
                <a:spcPct val="100000"/>
              </a:lnSpc>
            </a:pPr>
            <a:r>
              <a:rPr sz="1400" b="0" i="0">
                <a:solidFill>
                  <a:srgbClr val="48576A"/>
                </a:solidFill>
                <a:latin typeface="Segoe UI"/>
              </a:rPr>
              <a:t>Reading IES's own draft specification closely surfaced four unresolved questions we'd need to address.</a:t>
            </a:r>
          </a:p>
        </p:txBody>
      </p:sp>
      <p:sp>
        <p:nvSpPr>
          <p:cNvPr id="5" name="Rectangle 4"/>
          <p:cNvSpPr/>
          <p:nvPr/>
        </p:nvSpPr>
        <p:spPr>
          <a:xfrm>
            <a:off x="640080" y="1965960"/>
            <a:ext cx="10881360" cy="91440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75688"/>
            <a:ext cx="6035040" cy="320040"/>
          </a:xfrm>
          <a:prstGeom prst="rect">
            <a:avLst/>
          </a:prstGeom>
          <a:noFill/>
        </p:spPr>
        <p:txBody>
          <a:bodyPr wrap="square" anchor="t" lIns="0" rIns="0" tIns="0" bIns="0">
            <a:spAutoFit/>
          </a:bodyPr>
          <a:lstStyle/>
          <a:p>
            <a:pPr algn="l">
              <a:lnSpc>
                <a:spcPct val="100000"/>
              </a:lnSpc>
            </a:pPr>
            <a:r>
              <a:rPr sz="1400" b="1" i="0">
                <a:solidFill>
                  <a:srgbClr val="121B27"/>
                </a:solidFill>
                <a:latin typeface="Segoe UI Semibold"/>
              </a:rPr>
              <a:t>No signature / issuer field</a:t>
            </a:r>
          </a:p>
        </p:txBody>
      </p:sp>
      <p:sp>
        <p:nvSpPr>
          <p:cNvPr id="7" name="TextBox 6"/>
          <p:cNvSpPr txBox="1"/>
          <p:nvPr/>
        </p:nvSpPr>
        <p:spPr>
          <a:xfrm>
            <a:off x="822960" y="2423160"/>
            <a:ext cx="8503920" cy="411480"/>
          </a:xfrm>
          <a:prstGeom prst="rect">
            <a:avLst/>
          </a:prstGeom>
          <a:noFill/>
        </p:spPr>
        <p:txBody>
          <a:bodyPr wrap="square" anchor="t" lIns="0" rIns="0" tIns="0" bIns="0">
            <a:spAutoFit/>
          </a:bodyPr>
          <a:lstStyle/>
          <a:p>
            <a:pPr algn="l">
              <a:lnSpc>
                <a:spcPct val="110000"/>
              </a:lnSpc>
            </a:pPr>
            <a:r>
              <a:rPr sz="1150" b="0" i="0">
                <a:solidFill>
                  <a:srgbClr val="48576A"/>
                </a:solidFill>
                <a:latin typeface="Segoe UI"/>
              </a:rPr>
              <a:t>The spec has no defined way to prove who published a tariff, or that it wasn't altered.</a:t>
            </a:r>
          </a:p>
        </p:txBody>
      </p:sp>
      <p:sp>
        <p:nvSpPr>
          <p:cNvPr id="8" name="Rounded Rectangle 7"/>
          <p:cNvSpPr/>
          <p:nvPr/>
        </p:nvSpPr>
        <p:spPr>
          <a:xfrm>
            <a:off x="9784080" y="2258568"/>
            <a:ext cx="1463040" cy="329184"/>
          </a:xfrm>
          <a:prstGeom prst="roundRect">
            <a:avLst>
              <a:gd name="adj" fmla="val 50000"/>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a:solidFill>
                  <a:srgbClr val="FFFFFF"/>
                </a:solidFill>
                <a:latin typeface="Segoe UI Semibold"/>
              </a:rPr>
              <a:t>MEDIUM</a:t>
            </a:r>
          </a:p>
        </p:txBody>
      </p:sp>
      <p:sp>
        <p:nvSpPr>
          <p:cNvPr id="9" name="Rectangle 8"/>
          <p:cNvSpPr/>
          <p:nvPr/>
        </p:nvSpPr>
        <p:spPr>
          <a:xfrm>
            <a:off x="640080" y="2990088"/>
            <a:ext cx="10881360" cy="91440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099816"/>
            <a:ext cx="6035040" cy="320040"/>
          </a:xfrm>
          <a:prstGeom prst="rect">
            <a:avLst/>
          </a:prstGeom>
          <a:noFill/>
        </p:spPr>
        <p:txBody>
          <a:bodyPr wrap="square" anchor="t" lIns="0" rIns="0" tIns="0" bIns="0">
            <a:spAutoFit/>
          </a:bodyPr>
          <a:lstStyle/>
          <a:p>
            <a:pPr algn="l">
              <a:lnSpc>
                <a:spcPct val="100000"/>
              </a:lnSpc>
            </a:pPr>
            <a:r>
              <a:rPr sz="1400" b="1" i="0">
                <a:solidFill>
                  <a:srgbClr val="121B27"/>
                </a:solidFill>
                <a:latin typeface="Segoe UI Semibold"/>
              </a:rPr>
              <a:t>No currency field</a:t>
            </a:r>
          </a:p>
        </p:txBody>
      </p:sp>
      <p:sp>
        <p:nvSpPr>
          <p:cNvPr id="11" name="TextBox 10"/>
          <p:cNvSpPr txBox="1"/>
          <p:nvPr/>
        </p:nvSpPr>
        <p:spPr>
          <a:xfrm>
            <a:off x="822960" y="3447288"/>
            <a:ext cx="8503920" cy="411480"/>
          </a:xfrm>
          <a:prstGeom prst="rect">
            <a:avLst/>
          </a:prstGeom>
          <a:noFill/>
        </p:spPr>
        <p:txBody>
          <a:bodyPr wrap="square" anchor="t" lIns="0" rIns="0" tIns="0" bIns="0">
            <a:spAutoFit/>
          </a:bodyPr>
          <a:lstStyle/>
          <a:p>
            <a:pPr algn="l">
              <a:lnSpc>
                <a:spcPct val="110000"/>
              </a:lnSpc>
            </a:pPr>
            <a:r>
              <a:rPr sz="1150" b="0" i="0">
                <a:solidFill>
                  <a:srgbClr val="48576A"/>
                </a:solidFill>
                <a:latin typeface="Segoe UI"/>
              </a:rPr>
              <a:t>Prices have no explicit currency — assumed, not stated.</a:t>
            </a:r>
          </a:p>
        </p:txBody>
      </p:sp>
      <p:sp>
        <p:nvSpPr>
          <p:cNvPr id="12" name="Rounded Rectangle 11"/>
          <p:cNvSpPr/>
          <p:nvPr/>
        </p:nvSpPr>
        <p:spPr>
          <a:xfrm>
            <a:off x="9784080" y="3282696"/>
            <a:ext cx="1463040" cy="329184"/>
          </a:xfrm>
          <a:prstGeom prst="roundRect">
            <a:avLst>
              <a:gd name="adj" fmla="val 50000"/>
            </a:avLst>
          </a:prstGeom>
          <a:solidFill>
            <a:srgbClr val="8391A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a:solidFill>
                  <a:srgbClr val="FFFFFF"/>
                </a:solidFill>
                <a:latin typeface="Segoe UI Semibold"/>
              </a:rPr>
              <a:t>LOW</a:t>
            </a:r>
          </a:p>
        </p:txBody>
      </p:sp>
      <p:sp>
        <p:nvSpPr>
          <p:cNvPr id="13" name="Rectangle 12"/>
          <p:cNvSpPr/>
          <p:nvPr/>
        </p:nvSpPr>
        <p:spPr>
          <a:xfrm>
            <a:off x="640080" y="4014216"/>
            <a:ext cx="10881360" cy="91440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123944"/>
            <a:ext cx="6035040" cy="320040"/>
          </a:xfrm>
          <a:prstGeom prst="rect">
            <a:avLst/>
          </a:prstGeom>
          <a:noFill/>
        </p:spPr>
        <p:txBody>
          <a:bodyPr wrap="square" anchor="t" lIns="0" rIns="0" tIns="0" bIns="0">
            <a:spAutoFit/>
          </a:bodyPr>
          <a:lstStyle/>
          <a:p>
            <a:pPr algn="l">
              <a:lnSpc>
                <a:spcPct val="100000"/>
              </a:lnSpc>
            </a:pPr>
            <a:r>
              <a:rPr sz="1400" b="1" i="0">
                <a:solidFill>
                  <a:srgbClr val="121B27"/>
                </a:solidFill>
                <a:latin typeface="Segoe UI Semibold"/>
              </a:rPr>
              <a:t>No amendment convention</a:t>
            </a:r>
          </a:p>
        </p:txBody>
      </p:sp>
      <p:sp>
        <p:nvSpPr>
          <p:cNvPr id="15" name="TextBox 14"/>
          <p:cNvSpPr txBox="1"/>
          <p:nvPr/>
        </p:nvSpPr>
        <p:spPr>
          <a:xfrm>
            <a:off x="822960" y="4471416"/>
            <a:ext cx="8503920" cy="411480"/>
          </a:xfrm>
          <a:prstGeom prst="rect">
            <a:avLst/>
          </a:prstGeom>
          <a:noFill/>
        </p:spPr>
        <p:txBody>
          <a:bodyPr wrap="square" anchor="t" lIns="0" rIns="0" tIns="0" bIns="0">
            <a:spAutoFit/>
          </a:bodyPr>
          <a:lstStyle/>
          <a:p>
            <a:pPr algn="l">
              <a:lnSpc>
                <a:spcPct val="110000"/>
              </a:lnSpc>
            </a:pPr>
            <a:r>
              <a:rPr sz="1150" b="0" i="0">
                <a:solidFill>
                  <a:srgbClr val="48576A"/>
                </a:solidFill>
                <a:latin typeface="Segoe UI"/>
              </a:rPr>
              <a:t>No agreed rule for how a corrected tariff replaces an earlier one.</a:t>
            </a:r>
          </a:p>
        </p:txBody>
      </p:sp>
      <p:sp>
        <p:nvSpPr>
          <p:cNvPr id="16" name="Rounded Rectangle 15"/>
          <p:cNvSpPr/>
          <p:nvPr/>
        </p:nvSpPr>
        <p:spPr>
          <a:xfrm>
            <a:off x="9784080" y="4306824"/>
            <a:ext cx="1463040" cy="329184"/>
          </a:xfrm>
          <a:prstGeom prst="roundRect">
            <a:avLst>
              <a:gd name="adj" fmla="val 50000"/>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a:solidFill>
                  <a:srgbClr val="FFFFFF"/>
                </a:solidFill>
                <a:latin typeface="Segoe UI Semibold"/>
              </a:rPr>
              <a:t>MEDIUM</a:t>
            </a:r>
          </a:p>
        </p:txBody>
      </p:sp>
      <p:sp>
        <p:nvSpPr>
          <p:cNvPr id="17" name="Rectangle 16"/>
          <p:cNvSpPr/>
          <p:nvPr/>
        </p:nvSpPr>
        <p:spPr>
          <a:xfrm>
            <a:off x="640080" y="5038344"/>
            <a:ext cx="10881360" cy="91440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148072"/>
            <a:ext cx="6035040" cy="320040"/>
          </a:xfrm>
          <a:prstGeom prst="rect">
            <a:avLst/>
          </a:prstGeom>
          <a:noFill/>
        </p:spPr>
        <p:txBody>
          <a:bodyPr wrap="square" anchor="t" lIns="0" rIns="0" tIns="0" bIns="0">
            <a:spAutoFit/>
          </a:bodyPr>
          <a:lstStyle/>
          <a:p>
            <a:pPr algn="l">
              <a:lnSpc>
                <a:spcPct val="100000"/>
              </a:lnSpc>
            </a:pPr>
            <a:r>
              <a:rPr sz="1400" b="1" i="0">
                <a:solidFill>
                  <a:srgbClr val="121B27"/>
                </a:solidFill>
                <a:latin typeface="Segoe UI Semibold"/>
              </a:rPr>
              <a:t>Slab / surcharge interaction undefined</a:t>
            </a:r>
          </a:p>
        </p:txBody>
      </p:sp>
      <p:sp>
        <p:nvSpPr>
          <p:cNvPr id="19" name="TextBox 18"/>
          <p:cNvSpPr txBox="1"/>
          <p:nvPr/>
        </p:nvSpPr>
        <p:spPr>
          <a:xfrm>
            <a:off x="822960" y="5495544"/>
            <a:ext cx="8503920" cy="411480"/>
          </a:xfrm>
          <a:prstGeom prst="rect">
            <a:avLst/>
          </a:prstGeom>
          <a:noFill/>
        </p:spPr>
        <p:txBody>
          <a:bodyPr wrap="square" anchor="t" lIns="0" rIns="0" tIns="0" bIns="0">
            <a:spAutoFit/>
          </a:bodyPr>
          <a:lstStyle/>
          <a:p>
            <a:pPr algn="l">
              <a:lnSpc>
                <a:spcPct val="110000"/>
              </a:lnSpc>
            </a:pPr>
            <a:r>
              <a:rPr sz="1150" b="0" i="0">
                <a:solidFill>
                  <a:srgbClr val="48576A"/>
                </a:solidFill>
                <a:latin typeface="Segoe UI"/>
              </a:rPr>
              <a:t>Unclear whether a time-of-day surcharge applies to the marginal or blended rate — two compliant systems could compute different bills.</a:t>
            </a:r>
          </a:p>
        </p:txBody>
      </p:sp>
      <p:sp>
        <p:nvSpPr>
          <p:cNvPr id="20" name="Rounded Rectangle 19"/>
          <p:cNvSpPr/>
          <p:nvPr/>
        </p:nvSpPr>
        <p:spPr>
          <a:xfrm>
            <a:off x="9784080" y="5330952"/>
            <a:ext cx="1463040" cy="329184"/>
          </a:xfrm>
          <a:prstGeom prst="roundRect">
            <a:avLst>
              <a:gd name="adj" fmla="val 50000"/>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a:solidFill>
                  <a:srgbClr val="FFFFFF"/>
                </a:solidFill>
                <a:latin typeface="Segoe UI Semibold"/>
              </a:rPr>
              <a:t>HIGH</a:t>
            </a:r>
          </a:p>
        </p:txBody>
      </p:sp>
      <p:sp>
        <p:nvSpPr>
          <p:cNvPr id="21" name="TextBox 20"/>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Section 05 — Our Proposed Focus</a:t>
            </a:r>
          </a:p>
        </p:txBody>
      </p:sp>
      <p:sp>
        <p:nvSpPr>
          <p:cNvPr id="22" name="TextBox 21"/>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14</a:t>
            </a:r>
          </a:p>
        </p:txBody>
      </p:sp>
      <p:sp>
        <p:nvSpPr>
          <p:cNvPr id="23" name="Rectangle 22"/>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41F"/>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E8A33D"/>
                </a:solidFill>
                <a:latin typeface="Segoe UI Semibold"/>
              </a:rPr>
              <a:t>06 · PLAN, ASK &amp; RISKS</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Segoe UI Semibold"/>
              </a:rPr>
              <a:t>Proposed technical approach</a:t>
            </a:r>
          </a:p>
        </p:txBody>
      </p:sp>
      <p:sp>
        <p:nvSpPr>
          <p:cNvPr id="4" name="Rectangle 3"/>
          <p:cNvSpPr/>
          <p:nvPr/>
        </p:nvSpPr>
        <p:spPr>
          <a:xfrm>
            <a:off x="640080" y="2286000"/>
            <a:ext cx="2606040" cy="2834640"/>
          </a:xfrm>
          <a:prstGeom prst="rect">
            <a:avLst/>
          </a:prstGeom>
          <a:solidFill>
            <a:srgbClr val="121B27"/>
          </a:solidFill>
          <a:ln w="9525">
            <a:solidFill>
              <a:srgbClr val="26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2432304"/>
            <a:ext cx="2203704" cy="411480"/>
          </a:xfrm>
          <a:prstGeom prst="rect">
            <a:avLst/>
          </a:prstGeom>
          <a:noFill/>
        </p:spPr>
        <p:txBody>
          <a:bodyPr wrap="square" anchor="t" lIns="0" rIns="0" tIns="0" bIns="0">
            <a:spAutoFit/>
          </a:bodyPr>
          <a:lstStyle/>
          <a:p>
            <a:pPr algn="l">
              <a:lnSpc>
                <a:spcPct val="100000"/>
              </a:lnSpc>
            </a:pPr>
            <a:r>
              <a:rPr sz="1550" b="1" i="0">
                <a:solidFill>
                  <a:srgbClr val="FFFFFF"/>
                </a:solidFill>
                <a:latin typeface="Segoe UI Semibold"/>
              </a:rPr>
              <a:t>1. Author</a:t>
            </a:r>
          </a:p>
        </p:txBody>
      </p:sp>
      <p:sp>
        <p:nvSpPr>
          <p:cNvPr id="6" name="TextBox 5"/>
          <p:cNvSpPr txBox="1"/>
          <p:nvPr/>
        </p:nvSpPr>
        <p:spPr>
          <a:xfrm>
            <a:off x="841248" y="2852928"/>
            <a:ext cx="2203704" cy="2103120"/>
          </a:xfrm>
          <a:prstGeom prst="rect">
            <a:avLst/>
          </a:prstGeom>
          <a:noFill/>
        </p:spPr>
        <p:txBody>
          <a:bodyPr wrap="square" lIns="0" rIns="0" tIns="0" bIns="0">
            <a:spAutoFit/>
          </a:bodyPr>
          <a:lstStyle/>
          <a:p>
            <a:pPr>
              <a:lnSpc>
                <a:spcPct val="115000"/>
              </a:lnSpc>
              <a:spcAft>
                <a:spcPts val="600"/>
              </a:spcAft>
            </a:pPr>
            <a:r>
              <a:rPr sz="1250" b="1">
                <a:solidFill>
                  <a:srgbClr val="C87C1C"/>
                </a:solidFill>
                <a:latin typeface="Segoe UI"/>
              </a:rPr>
              <a:t>—  </a:t>
            </a:r>
            <a:r>
              <a:rPr sz="1250">
                <a:solidFill>
                  <a:srgbClr val="AEBBCB"/>
                </a:solidFill>
                <a:latin typeface="Segoe UI"/>
              </a:rPr>
              <a:t>Encode a real tariff order (price tiers + time-of-day surcharges) as IES's published data schema.</a:t>
            </a:r>
          </a:p>
        </p:txBody>
      </p:sp>
      <p:sp>
        <p:nvSpPr>
          <p:cNvPr id="7" name="Rectangle 6"/>
          <p:cNvSpPr/>
          <p:nvPr/>
        </p:nvSpPr>
        <p:spPr>
          <a:xfrm>
            <a:off x="3383280" y="2286000"/>
            <a:ext cx="2606040" cy="2834640"/>
          </a:xfrm>
          <a:prstGeom prst="rect">
            <a:avLst/>
          </a:prstGeom>
          <a:solidFill>
            <a:srgbClr val="121B27"/>
          </a:solidFill>
          <a:ln w="9525">
            <a:solidFill>
              <a:srgbClr val="26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84448" y="2432304"/>
            <a:ext cx="2203704" cy="411480"/>
          </a:xfrm>
          <a:prstGeom prst="rect">
            <a:avLst/>
          </a:prstGeom>
          <a:noFill/>
        </p:spPr>
        <p:txBody>
          <a:bodyPr wrap="square" anchor="t" lIns="0" rIns="0" tIns="0" bIns="0">
            <a:spAutoFit/>
          </a:bodyPr>
          <a:lstStyle/>
          <a:p>
            <a:pPr algn="l">
              <a:lnSpc>
                <a:spcPct val="100000"/>
              </a:lnSpc>
            </a:pPr>
            <a:r>
              <a:rPr sz="1550" b="1" i="0">
                <a:solidFill>
                  <a:srgbClr val="FFFFFF"/>
                </a:solidFill>
                <a:latin typeface="Segoe UI Semibold"/>
              </a:rPr>
              <a:t>2. Sign</a:t>
            </a:r>
          </a:p>
        </p:txBody>
      </p:sp>
      <p:sp>
        <p:nvSpPr>
          <p:cNvPr id="9" name="TextBox 8"/>
          <p:cNvSpPr txBox="1"/>
          <p:nvPr/>
        </p:nvSpPr>
        <p:spPr>
          <a:xfrm>
            <a:off x="3584448" y="2852928"/>
            <a:ext cx="2203704" cy="2103120"/>
          </a:xfrm>
          <a:prstGeom prst="rect">
            <a:avLst/>
          </a:prstGeom>
          <a:noFill/>
        </p:spPr>
        <p:txBody>
          <a:bodyPr wrap="square" lIns="0" rIns="0" tIns="0" bIns="0">
            <a:spAutoFit/>
          </a:bodyPr>
          <a:lstStyle/>
          <a:p>
            <a:pPr>
              <a:lnSpc>
                <a:spcPct val="115000"/>
              </a:lnSpc>
              <a:spcAft>
                <a:spcPts val="600"/>
              </a:spcAft>
            </a:pPr>
            <a:r>
              <a:rPr sz="1250" b="1">
                <a:solidFill>
                  <a:srgbClr val="C87C1C"/>
                </a:solidFill>
                <a:latin typeface="Segoe UI"/>
              </a:rPr>
              <a:t>—  </a:t>
            </a:r>
            <a:r>
              <a:rPr sz="1250">
                <a:solidFill>
                  <a:srgbClr val="AEBBCB"/>
                </a:solidFill>
                <a:latin typeface="Segoe UI"/>
              </a:rPr>
              <a:t>Attach a verifiable digital signature so any recipient can confirm authenticity without a phone call.</a:t>
            </a:r>
          </a:p>
        </p:txBody>
      </p:sp>
      <p:sp>
        <p:nvSpPr>
          <p:cNvPr id="10" name="Rectangle 9"/>
          <p:cNvSpPr/>
          <p:nvPr/>
        </p:nvSpPr>
        <p:spPr>
          <a:xfrm>
            <a:off x="6126480" y="2286000"/>
            <a:ext cx="2606040" cy="2834640"/>
          </a:xfrm>
          <a:prstGeom prst="rect">
            <a:avLst/>
          </a:prstGeom>
          <a:solidFill>
            <a:srgbClr val="121B27"/>
          </a:solidFill>
          <a:ln w="9525">
            <a:solidFill>
              <a:srgbClr val="26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8" y="2432304"/>
            <a:ext cx="2203704" cy="411480"/>
          </a:xfrm>
          <a:prstGeom prst="rect">
            <a:avLst/>
          </a:prstGeom>
          <a:noFill/>
        </p:spPr>
        <p:txBody>
          <a:bodyPr wrap="square" anchor="t" lIns="0" rIns="0" tIns="0" bIns="0">
            <a:spAutoFit/>
          </a:bodyPr>
          <a:lstStyle/>
          <a:p>
            <a:pPr algn="l">
              <a:lnSpc>
                <a:spcPct val="100000"/>
              </a:lnSpc>
            </a:pPr>
            <a:r>
              <a:rPr sz="1550" b="1" i="0">
                <a:solidFill>
                  <a:srgbClr val="FFFFFF"/>
                </a:solidFill>
                <a:latin typeface="Segoe UI Semibold"/>
              </a:rPr>
              <a:t>3. Validate</a:t>
            </a:r>
          </a:p>
        </p:txBody>
      </p:sp>
      <p:sp>
        <p:nvSpPr>
          <p:cNvPr id="12" name="TextBox 11"/>
          <p:cNvSpPr txBox="1"/>
          <p:nvPr/>
        </p:nvSpPr>
        <p:spPr>
          <a:xfrm>
            <a:off x="6327648" y="2852928"/>
            <a:ext cx="2203704" cy="2103120"/>
          </a:xfrm>
          <a:prstGeom prst="rect">
            <a:avLst/>
          </a:prstGeom>
          <a:noFill/>
        </p:spPr>
        <p:txBody>
          <a:bodyPr wrap="square" lIns="0" rIns="0" tIns="0" bIns="0">
            <a:spAutoFit/>
          </a:bodyPr>
          <a:lstStyle/>
          <a:p>
            <a:pPr>
              <a:lnSpc>
                <a:spcPct val="115000"/>
              </a:lnSpc>
              <a:spcAft>
                <a:spcPts val="600"/>
              </a:spcAft>
            </a:pPr>
            <a:r>
              <a:rPr sz="1250" b="1">
                <a:solidFill>
                  <a:srgbClr val="C87C1C"/>
                </a:solidFill>
                <a:latin typeface="Segoe UI"/>
              </a:rPr>
              <a:t>—  </a:t>
            </a:r>
            <a:r>
              <a:rPr sz="1250">
                <a:solidFill>
                  <a:srgbClr val="AEBBCB"/>
                </a:solidFill>
                <a:latin typeface="Segoe UI"/>
              </a:rPr>
              <a:t>Build two independent billing calculators and confirm they compute identical results — proving the rule is unambiguous.</a:t>
            </a:r>
          </a:p>
        </p:txBody>
      </p:sp>
      <p:sp>
        <p:nvSpPr>
          <p:cNvPr id="13" name="Rectangle 12"/>
          <p:cNvSpPr/>
          <p:nvPr/>
        </p:nvSpPr>
        <p:spPr>
          <a:xfrm>
            <a:off x="8869680" y="2286000"/>
            <a:ext cx="2606040" cy="2834640"/>
          </a:xfrm>
          <a:prstGeom prst="rect">
            <a:avLst/>
          </a:prstGeom>
          <a:solidFill>
            <a:srgbClr val="121B27"/>
          </a:solidFill>
          <a:ln w="9525">
            <a:solidFill>
              <a:srgbClr val="26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70848" y="2432304"/>
            <a:ext cx="2203704" cy="411480"/>
          </a:xfrm>
          <a:prstGeom prst="rect">
            <a:avLst/>
          </a:prstGeom>
          <a:noFill/>
        </p:spPr>
        <p:txBody>
          <a:bodyPr wrap="square" anchor="t" lIns="0" rIns="0" tIns="0" bIns="0">
            <a:spAutoFit/>
          </a:bodyPr>
          <a:lstStyle/>
          <a:p>
            <a:pPr algn="l">
              <a:lnSpc>
                <a:spcPct val="100000"/>
              </a:lnSpc>
            </a:pPr>
            <a:r>
              <a:rPr sz="1550" b="1" i="0">
                <a:solidFill>
                  <a:srgbClr val="FFFFFF"/>
                </a:solidFill>
                <a:latin typeface="Segoe UI Semibold"/>
              </a:rPr>
              <a:t>4. Prove</a:t>
            </a:r>
          </a:p>
        </p:txBody>
      </p:sp>
      <p:sp>
        <p:nvSpPr>
          <p:cNvPr id="15" name="TextBox 14"/>
          <p:cNvSpPr txBox="1"/>
          <p:nvPr/>
        </p:nvSpPr>
        <p:spPr>
          <a:xfrm>
            <a:off x="9070848" y="2852928"/>
            <a:ext cx="2203704" cy="2103120"/>
          </a:xfrm>
          <a:prstGeom prst="rect">
            <a:avLst/>
          </a:prstGeom>
          <a:noFill/>
        </p:spPr>
        <p:txBody>
          <a:bodyPr wrap="square" lIns="0" rIns="0" tIns="0" bIns="0">
            <a:spAutoFit/>
          </a:bodyPr>
          <a:lstStyle/>
          <a:p>
            <a:pPr>
              <a:lnSpc>
                <a:spcPct val="115000"/>
              </a:lnSpc>
              <a:spcAft>
                <a:spcPts val="600"/>
              </a:spcAft>
            </a:pPr>
            <a:r>
              <a:rPr sz="1250" b="1">
                <a:solidFill>
                  <a:srgbClr val="C87C1C"/>
                </a:solidFill>
                <a:latin typeface="Segoe UI"/>
              </a:rPr>
              <a:t>—  </a:t>
            </a:r>
            <a:r>
              <a:rPr sz="1250">
                <a:solidFill>
                  <a:srgbClr val="AEBBCB"/>
                </a:solidFill>
                <a:latin typeface="Segoe UI"/>
              </a:rPr>
              <a:t>Run the exchange over IES's own public sandbox network and confirm their validator accepts it as conformant.</a:t>
            </a:r>
          </a:p>
        </p:txBody>
      </p:sp>
      <p:sp>
        <p:nvSpPr>
          <p:cNvPr id="16" name="TextBox 15"/>
          <p:cNvSpPr txBox="1"/>
          <p:nvPr/>
        </p:nvSpPr>
        <p:spPr>
          <a:xfrm>
            <a:off x="640080" y="5349240"/>
            <a:ext cx="10881360" cy="914400"/>
          </a:xfrm>
          <a:prstGeom prst="rect">
            <a:avLst/>
          </a:prstGeom>
          <a:noFill/>
        </p:spPr>
        <p:txBody>
          <a:bodyPr wrap="square" anchor="t" lIns="0" rIns="0" tIns="0" bIns="0">
            <a:spAutoFit/>
          </a:bodyPr>
          <a:lstStyle/>
          <a:p>
            <a:pPr algn="l">
              <a:lnSpc>
                <a:spcPct val="130000"/>
              </a:lnSpc>
            </a:pPr>
            <a:r>
              <a:rPr sz="1300" b="0" i="1">
                <a:solidFill>
                  <a:srgbClr val="9CACC0"/>
                </a:solidFill>
                <a:latin typeface="Segoe UI"/>
              </a:rPr>
              <a:t>This approach requires no access to real utility systems for the validation phase — public tariff orders and IES's own published sandbox are sufficient to build and test a credible proof of concept.</a:t>
            </a:r>
          </a:p>
        </p:txBody>
      </p:sp>
      <p:sp>
        <p:nvSpPr>
          <p:cNvPr id="17" name="TextBox 16"/>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6B7C91"/>
                </a:solidFill>
                <a:latin typeface="Segoe UI"/>
              </a:rPr>
              <a:t>Section 06 — Plan, Ask &amp; Risks</a:t>
            </a:r>
          </a:p>
        </p:txBody>
      </p:sp>
      <p:sp>
        <p:nvSpPr>
          <p:cNvPr id="18" name="TextBox 17"/>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6B7C91"/>
                </a:solidFill>
                <a:latin typeface="Segoe UI"/>
              </a:rPr>
              <a:t>15</a:t>
            </a:r>
          </a:p>
        </p:txBody>
      </p:sp>
      <p:sp>
        <p:nvSpPr>
          <p:cNvPr id="19" name="Rectangle 18"/>
          <p:cNvSpPr/>
          <p:nvPr/>
        </p:nvSpPr>
        <p:spPr>
          <a:xfrm>
            <a:off x="640080" y="6446520"/>
            <a:ext cx="10908792" cy="9525"/>
          </a:xfrm>
          <a:prstGeom prst="rect">
            <a:avLst/>
          </a:prstGeom>
          <a:solidFill>
            <a:srgbClr val="2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06 · PLAN, ASK &amp; RISKS</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Why this opportunity, why now</a:t>
            </a:r>
          </a:p>
        </p:txBody>
      </p:sp>
      <p:sp>
        <p:nvSpPr>
          <p:cNvPr id="4" name="TextBox 3"/>
          <p:cNvSpPr txBox="1"/>
          <p:nvPr/>
        </p:nvSpPr>
        <p:spPr>
          <a:xfrm>
            <a:off x="822960" y="1737360"/>
            <a:ext cx="10241280" cy="4114800"/>
          </a:xfrm>
          <a:prstGeom prst="rect">
            <a:avLst/>
          </a:prstGeom>
          <a:noFill/>
        </p:spPr>
        <p:txBody>
          <a:bodyPr wrap="square" lIns="0" rIns="0" tIns="0" bIns="0">
            <a:spAutoFit/>
          </a:bodyPr>
          <a:lstStyle/>
          <a:p>
            <a:pPr>
              <a:lnSpc>
                <a:spcPct val="115000"/>
              </a:lnSpc>
              <a:spcAft>
                <a:spcPts val="2000"/>
              </a:spcAft>
            </a:pPr>
            <a:r>
              <a:rPr sz="1600" b="1">
                <a:solidFill>
                  <a:srgbClr val="C87C1C"/>
                </a:solidFill>
                <a:latin typeface="Segoe UI"/>
              </a:rPr>
              <a:t>—  </a:t>
            </a:r>
            <a:r>
              <a:rPr sz="1600">
                <a:solidFill>
                  <a:srgbClr val="48576A"/>
                </a:solidFill>
                <a:latin typeface="Segoe UI"/>
              </a:rPr>
              <a:t>Genuinely unclaimed: officially marked unfinished by IES's own team, with no active competing sprint underway</a:t>
            </a:r>
          </a:p>
          <a:p>
            <a:pPr>
              <a:lnSpc>
                <a:spcPct val="115000"/>
              </a:lnSpc>
              <a:spcAft>
                <a:spcPts val="2000"/>
              </a:spcAft>
            </a:pPr>
            <a:r>
              <a:rPr sz="1600" b="1">
                <a:solidFill>
                  <a:srgbClr val="C87C1C"/>
                </a:solidFill>
                <a:latin typeface="Segoe UI"/>
              </a:rPr>
              <a:t>—  </a:t>
            </a:r>
            <a:r>
              <a:rPr sz="1600">
                <a:solidFill>
                  <a:srgbClr val="48576A"/>
                </a:solidFill>
                <a:latin typeface="Segoe UI"/>
              </a:rPr>
              <a:t>Low barrier to entry: no procurement, no licence fee, no approval needed to start on the public sandbox</a:t>
            </a:r>
          </a:p>
          <a:p>
            <a:pPr>
              <a:lnSpc>
                <a:spcPct val="115000"/>
              </a:lnSpc>
              <a:spcAft>
                <a:spcPts val="2000"/>
              </a:spcAft>
            </a:pPr>
            <a:r>
              <a:rPr sz="1600" b="1">
                <a:solidFill>
                  <a:srgbClr val="C87C1C"/>
                </a:solidFill>
                <a:latin typeface="Segoe UI"/>
              </a:rPr>
              <a:t>—  </a:t>
            </a:r>
            <a:r>
              <a:rPr sz="1600">
                <a:solidFill>
                  <a:srgbClr val="48576A"/>
                </a:solidFill>
                <a:latin typeface="Segoe UI"/>
              </a:rPr>
              <a:t>Low cost to test: public tariff data and free tooling are sufficient — no real utility access required</a:t>
            </a:r>
          </a:p>
          <a:p>
            <a:pPr>
              <a:lnSpc>
                <a:spcPct val="115000"/>
              </a:lnSpc>
              <a:spcAft>
                <a:spcPts val="2000"/>
              </a:spcAft>
            </a:pPr>
            <a:r>
              <a:rPr sz="1600" b="1">
                <a:solidFill>
                  <a:srgbClr val="C87C1C"/>
                </a:solidFill>
                <a:latin typeface="Segoe UI"/>
              </a:rPr>
              <a:t>—  </a:t>
            </a:r>
            <a:r>
              <a:rPr sz="1600">
                <a:solidFill>
                  <a:srgbClr val="48576A"/>
                </a:solidFill>
                <a:latin typeface="Segoe UI"/>
              </a:rPr>
              <a:t>Clear submission path: a standing public channel (Contribute-to-IES) with no fixed deadline to work against</a:t>
            </a:r>
          </a:p>
          <a:p>
            <a:pPr>
              <a:lnSpc>
                <a:spcPct val="115000"/>
              </a:lnSpc>
              <a:spcAft>
                <a:spcPts val="2000"/>
              </a:spcAft>
            </a:pPr>
            <a:r>
              <a:rPr sz="1600" b="1">
                <a:solidFill>
                  <a:srgbClr val="C87C1C"/>
                </a:solidFill>
                <a:latin typeface="Segoe UI"/>
              </a:rPr>
              <a:t>—  </a:t>
            </a:r>
            <a:r>
              <a:rPr sz="1600">
                <a:solidFill>
                  <a:srgbClr val="48576A"/>
                </a:solidFill>
                <a:latin typeface="Segoe UI"/>
              </a:rPr>
              <a:t>Strategic positioning: early, credible technical presence ahead of the next formal EOI round</a:t>
            </a:r>
          </a:p>
        </p:txBody>
      </p:sp>
      <p:sp>
        <p:nvSpPr>
          <p:cNvPr id="5" name="TextBox 4"/>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Section 06 — Plan, Ask &amp; Risks</a:t>
            </a:r>
          </a:p>
        </p:txBody>
      </p:sp>
      <p:sp>
        <p:nvSpPr>
          <p:cNvPr id="6" name="TextBox 5"/>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16</a:t>
            </a:r>
          </a:p>
        </p:txBody>
      </p:sp>
      <p:sp>
        <p:nvSpPr>
          <p:cNvPr id="7" name="Rectangle 6"/>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06 · PLAN, ASK &amp; RISKS</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Proposed roadmap</a:t>
            </a:r>
          </a:p>
        </p:txBody>
      </p:sp>
      <p:sp>
        <p:nvSpPr>
          <p:cNvPr id="4" name="Rectangle 3"/>
          <p:cNvSpPr/>
          <p:nvPr/>
        </p:nvSpPr>
        <p:spPr>
          <a:xfrm>
            <a:off x="640080" y="1691640"/>
            <a:ext cx="2651760" cy="457200"/>
          </a:xfrm>
          <a:prstGeom prst="rect">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64792"/>
            <a:ext cx="2651760" cy="320040"/>
          </a:xfrm>
          <a:prstGeom prst="rect">
            <a:avLst/>
          </a:prstGeom>
          <a:noFill/>
        </p:spPr>
        <p:txBody>
          <a:bodyPr wrap="square" anchor="t" lIns="0" rIns="0" tIns="0" bIns="0">
            <a:spAutoFit/>
          </a:bodyPr>
          <a:lstStyle/>
          <a:p>
            <a:pPr algn="ctr">
              <a:lnSpc>
                <a:spcPct val="100000"/>
              </a:lnSpc>
            </a:pPr>
            <a:r>
              <a:rPr sz="1300" b="1" i="0">
                <a:solidFill>
                  <a:srgbClr val="FFFFFF"/>
                </a:solidFill>
                <a:latin typeface="Segoe UI Semibold"/>
              </a:rPr>
              <a:t>Weeks 1-2</a:t>
            </a:r>
          </a:p>
        </p:txBody>
      </p:sp>
      <p:sp>
        <p:nvSpPr>
          <p:cNvPr id="6" name="Rectangle 5"/>
          <p:cNvSpPr/>
          <p:nvPr/>
        </p:nvSpPr>
        <p:spPr>
          <a:xfrm>
            <a:off x="640080" y="2148840"/>
            <a:ext cx="2651760" cy="265176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313432"/>
            <a:ext cx="2322576" cy="457200"/>
          </a:xfrm>
          <a:prstGeom prst="rect">
            <a:avLst/>
          </a:prstGeom>
          <a:noFill/>
        </p:spPr>
        <p:txBody>
          <a:bodyPr wrap="square" anchor="t" lIns="0" rIns="0" tIns="0" bIns="0">
            <a:spAutoFit/>
          </a:bodyPr>
          <a:lstStyle/>
          <a:p>
            <a:pPr algn="l">
              <a:lnSpc>
                <a:spcPct val="100000"/>
              </a:lnSpc>
            </a:pPr>
            <a:r>
              <a:rPr sz="1500" b="1" i="0">
                <a:solidFill>
                  <a:srgbClr val="121B27"/>
                </a:solidFill>
                <a:latin typeface="Segoe UI Semibold"/>
              </a:rPr>
              <a:t>Discovery &amp; Setup</a:t>
            </a:r>
          </a:p>
        </p:txBody>
      </p:sp>
      <p:sp>
        <p:nvSpPr>
          <p:cNvPr id="8" name="TextBox 7"/>
          <p:cNvSpPr txBox="1"/>
          <p:nvPr/>
        </p:nvSpPr>
        <p:spPr>
          <a:xfrm>
            <a:off x="804672" y="2788920"/>
            <a:ext cx="2322576" cy="1920240"/>
          </a:xfrm>
          <a:prstGeom prst="rect">
            <a:avLst/>
          </a:prstGeom>
          <a:noFill/>
        </p:spPr>
        <p:txBody>
          <a:bodyPr wrap="square" anchor="t" lIns="0" rIns="0" tIns="0" bIns="0">
            <a:spAutoFit/>
          </a:bodyPr>
          <a:lstStyle/>
          <a:p>
            <a:pPr algn="l">
              <a:lnSpc>
                <a:spcPct val="130000"/>
              </a:lnSpc>
            </a:pPr>
            <a:r>
              <a:rPr sz="1200" b="0" i="0">
                <a:solidFill>
                  <a:srgbClr val="48576A"/>
                </a:solidFill>
                <a:latin typeface="Segoe UI"/>
              </a:rPr>
              <a:t>Register test identity, stand up IES's public sandbox, study the target schema in depth</a:t>
            </a:r>
          </a:p>
        </p:txBody>
      </p:sp>
      <p:sp>
        <p:nvSpPr>
          <p:cNvPr id="9" name="Right Arrow 8"/>
          <p:cNvSpPr/>
          <p:nvPr/>
        </p:nvSpPr>
        <p:spPr>
          <a:xfrm>
            <a:off x="3296412" y="3246120"/>
            <a:ext cx="109728" cy="274320"/>
          </a:xfrm>
          <a:prstGeom prst="rightArrow">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10712" y="1691640"/>
            <a:ext cx="2651760" cy="457200"/>
          </a:xfrm>
          <a:prstGeom prst="rect">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10712" y="1764792"/>
            <a:ext cx="2651760" cy="320040"/>
          </a:xfrm>
          <a:prstGeom prst="rect">
            <a:avLst/>
          </a:prstGeom>
          <a:noFill/>
        </p:spPr>
        <p:txBody>
          <a:bodyPr wrap="square" anchor="t" lIns="0" rIns="0" tIns="0" bIns="0">
            <a:spAutoFit/>
          </a:bodyPr>
          <a:lstStyle/>
          <a:p>
            <a:pPr algn="ctr">
              <a:lnSpc>
                <a:spcPct val="100000"/>
              </a:lnSpc>
            </a:pPr>
            <a:r>
              <a:rPr sz="1300" b="1" i="0">
                <a:solidFill>
                  <a:srgbClr val="FFFFFF"/>
                </a:solidFill>
                <a:latin typeface="Segoe UI Semibold"/>
              </a:rPr>
              <a:t>Weeks 3-4</a:t>
            </a:r>
          </a:p>
        </p:txBody>
      </p:sp>
      <p:sp>
        <p:nvSpPr>
          <p:cNvPr id="12" name="Rectangle 11"/>
          <p:cNvSpPr/>
          <p:nvPr/>
        </p:nvSpPr>
        <p:spPr>
          <a:xfrm>
            <a:off x="3410712" y="2148840"/>
            <a:ext cx="2651760" cy="265176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2313432"/>
            <a:ext cx="2322576" cy="457200"/>
          </a:xfrm>
          <a:prstGeom prst="rect">
            <a:avLst/>
          </a:prstGeom>
          <a:noFill/>
        </p:spPr>
        <p:txBody>
          <a:bodyPr wrap="square" anchor="t" lIns="0" rIns="0" tIns="0" bIns="0">
            <a:spAutoFit/>
          </a:bodyPr>
          <a:lstStyle/>
          <a:p>
            <a:pPr algn="l">
              <a:lnSpc>
                <a:spcPct val="100000"/>
              </a:lnSpc>
            </a:pPr>
            <a:r>
              <a:rPr sz="1500" b="1" i="0">
                <a:solidFill>
                  <a:srgbClr val="121B27"/>
                </a:solidFill>
                <a:latin typeface="Segoe UI Semibold"/>
              </a:rPr>
              <a:t>Build &amp; Validate</a:t>
            </a:r>
          </a:p>
        </p:txBody>
      </p:sp>
      <p:sp>
        <p:nvSpPr>
          <p:cNvPr id="14" name="TextBox 13"/>
          <p:cNvSpPr txBox="1"/>
          <p:nvPr/>
        </p:nvSpPr>
        <p:spPr>
          <a:xfrm>
            <a:off x="3575304" y="2788920"/>
            <a:ext cx="2322576" cy="1920240"/>
          </a:xfrm>
          <a:prstGeom prst="rect">
            <a:avLst/>
          </a:prstGeom>
          <a:noFill/>
        </p:spPr>
        <p:txBody>
          <a:bodyPr wrap="square" anchor="t" lIns="0" rIns="0" tIns="0" bIns="0">
            <a:spAutoFit/>
          </a:bodyPr>
          <a:lstStyle/>
          <a:p>
            <a:pPr algn="l">
              <a:lnSpc>
                <a:spcPct val="130000"/>
              </a:lnSpc>
            </a:pPr>
            <a:r>
              <a:rPr sz="1200" b="0" i="0">
                <a:solidFill>
                  <a:srgbClr val="48576A"/>
                </a:solidFill>
                <a:latin typeface="Segoe UI"/>
              </a:rPr>
              <a:t>Author a real tariff, build the signing + dual-calculator validation, confirm correctness</a:t>
            </a:r>
          </a:p>
        </p:txBody>
      </p:sp>
      <p:sp>
        <p:nvSpPr>
          <p:cNvPr id="15" name="Right Arrow 14"/>
          <p:cNvSpPr/>
          <p:nvPr/>
        </p:nvSpPr>
        <p:spPr>
          <a:xfrm>
            <a:off x="6067044" y="3246120"/>
            <a:ext cx="109728" cy="274320"/>
          </a:xfrm>
          <a:prstGeom prst="rightArrow">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691640"/>
            <a:ext cx="2651760" cy="457200"/>
          </a:xfrm>
          <a:prstGeom prst="rect">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1344" y="1764792"/>
            <a:ext cx="2651760" cy="320040"/>
          </a:xfrm>
          <a:prstGeom prst="rect">
            <a:avLst/>
          </a:prstGeom>
          <a:noFill/>
        </p:spPr>
        <p:txBody>
          <a:bodyPr wrap="square" anchor="t" lIns="0" rIns="0" tIns="0" bIns="0">
            <a:spAutoFit/>
          </a:bodyPr>
          <a:lstStyle/>
          <a:p>
            <a:pPr algn="ctr">
              <a:lnSpc>
                <a:spcPct val="100000"/>
              </a:lnSpc>
            </a:pPr>
            <a:r>
              <a:rPr sz="1300" b="1" i="0">
                <a:solidFill>
                  <a:srgbClr val="FFFFFF"/>
                </a:solidFill>
                <a:latin typeface="Segoe UI Semibold"/>
              </a:rPr>
              <a:t>Weeks 5-6</a:t>
            </a:r>
          </a:p>
        </p:txBody>
      </p:sp>
      <p:sp>
        <p:nvSpPr>
          <p:cNvPr id="18" name="Rectangle 17"/>
          <p:cNvSpPr/>
          <p:nvPr/>
        </p:nvSpPr>
        <p:spPr>
          <a:xfrm>
            <a:off x="6181344" y="2148840"/>
            <a:ext cx="2651760" cy="265176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2313432"/>
            <a:ext cx="2322576" cy="457200"/>
          </a:xfrm>
          <a:prstGeom prst="rect">
            <a:avLst/>
          </a:prstGeom>
          <a:noFill/>
        </p:spPr>
        <p:txBody>
          <a:bodyPr wrap="square" anchor="t" lIns="0" rIns="0" tIns="0" bIns="0">
            <a:spAutoFit/>
          </a:bodyPr>
          <a:lstStyle/>
          <a:p>
            <a:pPr algn="l">
              <a:lnSpc>
                <a:spcPct val="100000"/>
              </a:lnSpc>
            </a:pPr>
            <a:r>
              <a:rPr sz="1500" b="1" i="0">
                <a:solidFill>
                  <a:srgbClr val="121B27"/>
                </a:solidFill>
                <a:latin typeface="Segoe UI Semibold"/>
              </a:rPr>
              <a:t>Live Conformance</a:t>
            </a:r>
          </a:p>
        </p:txBody>
      </p:sp>
      <p:sp>
        <p:nvSpPr>
          <p:cNvPr id="20" name="TextBox 19"/>
          <p:cNvSpPr txBox="1"/>
          <p:nvPr/>
        </p:nvSpPr>
        <p:spPr>
          <a:xfrm>
            <a:off x="6345936" y="2788920"/>
            <a:ext cx="2322576" cy="1920240"/>
          </a:xfrm>
          <a:prstGeom prst="rect">
            <a:avLst/>
          </a:prstGeom>
          <a:noFill/>
        </p:spPr>
        <p:txBody>
          <a:bodyPr wrap="square" anchor="t" lIns="0" rIns="0" tIns="0" bIns="0">
            <a:spAutoFit/>
          </a:bodyPr>
          <a:lstStyle/>
          <a:p>
            <a:pPr algn="l">
              <a:lnSpc>
                <a:spcPct val="130000"/>
              </a:lnSpc>
            </a:pPr>
            <a:r>
              <a:rPr sz="1200" b="0" i="0">
                <a:solidFill>
                  <a:srgbClr val="48576A"/>
                </a:solidFill>
                <a:latin typeface="Segoe UI"/>
              </a:rPr>
              <a:t>Integrate against IES's sandbox network; obtain independent schema validation</a:t>
            </a:r>
          </a:p>
        </p:txBody>
      </p:sp>
      <p:sp>
        <p:nvSpPr>
          <p:cNvPr id="21" name="Right Arrow 20"/>
          <p:cNvSpPr/>
          <p:nvPr/>
        </p:nvSpPr>
        <p:spPr>
          <a:xfrm>
            <a:off x="8837676" y="3246120"/>
            <a:ext cx="109728" cy="274320"/>
          </a:xfrm>
          <a:prstGeom prst="rightArrow">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51976" y="1691640"/>
            <a:ext cx="2651760" cy="457200"/>
          </a:xfrm>
          <a:prstGeom prst="rect">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51976" y="1764792"/>
            <a:ext cx="2651760" cy="320040"/>
          </a:xfrm>
          <a:prstGeom prst="rect">
            <a:avLst/>
          </a:prstGeom>
          <a:noFill/>
        </p:spPr>
        <p:txBody>
          <a:bodyPr wrap="square" anchor="t" lIns="0" rIns="0" tIns="0" bIns="0">
            <a:spAutoFit/>
          </a:bodyPr>
          <a:lstStyle/>
          <a:p>
            <a:pPr algn="ctr">
              <a:lnSpc>
                <a:spcPct val="100000"/>
              </a:lnSpc>
            </a:pPr>
            <a:r>
              <a:rPr sz="1300" b="1" i="0">
                <a:solidFill>
                  <a:srgbClr val="FFFFFF"/>
                </a:solidFill>
                <a:latin typeface="Segoe UI Semibold"/>
              </a:rPr>
              <a:t>Week 7+</a:t>
            </a:r>
          </a:p>
        </p:txBody>
      </p:sp>
      <p:sp>
        <p:nvSpPr>
          <p:cNvPr id="24" name="Rectangle 23"/>
          <p:cNvSpPr/>
          <p:nvPr/>
        </p:nvSpPr>
        <p:spPr>
          <a:xfrm>
            <a:off x="8951976" y="2148840"/>
            <a:ext cx="2651760" cy="265176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16568" y="2313432"/>
            <a:ext cx="2322576" cy="457200"/>
          </a:xfrm>
          <a:prstGeom prst="rect">
            <a:avLst/>
          </a:prstGeom>
          <a:noFill/>
        </p:spPr>
        <p:txBody>
          <a:bodyPr wrap="square" anchor="t" lIns="0" rIns="0" tIns="0" bIns="0">
            <a:spAutoFit/>
          </a:bodyPr>
          <a:lstStyle/>
          <a:p>
            <a:pPr algn="l">
              <a:lnSpc>
                <a:spcPct val="100000"/>
              </a:lnSpc>
            </a:pPr>
            <a:r>
              <a:rPr sz="1500" b="1" i="0">
                <a:solidFill>
                  <a:srgbClr val="121B27"/>
                </a:solidFill>
                <a:latin typeface="Segoe UI Semibold"/>
              </a:rPr>
              <a:t>Submit &amp; Engage</a:t>
            </a:r>
          </a:p>
        </p:txBody>
      </p:sp>
      <p:sp>
        <p:nvSpPr>
          <p:cNvPr id="26" name="TextBox 25"/>
          <p:cNvSpPr txBox="1"/>
          <p:nvPr/>
        </p:nvSpPr>
        <p:spPr>
          <a:xfrm>
            <a:off x="9116568" y="2788920"/>
            <a:ext cx="2322576" cy="1920240"/>
          </a:xfrm>
          <a:prstGeom prst="rect">
            <a:avLst/>
          </a:prstGeom>
          <a:noFill/>
        </p:spPr>
        <p:txBody>
          <a:bodyPr wrap="square" anchor="t" lIns="0" rIns="0" tIns="0" bIns="0">
            <a:spAutoFit/>
          </a:bodyPr>
          <a:lstStyle/>
          <a:p>
            <a:pPr algn="l">
              <a:lnSpc>
                <a:spcPct val="130000"/>
              </a:lnSpc>
            </a:pPr>
            <a:r>
              <a:rPr sz="1200" b="0" i="0">
                <a:solidFill>
                  <a:srgbClr val="48576A"/>
                </a:solidFill>
                <a:latin typeface="Segoe UI"/>
              </a:rPr>
              <a:t>Package findings for Contribute-to-IES; position for the next formal EOI round</a:t>
            </a:r>
          </a:p>
        </p:txBody>
      </p:sp>
      <p:sp>
        <p:nvSpPr>
          <p:cNvPr id="27" name="TextBox 26"/>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Section 06 — Plan, Ask &amp; Risks</a:t>
            </a:r>
          </a:p>
        </p:txBody>
      </p:sp>
      <p:sp>
        <p:nvSpPr>
          <p:cNvPr id="28" name="TextBox 27"/>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17</a:t>
            </a:r>
          </a:p>
        </p:txBody>
      </p:sp>
      <p:sp>
        <p:nvSpPr>
          <p:cNvPr id="29" name="Rectangle 28"/>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06 · PLAN, ASK &amp; RISKS</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What we're asking for</a:t>
            </a:r>
          </a:p>
        </p:txBody>
      </p:sp>
      <p:sp>
        <p:nvSpPr>
          <p:cNvPr id="4" name="Rectangle 3"/>
          <p:cNvSpPr/>
          <p:nvPr/>
        </p:nvSpPr>
        <p:spPr>
          <a:xfrm>
            <a:off x="640080" y="1691640"/>
            <a:ext cx="2377440" cy="777240"/>
          </a:xfrm>
          <a:prstGeom prst="rect">
            <a:avLst/>
          </a:prstGeom>
          <a:solidFill>
            <a:srgbClr val="121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92808"/>
            <a:ext cx="2377440" cy="411480"/>
          </a:xfrm>
          <a:prstGeom prst="rect">
            <a:avLst/>
          </a:prstGeom>
          <a:noFill/>
        </p:spPr>
        <p:txBody>
          <a:bodyPr wrap="square" anchor="t" lIns="0" rIns="0" tIns="0" bIns="0">
            <a:spAutoFit/>
          </a:bodyPr>
          <a:lstStyle/>
          <a:p>
            <a:pPr algn="ctr">
              <a:lnSpc>
                <a:spcPct val="100000"/>
              </a:lnSpc>
            </a:pPr>
            <a:r>
              <a:rPr sz="1300" b="1" i="0">
                <a:solidFill>
                  <a:srgbClr val="E8A33D"/>
                </a:solidFill>
                <a:latin typeface="Segoe UI Semibold"/>
              </a:rPr>
              <a:t>TEAM</a:t>
            </a:r>
          </a:p>
        </p:txBody>
      </p:sp>
      <p:sp>
        <p:nvSpPr>
          <p:cNvPr id="6" name="Rectangle 5"/>
          <p:cNvSpPr/>
          <p:nvPr/>
        </p:nvSpPr>
        <p:spPr>
          <a:xfrm>
            <a:off x="3063240" y="1691640"/>
            <a:ext cx="8458200" cy="77724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91840" y="1837944"/>
            <a:ext cx="8046720" cy="548640"/>
          </a:xfrm>
          <a:prstGeom prst="rect">
            <a:avLst/>
          </a:prstGeom>
          <a:noFill/>
        </p:spPr>
        <p:txBody>
          <a:bodyPr wrap="square" anchor="t" lIns="0" rIns="0" tIns="0" bIns="0">
            <a:spAutoFit/>
          </a:bodyPr>
          <a:lstStyle/>
          <a:p>
            <a:pPr algn="l">
              <a:lnSpc>
                <a:spcPct val="120000"/>
              </a:lnSpc>
            </a:pPr>
            <a:r>
              <a:rPr sz="1450" b="0" i="0">
                <a:solidFill>
                  <a:srgbClr val="121B27"/>
                </a:solidFill>
                <a:latin typeface="Segoe UI"/>
              </a:rPr>
              <a:t>1-2 engineers, part-time, for the ~7 week pilot phase</a:t>
            </a:r>
          </a:p>
        </p:txBody>
      </p:sp>
      <p:sp>
        <p:nvSpPr>
          <p:cNvPr id="8" name="Rectangle 7"/>
          <p:cNvSpPr/>
          <p:nvPr/>
        </p:nvSpPr>
        <p:spPr>
          <a:xfrm>
            <a:off x="640080" y="2606040"/>
            <a:ext cx="2377440" cy="777240"/>
          </a:xfrm>
          <a:prstGeom prst="rect">
            <a:avLst/>
          </a:prstGeom>
          <a:solidFill>
            <a:srgbClr val="121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807208"/>
            <a:ext cx="2377440" cy="411480"/>
          </a:xfrm>
          <a:prstGeom prst="rect">
            <a:avLst/>
          </a:prstGeom>
          <a:noFill/>
        </p:spPr>
        <p:txBody>
          <a:bodyPr wrap="square" anchor="t" lIns="0" rIns="0" tIns="0" bIns="0">
            <a:spAutoFit/>
          </a:bodyPr>
          <a:lstStyle/>
          <a:p>
            <a:pPr algn="ctr">
              <a:lnSpc>
                <a:spcPct val="100000"/>
              </a:lnSpc>
            </a:pPr>
            <a:r>
              <a:rPr sz="1300" b="1" i="0">
                <a:solidFill>
                  <a:srgbClr val="E8A33D"/>
                </a:solidFill>
                <a:latin typeface="Segoe UI Semibold"/>
              </a:rPr>
              <a:t>INFRASTRUCTURE</a:t>
            </a:r>
          </a:p>
        </p:txBody>
      </p:sp>
      <p:sp>
        <p:nvSpPr>
          <p:cNvPr id="10" name="Rectangle 9"/>
          <p:cNvSpPr/>
          <p:nvPr/>
        </p:nvSpPr>
        <p:spPr>
          <a:xfrm>
            <a:off x="3063240" y="2606040"/>
            <a:ext cx="8458200" cy="77724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2752344"/>
            <a:ext cx="8046720" cy="548640"/>
          </a:xfrm>
          <a:prstGeom prst="rect">
            <a:avLst/>
          </a:prstGeom>
          <a:noFill/>
        </p:spPr>
        <p:txBody>
          <a:bodyPr wrap="square" anchor="t" lIns="0" rIns="0" tIns="0" bIns="0">
            <a:spAutoFit/>
          </a:bodyPr>
          <a:lstStyle/>
          <a:p>
            <a:pPr algn="l">
              <a:lnSpc>
                <a:spcPct val="120000"/>
              </a:lnSpc>
            </a:pPr>
            <a:r>
              <a:rPr sz="1450" b="0" i="0">
                <a:solidFill>
                  <a:srgbClr val="121B27"/>
                </a:solidFill>
                <a:latin typeface="Segoe UI"/>
              </a:rPr>
              <a:t>One cloud VM or laptop-class machine; no special licences required</a:t>
            </a:r>
          </a:p>
        </p:txBody>
      </p:sp>
      <p:sp>
        <p:nvSpPr>
          <p:cNvPr id="12" name="Rectangle 11"/>
          <p:cNvSpPr/>
          <p:nvPr/>
        </p:nvSpPr>
        <p:spPr>
          <a:xfrm>
            <a:off x="640080" y="3520440"/>
            <a:ext cx="2377440" cy="777240"/>
          </a:xfrm>
          <a:prstGeom prst="rect">
            <a:avLst/>
          </a:prstGeom>
          <a:solidFill>
            <a:srgbClr val="121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21608"/>
            <a:ext cx="2377440" cy="411480"/>
          </a:xfrm>
          <a:prstGeom prst="rect">
            <a:avLst/>
          </a:prstGeom>
          <a:noFill/>
        </p:spPr>
        <p:txBody>
          <a:bodyPr wrap="square" anchor="t" lIns="0" rIns="0" tIns="0" bIns="0">
            <a:spAutoFit/>
          </a:bodyPr>
          <a:lstStyle/>
          <a:p>
            <a:pPr algn="ctr">
              <a:lnSpc>
                <a:spcPct val="100000"/>
              </a:lnSpc>
            </a:pPr>
            <a:r>
              <a:rPr sz="1300" b="1" i="0">
                <a:solidFill>
                  <a:srgbClr val="E8A33D"/>
                </a:solidFill>
                <a:latin typeface="Segoe UI Semibold"/>
              </a:rPr>
              <a:t>BUDGET</a:t>
            </a:r>
          </a:p>
        </p:txBody>
      </p:sp>
      <p:sp>
        <p:nvSpPr>
          <p:cNvPr id="14" name="Rectangle 13"/>
          <p:cNvSpPr/>
          <p:nvPr/>
        </p:nvSpPr>
        <p:spPr>
          <a:xfrm>
            <a:off x="3063240" y="3520440"/>
            <a:ext cx="8458200" cy="77724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91840" y="3666744"/>
            <a:ext cx="8046720" cy="548640"/>
          </a:xfrm>
          <a:prstGeom prst="rect">
            <a:avLst/>
          </a:prstGeom>
          <a:noFill/>
        </p:spPr>
        <p:txBody>
          <a:bodyPr wrap="square" anchor="t" lIns="0" rIns="0" tIns="0" bIns="0">
            <a:spAutoFit/>
          </a:bodyPr>
          <a:lstStyle/>
          <a:p>
            <a:pPr algn="l">
              <a:lnSpc>
                <a:spcPct val="120000"/>
              </a:lnSpc>
            </a:pPr>
            <a:r>
              <a:rPr sz="1450" b="0" i="0">
                <a:solidFill>
                  <a:srgbClr val="121B27"/>
                </a:solidFill>
                <a:latin typeface="Segoe UI"/>
              </a:rPr>
              <a:t>Minimal direct cost — public sandbox, open-source tooling, no procurement contract needed at this stage</a:t>
            </a:r>
          </a:p>
        </p:txBody>
      </p:sp>
      <p:sp>
        <p:nvSpPr>
          <p:cNvPr id="16" name="Rectangle 15"/>
          <p:cNvSpPr/>
          <p:nvPr/>
        </p:nvSpPr>
        <p:spPr>
          <a:xfrm>
            <a:off x="640080" y="4434840"/>
            <a:ext cx="2377440" cy="777240"/>
          </a:xfrm>
          <a:prstGeom prst="rect">
            <a:avLst/>
          </a:prstGeom>
          <a:solidFill>
            <a:srgbClr val="121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636008"/>
            <a:ext cx="2377440" cy="411480"/>
          </a:xfrm>
          <a:prstGeom prst="rect">
            <a:avLst/>
          </a:prstGeom>
          <a:noFill/>
        </p:spPr>
        <p:txBody>
          <a:bodyPr wrap="square" anchor="t" lIns="0" rIns="0" tIns="0" bIns="0">
            <a:spAutoFit/>
          </a:bodyPr>
          <a:lstStyle/>
          <a:p>
            <a:pPr algn="ctr">
              <a:lnSpc>
                <a:spcPct val="100000"/>
              </a:lnSpc>
            </a:pPr>
            <a:r>
              <a:rPr sz="1300" b="1" i="0">
                <a:solidFill>
                  <a:srgbClr val="E8A33D"/>
                </a:solidFill>
                <a:latin typeface="Segoe UI Semibold"/>
              </a:rPr>
              <a:t>TIMELINE</a:t>
            </a:r>
          </a:p>
        </p:txBody>
      </p:sp>
      <p:sp>
        <p:nvSpPr>
          <p:cNvPr id="18" name="Rectangle 17"/>
          <p:cNvSpPr/>
          <p:nvPr/>
        </p:nvSpPr>
        <p:spPr>
          <a:xfrm>
            <a:off x="3063240" y="4434840"/>
            <a:ext cx="8458200" cy="77724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91840" y="4581144"/>
            <a:ext cx="8046720" cy="548640"/>
          </a:xfrm>
          <a:prstGeom prst="rect">
            <a:avLst/>
          </a:prstGeom>
          <a:noFill/>
        </p:spPr>
        <p:txBody>
          <a:bodyPr wrap="square" anchor="t" lIns="0" rIns="0" tIns="0" bIns="0">
            <a:spAutoFit/>
          </a:bodyPr>
          <a:lstStyle/>
          <a:p>
            <a:pPr algn="l">
              <a:lnSpc>
                <a:spcPct val="120000"/>
              </a:lnSpc>
            </a:pPr>
            <a:r>
              <a:rPr sz="1450" b="0" i="0">
                <a:solidFill>
                  <a:srgbClr val="121B27"/>
                </a:solidFill>
                <a:latin typeface="Segoe UI"/>
              </a:rPr>
              <a:t>Go/no-go checkpoint at end of Week 4 (post build &amp; validate), before committing to live integration</a:t>
            </a:r>
          </a:p>
        </p:txBody>
      </p:sp>
      <p:sp>
        <p:nvSpPr>
          <p:cNvPr id="20" name="TextBox 19"/>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Section 06 — Plan, Ask &amp; Risks</a:t>
            </a:r>
          </a:p>
        </p:txBody>
      </p:sp>
      <p:sp>
        <p:nvSpPr>
          <p:cNvPr id="21" name="TextBox 20"/>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18</a:t>
            </a:r>
          </a:p>
        </p:txBody>
      </p:sp>
      <p:sp>
        <p:nvSpPr>
          <p:cNvPr id="22" name="Rectangle 21"/>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06 · PLAN, ASK &amp; RISKS</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3000" b="1" i="0">
                <a:solidFill>
                  <a:srgbClr val="121B27"/>
                </a:solidFill>
                <a:latin typeface="Segoe UI Semibold"/>
              </a:rPr>
              <a:t>Risks — addressed honestly</a:t>
            </a:r>
          </a:p>
        </p:txBody>
      </p:sp>
      <p:sp>
        <p:nvSpPr>
          <p:cNvPr id="4" name="Rectangle 3"/>
          <p:cNvSpPr/>
          <p:nvPr/>
        </p:nvSpPr>
        <p:spPr>
          <a:xfrm>
            <a:off x="640080" y="1600200"/>
            <a:ext cx="5257800" cy="1051560"/>
          </a:xfrm>
          <a:prstGeom prst="rect">
            <a:avLst/>
          </a:prstGeom>
          <a:solidFill>
            <a:srgbClr val="FBEFED"/>
          </a:solidFill>
          <a:ln w="952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09928"/>
            <a:ext cx="4892040" cy="822960"/>
          </a:xfrm>
          <a:prstGeom prst="rect">
            <a:avLst/>
          </a:prstGeom>
          <a:noFill/>
        </p:spPr>
        <p:txBody>
          <a:bodyPr wrap="square" anchor="t" lIns="0" rIns="0" tIns="0" bIns="0">
            <a:spAutoFit/>
          </a:bodyPr>
          <a:lstStyle/>
          <a:p>
            <a:pPr algn="l">
              <a:lnSpc>
                <a:spcPct val="120000"/>
              </a:lnSpc>
            </a:pPr>
            <a:r>
              <a:rPr sz="1250" b="0" i="0">
                <a:solidFill>
                  <a:srgbClr val="121B27"/>
                </a:solidFill>
                <a:latin typeface="Segoe UI"/>
              </a:rPr>
              <a:t>The specification is still a draft and may change</a:t>
            </a:r>
          </a:p>
        </p:txBody>
      </p:sp>
      <p:sp>
        <p:nvSpPr>
          <p:cNvPr id="6" name="Rectangle 5"/>
          <p:cNvSpPr/>
          <p:nvPr/>
        </p:nvSpPr>
        <p:spPr>
          <a:xfrm>
            <a:off x="6080760" y="1600200"/>
            <a:ext cx="5440680" cy="1051560"/>
          </a:xfrm>
          <a:prstGeom prst="rect">
            <a:avLst/>
          </a:prstGeom>
          <a:solidFill>
            <a:srgbClr val="ECF5EE"/>
          </a:solidFill>
          <a:ln w="9525">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63640" y="1709928"/>
            <a:ext cx="5074920" cy="822960"/>
          </a:xfrm>
          <a:prstGeom prst="rect">
            <a:avLst/>
          </a:prstGeom>
          <a:noFill/>
        </p:spPr>
        <p:txBody>
          <a:bodyPr wrap="square" anchor="t" lIns="0" rIns="0" tIns="0" bIns="0">
            <a:spAutoFit/>
          </a:bodyPr>
          <a:lstStyle/>
          <a:p>
            <a:pPr algn="l">
              <a:lnSpc>
                <a:spcPct val="120000"/>
              </a:lnSpc>
            </a:pPr>
            <a:r>
              <a:rPr sz="1250" b="0" i="0">
                <a:solidFill>
                  <a:srgbClr val="121B27"/>
                </a:solidFill>
                <a:latin typeface="Segoe UI"/>
              </a:rPr>
              <a:t>We build against the published spec and budget re-work; the underlying protocol layer is stable regardless</a:t>
            </a:r>
          </a:p>
        </p:txBody>
      </p:sp>
      <p:sp>
        <p:nvSpPr>
          <p:cNvPr id="8" name="Rectangle 7"/>
          <p:cNvSpPr/>
          <p:nvPr/>
        </p:nvSpPr>
        <p:spPr>
          <a:xfrm>
            <a:off x="640080" y="2770632"/>
            <a:ext cx="5257800" cy="1051560"/>
          </a:xfrm>
          <a:prstGeom prst="rect">
            <a:avLst/>
          </a:prstGeom>
          <a:solidFill>
            <a:srgbClr val="FBEFED"/>
          </a:solidFill>
          <a:ln w="952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4892040" cy="822960"/>
          </a:xfrm>
          <a:prstGeom prst="rect">
            <a:avLst/>
          </a:prstGeom>
          <a:noFill/>
        </p:spPr>
        <p:txBody>
          <a:bodyPr wrap="square" anchor="t" lIns="0" rIns="0" tIns="0" bIns="0">
            <a:spAutoFit/>
          </a:bodyPr>
          <a:lstStyle/>
          <a:p>
            <a:pPr algn="l">
              <a:lnSpc>
                <a:spcPct val="120000"/>
              </a:lnSpc>
            </a:pPr>
            <a:r>
              <a:rPr sz="1250" b="0" i="0">
                <a:solidFill>
                  <a:srgbClr val="121B27"/>
                </a:solidFill>
                <a:latin typeface="Segoe UI"/>
              </a:rPr>
              <a:t>No guaranteed contract or payment from this channel</a:t>
            </a:r>
          </a:p>
        </p:txBody>
      </p:sp>
      <p:sp>
        <p:nvSpPr>
          <p:cNvPr id="10" name="Rectangle 9"/>
          <p:cNvSpPr/>
          <p:nvPr/>
        </p:nvSpPr>
        <p:spPr>
          <a:xfrm>
            <a:off x="6080760" y="2770632"/>
            <a:ext cx="5440680" cy="1051560"/>
          </a:xfrm>
          <a:prstGeom prst="rect">
            <a:avLst/>
          </a:prstGeom>
          <a:solidFill>
            <a:srgbClr val="ECF5EE"/>
          </a:solidFill>
          <a:ln w="9525">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2880360"/>
            <a:ext cx="5074920" cy="822960"/>
          </a:xfrm>
          <a:prstGeom prst="rect">
            <a:avLst/>
          </a:prstGeom>
          <a:noFill/>
        </p:spPr>
        <p:txBody>
          <a:bodyPr wrap="square" anchor="t" lIns="0" rIns="0" tIns="0" bIns="0">
            <a:spAutoFit/>
          </a:bodyPr>
          <a:lstStyle/>
          <a:p>
            <a:pPr algn="l">
              <a:lnSpc>
                <a:spcPct val="120000"/>
              </a:lnSpc>
            </a:pPr>
            <a:r>
              <a:rPr sz="1250" b="0" i="0">
                <a:solidFill>
                  <a:srgbClr val="121B27"/>
                </a:solidFill>
                <a:latin typeface="Segoe UI"/>
              </a:rPr>
              <a:t>Structured as a low-cost pilot with a Week-4 go/no-go gate, not an open-ended commitment</a:t>
            </a:r>
          </a:p>
        </p:txBody>
      </p:sp>
      <p:sp>
        <p:nvSpPr>
          <p:cNvPr id="12" name="Rectangle 11"/>
          <p:cNvSpPr/>
          <p:nvPr/>
        </p:nvSpPr>
        <p:spPr>
          <a:xfrm>
            <a:off x="640080" y="3941064"/>
            <a:ext cx="5257800" cy="1051560"/>
          </a:xfrm>
          <a:prstGeom prst="rect">
            <a:avLst/>
          </a:prstGeom>
          <a:solidFill>
            <a:srgbClr val="FBEFED"/>
          </a:solidFill>
          <a:ln w="952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050792"/>
            <a:ext cx="4892040" cy="822960"/>
          </a:xfrm>
          <a:prstGeom prst="rect">
            <a:avLst/>
          </a:prstGeom>
          <a:noFill/>
        </p:spPr>
        <p:txBody>
          <a:bodyPr wrap="square" anchor="t" lIns="0" rIns="0" tIns="0" bIns="0">
            <a:spAutoFit/>
          </a:bodyPr>
          <a:lstStyle/>
          <a:p>
            <a:pPr algn="l">
              <a:lnSpc>
                <a:spcPct val="120000"/>
              </a:lnSpc>
            </a:pPr>
            <a:r>
              <a:rPr sz="1250" b="0" i="0">
                <a:solidFill>
                  <a:srgbClr val="121B27"/>
                </a:solidFill>
                <a:latin typeface="Segoe UI"/>
              </a:rPr>
              <a:t>Other companies may attempt the same problem</a:t>
            </a:r>
          </a:p>
        </p:txBody>
      </p:sp>
      <p:sp>
        <p:nvSpPr>
          <p:cNvPr id="14" name="Rectangle 13"/>
          <p:cNvSpPr/>
          <p:nvPr/>
        </p:nvSpPr>
        <p:spPr>
          <a:xfrm>
            <a:off x="6080760" y="3941064"/>
            <a:ext cx="5440680" cy="1051560"/>
          </a:xfrm>
          <a:prstGeom prst="rect">
            <a:avLst/>
          </a:prstGeom>
          <a:solidFill>
            <a:srgbClr val="ECF5EE"/>
          </a:solidFill>
          <a:ln w="9525">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4050792"/>
            <a:ext cx="5074920" cy="822960"/>
          </a:xfrm>
          <a:prstGeom prst="rect">
            <a:avLst/>
          </a:prstGeom>
          <a:noFill/>
        </p:spPr>
        <p:txBody>
          <a:bodyPr wrap="square" anchor="t" lIns="0" rIns="0" tIns="0" bIns="0">
            <a:spAutoFit/>
          </a:bodyPr>
          <a:lstStyle/>
          <a:p>
            <a:pPr algn="l">
              <a:lnSpc>
                <a:spcPct val="120000"/>
              </a:lnSpc>
            </a:pPr>
            <a:r>
              <a:rPr sz="1250" b="0" i="0">
                <a:solidFill>
                  <a:srgbClr val="121B27"/>
                </a:solidFill>
                <a:latin typeface="Segoe UI"/>
              </a:rPr>
              <a:t>The submission channel accepts multiple community inputs — being early and technically credible is what matters, not being alone</a:t>
            </a:r>
          </a:p>
        </p:txBody>
      </p:sp>
      <p:sp>
        <p:nvSpPr>
          <p:cNvPr id="16" name="Rectangle 15"/>
          <p:cNvSpPr/>
          <p:nvPr/>
        </p:nvSpPr>
        <p:spPr>
          <a:xfrm>
            <a:off x="640080" y="5111496"/>
            <a:ext cx="5257800" cy="1051560"/>
          </a:xfrm>
          <a:prstGeom prst="rect">
            <a:avLst/>
          </a:prstGeom>
          <a:solidFill>
            <a:srgbClr val="FBEFED"/>
          </a:solidFill>
          <a:ln w="952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221224"/>
            <a:ext cx="4892040" cy="822960"/>
          </a:xfrm>
          <a:prstGeom prst="rect">
            <a:avLst/>
          </a:prstGeom>
          <a:noFill/>
        </p:spPr>
        <p:txBody>
          <a:bodyPr wrap="square" anchor="t" lIns="0" rIns="0" tIns="0" bIns="0">
            <a:spAutoFit/>
          </a:bodyPr>
          <a:lstStyle/>
          <a:p>
            <a:pPr algn="l">
              <a:lnSpc>
                <a:spcPct val="120000"/>
              </a:lnSpc>
            </a:pPr>
            <a:r>
              <a:rPr sz="1250" b="0" i="0">
                <a:solidFill>
                  <a:srgbClr val="121B27"/>
                </a:solidFill>
                <a:latin typeface="Segoe UI"/>
              </a:rPr>
              <a:t>Government review timeline is not guaranteed</a:t>
            </a:r>
          </a:p>
        </p:txBody>
      </p:sp>
      <p:sp>
        <p:nvSpPr>
          <p:cNvPr id="18" name="Rectangle 17"/>
          <p:cNvSpPr/>
          <p:nvPr/>
        </p:nvSpPr>
        <p:spPr>
          <a:xfrm>
            <a:off x="6080760" y="5111496"/>
            <a:ext cx="5440680" cy="1051560"/>
          </a:xfrm>
          <a:prstGeom prst="rect">
            <a:avLst/>
          </a:prstGeom>
          <a:solidFill>
            <a:srgbClr val="ECF5EE"/>
          </a:solidFill>
          <a:ln w="9525">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5221224"/>
            <a:ext cx="5074920" cy="822960"/>
          </a:xfrm>
          <a:prstGeom prst="rect">
            <a:avLst/>
          </a:prstGeom>
          <a:noFill/>
        </p:spPr>
        <p:txBody>
          <a:bodyPr wrap="square" anchor="t" lIns="0" rIns="0" tIns="0" bIns="0">
            <a:spAutoFit/>
          </a:bodyPr>
          <a:lstStyle/>
          <a:p>
            <a:pPr algn="l">
              <a:lnSpc>
                <a:spcPct val="120000"/>
              </a:lnSpc>
            </a:pPr>
            <a:r>
              <a:rPr sz="1250" b="0" i="0">
                <a:solidFill>
                  <a:srgbClr val="121B27"/>
                </a:solidFill>
                <a:latin typeface="Segoe UI"/>
              </a:rPr>
              <a:t>We treat the artefact itself (a working, checkable proof) as the deliverable, independent of when/if it's formally reviewed</a:t>
            </a:r>
          </a:p>
        </p:txBody>
      </p:sp>
      <p:sp>
        <p:nvSpPr>
          <p:cNvPr id="20" name="TextBox 19"/>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Section 06 — Plan, Ask &amp; Risks</a:t>
            </a:r>
          </a:p>
        </p:txBody>
      </p:sp>
      <p:sp>
        <p:nvSpPr>
          <p:cNvPr id="21" name="TextBox 20"/>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19</a:t>
            </a:r>
          </a:p>
        </p:txBody>
      </p:sp>
      <p:sp>
        <p:nvSpPr>
          <p:cNvPr id="22" name="Rectangle 21"/>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41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822960"/>
            <a:ext cx="9144000" cy="365760"/>
          </a:xfrm>
          <a:prstGeom prst="rect">
            <a:avLst/>
          </a:prstGeom>
          <a:noFill/>
        </p:spPr>
        <p:txBody>
          <a:bodyPr wrap="square" anchor="t" lIns="0" rIns="0" tIns="0" bIns="0">
            <a:spAutoFit/>
          </a:bodyPr>
          <a:lstStyle/>
          <a:p>
            <a:pPr algn="l">
              <a:lnSpc>
                <a:spcPct val="100000"/>
              </a:lnSpc>
            </a:pPr>
            <a:r>
              <a:rPr sz="1400" b="1" i="0">
                <a:solidFill>
                  <a:srgbClr val="E8A33D"/>
                </a:solidFill>
                <a:latin typeface="Segoe UI Semibold"/>
              </a:rPr>
              <a:t>THE ASK</a:t>
            </a:r>
          </a:p>
        </p:txBody>
      </p:sp>
      <p:sp>
        <p:nvSpPr>
          <p:cNvPr id="4" name="TextBox 3"/>
          <p:cNvSpPr txBox="1"/>
          <p:nvPr/>
        </p:nvSpPr>
        <p:spPr>
          <a:xfrm>
            <a:off x="822960" y="1188720"/>
            <a:ext cx="10058400" cy="822960"/>
          </a:xfrm>
          <a:prstGeom prst="rect">
            <a:avLst/>
          </a:prstGeom>
          <a:noFill/>
        </p:spPr>
        <p:txBody>
          <a:bodyPr wrap="square" anchor="t" lIns="0" rIns="0" tIns="0" bIns="0">
            <a:spAutoFit/>
          </a:bodyPr>
          <a:lstStyle/>
          <a:p>
            <a:pPr algn="l">
              <a:lnSpc>
                <a:spcPct val="100000"/>
              </a:lnSpc>
            </a:pPr>
            <a:r>
              <a:rPr sz="3200" b="1" i="0">
                <a:solidFill>
                  <a:srgbClr val="FFFFFF"/>
                </a:solidFill>
                <a:latin typeface="Segoe UI Semibold"/>
              </a:rPr>
              <a:t>Approve a 7-week evaluation pilot</a:t>
            </a:r>
          </a:p>
        </p:txBody>
      </p:sp>
      <p:sp>
        <p:nvSpPr>
          <p:cNvPr id="5" name="TextBox 4"/>
          <p:cNvSpPr txBox="1"/>
          <p:nvPr/>
        </p:nvSpPr>
        <p:spPr>
          <a:xfrm>
            <a:off x="822960" y="2286000"/>
            <a:ext cx="9875520" cy="2926080"/>
          </a:xfrm>
          <a:prstGeom prst="rect">
            <a:avLst/>
          </a:prstGeom>
          <a:noFill/>
        </p:spPr>
        <p:txBody>
          <a:bodyPr wrap="square" lIns="0" rIns="0" tIns="0" bIns="0">
            <a:spAutoFit/>
          </a:bodyPr>
          <a:lstStyle/>
          <a:p>
            <a:pPr>
              <a:lnSpc>
                <a:spcPct val="115000"/>
              </a:lnSpc>
              <a:spcAft>
                <a:spcPts val="1800"/>
              </a:spcAft>
            </a:pPr>
            <a:r>
              <a:rPr sz="1700" b="1">
                <a:solidFill>
                  <a:srgbClr val="E8A33D"/>
                </a:solidFill>
                <a:latin typeface="Segoe UI"/>
              </a:rPr>
              <a:t>—  </a:t>
            </a:r>
            <a:r>
              <a:rPr sz="1700">
                <a:solidFill>
                  <a:srgbClr val="D6E0EC"/>
                </a:solidFill>
                <a:latin typeface="Segoe UI"/>
              </a:rPr>
              <a:t>Approve 1-2 engineers, part-time, for a 7-week technical pilot</a:t>
            </a:r>
          </a:p>
          <a:p>
            <a:pPr>
              <a:lnSpc>
                <a:spcPct val="115000"/>
              </a:lnSpc>
              <a:spcAft>
                <a:spcPts val="1800"/>
              </a:spcAft>
            </a:pPr>
            <a:r>
              <a:rPr sz="1700" b="1">
                <a:solidFill>
                  <a:srgbClr val="E8A33D"/>
                </a:solidFill>
                <a:latin typeface="Segoe UI"/>
              </a:rPr>
              <a:t>—  </a:t>
            </a:r>
            <a:r>
              <a:rPr sz="1700">
                <a:solidFill>
                  <a:srgbClr val="D6E0EC"/>
                </a:solidFill>
                <a:latin typeface="Segoe UI"/>
              </a:rPr>
              <a:t>Approve minimal infrastructure spend (cloud VM / dev environment)</a:t>
            </a:r>
          </a:p>
          <a:p>
            <a:pPr>
              <a:lnSpc>
                <a:spcPct val="115000"/>
              </a:lnSpc>
              <a:spcAft>
                <a:spcPts val="1800"/>
              </a:spcAft>
            </a:pPr>
            <a:r>
              <a:rPr sz="1700" b="1">
                <a:solidFill>
                  <a:srgbClr val="E8A33D"/>
                </a:solidFill>
                <a:latin typeface="Segoe UI"/>
              </a:rPr>
              <a:t>—  </a:t>
            </a:r>
            <a:r>
              <a:rPr sz="1700">
                <a:solidFill>
                  <a:srgbClr val="D6E0EC"/>
                </a:solidFill>
                <a:latin typeface="Segoe UI"/>
              </a:rPr>
              <a:t>Review outcome at the Week-4 go/no-go checkpoint before any further commitment</a:t>
            </a:r>
          </a:p>
          <a:p>
            <a:pPr>
              <a:lnSpc>
                <a:spcPct val="115000"/>
              </a:lnSpc>
              <a:spcAft>
                <a:spcPts val="1800"/>
              </a:spcAft>
            </a:pPr>
            <a:r>
              <a:rPr sz="1700" b="1">
                <a:solidFill>
                  <a:srgbClr val="E8A33D"/>
                </a:solidFill>
                <a:latin typeface="Segoe UI"/>
              </a:rPr>
              <a:t>—  </a:t>
            </a:r>
            <a:r>
              <a:rPr sz="1700">
                <a:solidFill>
                  <a:srgbClr val="D6E0EC"/>
                </a:solidFill>
                <a:latin typeface="Segoe UI"/>
              </a:rPr>
              <a:t>If successful: authorise submission through IES's public Contribute-to-IES channel</a:t>
            </a:r>
          </a:p>
        </p:txBody>
      </p:sp>
      <p:sp>
        <p:nvSpPr>
          <p:cNvPr id="6" name="TextBox 5"/>
          <p:cNvSpPr txBox="1"/>
          <p:nvPr/>
        </p:nvSpPr>
        <p:spPr>
          <a:xfrm>
            <a:off x="822960" y="5760720"/>
            <a:ext cx="10058400" cy="640080"/>
          </a:xfrm>
          <a:prstGeom prst="rect">
            <a:avLst/>
          </a:prstGeom>
          <a:noFill/>
        </p:spPr>
        <p:txBody>
          <a:bodyPr wrap="square" anchor="t" lIns="0" rIns="0" tIns="0" bIns="0">
            <a:spAutoFit/>
          </a:bodyPr>
          <a:lstStyle/>
          <a:p>
            <a:pPr algn="l">
              <a:lnSpc>
                <a:spcPct val="100000"/>
              </a:lnSpc>
            </a:pPr>
            <a:r>
              <a:rPr sz="1500" b="0" i="1">
                <a:solidFill>
                  <a:srgbClr val="E8A33D"/>
                </a:solidFill>
                <a:latin typeface="Segoe UI Semibold"/>
              </a:rPr>
              <a:t>Low cost. Low commitment. A real, checkable technical result either way.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41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834640"/>
            <a:ext cx="9144000" cy="365760"/>
          </a:xfrm>
          <a:prstGeom prst="rect">
            <a:avLst/>
          </a:prstGeom>
          <a:noFill/>
        </p:spPr>
        <p:txBody>
          <a:bodyPr wrap="square" anchor="t" lIns="0" rIns="0" tIns="0" bIns="0">
            <a:spAutoFit/>
          </a:bodyPr>
          <a:lstStyle/>
          <a:p>
            <a:pPr algn="l">
              <a:lnSpc>
                <a:spcPct val="100000"/>
              </a:lnSpc>
            </a:pPr>
            <a:r>
              <a:rPr sz="1400" b="1" i="0">
                <a:solidFill>
                  <a:srgbClr val="E8A33D"/>
                </a:solidFill>
                <a:latin typeface="Segoe UI Semibold"/>
              </a:rPr>
              <a:t>APPENDIX</a:t>
            </a:r>
          </a:p>
        </p:txBody>
      </p:sp>
      <p:sp>
        <p:nvSpPr>
          <p:cNvPr id="4" name="TextBox 3"/>
          <p:cNvSpPr txBox="1"/>
          <p:nvPr/>
        </p:nvSpPr>
        <p:spPr>
          <a:xfrm>
            <a:off x="822960" y="3200400"/>
            <a:ext cx="10058400" cy="822960"/>
          </a:xfrm>
          <a:prstGeom prst="rect">
            <a:avLst/>
          </a:prstGeom>
          <a:noFill/>
        </p:spPr>
        <p:txBody>
          <a:bodyPr wrap="square" anchor="t" lIns="0" rIns="0" tIns="0" bIns="0">
            <a:spAutoFit/>
          </a:bodyPr>
          <a:lstStyle/>
          <a:p>
            <a:pPr algn="l">
              <a:lnSpc>
                <a:spcPct val="100000"/>
              </a:lnSpc>
            </a:pPr>
            <a:r>
              <a:rPr sz="3200" b="1" i="0">
                <a:solidFill>
                  <a:srgbClr val="FFFFFF"/>
                </a:solidFill>
                <a:latin typeface="Segoe UI Semibold"/>
              </a:rPr>
              <a:t>Technical reference material</a:t>
            </a:r>
          </a:p>
        </p:txBody>
      </p:sp>
      <p:sp>
        <p:nvSpPr>
          <p:cNvPr id="5" name="TextBox 4"/>
          <p:cNvSpPr txBox="1"/>
          <p:nvPr/>
        </p:nvSpPr>
        <p:spPr>
          <a:xfrm>
            <a:off x="822960" y="3977639"/>
            <a:ext cx="9144000" cy="457200"/>
          </a:xfrm>
          <a:prstGeom prst="rect">
            <a:avLst/>
          </a:prstGeom>
          <a:noFill/>
        </p:spPr>
        <p:txBody>
          <a:bodyPr wrap="square" anchor="t" lIns="0" rIns="0" tIns="0" bIns="0">
            <a:spAutoFit/>
          </a:bodyPr>
          <a:lstStyle/>
          <a:p>
            <a:pPr algn="l">
              <a:lnSpc>
                <a:spcPct val="100000"/>
              </a:lnSpc>
            </a:pPr>
            <a:r>
              <a:rPr sz="1400" b="0" i="1">
                <a:solidFill>
                  <a:srgbClr val="9CACC0"/>
                </a:solidFill>
                <a:latin typeface="Segoe UI"/>
              </a:rPr>
              <a:t>For detailed technical discussion — not part of the main walkthrough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APPENDIX</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2600" b="1" i="0">
                <a:solidFill>
                  <a:srgbClr val="121B27"/>
                </a:solidFill>
                <a:latin typeface="Segoe UI Semibold"/>
              </a:rPr>
              <a:t>IES_Policy — full field reference</a:t>
            </a:r>
          </a:p>
        </p:txBody>
      </p:sp>
      <p:graphicFrame>
        <p:nvGraphicFramePr>
          <p:cNvPr id="4" name="Table 3"/>
          <p:cNvGraphicFramePr>
            <a:graphicFrameLocks noGrp="1"/>
          </p:cNvGraphicFramePr>
          <p:nvPr/>
        </p:nvGraphicFramePr>
        <p:xfrm>
          <a:off x="640080" y="1463040"/>
          <a:ext cx="10881360" cy="4361688"/>
        </p:xfrm>
        <a:graphic>
          <a:graphicData uri="http://schemas.openxmlformats.org/drawingml/2006/table">
            <a:tbl>
              <a:tblPr firstRow="1" bandRow="1">
                <a:tableStyleId>{5C22544A-7EE6-4342-B048-85BDC9FD1C3A}</a:tableStyleId>
              </a:tblPr>
              <a:tblGrid>
                <a:gridCol w="2926080"/>
                <a:gridCol w="2651760"/>
                <a:gridCol w="5303520"/>
              </a:tblGrid>
              <a:tr h="484632">
                <a:tc>
                  <a:txBody>
                    <a:bodyPr wrap="square"/>
                    <a:lstStyle/>
                    <a:p>
                      <a:r>
                        <a:rPr sz="1250" b="1">
                          <a:solidFill>
                            <a:srgbClr val="FFFFFF"/>
                          </a:solidFill>
                          <a:latin typeface="Segoe UI"/>
                        </a:rPr>
                        <a:t>Field</a:t>
                      </a:r>
                    </a:p>
                  </a:txBody>
                  <a:tcPr marL="91440" marR="91440" marT="27432" marB="27432" anchor="ctr">
                    <a:solidFill>
                      <a:srgbClr val="121B27"/>
                    </a:solidFill>
                  </a:tcPr>
                </a:tc>
                <a:tc>
                  <a:txBody>
                    <a:bodyPr wrap="square"/>
                    <a:lstStyle/>
                    <a:p>
                      <a:r>
                        <a:rPr sz="1250" b="1">
                          <a:solidFill>
                            <a:srgbClr val="FFFFFF"/>
                          </a:solidFill>
                          <a:latin typeface="Segoe UI"/>
                        </a:rPr>
                        <a:t>Type</a:t>
                      </a:r>
                    </a:p>
                  </a:txBody>
                  <a:tcPr marL="91440" marR="91440" marT="27432" marB="27432" anchor="ctr">
                    <a:solidFill>
                      <a:srgbClr val="121B27"/>
                    </a:solidFill>
                  </a:tcPr>
                </a:tc>
                <a:tc>
                  <a:txBody>
                    <a:bodyPr wrap="square"/>
                    <a:lstStyle/>
                    <a:p>
                      <a:r>
                        <a:rPr sz="1250" b="1">
                          <a:solidFill>
                            <a:srgbClr val="FFFFFF"/>
                          </a:solidFill>
                          <a:latin typeface="Segoe UI"/>
                        </a:rPr>
                        <a:t>Notes</a:t>
                      </a:r>
                    </a:p>
                  </a:txBody>
                  <a:tcPr marL="91440" marR="91440" marT="27432" marB="27432" anchor="ctr">
                    <a:solidFill>
                      <a:srgbClr val="121B27"/>
                    </a:solidFill>
                  </a:tcPr>
                </a:tc>
              </a:tr>
              <a:tr h="484632">
                <a:tc>
                  <a:txBody>
                    <a:bodyPr wrap="square"/>
                    <a:lstStyle/>
                    <a:p>
                      <a:r>
                        <a:rPr sz="1200" b="0">
                          <a:solidFill>
                            <a:srgbClr val="121B27"/>
                          </a:solidFill>
                          <a:latin typeface="Consolas"/>
                        </a:rPr>
                        <a:t>id</a:t>
                      </a:r>
                    </a:p>
                  </a:txBody>
                  <a:tcPr marL="91440" marR="91440" marT="27432" marB="27432" anchor="ctr">
                    <a:solidFill>
                      <a:srgbClr val="FFFFFF"/>
                    </a:solidFill>
                  </a:tcPr>
                </a:tc>
                <a:tc>
                  <a:txBody>
                    <a:bodyPr wrap="square"/>
                    <a:lstStyle/>
                    <a:p>
                      <a:r>
                        <a:rPr sz="1200" b="0">
                          <a:solidFill>
                            <a:srgbClr val="121B27"/>
                          </a:solidFill>
                          <a:latin typeface="Segoe UI"/>
                        </a:rPr>
                        <a:t>URN, per version</a:t>
                      </a:r>
                    </a:p>
                  </a:txBody>
                  <a:tcPr marL="91440" marR="91440" marT="27432" marB="27432" anchor="ctr">
                    <a:solidFill>
                      <a:srgbClr val="FFFFFF"/>
                    </a:solidFill>
                  </a:tcPr>
                </a:tc>
                <a:tc>
                  <a:txBody>
                    <a:bodyPr wrap="square"/>
                    <a:lstStyle/>
                    <a:p>
                      <a:r>
                        <a:rPr sz="1200" b="0">
                          <a:solidFill>
                            <a:srgbClr val="121B27"/>
                          </a:solidFill>
                          <a:latin typeface="Segoe UI"/>
                        </a:rPr>
                        <a:t>Unique identifier for this specific policy version</a:t>
                      </a:r>
                    </a:p>
                  </a:txBody>
                  <a:tcPr marL="91440" marR="91440" marT="27432" marB="27432" anchor="ctr">
                    <a:solidFill>
                      <a:srgbClr val="FFFFFF"/>
                    </a:solidFill>
                  </a:tcPr>
                </a:tc>
              </a:tr>
              <a:tr h="484632">
                <a:tc>
                  <a:txBody>
                    <a:bodyPr wrap="square"/>
                    <a:lstStyle/>
                    <a:p>
                      <a:r>
                        <a:rPr sz="1200" b="0">
                          <a:solidFill>
                            <a:srgbClr val="121B27"/>
                          </a:solidFill>
                          <a:latin typeface="Consolas"/>
                        </a:rPr>
                        <a:t>policyID</a:t>
                      </a:r>
                    </a:p>
                  </a:txBody>
                  <a:tcPr marL="91440" marR="91440" marT="27432" marB="27432" anchor="ctr">
                    <a:solidFill>
                      <a:srgbClr val="F5F7FA"/>
                    </a:solidFill>
                  </a:tcPr>
                </a:tc>
                <a:tc>
                  <a:txBody>
                    <a:bodyPr wrap="square"/>
                    <a:lstStyle/>
                    <a:p>
                      <a:r>
                        <a:rPr sz="1200" b="0">
                          <a:solidFill>
                            <a:srgbClr val="121B27"/>
                          </a:solidFill>
                          <a:latin typeface="Segoe UI"/>
                        </a:rPr>
                        <a:t>text</a:t>
                      </a:r>
                    </a:p>
                  </a:txBody>
                  <a:tcPr marL="91440" marR="91440" marT="27432" marB="27432" anchor="ctr">
                    <a:solidFill>
                      <a:srgbClr val="F5F7FA"/>
                    </a:solidFill>
                  </a:tcPr>
                </a:tc>
                <a:tc>
                  <a:txBody>
                    <a:bodyPr wrap="square"/>
                    <a:lstStyle/>
                    <a:p>
                      <a:r>
                        <a:rPr sz="1200" b="0">
                          <a:solidFill>
                            <a:srgbClr val="121B27"/>
                          </a:solidFill>
                          <a:latin typeface="Segoe UI"/>
                        </a:rPr>
                        <a:t>Stable handle retained across amendments</a:t>
                      </a:r>
                    </a:p>
                  </a:txBody>
                  <a:tcPr marL="91440" marR="91440" marT="27432" marB="27432" anchor="ctr">
                    <a:solidFill>
                      <a:srgbClr val="F5F7FA"/>
                    </a:solidFill>
                  </a:tcPr>
                </a:tc>
              </a:tr>
              <a:tr h="484632">
                <a:tc>
                  <a:txBody>
                    <a:bodyPr wrap="square"/>
                    <a:lstStyle/>
                    <a:p>
                      <a:r>
                        <a:rPr sz="1200" b="0">
                          <a:solidFill>
                            <a:srgbClr val="121B27"/>
                          </a:solidFill>
                          <a:latin typeface="Consolas"/>
                        </a:rPr>
                        <a:t>policyName</a:t>
                      </a:r>
                    </a:p>
                  </a:txBody>
                  <a:tcPr marL="91440" marR="91440" marT="27432" marB="27432" anchor="ctr">
                    <a:solidFill>
                      <a:srgbClr val="FFFFFF"/>
                    </a:solidFill>
                  </a:tcPr>
                </a:tc>
                <a:tc>
                  <a:txBody>
                    <a:bodyPr wrap="square"/>
                    <a:lstStyle/>
                    <a:p>
                      <a:r>
                        <a:rPr sz="1200" b="0">
                          <a:solidFill>
                            <a:srgbClr val="121B27"/>
                          </a:solidFill>
                          <a:latin typeface="Segoe UI"/>
                        </a:rPr>
                        <a:t>text</a:t>
                      </a:r>
                    </a:p>
                  </a:txBody>
                  <a:tcPr marL="91440" marR="91440" marT="27432" marB="27432" anchor="ctr">
                    <a:solidFill>
                      <a:srgbClr val="FFFFFF"/>
                    </a:solidFill>
                  </a:tcPr>
                </a:tc>
                <a:tc>
                  <a:txBody>
                    <a:bodyPr wrap="square"/>
                    <a:lstStyle/>
                    <a:p>
                      <a:r>
                        <a:rPr sz="1200" b="0">
                          <a:solidFill>
                            <a:srgbClr val="121B27"/>
                          </a:solidFill>
                          <a:latin typeface="Segoe UI"/>
                        </a:rPr>
                        <a:t>Human-readable title</a:t>
                      </a:r>
                    </a:p>
                  </a:txBody>
                  <a:tcPr marL="91440" marR="91440" marT="27432" marB="27432" anchor="ctr">
                    <a:solidFill>
                      <a:srgbClr val="FFFFFF"/>
                    </a:solidFill>
                  </a:tcPr>
                </a:tc>
              </a:tr>
              <a:tr h="484632">
                <a:tc>
                  <a:txBody>
                    <a:bodyPr wrap="square"/>
                    <a:lstStyle/>
                    <a:p>
                      <a:r>
                        <a:rPr sz="1200" b="0">
                          <a:solidFill>
                            <a:srgbClr val="121B27"/>
                          </a:solidFill>
                          <a:latin typeface="Consolas"/>
                        </a:rPr>
                        <a:t>policyType</a:t>
                      </a:r>
                    </a:p>
                  </a:txBody>
                  <a:tcPr marL="91440" marR="91440" marT="27432" marB="27432" anchor="ctr">
                    <a:solidFill>
                      <a:srgbClr val="F5F7FA"/>
                    </a:solidFill>
                  </a:tcPr>
                </a:tc>
                <a:tc>
                  <a:txBody>
                    <a:bodyPr wrap="square"/>
                    <a:lstStyle/>
                    <a:p>
                      <a:r>
                        <a:rPr sz="1200" b="0">
                          <a:solidFill>
                            <a:srgbClr val="121B27"/>
                          </a:solidFill>
                          <a:latin typeface="Segoe UI"/>
                        </a:rPr>
                        <a:t>TARIFF | DISPATCH_GUIDE</a:t>
                      </a:r>
                    </a:p>
                  </a:txBody>
                  <a:tcPr marL="91440" marR="91440" marT="27432" marB="27432" anchor="ctr">
                    <a:solidFill>
                      <a:srgbClr val="F5F7FA"/>
                    </a:solidFill>
                  </a:tcPr>
                </a:tc>
                <a:tc>
                  <a:txBody>
                    <a:bodyPr wrap="square"/>
                    <a:lstStyle/>
                    <a:p>
                      <a:r>
                        <a:rPr sz="1200" b="0">
                          <a:solidFill>
                            <a:srgbClr val="121B27"/>
                          </a:solidFill>
                          <a:latin typeface="Segoe UI"/>
                        </a:rPr>
                        <a:t>Only two values currently defined in the live spec</a:t>
                      </a:r>
                    </a:p>
                  </a:txBody>
                  <a:tcPr marL="91440" marR="91440" marT="27432" marB="27432" anchor="ctr">
                    <a:solidFill>
                      <a:srgbClr val="F5F7FA"/>
                    </a:solidFill>
                  </a:tcPr>
                </a:tc>
              </a:tr>
              <a:tr h="484632">
                <a:tc>
                  <a:txBody>
                    <a:bodyPr wrap="square"/>
                    <a:lstStyle/>
                    <a:p>
                      <a:r>
                        <a:rPr sz="1200" b="0">
                          <a:solidFill>
                            <a:srgbClr val="121B27"/>
                          </a:solidFill>
                          <a:latin typeface="Consolas"/>
                        </a:rPr>
                        <a:t>programID</a:t>
                      </a:r>
                    </a:p>
                  </a:txBody>
                  <a:tcPr marL="91440" marR="91440" marT="27432" marB="27432" anchor="ctr">
                    <a:solidFill>
                      <a:srgbClr val="FFFFFF"/>
                    </a:solidFill>
                  </a:tcPr>
                </a:tc>
                <a:tc>
                  <a:txBody>
                    <a:bodyPr wrap="square"/>
                    <a:lstStyle/>
                    <a:p>
                      <a:r>
                        <a:rPr sz="1200" b="0">
                          <a:solidFill>
                            <a:srgbClr val="121B27"/>
                          </a:solidFill>
                          <a:latin typeface="Segoe UI"/>
                        </a:rPr>
                        <a:t>OpenADR object ID</a:t>
                      </a:r>
                    </a:p>
                  </a:txBody>
                  <a:tcPr marL="91440" marR="91440" marT="27432" marB="27432" anchor="ctr">
                    <a:solidFill>
                      <a:srgbClr val="FFFFFF"/>
                    </a:solidFill>
                  </a:tcPr>
                </a:tc>
                <a:tc>
                  <a:txBody>
                    <a:bodyPr wrap="square"/>
                    <a:lstStyle/>
                    <a:p>
                      <a:r>
                        <a:rPr sz="1200" b="0">
                          <a:solidFill>
                            <a:srgbClr val="121B27"/>
                          </a:solidFill>
                          <a:latin typeface="Segoe UI"/>
                        </a:rPr>
                        <a:t>Links the policy to its governing programme</a:t>
                      </a:r>
                    </a:p>
                  </a:txBody>
                  <a:tcPr marL="91440" marR="91440" marT="27432" marB="27432" anchor="ctr">
                    <a:solidFill>
                      <a:srgbClr val="FFFFFF"/>
                    </a:solidFill>
                  </a:tcPr>
                </a:tc>
              </a:tr>
              <a:tr h="484632">
                <a:tc>
                  <a:txBody>
                    <a:bodyPr wrap="square"/>
                    <a:lstStyle/>
                    <a:p>
                      <a:r>
                        <a:rPr sz="1200" b="0">
                          <a:solidFill>
                            <a:srgbClr val="121B27"/>
                          </a:solidFill>
                          <a:latin typeface="Consolas"/>
                        </a:rPr>
                        <a:t>samplingInterval</a:t>
                      </a:r>
                    </a:p>
                  </a:txBody>
                  <a:tcPr marL="91440" marR="91440" marT="27432" marB="27432" anchor="ctr">
                    <a:solidFill>
                      <a:srgbClr val="F5F7FA"/>
                    </a:solidFill>
                  </a:tcPr>
                </a:tc>
                <a:tc>
                  <a:txBody>
                    <a:bodyPr wrap="square"/>
                    <a:lstStyle/>
                    <a:p>
                      <a:r>
                        <a:rPr sz="1200" b="0">
                          <a:solidFill>
                            <a:srgbClr val="121B27"/>
                          </a:solidFill>
                          <a:latin typeface="Segoe UI"/>
                        </a:rPr>
                        <a:t>ISO 8601 recurrence</a:t>
                      </a:r>
                    </a:p>
                  </a:txBody>
                  <a:tcPr marL="91440" marR="91440" marT="27432" marB="27432" anchor="ctr">
                    <a:solidFill>
                      <a:srgbClr val="F5F7FA"/>
                    </a:solidFill>
                  </a:tcPr>
                </a:tc>
                <a:tc>
                  <a:txBody>
                    <a:bodyPr wrap="square"/>
                    <a:lstStyle/>
                    <a:p>
                      <a:r>
                        <a:rPr sz="1200" b="0">
                          <a:solidFill>
                            <a:srgbClr val="121B27"/>
                          </a:solidFill>
                          <a:latin typeface="Segoe UI"/>
                        </a:rPr>
                        <a:t>How often the rule is re-evaluated</a:t>
                      </a:r>
                    </a:p>
                  </a:txBody>
                  <a:tcPr marL="91440" marR="91440" marT="27432" marB="27432" anchor="ctr">
                    <a:solidFill>
                      <a:srgbClr val="F5F7FA"/>
                    </a:solidFill>
                  </a:tcPr>
                </a:tc>
              </a:tr>
              <a:tr h="484632">
                <a:tc>
                  <a:txBody>
                    <a:bodyPr wrap="square"/>
                    <a:lstStyle/>
                    <a:p>
                      <a:r>
                        <a:rPr sz="1200" b="0">
                          <a:solidFill>
                            <a:srgbClr val="121B27"/>
                          </a:solidFill>
                          <a:latin typeface="Consolas"/>
                        </a:rPr>
                        <a:t>energySlabs[].start/end/price</a:t>
                      </a:r>
                    </a:p>
                  </a:txBody>
                  <a:tcPr marL="91440" marR="91440" marT="27432" marB="27432" anchor="ctr">
                    <a:solidFill>
                      <a:srgbClr val="FFFFFF"/>
                    </a:solidFill>
                  </a:tcPr>
                </a:tc>
                <a:tc>
                  <a:txBody>
                    <a:bodyPr wrap="square"/>
                    <a:lstStyle/>
                    <a:p>
                      <a:r>
                        <a:rPr sz="1200" b="0">
                          <a:solidFill>
                            <a:srgbClr val="121B27"/>
                          </a:solidFill>
                          <a:latin typeface="Segoe UI"/>
                        </a:rPr>
                        <a:t>number / number-or-null / number</a:t>
                      </a:r>
                    </a:p>
                  </a:txBody>
                  <a:tcPr marL="91440" marR="91440" marT="27432" marB="27432" anchor="ctr">
                    <a:solidFill>
                      <a:srgbClr val="FFFFFF"/>
                    </a:solidFill>
                  </a:tcPr>
                </a:tc>
                <a:tc>
                  <a:txBody>
                    <a:bodyPr wrap="square"/>
                    <a:lstStyle/>
                    <a:p>
                      <a:r>
                        <a:rPr sz="1200" b="0">
                          <a:solidFill>
                            <a:srgbClr val="121B27"/>
                          </a:solidFill>
                          <a:latin typeface="Segoe UI"/>
                        </a:rPr>
                        <a:t>Progressive tariff tier bounds and rate</a:t>
                      </a:r>
                    </a:p>
                  </a:txBody>
                  <a:tcPr marL="91440" marR="91440" marT="27432" marB="27432" anchor="ctr">
                    <a:solidFill>
                      <a:srgbClr val="FFFFFF"/>
                    </a:solidFill>
                  </a:tcPr>
                </a:tc>
              </a:tr>
              <a:tr h="484632">
                <a:tc>
                  <a:txBody>
                    <a:bodyPr wrap="square"/>
                    <a:lstStyle/>
                    <a:p>
                      <a:r>
                        <a:rPr sz="1200" b="0">
                          <a:solidFill>
                            <a:srgbClr val="121B27"/>
                          </a:solidFill>
                          <a:latin typeface="Consolas"/>
                        </a:rPr>
                        <a:t>surchargeTariffs[].interval/value/unit</a:t>
                      </a:r>
                    </a:p>
                  </a:txBody>
                  <a:tcPr marL="91440" marR="91440" marT="27432" marB="27432" anchor="ctr">
                    <a:solidFill>
                      <a:srgbClr val="F5F7FA"/>
                    </a:solidFill>
                  </a:tcPr>
                </a:tc>
                <a:tc>
                  <a:txBody>
                    <a:bodyPr wrap="square"/>
                    <a:lstStyle/>
                    <a:p>
                      <a:r>
                        <a:rPr sz="1200" b="0">
                          <a:solidFill>
                            <a:srgbClr val="121B27"/>
                          </a:solidFill>
                          <a:latin typeface="Segoe UI"/>
                        </a:rPr>
                        <a:t>time window / number / PERCENT or INR_PER_KWH</a:t>
                      </a:r>
                    </a:p>
                  </a:txBody>
                  <a:tcPr marL="91440" marR="91440" marT="27432" marB="27432" anchor="ctr">
                    <a:solidFill>
                      <a:srgbClr val="F5F7FA"/>
                    </a:solidFill>
                  </a:tcPr>
                </a:tc>
                <a:tc>
                  <a:txBody>
                    <a:bodyPr wrap="square"/>
                    <a:lstStyle/>
                    <a:p>
                      <a:r>
                        <a:rPr sz="1200" b="0">
                          <a:solidFill>
                            <a:srgbClr val="121B27"/>
                          </a:solidFill>
                          <a:latin typeface="Segoe UI"/>
                        </a:rPr>
                        <a:t>Time-of-day adjustment definition</a:t>
                      </a:r>
                    </a:p>
                  </a:txBody>
                  <a:tcPr marL="91440" marR="91440" marT="27432" marB="27432" anchor="ctr">
                    <a:solidFill>
                      <a:srgbClr val="F5F7FA"/>
                    </a:solidFill>
                  </a:tcPr>
                </a:tc>
              </a:tr>
            </a:tbl>
          </a:graphicData>
        </a:graphic>
      </p:graphicFrame>
      <p:sp>
        <p:nvSpPr>
          <p:cNvPr id="5" name="TextBox 4"/>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Appendix — Technical Reference</a:t>
            </a:r>
          </a:p>
        </p:txBody>
      </p:sp>
      <p:sp>
        <p:nvSpPr>
          <p:cNvPr id="6" name="TextBox 5"/>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22</a:t>
            </a:r>
          </a:p>
        </p:txBody>
      </p:sp>
      <p:sp>
        <p:nvSpPr>
          <p:cNvPr id="7" name="Rectangle 6"/>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APPENDIX</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2600" b="1" i="0">
                <a:solidFill>
                  <a:srgbClr val="121B27"/>
                </a:solidFill>
                <a:latin typeface="Segoe UI Semibold"/>
              </a:rPr>
              <a:t>Open items — full reasoning</a:t>
            </a:r>
          </a:p>
        </p:txBody>
      </p:sp>
      <p:sp>
        <p:nvSpPr>
          <p:cNvPr id="4" name="TextBox 3"/>
          <p:cNvSpPr txBox="1"/>
          <p:nvPr/>
        </p:nvSpPr>
        <p:spPr>
          <a:xfrm>
            <a:off x="640080" y="1417320"/>
            <a:ext cx="10881360" cy="320040"/>
          </a:xfrm>
          <a:prstGeom prst="rect">
            <a:avLst/>
          </a:prstGeom>
          <a:noFill/>
        </p:spPr>
        <p:txBody>
          <a:bodyPr wrap="square" anchor="t" lIns="0" rIns="0" tIns="0" bIns="0">
            <a:spAutoFit/>
          </a:bodyPr>
          <a:lstStyle/>
          <a:p>
            <a:pPr algn="l">
              <a:lnSpc>
                <a:spcPct val="100000"/>
              </a:lnSpc>
            </a:pPr>
            <a:r>
              <a:rPr sz="1450" b="1" i="0">
                <a:solidFill>
                  <a:srgbClr val="121B27"/>
                </a:solidFill>
                <a:latin typeface="Segoe UI Semibold"/>
              </a:rPr>
              <a:t>1. No issuer / signature field</a:t>
            </a:r>
          </a:p>
        </p:txBody>
      </p:sp>
      <p:sp>
        <p:nvSpPr>
          <p:cNvPr id="5" name="TextBox 4"/>
          <p:cNvSpPr txBox="1"/>
          <p:nvPr/>
        </p:nvSpPr>
        <p:spPr>
          <a:xfrm>
            <a:off x="640080" y="1764792"/>
            <a:ext cx="10881360" cy="777240"/>
          </a:xfrm>
          <a:prstGeom prst="rect">
            <a:avLst/>
          </a:prstGeom>
          <a:noFill/>
        </p:spPr>
        <p:txBody>
          <a:bodyPr wrap="square" anchor="t" lIns="0" rIns="0" tIns="0" bIns="0">
            <a:spAutoFit/>
          </a:bodyPr>
          <a:lstStyle/>
          <a:p>
            <a:pPr algn="l">
              <a:lnSpc>
                <a:spcPct val="125000"/>
              </a:lnSpc>
            </a:pPr>
            <a:r>
              <a:rPr sz="1200" b="0" i="0">
                <a:solidFill>
                  <a:srgbClr val="48576A"/>
                </a:solidFill>
                <a:latin typeface="Segoe UI"/>
              </a:rPr>
              <a:t>The current schema carries no field for who signed a policy or a tamper-evidence block. Our proposed approach: a separate publication envelope wrapping the unmodified schema, carrying issuer + detached signature — additive, no breaking change.</a:t>
            </a:r>
          </a:p>
        </p:txBody>
      </p:sp>
      <p:sp>
        <p:nvSpPr>
          <p:cNvPr id="6" name="TextBox 5"/>
          <p:cNvSpPr txBox="1"/>
          <p:nvPr/>
        </p:nvSpPr>
        <p:spPr>
          <a:xfrm>
            <a:off x="640080" y="2587752"/>
            <a:ext cx="10881360" cy="320040"/>
          </a:xfrm>
          <a:prstGeom prst="rect">
            <a:avLst/>
          </a:prstGeom>
          <a:noFill/>
        </p:spPr>
        <p:txBody>
          <a:bodyPr wrap="square" anchor="t" lIns="0" rIns="0" tIns="0" bIns="0">
            <a:spAutoFit/>
          </a:bodyPr>
          <a:lstStyle/>
          <a:p>
            <a:pPr algn="l">
              <a:lnSpc>
                <a:spcPct val="100000"/>
              </a:lnSpc>
            </a:pPr>
            <a:r>
              <a:rPr sz="1450" b="1" i="0">
                <a:solidFill>
                  <a:srgbClr val="121B27"/>
                </a:solidFill>
                <a:latin typeface="Segoe UI Semibold"/>
              </a:rPr>
              <a:t>2. No currency field</a:t>
            </a:r>
          </a:p>
        </p:txBody>
      </p:sp>
      <p:sp>
        <p:nvSpPr>
          <p:cNvPr id="7" name="TextBox 6"/>
          <p:cNvSpPr txBox="1"/>
          <p:nvPr/>
        </p:nvSpPr>
        <p:spPr>
          <a:xfrm>
            <a:off x="640080" y="2935224"/>
            <a:ext cx="10881360" cy="777240"/>
          </a:xfrm>
          <a:prstGeom prst="rect">
            <a:avLst/>
          </a:prstGeom>
          <a:noFill/>
        </p:spPr>
        <p:txBody>
          <a:bodyPr wrap="square" anchor="t" lIns="0" rIns="0" tIns="0" bIns="0">
            <a:spAutoFit/>
          </a:bodyPr>
          <a:lstStyle/>
          <a:p>
            <a:pPr algn="l">
              <a:lnSpc>
                <a:spcPct val="125000"/>
              </a:lnSpc>
            </a:pPr>
            <a:r>
              <a:rPr sz="1200" b="0" i="0">
                <a:solidFill>
                  <a:srgbClr val="48576A"/>
                </a:solidFill>
                <a:latin typeface="Segoe UI"/>
              </a:rPr>
              <a:t>EnergySlab.price has no unit. Proposal: one currency declaration per policy in the same envelope, since a tariff never mixes currencies.</a:t>
            </a:r>
          </a:p>
        </p:txBody>
      </p:sp>
      <p:sp>
        <p:nvSpPr>
          <p:cNvPr id="8" name="TextBox 7"/>
          <p:cNvSpPr txBox="1"/>
          <p:nvPr/>
        </p:nvSpPr>
        <p:spPr>
          <a:xfrm>
            <a:off x="640080" y="3758184"/>
            <a:ext cx="10881360" cy="320040"/>
          </a:xfrm>
          <a:prstGeom prst="rect">
            <a:avLst/>
          </a:prstGeom>
          <a:noFill/>
        </p:spPr>
        <p:txBody>
          <a:bodyPr wrap="square" anchor="t" lIns="0" rIns="0" tIns="0" bIns="0">
            <a:spAutoFit/>
          </a:bodyPr>
          <a:lstStyle/>
          <a:p>
            <a:pPr algn="l">
              <a:lnSpc>
                <a:spcPct val="100000"/>
              </a:lnSpc>
            </a:pPr>
            <a:r>
              <a:rPr sz="1450" b="1" i="0">
                <a:solidFill>
                  <a:srgbClr val="121B27"/>
                </a:solidFill>
                <a:latin typeface="Segoe UI Semibold"/>
              </a:rPr>
              <a:t>3. No amendment convention</a:t>
            </a:r>
          </a:p>
        </p:txBody>
      </p:sp>
      <p:sp>
        <p:nvSpPr>
          <p:cNvPr id="9" name="TextBox 8"/>
          <p:cNvSpPr txBox="1"/>
          <p:nvPr/>
        </p:nvSpPr>
        <p:spPr>
          <a:xfrm>
            <a:off x="640080" y="4105656"/>
            <a:ext cx="10881360" cy="777240"/>
          </a:xfrm>
          <a:prstGeom prst="rect">
            <a:avLst/>
          </a:prstGeom>
          <a:noFill/>
        </p:spPr>
        <p:txBody>
          <a:bodyPr wrap="square" anchor="t" lIns="0" rIns="0" tIns="0" bIns="0">
            <a:spAutoFit/>
          </a:bodyPr>
          <a:lstStyle/>
          <a:p>
            <a:pPr algn="l">
              <a:lnSpc>
                <a:spcPct val="125000"/>
              </a:lnSpc>
            </a:pPr>
            <a:r>
              <a:rPr sz="1200" b="0" i="0">
                <a:solidFill>
                  <a:srgbClr val="48576A"/>
                </a:solidFill>
                <a:latin typeface="Segoe UI"/>
              </a:rPr>
              <a:t>No rule for how a corrected policy supersedes a prior one. Proposal: a `replaces` pointer to the prior version's id, alongside the existing stable policyID.</a:t>
            </a:r>
          </a:p>
        </p:txBody>
      </p:sp>
      <p:sp>
        <p:nvSpPr>
          <p:cNvPr id="10" name="TextBox 9"/>
          <p:cNvSpPr txBox="1"/>
          <p:nvPr/>
        </p:nvSpPr>
        <p:spPr>
          <a:xfrm>
            <a:off x="640080" y="4928616"/>
            <a:ext cx="10881360" cy="320040"/>
          </a:xfrm>
          <a:prstGeom prst="rect">
            <a:avLst/>
          </a:prstGeom>
          <a:noFill/>
        </p:spPr>
        <p:txBody>
          <a:bodyPr wrap="square" anchor="t" lIns="0" rIns="0" tIns="0" bIns="0">
            <a:spAutoFit/>
          </a:bodyPr>
          <a:lstStyle/>
          <a:p>
            <a:pPr algn="l">
              <a:lnSpc>
                <a:spcPct val="100000"/>
              </a:lnSpc>
            </a:pPr>
            <a:r>
              <a:rPr sz="1450" b="1" i="0">
                <a:solidFill>
                  <a:srgbClr val="121B27"/>
                </a:solidFill>
                <a:latin typeface="Segoe UI Semibold"/>
              </a:rPr>
              <a:t>4. Slab / surcharge interaction order (highest priority)</a:t>
            </a:r>
          </a:p>
        </p:txBody>
      </p:sp>
      <p:sp>
        <p:nvSpPr>
          <p:cNvPr id="11" name="TextBox 10"/>
          <p:cNvSpPr txBox="1"/>
          <p:nvPr/>
        </p:nvSpPr>
        <p:spPr>
          <a:xfrm>
            <a:off x="640080" y="5276088"/>
            <a:ext cx="10881360" cy="777240"/>
          </a:xfrm>
          <a:prstGeom prst="rect">
            <a:avLst/>
          </a:prstGeom>
          <a:noFill/>
        </p:spPr>
        <p:txBody>
          <a:bodyPr wrap="square" anchor="t" lIns="0" rIns="0" tIns="0" bIns="0">
            <a:spAutoFit/>
          </a:bodyPr>
          <a:lstStyle/>
          <a:p>
            <a:pPr algn="l">
              <a:lnSpc>
                <a:spcPct val="125000"/>
              </a:lnSpc>
            </a:pPr>
            <a:r>
              <a:rPr sz="1200" b="0" i="0">
                <a:solidFill>
                  <a:srgbClr val="48576A"/>
                </a:solidFill>
                <a:latin typeface="Segoe UI"/>
              </a:rPr>
              <a:t>A time-of-day surcharge could legally apply to the marginal rate of the tier a unit falls in, or to the blended average rate across the bill — the spec doesn't say. Two independently-built, fully compliant systems could compute different bills for the same signed policy. This should be resolved explicitly before the use case is considered production-ready.</a:t>
            </a:r>
          </a:p>
        </p:txBody>
      </p:sp>
      <p:sp>
        <p:nvSpPr>
          <p:cNvPr id="12" name="TextBox 11"/>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Appendix — Technical Reference</a:t>
            </a:r>
          </a:p>
        </p:txBody>
      </p:sp>
      <p:sp>
        <p:nvSpPr>
          <p:cNvPr id="13" name="TextBox 12"/>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23</a:t>
            </a:r>
          </a:p>
        </p:txBody>
      </p:sp>
      <p:sp>
        <p:nvSpPr>
          <p:cNvPr id="14" name="Rectangle 13"/>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APPENDIX</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2600" b="1" i="0">
                <a:solidFill>
                  <a:srgbClr val="121B27"/>
                </a:solidFill>
                <a:latin typeface="Segoe UI Semibold"/>
              </a:rPr>
              <a:t>Message flow — the Beckn protocol actions</a:t>
            </a:r>
          </a:p>
        </p:txBody>
      </p:sp>
      <p:sp>
        <p:nvSpPr>
          <p:cNvPr id="4" name="Rectangle 3"/>
          <p:cNvSpPr/>
          <p:nvPr/>
        </p:nvSpPr>
        <p:spPr>
          <a:xfrm>
            <a:off x="777240" y="1920240"/>
            <a:ext cx="3383280" cy="210312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103120"/>
            <a:ext cx="3017520" cy="365760"/>
          </a:xfrm>
          <a:prstGeom prst="rect">
            <a:avLst/>
          </a:prstGeom>
          <a:noFill/>
        </p:spPr>
        <p:txBody>
          <a:bodyPr wrap="square" anchor="t" lIns="0" rIns="0" tIns="0" bIns="0">
            <a:spAutoFit/>
          </a:bodyPr>
          <a:lstStyle/>
          <a:p>
            <a:pPr algn="l">
              <a:lnSpc>
                <a:spcPct val="100000"/>
              </a:lnSpc>
            </a:pPr>
            <a:r>
              <a:rPr sz="1700" b="1" i="0">
                <a:solidFill>
                  <a:srgbClr val="C87C1C"/>
                </a:solidFill>
                <a:latin typeface="Consolas"/>
              </a:rPr>
              <a:t>discover</a:t>
            </a:r>
          </a:p>
        </p:txBody>
      </p:sp>
      <p:sp>
        <p:nvSpPr>
          <p:cNvPr id="6" name="TextBox 5"/>
          <p:cNvSpPr txBox="1"/>
          <p:nvPr/>
        </p:nvSpPr>
        <p:spPr>
          <a:xfrm>
            <a:off x="960120" y="2606040"/>
            <a:ext cx="3017520" cy="1280160"/>
          </a:xfrm>
          <a:prstGeom prst="rect">
            <a:avLst/>
          </a:prstGeom>
          <a:noFill/>
        </p:spPr>
        <p:txBody>
          <a:bodyPr wrap="square" anchor="t" lIns="0" rIns="0" tIns="0" bIns="0">
            <a:spAutoFit/>
          </a:bodyPr>
          <a:lstStyle/>
          <a:p>
            <a:pPr algn="l">
              <a:lnSpc>
                <a:spcPct val="130000"/>
              </a:lnSpc>
            </a:pPr>
            <a:r>
              <a:rPr sz="1250" b="0" i="0">
                <a:solidFill>
                  <a:srgbClr val="48576A"/>
                </a:solidFill>
                <a:latin typeface="Segoe UI"/>
              </a:rPr>
              <a:t>Consumer side (BAP) looks up who publishes matching data on the network</a:t>
            </a:r>
          </a:p>
        </p:txBody>
      </p:sp>
      <p:sp>
        <p:nvSpPr>
          <p:cNvPr id="7" name="Right Arrow 6"/>
          <p:cNvSpPr/>
          <p:nvPr/>
        </p:nvSpPr>
        <p:spPr>
          <a:xfrm>
            <a:off x="4178808" y="2862072"/>
            <a:ext cx="283464" cy="219456"/>
          </a:xfrm>
          <a:prstGeom prst="rightArrow">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0560" y="1920240"/>
            <a:ext cx="3383280" cy="210312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2103120"/>
            <a:ext cx="3017520" cy="365760"/>
          </a:xfrm>
          <a:prstGeom prst="rect">
            <a:avLst/>
          </a:prstGeom>
          <a:noFill/>
        </p:spPr>
        <p:txBody>
          <a:bodyPr wrap="square" anchor="t" lIns="0" rIns="0" tIns="0" bIns="0">
            <a:spAutoFit/>
          </a:bodyPr>
          <a:lstStyle/>
          <a:p>
            <a:pPr algn="l">
              <a:lnSpc>
                <a:spcPct val="100000"/>
              </a:lnSpc>
            </a:pPr>
            <a:r>
              <a:rPr sz="1700" b="1" i="0">
                <a:solidFill>
                  <a:srgbClr val="C87C1C"/>
                </a:solidFill>
                <a:latin typeface="Consolas"/>
              </a:rPr>
              <a:t>confirm</a:t>
            </a:r>
          </a:p>
        </p:txBody>
      </p:sp>
      <p:sp>
        <p:nvSpPr>
          <p:cNvPr id="10" name="TextBox 9"/>
          <p:cNvSpPr txBox="1"/>
          <p:nvPr/>
        </p:nvSpPr>
        <p:spPr>
          <a:xfrm>
            <a:off x="4663440" y="2606040"/>
            <a:ext cx="3017520" cy="1280160"/>
          </a:xfrm>
          <a:prstGeom prst="rect">
            <a:avLst/>
          </a:prstGeom>
          <a:noFill/>
        </p:spPr>
        <p:txBody>
          <a:bodyPr wrap="square" anchor="t" lIns="0" rIns="0" tIns="0" bIns="0">
            <a:spAutoFit/>
          </a:bodyPr>
          <a:lstStyle/>
          <a:p>
            <a:pPr algn="l">
              <a:lnSpc>
                <a:spcPct val="130000"/>
              </a:lnSpc>
            </a:pPr>
            <a:r>
              <a:rPr sz="1250" b="0" i="0">
                <a:solidFill>
                  <a:srgbClr val="48576A"/>
                </a:solidFill>
                <a:latin typeface="Segoe UI"/>
              </a:rPr>
              <a:t>Buyer and publisher (BPP) agree the terms of the exchange</a:t>
            </a:r>
          </a:p>
        </p:txBody>
      </p:sp>
      <p:sp>
        <p:nvSpPr>
          <p:cNvPr id="11" name="Right Arrow 10"/>
          <p:cNvSpPr/>
          <p:nvPr/>
        </p:nvSpPr>
        <p:spPr>
          <a:xfrm>
            <a:off x="7882128" y="2862072"/>
            <a:ext cx="283464" cy="219456"/>
          </a:xfrm>
          <a:prstGeom prst="rightArrow">
            <a:avLst/>
          </a:prstGeom>
          <a:solidFill>
            <a:srgbClr val="C87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83880" y="1920240"/>
            <a:ext cx="3383280" cy="2103120"/>
          </a:xfrm>
          <a:prstGeom prst="rect">
            <a:avLst/>
          </a:prstGeom>
          <a:solidFill>
            <a:srgbClr val="FFFFFF"/>
          </a:solidFill>
          <a:ln w="9525">
            <a:solidFill>
              <a:srgbClr val="CBD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2103120"/>
            <a:ext cx="3017520" cy="365760"/>
          </a:xfrm>
          <a:prstGeom prst="rect">
            <a:avLst/>
          </a:prstGeom>
          <a:noFill/>
        </p:spPr>
        <p:txBody>
          <a:bodyPr wrap="square" anchor="t" lIns="0" rIns="0" tIns="0" bIns="0">
            <a:spAutoFit/>
          </a:bodyPr>
          <a:lstStyle/>
          <a:p>
            <a:pPr algn="l">
              <a:lnSpc>
                <a:spcPct val="100000"/>
              </a:lnSpc>
            </a:pPr>
            <a:r>
              <a:rPr sz="1700" b="1" i="0">
                <a:solidFill>
                  <a:srgbClr val="C87C1C"/>
                </a:solidFill>
                <a:latin typeface="Consolas"/>
              </a:rPr>
              <a:t>status</a:t>
            </a:r>
          </a:p>
        </p:txBody>
      </p:sp>
      <p:sp>
        <p:nvSpPr>
          <p:cNvPr id="14" name="TextBox 13"/>
          <p:cNvSpPr txBox="1"/>
          <p:nvPr/>
        </p:nvSpPr>
        <p:spPr>
          <a:xfrm>
            <a:off x="8366760" y="2606040"/>
            <a:ext cx="3017520" cy="1280160"/>
          </a:xfrm>
          <a:prstGeom prst="rect">
            <a:avLst/>
          </a:prstGeom>
          <a:noFill/>
        </p:spPr>
        <p:txBody>
          <a:bodyPr wrap="square" anchor="t" lIns="0" rIns="0" tIns="0" bIns="0">
            <a:spAutoFit/>
          </a:bodyPr>
          <a:lstStyle/>
          <a:p>
            <a:pPr algn="l">
              <a:lnSpc>
                <a:spcPct val="130000"/>
              </a:lnSpc>
            </a:pPr>
            <a:r>
              <a:rPr sz="1250" b="0" i="0">
                <a:solidFill>
                  <a:srgbClr val="48576A"/>
                </a:solidFill>
                <a:latin typeface="Segoe UI"/>
              </a:rPr>
              <a:t>Publisher delivers the signed policy object; consumer receives and verifies it</a:t>
            </a:r>
          </a:p>
        </p:txBody>
      </p:sp>
      <p:sp>
        <p:nvSpPr>
          <p:cNvPr id="15" name="TextBox 14"/>
          <p:cNvSpPr txBox="1"/>
          <p:nvPr/>
        </p:nvSpPr>
        <p:spPr>
          <a:xfrm>
            <a:off x="640080" y="4389120"/>
            <a:ext cx="10881360" cy="1097280"/>
          </a:xfrm>
          <a:prstGeom prst="rect">
            <a:avLst/>
          </a:prstGeom>
          <a:noFill/>
        </p:spPr>
        <p:txBody>
          <a:bodyPr wrap="square" anchor="t" lIns="0" rIns="0" tIns="0" bIns="0">
            <a:spAutoFit/>
          </a:bodyPr>
          <a:lstStyle/>
          <a:p>
            <a:pPr algn="l">
              <a:lnSpc>
                <a:spcPct val="130000"/>
              </a:lnSpc>
            </a:pPr>
            <a:r>
              <a:rPr sz="1250" b="0" i="1">
                <a:solidFill>
                  <a:srgbClr val="48576A"/>
                </a:solidFill>
                <a:latin typeface="Segoe UI"/>
              </a:rPr>
              <a:t>BAP = Beckn App Platform (consumer side — the requester). BPP = Beckn Provider Platform (the publisher / regulator side). Every step is cryptographically signed; onix (the reference adapter) validates schema conformance at each hop.</a:t>
            </a:r>
          </a:p>
        </p:txBody>
      </p:sp>
      <p:sp>
        <p:nvSpPr>
          <p:cNvPr id="16" name="TextBox 15"/>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Appendix — Technical Reference</a:t>
            </a:r>
          </a:p>
        </p:txBody>
      </p:sp>
      <p:sp>
        <p:nvSpPr>
          <p:cNvPr id="17" name="TextBox 16"/>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24</a:t>
            </a:r>
          </a:p>
        </p:txBody>
      </p:sp>
      <p:sp>
        <p:nvSpPr>
          <p:cNvPr id="18" name="Rectangle 17"/>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APPENDIX</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2600" b="1" i="0">
                <a:solidFill>
                  <a:srgbClr val="121B27"/>
                </a:solidFill>
                <a:latin typeface="Segoe UI Semibold"/>
              </a:rPr>
              <a:t>Glossary</a:t>
            </a:r>
          </a:p>
        </p:txBody>
      </p:sp>
      <p:graphicFrame>
        <p:nvGraphicFramePr>
          <p:cNvPr id="4" name="Table 3"/>
          <p:cNvGraphicFramePr>
            <a:graphicFrameLocks noGrp="1"/>
          </p:cNvGraphicFramePr>
          <p:nvPr/>
        </p:nvGraphicFramePr>
        <p:xfrm>
          <a:off x="640080" y="1463040"/>
          <a:ext cx="10881360" cy="4361688"/>
        </p:xfrm>
        <a:graphic>
          <a:graphicData uri="http://schemas.openxmlformats.org/drawingml/2006/table">
            <a:tbl>
              <a:tblPr firstRow="1" bandRow="1">
                <a:tableStyleId>{5C22544A-7EE6-4342-B048-85BDC9FD1C3A}</a:tableStyleId>
              </a:tblPr>
              <a:tblGrid>
                <a:gridCol w="3200400"/>
                <a:gridCol w="7680960"/>
              </a:tblGrid>
              <a:tr h="484632">
                <a:tc>
                  <a:txBody>
                    <a:bodyPr wrap="square"/>
                    <a:lstStyle/>
                    <a:p>
                      <a:r>
                        <a:rPr sz="1300" b="1">
                          <a:solidFill>
                            <a:srgbClr val="FFFFFF"/>
                          </a:solidFill>
                          <a:latin typeface="Segoe UI"/>
                        </a:rPr>
                        <a:t>Glossary Term</a:t>
                      </a:r>
                    </a:p>
                  </a:txBody>
                  <a:tcPr marL="91440" marR="91440" marT="27432" marB="27432" anchor="ctr">
                    <a:solidFill>
                      <a:srgbClr val="121B27"/>
                    </a:solidFill>
                  </a:tcPr>
                </a:tc>
                <a:tc>
                  <a:txBody>
                    <a:bodyPr wrap="square"/>
                    <a:lstStyle/>
                    <a:p>
                      <a:r>
                        <a:rPr sz="1300" b="1">
                          <a:solidFill>
                            <a:srgbClr val="FFFFFF"/>
                          </a:solidFill>
                          <a:latin typeface="Segoe UI"/>
                        </a:rPr>
                        <a:t>Plain-language meaning</a:t>
                      </a:r>
                    </a:p>
                  </a:txBody>
                  <a:tcPr marL="91440" marR="91440" marT="27432" marB="27432" anchor="ctr">
                    <a:solidFill>
                      <a:srgbClr val="121B27"/>
                    </a:solidFill>
                  </a:tcPr>
                </a:tc>
              </a:tr>
              <a:tr h="484632">
                <a:tc>
                  <a:txBody>
                    <a:bodyPr wrap="square"/>
                    <a:lstStyle/>
                    <a:p>
                      <a:r>
                        <a:rPr sz="1300" b="0">
                          <a:solidFill>
                            <a:srgbClr val="121B27"/>
                          </a:solidFill>
                          <a:latin typeface="Consolas"/>
                        </a:rPr>
                        <a:t>DID (did:web)</a:t>
                      </a:r>
                    </a:p>
                  </a:txBody>
                  <a:tcPr marL="91440" marR="91440" marT="27432" marB="27432" anchor="ctr">
                    <a:solidFill>
                      <a:srgbClr val="FFFFFF"/>
                    </a:solidFill>
                  </a:tcPr>
                </a:tc>
                <a:tc>
                  <a:txBody>
                    <a:bodyPr wrap="square"/>
                    <a:lstStyle/>
                    <a:p>
                      <a:r>
                        <a:rPr sz="1300" b="0">
                          <a:solidFill>
                            <a:srgbClr val="121B27"/>
                          </a:solidFill>
                          <a:latin typeface="Segoe UI"/>
                        </a:rPr>
                        <a:t>A verifiable digital identity tied to a domain you control</a:t>
                      </a:r>
                    </a:p>
                  </a:txBody>
                  <a:tcPr marL="91440" marR="91440" marT="27432" marB="27432" anchor="ctr">
                    <a:solidFill>
                      <a:srgbClr val="FFFFFF"/>
                    </a:solidFill>
                  </a:tcPr>
                </a:tc>
              </a:tr>
              <a:tr h="484632">
                <a:tc>
                  <a:txBody>
                    <a:bodyPr wrap="square"/>
                    <a:lstStyle/>
                    <a:p>
                      <a:r>
                        <a:rPr sz="1300" b="0">
                          <a:solidFill>
                            <a:srgbClr val="121B27"/>
                          </a:solidFill>
                          <a:latin typeface="Consolas"/>
                        </a:rPr>
                        <a:t>DeDi</a:t>
                      </a:r>
                    </a:p>
                  </a:txBody>
                  <a:tcPr marL="91440" marR="91440" marT="27432" marB="27432" anchor="ctr">
                    <a:solidFill>
                      <a:srgbClr val="F5F7FA"/>
                    </a:solidFill>
                  </a:tcPr>
                </a:tc>
                <a:tc>
                  <a:txBody>
                    <a:bodyPr wrap="square"/>
                    <a:lstStyle/>
                    <a:p>
                      <a:r>
                        <a:rPr sz="1300" b="0">
                          <a:solidFill>
                            <a:srgbClr val="121B27"/>
                          </a:solidFill>
                          <a:latin typeface="Segoe UI"/>
                        </a:rPr>
                        <a:t>The shared directory where participants list themselves</a:t>
                      </a:r>
                    </a:p>
                  </a:txBody>
                  <a:tcPr marL="91440" marR="91440" marT="27432" marB="27432" anchor="ctr">
                    <a:solidFill>
                      <a:srgbClr val="F5F7FA"/>
                    </a:solidFill>
                  </a:tcPr>
                </a:tc>
              </a:tr>
              <a:tr h="484632">
                <a:tc>
                  <a:txBody>
                    <a:bodyPr wrap="square"/>
                    <a:lstStyle/>
                    <a:p>
                      <a:r>
                        <a:rPr sz="1300" b="0">
                          <a:solidFill>
                            <a:srgbClr val="121B27"/>
                          </a:solidFill>
                          <a:latin typeface="Consolas"/>
                        </a:rPr>
                        <a:t>Beckn Protocol</a:t>
                      </a:r>
                    </a:p>
                  </a:txBody>
                  <a:tcPr marL="91440" marR="91440" marT="27432" marB="27432" anchor="ctr">
                    <a:solidFill>
                      <a:srgbClr val="FFFFFF"/>
                    </a:solidFill>
                  </a:tcPr>
                </a:tc>
                <a:tc>
                  <a:txBody>
                    <a:bodyPr wrap="square"/>
                    <a:lstStyle/>
                    <a:p>
                      <a:r>
                        <a:rPr sz="1300" b="0">
                          <a:solidFill>
                            <a:srgbClr val="121B27"/>
                          </a:solidFill>
                          <a:latin typeface="Segoe UI"/>
                        </a:rPr>
                        <a:t>The open messaging standard IES uses for discovery and exchange</a:t>
                      </a:r>
                    </a:p>
                  </a:txBody>
                  <a:tcPr marL="91440" marR="91440" marT="27432" marB="27432" anchor="ctr">
                    <a:solidFill>
                      <a:srgbClr val="FFFFFF"/>
                    </a:solidFill>
                  </a:tcPr>
                </a:tc>
              </a:tr>
              <a:tr h="484632">
                <a:tc>
                  <a:txBody>
                    <a:bodyPr wrap="square"/>
                    <a:lstStyle/>
                    <a:p>
                      <a:r>
                        <a:rPr sz="1300" b="0">
                          <a:solidFill>
                            <a:srgbClr val="121B27"/>
                          </a:solidFill>
                          <a:latin typeface="Consolas"/>
                        </a:rPr>
                        <a:t>ONIX</a:t>
                      </a:r>
                    </a:p>
                  </a:txBody>
                  <a:tcPr marL="91440" marR="91440" marT="27432" marB="27432" anchor="ctr">
                    <a:solidFill>
                      <a:srgbClr val="F5F7FA"/>
                    </a:solidFill>
                  </a:tcPr>
                </a:tc>
                <a:tc>
                  <a:txBody>
                    <a:bodyPr wrap="square"/>
                    <a:lstStyle/>
                    <a:p>
                      <a:r>
                        <a:rPr sz="1300" b="0">
                          <a:solidFill>
                            <a:srgbClr val="121B27"/>
                          </a:solidFill>
                          <a:latin typeface="Segoe UI"/>
                        </a:rPr>
                        <a:t>The ready-made adapter software that signs, verifies, and routes messages</a:t>
                      </a:r>
                    </a:p>
                  </a:txBody>
                  <a:tcPr marL="91440" marR="91440" marT="27432" marB="27432" anchor="ctr">
                    <a:solidFill>
                      <a:srgbClr val="F5F7FA"/>
                    </a:solidFill>
                  </a:tcPr>
                </a:tc>
              </a:tr>
              <a:tr h="484632">
                <a:tc>
                  <a:txBody>
                    <a:bodyPr wrap="square"/>
                    <a:lstStyle/>
                    <a:p>
                      <a:r>
                        <a:rPr sz="1300" b="0">
                          <a:solidFill>
                            <a:srgbClr val="121B27"/>
                          </a:solidFill>
                          <a:latin typeface="Consolas"/>
                        </a:rPr>
                        <a:t>W3C Verifiable Credential</a:t>
                      </a:r>
                    </a:p>
                  </a:txBody>
                  <a:tcPr marL="91440" marR="91440" marT="27432" marB="27432" anchor="ctr">
                    <a:solidFill>
                      <a:srgbClr val="FFFFFF"/>
                    </a:solidFill>
                  </a:tcPr>
                </a:tc>
                <a:tc>
                  <a:txBody>
                    <a:bodyPr wrap="square"/>
                    <a:lstStyle/>
                    <a:p>
                      <a:r>
                        <a:rPr sz="1300" b="0">
                          <a:solidFill>
                            <a:srgbClr val="121B27"/>
                          </a:solidFill>
                          <a:latin typeface="Segoe UI"/>
                        </a:rPr>
                        <a:t>A tamper-evident digital record, signed by its issuer</a:t>
                      </a:r>
                    </a:p>
                  </a:txBody>
                  <a:tcPr marL="91440" marR="91440" marT="27432" marB="27432" anchor="ctr">
                    <a:solidFill>
                      <a:srgbClr val="FFFFFF"/>
                    </a:solidFill>
                  </a:tcPr>
                </a:tc>
              </a:tr>
              <a:tr h="484632">
                <a:tc>
                  <a:txBody>
                    <a:bodyPr wrap="square"/>
                    <a:lstStyle/>
                    <a:p>
                      <a:r>
                        <a:rPr sz="1300" b="0">
                          <a:solidFill>
                            <a:srgbClr val="121B27"/>
                          </a:solidFill>
                          <a:latin typeface="Consolas"/>
                        </a:rPr>
                        <a:t>IES</a:t>
                      </a:r>
                    </a:p>
                  </a:txBody>
                  <a:tcPr marL="91440" marR="91440" marT="27432" marB="27432" anchor="ctr">
                    <a:solidFill>
                      <a:srgbClr val="F5F7FA"/>
                    </a:solidFill>
                  </a:tcPr>
                </a:tc>
                <a:tc>
                  <a:txBody>
                    <a:bodyPr wrap="square"/>
                    <a:lstStyle/>
                    <a:p>
                      <a:r>
                        <a:rPr sz="1300" b="0">
                          <a:solidFill>
                            <a:srgbClr val="121B27"/>
                          </a:solidFill>
                          <a:latin typeface="Segoe UI"/>
                        </a:rPr>
                        <a:t>India Energy Stack — the Government of India's DPI programme</a:t>
                      </a:r>
                    </a:p>
                  </a:txBody>
                  <a:tcPr marL="91440" marR="91440" marT="27432" marB="27432" anchor="ctr">
                    <a:solidFill>
                      <a:srgbClr val="F5F7FA"/>
                    </a:solidFill>
                  </a:tcPr>
                </a:tc>
              </a:tr>
              <a:tr h="484632">
                <a:tc>
                  <a:txBody>
                    <a:bodyPr wrap="square"/>
                    <a:lstStyle/>
                    <a:p>
                      <a:r>
                        <a:rPr sz="1300" b="0">
                          <a:solidFill>
                            <a:srgbClr val="121B27"/>
                          </a:solidFill>
                          <a:latin typeface="Consolas"/>
                        </a:rPr>
                        <a:t>DEG</a:t>
                      </a:r>
                    </a:p>
                  </a:txBody>
                  <a:tcPr marL="91440" marR="91440" marT="27432" marB="27432" anchor="ctr">
                    <a:solidFill>
                      <a:srgbClr val="FFFFFF"/>
                    </a:solidFill>
                  </a:tcPr>
                </a:tc>
                <a:tc>
                  <a:txBody>
                    <a:bodyPr wrap="square"/>
                    <a:lstStyle/>
                    <a:p>
                      <a:r>
                        <a:rPr sz="1300" b="0">
                          <a:solidFill>
                            <a:srgbClr val="121B27"/>
                          </a:solidFill>
                          <a:latin typeface="Segoe UI"/>
                        </a:rPr>
                        <a:t>Digital Energy Grid — the global proposal IES is built from</a:t>
                      </a:r>
                    </a:p>
                  </a:txBody>
                  <a:tcPr marL="91440" marR="91440" marT="27432" marB="27432" anchor="ctr">
                    <a:solidFill>
                      <a:srgbClr val="FFFFFF"/>
                    </a:solidFill>
                  </a:tcPr>
                </a:tc>
              </a:tr>
              <a:tr h="484632">
                <a:tc>
                  <a:txBody>
                    <a:bodyPr wrap="square"/>
                    <a:lstStyle/>
                    <a:p>
                      <a:r>
                        <a:rPr sz="1300" b="0">
                          <a:solidFill>
                            <a:srgbClr val="121B27"/>
                          </a:solidFill>
                          <a:latin typeface="Consolas"/>
                        </a:rPr>
                        <a:t>TSP</a:t>
                      </a:r>
                    </a:p>
                  </a:txBody>
                  <a:tcPr marL="91440" marR="91440" marT="27432" marB="27432" anchor="ctr">
                    <a:solidFill>
                      <a:srgbClr val="F5F7FA"/>
                    </a:solidFill>
                  </a:tcPr>
                </a:tc>
                <a:tc>
                  <a:txBody>
                    <a:bodyPr wrap="square"/>
                    <a:lstStyle/>
                    <a:p>
                      <a:r>
                        <a:rPr sz="1300" b="0">
                          <a:solidFill>
                            <a:srgbClr val="121B27"/>
                          </a:solidFill>
                          <a:latin typeface="Segoe UI"/>
                        </a:rPr>
                        <a:t>Technology Service Provider — an outside company building on IES</a:t>
                      </a:r>
                    </a:p>
                  </a:txBody>
                  <a:tcPr marL="91440" marR="91440" marT="27432" marB="27432" anchor="ctr">
                    <a:solidFill>
                      <a:srgbClr val="F5F7FA"/>
                    </a:solidFill>
                  </a:tcPr>
                </a:tc>
              </a:tr>
            </a:tbl>
          </a:graphicData>
        </a:graphic>
      </p:graphicFrame>
      <p:sp>
        <p:nvSpPr>
          <p:cNvPr id="5" name="TextBox 4"/>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Appendix — Technical Reference</a:t>
            </a:r>
          </a:p>
        </p:txBody>
      </p:sp>
      <p:sp>
        <p:nvSpPr>
          <p:cNvPr id="6" name="TextBox 5"/>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25</a:t>
            </a:r>
          </a:p>
        </p:txBody>
      </p:sp>
      <p:sp>
        <p:nvSpPr>
          <p:cNvPr id="7" name="Rectangle 6"/>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40080" y="457200"/>
            <a:ext cx="10881360" cy="320040"/>
          </a:xfrm>
          <a:prstGeom prst="rect">
            <a:avLst/>
          </a:prstGeom>
          <a:noFill/>
        </p:spPr>
        <p:txBody>
          <a:bodyPr wrap="square" anchor="t" lIns="0" rIns="0" tIns="0" bIns="0">
            <a:spAutoFit/>
          </a:bodyPr>
          <a:lstStyle/>
          <a:p>
            <a:pPr algn="l">
              <a:lnSpc>
                <a:spcPct val="100000"/>
              </a:lnSpc>
            </a:pPr>
            <a:r>
              <a:rPr sz="1300" b="1" i="0">
                <a:solidFill>
                  <a:srgbClr val="C87C1C"/>
                </a:solidFill>
                <a:latin typeface="Segoe UI Semibold"/>
              </a:rPr>
              <a:t>APPENDIX</a:t>
            </a:r>
          </a:p>
        </p:txBody>
      </p:sp>
      <p:sp>
        <p:nvSpPr>
          <p:cNvPr id="3" name="TextBox 2"/>
          <p:cNvSpPr txBox="1"/>
          <p:nvPr/>
        </p:nvSpPr>
        <p:spPr>
          <a:xfrm>
            <a:off x="640080" y="804672"/>
            <a:ext cx="10881360" cy="822960"/>
          </a:xfrm>
          <a:prstGeom prst="rect">
            <a:avLst/>
          </a:prstGeom>
          <a:noFill/>
        </p:spPr>
        <p:txBody>
          <a:bodyPr wrap="square" anchor="t" lIns="0" rIns="0" tIns="0" bIns="0">
            <a:spAutoFit/>
          </a:bodyPr>
          <a:lstStyle/>
          <a:p>
            <a:pPr algn="l">
              <a:lnSpc>
                <a:spcPct val="100000"/>
              </a:lnSpc>
            </a:pPr>
            <a:r>
              <a:rPr sz="2600" b="1" i="0">
                <a:solidFill>
                  <a:srgbClr val="121B27"/>
                </a:solidFill>
                <a:latin typeface="Segoe UI Semibold"/>
              </a:rPr>
              <a:t>References &amp; further reading</a:t>
            </a:r>
          </a:p>
        </p:txBody>
      </p:sp>
      <p:sp>
        <p:nvSpPr>
          <p:cNvPr id="4" name="TextBox 3"/>
          <p:cNvSpPr txBox="1"/>
          <p:nvPr/>
        </p:nvSpPr>
        <p:spPr>
          <a:xfrm>
            <a:off x="640080" y="1280160"/>
            <a:ext cx="10881360" cy="365760"/>
          </a:xfrm>
          <a:prstGeom prst="rect">
            <a:avLst/>
          </a:prstGeom>
          <a:noFill/>
        </p:spPr>
        <p:txBody>
          <a:bodyPr wrap="square" anchor="t" lIns="0" rIns="0" tIns="0" bIns="0">
            <a:spAutoFit/>
          </a:bodyPr>
          <a:lstStyle/>
          <a:p>
            <a:pPr algn="l">
              <a:lnSpc>
                <a:spcPct val="100000"/>
              </a:lnSpc>
            </a:pPr>
            <a:r>
              <a:rPr sz="1300" b="0" i="1">
                <a:solidFill>
                  <a:srgbClr val="48576A"/>
                </a:solidFill>
                <a:latin typeface="Segoe UI"/>
              </a:rPr>
              <a:t>Primary public sources behind this proposal — all independently verifiable.</a:t>
            </a:r>
          </a:p>
        </p:txBody>
      </p:sp>
      <p:sp>
        <p:nvSpPr>
          <p:cNvPr id="5" name="TextBox 4"/>
          <p:cNvSpPr txBox="1"/>
          <p:nvPr/>
        </p:nvSpPr>
        <p:spPr>
          <a:xfrm>
            <a:off x="640080" y="1627632"/>
            <a:ext cx="10881360" cy="274320"/>
          </a:xfrm>
          <a:prstGeom prst="rect">
            <a:avLst/>
          </a:prstGeom>
          <a:noFill/>
        </p:spPr>
        <p:txBody>
          <a:bodyPr wrap="square" anchor="t" lIns="0" rIns="0" tIns="0" bIns="0">
            <a:spAutoFit/>
          </a:bodyPr>
          <a:lstStyle/>
          <a:p>
            <a:pPr algn="l">
              <a:lnSpc>
                <a:spcPct val="100000"/>
              </a:lnSpc>
            </a:pPr>
            <a:r>
              <a:rPr sz="1150" b="1" i="0">
                <a:solidFill>
                  <a:srgbClr val="C87C1C"/>
                </a:solidFill>
                <a:latin typeface="Segoe UI Semibold"/>
              </a:rPr>
              <a:t>IES — OFFICIAL PROGRAM &amp; SPECIFICATION</a:t>
            </a:r>
          </a:p>
        </p:txBody>
      </p:sp>
      <p:sp>
        <p:nvSpPr>
          <p:cNvPr id="6" name="TextBox 5"/>
          <p:cNvSpPr txBox="1"/>
          <p:nvPr/>
        </p:nvSpPr>
        <p:spPr>
          <a:xfrm>
            <a:off x="822960" y="1920240"/>
            <a:ext cx="6675120" cy="274320"/>
          </a:xfrm>
          <a:prstGeom prst="rect">
            <a:avLst/>
          </a:prstGeom>
          <a:noFill/>
        </p:spPr>
        <p:txBody>
          <a:bodyPr wrap="square" anchor="t" lIns="0" rIns="0" tIns="0" bIns="0">
            <a:spAutoFit/>
          </a:bodyPr>
          <a:lstStyle/>
          <a:p>
            <a:pPr algn="l">
              <a:lnSpc>
                <a:spcPct val="100000"/>
              </a:lnSpc>
            </a:pPr>
            <a:r>
              <a:rPr sz="1200" b="0" i="0">
                <a:solidFill>
                  <a:srgbClr val="121B27"/>
                </a:solidFill>
                <a:latin typeface="Segoe UI"/>
              </a:rPr>
              <a:t>India Energy Stack — technical documentation</a:t>
            </a:r>
          </a:p>
        </p:txBody>
      </p:sp>
      <p:sp>
        <p:nvSpPr>
          <p:cNvPr id="7" name="TextBox 6"/>
          <p:cNvSpPr txBox="1"/>
          <p:nvPr/>
        </p:nvSpPr>
        <p:spPr>
          <a:xfrm>
            <a:off x="7589520" y="1920240"/>
            <a:ext cx="3931920" cy="274320"/>
          </a:xfrm>
          <a:prstGeom prst="rect">
            <a:avLst/>
          </a:prstGeom>
          <a:noFill/>
        </p:spPr>
        <p:txBody>
          <a:bodyPr wrap="square" anchor="t" lIns="0" rIns="0" tIns="0" bIns="0">
            <a:spAutoFit/>
          </a:bodyPr>
          <a:lstStyle/>
          <a:p>
            <a:pPr algn="l">
              <a:lnSpc>
                <a:spcPct val="100000"/>
              </a:lnSpc>
            </a:pPr>
            <a:r>
              <a:rPr sz="1100" b="0" i="0">
                <a:solidFill>
                  <a:srgbClr val="48576A"/>
                </a:solidFill>
                <a:latin typeface="Consolas"/>
              </a:rPr>
              <a:t>ies.recindia.org.in/docs</a:t>
            </a:r>
          </a:p>
        </p:txBody>
      </p:sp>
      <p:sp>
        <p:nvSpPr>
          <p:cNvPr id="8" name="TextBox 7"/>
          <p:cNvSpPr txBox="1"/>
          <p:nvPr/>
        </p:nvSpPr>
        <p:spPr>
          <a:xfrm>
            <a:off x="822960" y="2226564"/>
            <a:ext cx="6675120" cy="274320"/>
          </a:xfrm>
          <a:prstGeom prst="rect">
            <a:avLst/>
          </a:prstGeom>
          <a:noFill/>
        </p:spPr>
        <p:txBody>
          <a:bodyPr wrap="square" anchor="t" lIns="0" rIns="0" tIns="0" bIns="0">
            <a:spAutoFit/>
          </a:bodyPr>
          <a:lstStyle/>
          <a:p>
            <a:pPr algn="l">
              <a:lnSpc>
                <a:spcPct val="100000"/>
              </a:lnSpc>
            </a:pPr>
            <a:r>
              <a:rPr sz="1200" b="0" i="0">
                <a:solidFill>
                  <a:srgbClr val="121B27"/>
                </a:solidFill>
                <a:latin typeface="Segoe UI"/>
              </a:rPr>
              <a:t>IES Strategy Document, v0.4 (Mar 2026)</a:t>
            </a:r>
          </a:p>
        </p:txBody>
      </p:sp>
      <p:sp>
        <p:nvSpPr>
          <p:cNvPr id="9" name="TextBox 8"/>
          <p:cNvSpPr txBox="1"/>
          <p:nvPr/>
        </p:nvSpPr>
        <p:spPr>
          <a:xfrm>
            <a:off x="7589520" y="2226564"/>
            <a:ext cx="3931920" cy="274320"/>
          </a:xfrm>
          <a:prstGeom prst="rect">
            <a:avLst/>
          </a:prstGeom>
          <a:noFill/>
        </p:spPr>
        <p:txBody>
          <a:bodyPr wrap="square" anchor="t" lIns="0" rIns="0" tIns="0" bIns="0">
            <a:spAutoFit/>
          </a:bodyPr>
          <a:lstStyle/>
          <a:p>
            <a:pPr algn="l">
              <a:lnSpc>
                <a:spcPct val="100000"/>
              </a:lnSpc>
            </a:pPr>
            <a:r>
              <a:rPr sz="1100" b="0" i="0">
                <a:solidFill>
                  <a:srgbClr val="48576A"/>
                </a:solidFill>
                <a:latin typeface="Consolas"/>
              </a:rPr>
              <a:t>recindia.nic.in (Strategy Doc v0.4)</a:t>
            </a:r>
          </a:p>
        </p:txBody>
      </p:sp>
      <p:sp>
        <p:nvSpPr>
          <p:cNvPr id="10" name="TextBox 9"/>
          <p:cNvSpPr txBox="1"/>
          <p:nvPr/>
        </p:nvSpPr>
        <p:spPr>
          <a:xfrm>
            <a:off x="822960" y="2532888"/>
            <a:ext cx="6675120" cy="274320"/>
          </a:xfrm>
          <a:prstGeom prst="rect">
            <a:avLst/>
          </a:prstGeom>
          <a:noFill/>
        </p:spPr>
        <p:txBody>
          <a:bodyPr wrap="square" anchor="t" lIns="0" rIns="0" tIns="0" bIns="0">
            <a:spAutoFit/>
          </a:bodyPr>
          <a:lstStyle/>
          <a:p>
            <a:pPr algn="l">
              <a:lnSpc>
                <a:spcPct val="100000"/>
              </a:lnSpc>
            </a:pPr>
            <a:r>
              <a:rPr sz="1200" b="0" i="0">
                <a:solidFill>
                  <a:srgbClr val="121B27"/>
                </a:solidFill>
                <a:latin typeface="Segoe UI"/>
              </a:rPr>
              <a:t>IES Architecture Document, v0.4 (Mar 2026)</a:t>
            </a:r>
          </a:p>
        </p:txBody>
      </p:sp>
      <p:sp>
        <p:nvSpPr>
          <p:cNvPr id="11" name="TextBox 10"/>
          <p:cNvSpPr txBox="1"/>
          <p:nvPr/>
        </p:nvSpPr>
        <p:spPr>
          <a:xfrm>
            <a:off x="7589520" y="2532888"/>
            <a:ext cx="3931920" cy="274320"/>
          </a:xfrm>
          <a:prstGeom prst="rect">
            <a:avLst/>
          </a:prstGeom>
          <a:noFill/>
        </p:spPr>
        <p:txBody>
          <a:bodyPr wrap="square" anchor="t" lIns="0" rIns="0" tIns="0" bIns="0">
            <a:spAutoFit/>
          </a:bodyPr>
          <a:lstStyle/>
          <a:p>
            <a:pPr algn="l">
              <a:lnSpc>
                <a:spcPct val="100000"/>
              </a:lnSpc>
            </a:pPr>
            <a:r>
              <a:rPr sz="1100" b="0" i="0">
                <a:solidFill>
                  <a:srgbClr val="48576A"/>
                </a:solidFill>
                <a:latin typeface="Consolas"/>
              </a:rPr>
              <a:t>recindia.nic.in (Architecture Doc v0.4)</a:t>
            </a:r>
          </a:p>
        </p:txBody>
      </p:sp>
      <p:sp>
        <p:nvSpPr>
          <p:cNvPr id="12" name="TextBox 11"/>
          <p:cNvSpPr txBox="1"/>
          <p:nvPr/>
        </p:nvSpPr>
        <p:spPr>
          <a:xfrm>
            <a:off x="822960" y="2839212"/>
            <a:ext cx="6675120" cy="274320"/>
          </a:xfrm>
          <a:prstGeom prst="rect">
            <a:avLst/>
          </a:prstGeom>
          <a:noFill/>
        </p:spPr>
        <p:txBody>
          <a:bodyPr wrap="square" anchor="t" lIns="0" rIns="0" tIns="0" bIns="0">
            <a:spAutoFit/>
          </a:bodyPr>
          <a:lstStyle/>
          <a:p>
            <a:pPr algn="l">
              <a:lnSpc>
                <a:spcPct val="100000"/>
              </a:lnSpc>
            </a:pPr>
            <a:r>
              <a:rPr sz="1200" b="0" i="0">
                <a:solidFill>
                  <a:srgbClr val="121B27"/>
                </a:solidFill>
                <a:latin typeface="Segoe UI"/>
              </a:rPr>
              <a:t>Official specification repository</a:t>
            </a:r>
          </a:p>
        </p:txBody>
      </p:sp>
      <p:sp>
        <p:nvSpPr>
          <p:cNvPr id="13" name="TextBox 12"/>
          <p:cNvSpPr txBox="1"/>
          <p:nvPr/>
        </p:nvSpPr>
        <p:spPr>
          <a:xfrm>
            <a:off x="7589520" y="2839212"/>
            <a:ext cx="3931920" cy="274320"/>
          </a:xfrm>
          <a:prstGeom prst="rect">
            <a:avLst/>
          </a:prstGeom>
          <a:noFill/>
        </p:spPr>
        <p:txBody>
          <a:bodyPr wrap="square" anchor="t" lIns="0" rIns="0" tIns="0" bIns="0">
            <a:spAutoFit/>
          </a:bodyPr>
          <a:lstStyle/>
          <a:p>
            <a:pPr algn="l">
              <a:lnSpc>
                <a:spcPct val="100000"/>
              </a:lnSpc>
            </a:pPr>
            <a:r>
              <a:rPr sz="1100" b="0" i="0">
                <a:solidFill>
                  <a:srgbClr val="48576A"/>
                </a:solidFill>
                <a:latin typeface="Consolas"/>
              </a:rPr>
              <a:t>github.com/India-Energy-Stack/ies-accelerator</a:t>
            </a:r>
          </a:p>
        </p:txBody>
      </p:sp>
      <p:sp>
        <p:nvSpPr>
          <p:cNvPr id="14" name="TextBox 13"/>
          <p:cNvSpPr txBox="1"/>
          <p:nvPr/>
        </p:nvSpPr>
        <p:spPr>
          <a:xfrm>
            <a:off x="640080" y="3218688"/>
            <a:ext cx="10881360" cy="274320"/>
          </a:xfrm>
          <a:prstGeom prst="rect">
            <a:avLst/>
          </a:prstGeom>
          <a:noFill/>
        </p:spPr>
        <p:txBody>
          <a:bodyPr wrap="square" anchor="t" lIns="0" rIns="0" tIns="0" bIns="0">
            <a:spAutoFit/>
          </a:bodyPr>
          <a:lstStyle/>
          <a:p>
            <a:pPr algn="l">
              <a:lnSpc>
                <a:spcPct val="100000"/>
              </a:lnSpc>
            </a:pPr>
            <a:r>
              <a:rPr sz="1150" b="1" i="0">
                <a:solidFill>
                  <a:srgbClr val="C87C1C"/>
                </a:solidFill>
                <a:latin typeface="Segoe UI Semibold"/>
              </a:rPr>
              <a:t>UNDERLYING PROTOCOL &amp; GLOBAL PROPOSAL</a:t>
            </a:r>
          </a:p>
        </p:txBody>
      </p:sp>
      <p:sp>
        <p:nvSpPr>
          <p:cNvPr id="15" name="TextBox 14"/>
          <p:cNvSpPr txBox="1"/>
          <p:nvPr/>
        </p:nvSpPr>
        <p:spPr>
          <a:xfrm>
            <a:off x="822960" y="3511296"/>
            <a:ext cx="6675120" cy="274320"/>
          </a:xfrm>
          <a:prstGeom prst="rect">
            <a:avLst/>
          </a:prstGeom>
          <a:noFill/>
        </p:spPr>
        <p:txBody>
          <a:bodyPr wrap="square" anchor="t" lIns="0" rIns="0" tIns="0" bIns="0">
            <a:spAutoFit/>
          </a:bodyPr>
          <a:lstStyle/>
          <a:p>
            <a:pPr algn="l">
              <a:lnSpc>
                <a:spcPct val="100000"/>
              </a:lnSpc>
            </a:pPr>
            <a:r>
              <a:rPr sz="1200" b="0" i="0">
                <a:solidFill>
                  <a:srgbClr val="121B27"/>
                </a:solidFill>
                <a:latin typeface="Segoe UI"/>
              </a:rPr>
              <a:t>Beckn Protocol + IES devkits / sandbox</a:t>
            </a:r>
          </a:p>
        </p:txBody>
      </p:sp>
      <p:sp>
        <p:nvSpPr>
          <p:cNvPr id="16" name="TextBox 15"/>
          <p:cNvSpPr txBox="1"/>
          <p:nvPr/>
        </p:nvSpPr>
        <p:spPr>
          <a:xfrm>
            <a:off x="7589520" y="3511296"/>
            <a:ext cx="3931920" cy="274320"/>
          </a:xfrm>
          <a:prstGeom prst="rect">
            <a:avLst/>
          </a:prstGeom>
          <a:noFill/>
        </p:spPr>
        <p:txBody>
          <a:bodyPr wrap="square" anchor="t" lIns="0" rIns="0" tIns="0" bIns="0">
            <a:spAutoFit/>
          </a:bodyPr>
          <a:lstStyle/>
          <a:p>
            <a:pPr algn="l">
              <a:lnSpc>
                <a:spcPct val="100000"/>
              </a:lnSpc>
            </a:pPr>
            <a:r>
              <a:rPr sz="1100" b="0" i="0">
                <a:solidFill>
                  <a:srgbClr val="48576A"/>
                </a:solidFill>
                <a:latin typeface="Consolas"/>
              </a:rPr>
              <a:t>github.com/beckn/DEG</a:t>
            </a:r>
          </a:p>
        </p:txBody>
      </p:sp>
      <p:sp>
        <p:nvSpPr>
          <p:cNvPr id="17" name="TextBox 16"/>
          <p:cNvSpPr txBox="1"/>
          <p:nvPr/>
        </p:nvSpPr>
        <p:spPr>
          <a:xfrm>
            <a:off x="822960" y="3817620"/>
            <a:ext cx="6675120" cy="274320"/>
          </a:xfrm>
          <a:prstGeom prst="rect">
            <a:avLst/>
          </a:prstGeom>
          <a:noFill/>
        </p:spPr>
        <p:txBody>
          <a:bodyPr wrap="square" anchor="t" lIns="0" rIns="0" tIns="0" bIns="0">
            <a:spAutoFit/>
          </a:bodyPr>
          <a:lstStyle/>
          <a:p>
            <a:pPr algn="l">
              <a:lnSpc>
                <a:spcPct val="100000"/>
              </a:lnSpc>
            </a:pPr>
            <a:r>
              <a:rPr sz="1200" b="0" i="0">
                <a:solidFill>
                  <a:srgbClr val="121B27"/>
                </a:solidFill>
                <a:latin typeface="Segoe UI"/>
              </a:rPr>
              <a:t>Digital Energy Grid vision paper (FIDE / IEA, 2025)</a:t>
            </a:r>
          </a:p>
        </p:txBody>
      </p:sp>
      <p:sp>
        <p:nvSpPr>
          <p:cNvPr id="18" name="TextBox 17"/>
          <p:cNvSpPr txBox="1"/>
          <p:nvPr/>
        </p:nvSpPr>
        <p:spPr>
          <a:xfrm>
            <a:off x="7589520" y="3817620"/>
            <a:ext cx="3931920" cy="274320"/>
          </a:xfrm>
          <a:prstGeom prst="rect">
            <a:avLst/>
          </a:prstGeom>
          <a:noFill/>
        </p:spPr>
        <p:txBody>
          <a:bodyPr wrap="square" anchor="t" lIns="0" rIns="0" tIns="0" bIns="0">
            <a:spAutoFit/>
          </a:bodyPr>
          <a:lstStyle/>
          <a:p>
            <a:pPr algn="l">
              <a:lnSpc>
                <a:spcPct val="100000"/>
              </a:lnSpc>
            </a:pPr>
            <a:r>
              <a:rPr sz="1100" b="0" i="0">
                <a:solidFill>
                  <a:srgbClr val="48576A"/>
                </a:solidFill>
                <a:latin typeface="Consolas"/>
              </a:rPr>
              <a:t>energy.becknprotocol.io</a:t>
            </a:r>
          </a:p>
        </p:txBody>
      </p:sp>
      <p:sp>
        <p:nvSpPr>
          <p:cNvPr id="19" name="TextBox 18"/>
          <p:cNvSpPr txBox="1"/>
          <p:nvPr/>
        </p:nvSpPr>
        <p:spPr>
          <a:xfrm>
            <a:off x="640080" y="4197096"/>
            <a:ext cx="10881360" cy="274320"/>
          </a:xfrm>
          <a:prstGeom prst="rect">
            <a:avLst/>
          </a:prstGeom>
          <a:noFill/>
        </p:spPr>
        <p:txBody>
          <a:bodyPr wrap="square" anchor="t" lIns="0" rIns="0" tIns="0" bIns="0">
            <a:spAutoFit/>
          </a:bodyPr>
          <a:lstStyle/>
          <a:p>
            <a:pPr algn="l">
              <a:lnSpc>
                <a:spcPct val="100000"/>
              </a:lnSpc>
            </a:pPr>
            <a:r>
              <a:rPr sz="1150" b="1" i="0">
                <a:solidFill>
                  <a:srgbClr val="C87C1C"/>
                </a:solidFill>
                <a:latin typeface="Segoe UI Semibold"/>
              </a:rPr>
              <a:t>MARKET PRECEDENT &amp; PROGRAMME EVIDENCE</a:t>
            </a:r>
          </a:p>
        </p:txBody>
      </p:sp>
      <p:sp>
        <p:nvSpPr>
          <p:cNvPr id="20" name="TextBox 19"/>
          <p:cNvSpPr txBox="1"/>
          <p:nvPr/>
        </p:nvSpPr>
        <p:spPr>
          <a:xfrm>
            <a:off x="822960" y="4489704"/>
            <a:ext cx="6675120" cy="274320"/>
          </a:xfrm>
          <a:prstGeom prst="rect">
            <a:avLst/>
          </a:prstGeom>
          <a:noFill/>
        </p:spPr>
        <p:txBody>
          <a:bodyPr wrap="square" anchor="t" lIns="0" rIns="0" tIns="0" bIns="0">
            <a:spAutoFit/>
          </a:bodyPr>
          <a:lstStyle/>
          <a:p>
            <a:pPr algn="l">
              <a:lnSpc>
                <a:spcPct val="100000"/>
              </a:lnSpc>
            </a:pPr>
            <a:r>
              <a:rPr sz="1200" b="0" i="0">
                <a:solidFill>
                  <a:srgbClr val="121B27"/>
                </a:solidFill>
                <a:latin typeface="Segoe UI"/>
              </a:rPr>
              <a:t>IES Expression of Interest (EOI) hub</a:t>
            </a:r>
          </a:p>
        </p:txBody>
      </p:sp>
      <p:sp>
        <p:nvSpPr>
          <p:cNvPr id="21" name="TextBox 20"/>
          <p:cNvSpPr txBox="1"/>
          <p:nvPr/>
        </p:nvSpPr>
        <p:spPr>
          <a:xfrm>
            <a:off x="7589520" y="4489704"/>
            <a:ext cx="3931920" cy="274320"/>
          </a:xfrm>
          <a:prstGeom prst="rect">
            <a:avLst/>
          </a:prstGeom>
          <a:noFill/>
        </p:spPr>
        <p:txBody>
          <a:bodyPr wrap="square" anchor="t" lIns="0" rIns="0" tIns="0" bIns="0">
            <a:spAutoFit/>
          </a:bodyPr>
          <a:lstStyle/>
          <a:p>
            <a:pPr algn="l">
              <a:lnSpc>
                <a:spcPct val="100000"/>
              </a:lnSpc>
            </a:pPr>
            <a:r>
              <a:rPr sz="1100" b="0" i="0">
                <a:solidFill>
                  <a:srgbClr val="48576A"/>
                </a:solidFill>
                <a:latin typeface="Consolas"/>
              </a:rPr>
              <a:t>recindia.nic.in/ies-expression-of-interest</a:t>
            </a:r>
          </a:p>
        </p:txBody>
      </p:sp>
      <p:sp>
        <p:nvSpPr>
          <p:cNvPr id="22" name="TextBox 21"/>
          <p:cNvSpPr txBox="1"/>
          <p:nvPr/>
        </p:nvSpPr>
        <p:spPr>
          <a:xfrm>
            <a:off x="822960" y="4796028"/>
            <a:ext cx="6675120" cy="274320"/>
          </a:xfrm>
          <a:prstGeom prst="rect">
            <a:avLst/>
          </a:prstGeom>
          <a:noFill/>
        </p:spPr>
        <p:txBody>
          <a:bodyPr wrap="square" anchor="t" lIns="0" rIns="0" tIns="0" bIns="0">
            <a:spAutoFit/>
          </a:bodyPr>
          <a:lstStyle/>
          <a:p>
            <a:pPr algn="l">
              <a:lnSpc>
                <a:spcPct val="100000"/>
              </a:lnSpc>
            </a:pPr>
            <a:r>
              <a:rPr sz="1200" b="0" i="0">
                <a:solidFill>
                  <a:srgbClr val="121B27"/>
                </a:solidFill>
                <a:latin typeface="Segoe UI"/>
              </a:rPr>
              <a:t>Ministry of Power — India Energy Stack announcement</a:t>
            </a:r>
          </a:p>
        </p:txBody>
      </p:sp>
      <p:sp>
        <p:nvSpPr>
          <p:cNvPr id="23" name="TextBox 22"/>
          <p:cNvSpPr txBox="1"/>
          <p:nvPr/>
        </p:nvSpPr>
        <p:spPr>
          <a:xfrm>
            <a:off x="7589520" y="4796028"/>
            <a:ext cx="3931920" cy="274320"/>
          </a:xfrm>
          <a:prstGeom prst="rect">
            <a:avLst/>
          </a:prstGeom>
          <a:noFill/>
        </p:spPr>
        <p:txBody>
          <a:bodyPr wrap="square" anchor="t" lIns="0" rIns="0" tIns="0" bIns="0">
            <a:spAutoFit/>
          </a:bodyPr>
          <a:lstStyle/>
          <a:p>
            <a:pPr algn="l">
              <a:lnSpc>
                <a:spcPct val="100000"/>
              </a:lnSpc>
            </a:pPr>
            <a:r>
              <a:rPr sz="1100" b="0" i="0">
                <a:solidFill>
                  <a:srgbClr val="48576A"/>
                </a:solidFill>
                <a:latin typeface="Consolas"/>
              </a:rPr>
              <a:t>pib.gov.in (PRID 2140416)</a:t>
            </a:r>
          </a:p>
        </p:txBody>
      </p:sp>
      <p:sp>
        <p:nvSpPr>
          <p:cNvPr id="24" name="TextBox 23"/>
          <p:cNvSpPr txBox="1"/>
          <p:nvPr/>
        </p:nvSpPr>
        <p:spPr>
          <a:xfrm>
            <a:off x="640080" y="5175504"/>
            <a:ext cx="10881360" cy="274320"/>
          </a:xfrm>
          <a:prstGeom prst="rect">
            <a:avLst/>
          </a:prstGeom>
          <a:noFill/>
        </p:spPr>
        <p:txBody>
          <a:bodyPr wrap="square" anchor="t" lIns="0" rIns="0" tIns="0" bIns="0">
            <a:spAutoFit/>
          </a:bodyPr>
          <a:lstStyle/>
          <a:p>
            <a:pPr algn="l">
              <a:lnSpc>
                <a:spcPct val="100000"/>
              </a:lnSpc>
            </a:pPr>
            <a:r>
              <a:rPr sz="1150" b="1" i="0">
                <a:solidFill>
                  <a:srgbClr val="C87C1C"/>
                </a:solidFill>
                <a:latin typeface="Segoe UI Semibold"/>
              </a:rPr>
              <a:t>PROBLEM-STATEMENT EVIDENCE</a:t>
            </a:r>
          </a:p>
        </p:txBody>
      </p:sp>
      <p:sp>
        <p:nvSpPr>
          <p:cNvPr id="25" name="TextBox 24"/>
          <p:cNvSpPr txBox="1"/>
          <p:nvPr/>
        </p:nvSpPr>
        <p:spPr>
          <a:xfrm>
            <a:off x="822960" y="5468112"/>
            <a:ext cx="6675120" cy="274320"/>
          </a:xfrm>
          <a:prstGeom prst="rect">
            <a:avLst/>
          </a:prstGeom>
          <a:noFill/>
        </p:spPr>
        <p:txBody>
          <a:bodyPr wrap="square" anchor="t" lIns="0" rIns="0" tIns="0" bIns="0">
            <a:spAutoFit/>
          </a:bodyPr>
          <a:lstStyle/>
          <a:p>
            <a:pPr algn="l">
              <a:lnSpc>
                <a:spcPct val="100000"/>
              </a:lnSpc>
            </a:pPr>
            <a:r>
              <a:rPr sz="1200" b="0" i="0">
                <a:solidFill>
                  <a:srgbClr val="121B27"/>
                </a:solidFill>
                <a:latin typeface="Segoe UI"/>
              </a:rPr>
              <a:t>Electricity Act 2003 — tariff regulation (120-day order mandate)</a:t>
            </a:r>
          </a:p>
        </p:txBody>
      </p:sp>
      <p:sp>
        <p:nvSpPr>
          <p:cNvPr id="26" name="TextBox 25"/>
          <p:cNvSpPr txBox="1"/>
          <p:nvPr/>
        </p:nvSpPr>
        <p:spPr>
          <a:xfrm>
            <a:off x="7589520" y="5468112"/>
            <a:ext cx="3931920" cy="274320"/>
          </a:xfrm>
          <a:prstGeom prst="rect">
            <a:avLst/>
          </a:prstGeom>
          <a:noFill/>
        </p:spPr>
        <p:txBody>
          <a:bodyPr wrap="square" anchor="t" lIns="0" rIns="0" tIns="0" bIns="0">
            <a:spAutoFit/>
          </a:bodyPr>
          <a:lstStyle/>
          <a:p>
            <a:pPr algn="l">
              <a:lnSpc>
                <a:spcPct val="100000"/>
              </a:lnSpc>
            </a:pPr>
            <a:r>
              <a:rPr sz="1100" b="0" i="0">
                <a:solidFill>
                  <a:srgbClr val="48576A"/>
                </a:solidFill>
                <a:latin typeface="Consolas"/>
              </a:rPr>
              <a:t>lawyersclubindia.com</a:t>
            </a:r>
          </a:p>
        </p:txBody>
      </p:sp>
      <p:sp>
        <p:nvSpPr>
          <p:cNvPr id="27" name="TextBox 26"/>
          <p:cNvSpPr txBox="1"/>
          <p:nvPr/>
        </p:nvSpPr>
        <p:spPr>
          <a:xfrm>
            <a:off x="822960" y="5774436"/>
            <a:ext cx="6675120" cy="274320"/>
          </a:xfrm>
          <a:prstGeom prst="rect">
            <a:avLst/>
          </a:prstGeom>
          <a:noFill/>
        </p:spPr>
        <p:txBody>
          <a:bodyPr wrap="square" anchor="t" lIns="0" rIns="0" tIns="0" bIns="0">
            <a:spAutoFit/>
          </a:bodyPr>
          <a:lstStyle/>
          <a:p>
            <a:pPr algn="l">
              <a:lnSpc>
                <a:spcPct val="100000"/>
              </a:lnSpc>
            </a:pPr>
            <a:r>
              <a:rPr sz="1200" b="0" i="0">
                <a:solidFill>
                  <a:srgbClr val="121B27"/>
                </a:solidFill>
                <a:latin typeface="Segoe UI"/>
              </a:rPr>
              <a:t>Jaipur Discom Tariff 2026 with FPPAS — live example</a:t>
            </a:r>
          </a:p>
        </p:txBody>
      </p:sp>
      <p:sp>
        <p:nvSpPr>
          <p:cNvPr id="28" name="TextBox 27"/>
          <p:cNvSpPr txBox="1"/>
          <p:nvPr/>
        </p:nvSpPr>
        <p:spPr>
          <a:xfrm>
            <a:off x="7589520" y="5774436"/>
            <a:ext cx="3931920" cy="274320"/>
          </a:xfrm>
          <a:prstGeom prst="rect">
            <a:avLst/>
          </a:prstGeom>
          <a:noFill/>
        </p:spPr>
        <p:txBody>
          <a:bodyPr wrap="square" anchor="t" lIns="0" rIns="0" tIns="0" bIns="0">
            <a:spAutoFit/>
          </a:bodyPr>
          <a:lstStyle/>
          <a:p>
            <a:pPr algn="l">
              <a:lnSpc>
                <a:spcPct val="100000"/>
              </a:lnSpc>
            </a:pPr>
            <a:r>
              <a:rPr sz="1100" b="0" i="0">
                <a:solidFill>
                  <a:srgbClr val="48576A"/>
                </a:solidFill>
                <a:latin typeface="Consolas"/>
              </a:rPr>
              <a:t>solarquarter.com, Apr 2026</a:t>
            </a:r>
          </a:p>
        </p:txBody>
      </p:sp>
      <p:sp>
        <p:nvSpPr>
          <p:cNvPr id="29" name="TextBox 28"/>
          <p:cNvSpPr txBox="1"/>
          <p:nvPr/>
        </p:nvSpPr>
        <p:spPr>
          <a:xfrm>
            <a:off x="640080" y="6528816"/>
            <a:ext cx="6400800" cy="274320"/>
          </a:xfrm>
          <a:prstGeom prst="rect">
            <a:avLst/>
          </a:prstGeom>
          <a:noFill/>
        </p:spPr>
        <p:txBody>
          <a:bodyPr wrap="square" anchor="t" lIns="0" rIns="0" tIns="0" bIns="0">
            <a:spAutoFit/>
          </a:bodyPr>
          <a:lstStyle/>
          <a:p>
            <a:pPr algn="l">
              <a:lnSpc>
                <a:spcPct val="100000"/>
              </a:lnSpc>
            </a:pPr>
            <a:r>
              <a:rPr sz="1000" b="0" i="0">
                <a:solidFill>
                  <a:srgbClr val="8391A2"/>
                </a:solidFill>
                <a:latin typeface="Segoe UI"/>
              </a:rPr>
              <a:t>Appendix — Technical Reference</a:t>
            </a:r>
          </a:p>
        </p:txBody>
      </p:sp>
      <p:sp>
        <p:nvSpPr>
          <p:cNvPr id="30" name="TextBox 29"/>
          <p:cNvSpPr txBox="1"/>
          <p:nvPr/>
        </p:nvSpPr>
        <p:spPr>
          <a:xfrm>
            <a:off x="11338560" y="6528816"/>
            <a:ext cx="548640" cy="274320"/>
          </a:xfrm>
          <a:prstGeom prst="rect">
            <a:avLst/>
          </a:prstGeom>
          <a:noFill/>
        </p:spPr>
        <p:txBody>
          <a:bodyPr wrap="square" anchor="t" lIns="0" rIns="0" tIns="0" bIns="0">
            <a:spAutoFit/>
          </a:bodyPr>
          <a:lstStyle/>
          <a:p>
            <a:pPr algn="r">
              <a:lnSpc>
                <a:spcPct val="100000"/>
              </a:lnSpc>
            </a:pPr>
            <a:r>
              <a:rPr sz="1000" b="0" i="0">
                <a:solidFill>
                  <a:srgbClr val="8391A2"/>
                </a:solidFill>
                <a:latin typeface="Segoe UI"/>
              </a:rPr>
              <a:t>26</a:t>
            </a:r>
          </a:p>
        </p:txBody>
      </p:sp>
      <p:sp>
        <p:nvSpPr>
          <p:cNvPr id="31" name="Rectangle 30"/>
          <p:cNvSpPr/>
          <p:nvPr/>
        </p:nvSpPr>
        <p:spPr>
          <a:xfrm>
            <a:off x="640080" y="6446520"/>
            <a:ext cx="10908792" cy="9525"/>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