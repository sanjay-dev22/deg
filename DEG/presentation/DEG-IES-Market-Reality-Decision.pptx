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stating the purpose plainly, not apologetically: this is not a weekly status update, it's a feasibility and sponsorship checkpoint. Over several weeks of self-directed work across UC3, V2G, P2P trading and Nharuvi identity, a real market scan was finally run against this portfolio -- and it changes the picture materially. Same evidentiary discipline as every prior review of this work: every claim in this deck is tagged by exactly how it was checked, so if challenged on any single point, the answer is immediate, not defensive.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out loud in plain language rather than re-reading the card text. One: let's agree on what's actually been built versus what's actually been decided, honestly, across all four workstreams -- no spin either direction. Two: is peer-to-peer energy trading something nobody's actually pulled off, or is it real somewhere? Three: who else is already live on the exact same protocol rails we've been prototyping against. Four: what does a company actually doing this properly, with sponsorship, look like -- and it turns out we have a same-week example. Five: there is a legitimate value case for this kind of work, the same pattern as UPI and ONDC's own pre-launch hardening phase -- but has our work actually reached the part of that chain that matters? Six: what's the actual decision being asked of leadership today, and by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rows plainly, resisting the urge to soften any of them. UC3: the real fixes are done and the proposal is packaged, but the actual submission form has never been filed, and this whole effort was explicitly paused once for having no profit angle and being a pure open-source contribution -- then reopened without that objection ever being answered. V2G: notes and research only, nothing built. P2P and aggregation: by far the most built-out, four working applications and over two dozen tracked gaps, demoed twice internally -- but it has never left a local sandbox or reached a single external user. Nharuvi identity has had no activity at all recently. The point of this slide is simply to remove any ambiguity before the rest of the deck: this is the honest starting line, not a self-criticism.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of this slide: outside India, nothing in this space has broken out of pilot scale in roughly a decade, and that's not for lack of trying by well-funded players. Power Ledger is the single biggest name in blockchain-based P2P energy trading worldwide, and their own current material shows their real commercial traction moved toward certificate and carbon-credit trading, not the household P2P trading they were originally famous for -- that part stayed permissioned and small. Brooklyn Microgrid, the case everyone cites first, has no confirmed evidence of ever reaching commercial scale; the last clear reporting still called it a test project years after launch. The reason isn't that the technology doesn't work -- it's that every trade still has to go through a utility that reconciles it against the grid, and most legal frameworks still reserve the right to resell power over public wires exclusively to that utility. Hold this slide in mind for contrast with the next one, because India breaks this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correction to make tonight, in the room: India is not stuck in the same pilot purgatory as the rest of the world. DERC in Delhi and UPERC in Uttar Pradesh have live, regulator-approved, revenue-bearing pilots running right now, with real DISCOMs -- BRPL, TPDDL, PVVNL -- actually trading: 1,164 interstate trades in the UP-Delhi pilot alone, a set transaction fee of 0.42 rupees per kWh, and an extension already granted out to March 2027. This sits inside the same India Energy Stack framework our own UC3 and P2P work targets. And crucially, there is a real governing body with real regulatory authority behind it -- the Ministry of Power, with REC Limited as the named nodal agency, running monthly taskforce meetings gathering DISCOM input for the pilot phase right now. The earlier complaint that nobody is reviewing this work, that there's no real customer -- this is the answer. There is one. We are just not formally in front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finding that should reframe the whole conversation. Pulse Energy is a real, funded Indian startup, not a hypothetical. Their EV charging integration is independently confirmed across multiple outlets: certified technology enabler on Unified Bharat eCharge, over ten thousand chargers, payments running through BHIM UPI directly -- that is production, full stop. Their demand-flexibility and fleet product has named enterprise clients: Uber, Amazon, Delhivery. Their P2P solar trading claim comes from the UEI Alliance's own site calling them one of the first platforms live on IES at national scale -- that's worth taking seriously as real adoption, but it's their own promotional language, not an independently audited number, so it's flagged accordingly rather than overstated. The one box that's still genuinely open is V2G -- nobody has that yet, anywhere in India. That's the one place where continuing research is still a rational use of time, not a race we've already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remove any doubt that this is real, live, and already crowded. Fetched BRPL's own official page directly: it lists eight authorized Trading Service Providers, six of them already live with real App Store and Google Play listings, not just names on a slide -- REConnect Energy, Pulse Energy (whose actual app is called SUPEREV), Yellow Haze trading as YoGrid, Kazam Buzz, Terra Rex Energy, and PowerXchange Innovations. Two more, Atria University and Ikiteq Steam-A Labs, are listed as coming soon. The registration flow is concrete and real: register as a consumer or prosumer, the DISCOM verifies your actual meter and connection, you generate a Verifiable Credential at a real portal address, and then trading settles directly on your normal electricity bill. One honest scale check: TPDDL's own page reports just 56 total registered participants right now, 15 prosumers and 41 consumers -- so this is real but still genuinely early, which is useful context for the trade volume numbers in the next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verification in this whole update, so take real time here. There's no evidence the government is hiding a successful pilot's source code -- two real public GitHub organizations account for this cleanly: the Ministry of Power's own ies-accelerator repo, actively committed to as recently as nine days ago, handles identity and credentials; beckn/DEG, backed by FIDE and the IEA with a real eight-person working group and over fourteen hundred commits, holds the actual commercial trading schemas. Both are open. What's proprietary is each vendor's own app -- Pulse Energy's, YoGrid's -- exactly like UPI's spec is open but no bank's own app is. Then the part that actually answers the nagging worry from last time: gaps found earlier in review might already be fixed elsewhere. They checked by fetching the live, current EnergyTradeOffer version 2.0 file directly from beckn/DEG's own repository right in this session -- not a cached guess. It still has no field referencing a specific resource and no enforced commitment-type check. The gap is real and still open today, upstream, in the canonical repository everyone else builds against. The reason live pilots haven't hit this wall is simple: none of them trade stored battery energy yet, only direct solar flow, so the gap has never been exercised. That makes this one of the few genuinely available, provable, creditable contributions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this into the room as the sharpest, most concrete comparison available, not as an abstract complaint. The same week UC3's reviewers were raising concerns about our work, Schneider Electric -- a direct industrial peer to us in scale and sector -- signed a formal memorandum of understanding with Networks for Humanity specifically to identify, design, and evaluate pilot applications on India's Digital Energy Grid. Read the scope again: utility intelligence, industrial and building demand flexibility, home energy management, EV charging flexibility, carbon accounting. That is almost exactly our four workstreams. It happened with named executives on stage, a press release, and in all likelihood a real budget and mandate behind it. The point of this slide is not envy -- it's a direct, dated, named example of what doing this properly looks like, sitting right next to what we've actually been doing: the same category of work, alone, with no sponsor, no mandate, and no announcement.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so the room doesn't walk away thinking the only honest conclusion is that this work has zero value -- that would overstate the case. There is a real, legitimate value model already argued in an earlier team review: this is pre-production assurance work on public digital infrastructure, exactly the same pattern India used for UPI and ONDC before wide adoption -- not one paying customer, but a chain of beneficiaries ending in real households once a regulator is convinced it's safe. That model holds up. What it doesn't resolve is whether our specific work has actually moved through that chain -- has the devkit or protocol team actually received our 24 tracked gaps, or is that list sitting in a private fork nobody upstream has seen? Has UC3's proposal actually reached REC Limited's taskforce, or is it still packaged and unfiled on a laptop? If the honest answer is 'not yet' on either, then the value this model describes is theoretical, not realized -- and that's a very different, much more actionable problem than 'this has no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sharpest slide in the deck, and it should land as fact, not grievance. UC3 was explicitly paused once, for exactly the reason now being raised again -- on record, the stated reason was no profit for the organization and a purely open-source contribution. It was then reopened, without that objection ever actually being resolved one way or the other. That is not a case of this work failing to find value -- that's leadership identifying the precise problem being raised today, shelving it, and then un-shelving it without ever answering its own question. Layer on top of that: there is no named sponsor, no business unit or P&amp;L owner who would sign off on real budget; no decision gate was ever built in, so the default has always been 'keep researching' rather than a scheduled go or no-go; and there is no success metric for any of the four workstreams that anyone is actually measuring. None of that is a reflection on the engineering work -- it's a reflection on how the work was scoped and assigned.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the work here, because overstating the opposite case would be just as dishonest as the original blind spot. On the keep side: the protocol fluency built up over this project is real and transferable -- it's the exact expertise Schneider just signed an MoU to go acquire. The 24-gap list is real, specific, verified work that could become a genuine contribution if it's actually sent to the people who maintain the devkit, rather than staying in a private fork. UC3's submission window is open, not closed -- nothing discovered this week shuts that door. And V2G remains genuinely uncontested; nobody in India has shipped that yet. On the set-down side: building more trading-demo apps in the hope of originality is a losing race against a funded competitor who already won it; the devkit sandbox itself was never meant to be product R&amp;D, it's a training exercise by the ecosystem's own design; and continuing without a sponsor, a deadline, or a metric is precisely the pattern that produced tonight's meeting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these as questions, not accusations -- the rigor does the work, not the tone. First: who is the actual named sponsor, which business unit, which P&amp;L, who would sign off if real budget were requested. Second: what specific decision is this work supposed to feed, and by when -- not an open-ended instruction to keep researching, but an actual go or no-go with a date attached. Third, and this is the one that's hardest to dodge: when UC3 was paused for having no profit angle and being pure open source, was that conclusion simply wrong, or did reopening it just never actually address the objection -- which one is it? Fourth: what is the measurable success criterion for this work over the next quarter, and who is the named owner of tracking it. If all four get clean answers, there's a real mandate to work with. If two or more can't be answered, that alone proves the point without needing to argue it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 these out as genuine, mutually compatible options, not a trap -- A and B can both be true at once, for instance. Option A: sponsor this properly and point it at ground that's actually still open -- V2G and industrial demand flexibility, where Bosch has real engineering standing that a seed-funded software startup doesn't, the same move Schneider just made publicly. Option B: file the UC3 submission now, since the window is open and the taskforce is actively gathering input -- there's no reason for it to keep sitting packaged. Option C: stop building more P2P-trading or aggregation demo apps as if that's a path to something unique, because that specific ground is already taken. Option D, stated plainly so it can't happen by default without anyone deciding it: do nothing, and own that as the choice, including its cost -- another quarter of unsponsored solo work feeling, correctly, like it has no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handing the decision back to the room with a deadline attached, not leaving it open-ended -- an open-ended close is exactly how this got to where it is. State plainly: this can become a properly sponsored, properly scoped initiative, or it can stop -- both are legitimate outcomes. What isn't acceptable is a third option that isn't really a decision at all: more months of the same unsponsored, unscoped, undecided work, which is what brought everyone into this room. Ask directly for a date on the Option A-D decision, and if the room leans toward A or B, ask for the specific follow-up dates right there rather than letting them become another unresolved action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4400" y="2011680"/>
            <a:ext cx="10360152" cy="365760"/>
          </a:xfrm>
          <a:prstGeom prst="rect">
            <a:avLst/>
          </a:prstGeom>
          <a:noFill/>
          <a:ln/>
        </p:spPr>
        <p:txBody>
          <a:bodyPr wrap="square" lIns="0" tIns="0" rIns="0" bIns="0" rtlCol="0" anchor="ctr"/>
          <a:lstStyle/>
          <a:p>
            <a:pPr algn="ctr" indent="0" marL="0">
              <a:buNone/>
            </a:pPr>
            <a:r>
              <a:rPr lang="en-US" sz="1400" b="1" spc="200" kern="0" dirty="0">
                <a:solidFill>
                  <a:srgbClr val="1D4ED8"/>
                </a:solidFill>
                <a:latin typeface="Calibri" pitchFamily="34" charset="0"/>
                <a:ea typeface="Calibri" pitchFamily="34" charset="-122"/>
                <a:cs typeface="Calibri" pitchFamily="34" charset="-120"/>
              </a:rPr>
              <a:t>MARKET REALITY &amp; SPONSORSHIP CHECKPOINT</a:t>
            </a:r>
            <a:endParaRPr lang="en-US" sz="1400" dirty="0"/>
          </a:p>
        </p:txBody>
      </p:sp>
      <p:sp>
        <p:nvSpPr>
          <p:cNvPr id="3" name="Text 1"/>
          <p:cNvSpPr txBox="1"/>
          <p:nvPr/>
        </p:nvSpPr>
        <p:spPr>
          <a:xfrm>
            <a:off x="914400" y="2468880"/>
            <a:ext cx="10360152" cy="1188720"/>
          </a:xfrm>
          <a:prstGeom prst="rect">
            <a:avLst/>
          </a:prstGeom>
          <a:noFill/>
          <a:ln/>
        </p:spPr>
        <p:txBody>
          <a:bodyPr wrap="square" lIns="0" tIns="0" rIns="0" bIns="0" rtlCol="0" anchor="ctr"/>
          <a:lstStyle/>
          <a:p>
            <a:pPr algn="ctr" indent="0" marL="0">
              <a:buNone/>
            </a:pPr>
            <a:r>
              <a:rPr lang="en-US" sz="4400" b="1" dirty="0">
                <a:solidFill>
                  <a:srgbClr val="1A1A1A"/>
                </a:solidFill>
                <a:latin typeface="Calibri" pitchFamily="34" charset="0"/>
                <a:ea typeface="Calibri" pitchFamily="34" charset="-122"/>
                <a:cs typeface="Calibri" pitchFamily="34" charset="-120"/>
              </a:rPr>
              <a:t>Where DEG/IES Actually Stands</a:t>
            </a:r>
            <a:endParaRPr lang="en-US" sz="4400" dirty="0"/>
          </a:p>
        </p:txBody>
      </p:sp>
      <p:sp>
        <p:nvSpPr>
          <p:cNvPr id="4" name="Text 2"/>
          <p:cNvSpPr txBox="1"/>
          <p:nvPr/>
        </p:nvSpPr>
        <p:spPr>
          <a:xfrm>
            <a:off x="1463040" y="3703320"/>
            <a:ext cx="9235440" cy="822960"/>
          </a:xfrm>
          <a:prstGeom prst="rect">
            <a:avLst/>
          </a:prstGeom>
          <a:noFill/>
          <a:ln/>
        </p:spPr>
        <p:txBody>
          <a:bodyPr wrap="square" lIns="0" tIns="0" rIns="0" bIns="0" rtlCol="0" anchor="ctr"/>
          <a:lstStyle/>
          <a:p>
            <a:pPr algn="ctr" indent="0" marL="0">
              <a:buNone/>
            </a:pPr>
            <a:r>
              <a:rPr lang="en-US" sz="1600" dirty="0">
                <a:solidFill>
                  <a:srgbClr val="555E6B"/>
                </a:solidFill>
                <a:latin typeface="Calibri" pitchFamily="34" charset="0"/>
                <a:ea typeface="Calibri" pitchFamily="34" charset="-122"/>
                <a:cs typeface="Calibri" pitchFamily="34" charset="-120"/>
              </a:rPr>
              <a:t>Four workstreams, mapped against who else is already live, what a peer company's proper version of this looks like, and the decision this needs now.</a:t>
            </a:r>
            <a:endParaRPr lang="en-US" sz="1600" dirty="0"/>
          </a:p>
        </p:txBody>
      </p:sp>
      <p:sp>
        <p:nvSpPr>
          <p:cNvPr id="5" name="Text 3"/>
          <p:cNvSpPr txBox="1"/>
          <p:nvPr/>
        </p:nvSpPr>
        <p:spPr>
          <a:xfrm>
            <a:off x="1463040" y="5349240"/>
            <a:ext cx="9235440" cy="457200"/>
          </a:xfrm>
          <a:prstGeom prst="rect">
            <a:avLst/>
          </a:prstGeom>
          <a:noFill/>
          <a:ln/>
        </p:spPr>
        <p:txBody>
          <a:bodyPr wrap="square" lIns="0" tIns="0" rIns="0" bIns="0" rtlCol="0" anchor="ctr"/>
          <a:lstStyle/>
          <a:p>
            <a:pPr algn="ctr" indent="0" marL="0">
              <a:buNone/>
            </a:pPr>
            <a:r>
              <a:rPr lang="en-US" sz="1200" i="1" dirty="0">
                <a:solidFill>
                  <a:srgbClr val="555E6B"/>
                </a:solidFill>
                <a:latin typeface="Calibri" pitchFamily="34" charset="0"/>
                <a:ea typeface="Calibri" pitchFamily="34" charset="-122"/>
                <a:cs typeface="Calibri" pitchFamily="34" charset="-120"/>
              </a:rPr>
              <a:t>Every claim tagged by how it's known: verified against an external source, verified against our own code/repo, or our own reasoned inference.</a:t>
            </a:r>
            <a:endParaRPr lang="en-US" sz="1200" dirty="0"/>
          </a:p>
        </p:txBody>
      </p:sp>
      <p:sp>
        <p:nvSpPr>
          <p:cNvPr id="6" name="Text 4"/>
          <p:cNvSpPr txBox="1"/>
          <p:nvPr/>
        </p:nvSpPr>
        <p:spPr>
          <a:xfrm>
            <a:off x="1463040" y="6035040"/>
            <a:ext cx="9235440" cy="365760"/>
          </a:xfrm>
          <a:prstGeom prst="rect">
            <a:avLst/>
          </a:prstGeom>
          <a:noFill/>
          <a:ln/>
        </p:spPr>
        <p:txBody>
          <a:bodyPr wrap="square" lIns="0" tIns="0" rIns="0" bIns="0" rtlCol="0" anchor="ctr"/>
          <a:lstStyle/>
          <a:p>
            <a:pPr algn="ctr" indent="0" marL="0">
              <a:buNone/>
            </a:pPr>
            <a:r>
              <a:rPr lang="en-US" sz="1200" dirty="0">
                <a:solidFill>
                  <a:srgbClr val="555E6B"/>
                </a:solidFill>
                <a:latin typeface="Calibri" pitchFamily="34" charset="0"/>
                <a:ea typeface="Calibri" pitchFamily="34" charset="-122"/>
                <a:cs typeface="Calibri" pitchFamily="34" charset="-120"/>
              </a:rPr>
              <a:t>Prepared for: Leadership decision session  |  22 Oct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51560" y="384048"/>
            <a:ext cx="8229600" cy="274320"/>
          </a:xfrm>
          <a:prstGeom prst="rect">
            <a:avLst/>
          </a:prstGeom>
          <a:noFill/>
          <a:ln/>
        </p:spPr>
        <p:txBody>
          <a:bodyPr wrap="square" lIns="0" tIns="0" rIns="0" bIns="0" rtlCol="0" anchor="ctr"/>
          <a:lstStyle/>
          <a:p>
            <a:pPr indent="0" marL="0">
              <a:buNone/>
            </a:pPr>
            <a:r>
              <a:rPr lang="en-US" sz="1200" b="1" spc="100" kern="0" dirty="0">
                <a:solidFill>
                  <a:srgbClr val="1D4ED8"/>
                </a:solidFill>
                <a:latin typeface="Calibri" pitchFamily="34" charset="0"/>
                <a:ea typeface="Calibri" pitchFamily="34" charset="-122"/>
                <a:cs typeface="Calibri" pitchFamily="34" charset="-120"/>
              </a:rPr>
              <a:t>AGENDA</a:t>
            </a:r>
            <a:endParaRPr lang="en-US" sz="1200" dirty="0"/>
          </a:p>
        </p:txBody>
      </p:sp>
      <p:sp>
        <p:nvSpPr>
          <p:cNvPr id="3" name="Text 1"/>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What This Session Resolves</a:t>
            </a:r>
            <a:endParaRPr lang="en-US" sz="2800" dirty="0"/>
          </a:p>
        </p:txBody>
      </p:sp>
      <p:sp>
        <p:nvSpPr>
          <p:cNvPr id="4" name="Shape 2"/>
          <p:cNvSpPr/>
          <p:nvPr/>
        </p:nvSpPr>
        <p:spPr>
          <a:xfrm>
            <a:off x="457200" y="1600200"/>
            <a:ext cx="384048" cy="384048"/>
          </a:xfrm>
          <a:prstGeom prst="ellipse">
            <a:avLst/>
          </a:prstGeom>
          <a:solidFill>
            <a:srgbClr val="555E6B"/>
          </a:solidFill>
          <a:ln/>
        </p:spPr>
      </p:sp>
      <p:sp>
        <p:nvSpPr>
          <p:cNvPr id="5" name="Text 3"/>
          <p:cNvSpPr txBox="1"/>
          <p:nvPr/>
        </p:nvSpPr>
        <p:spPr>
          <a:xfrm>
            <a:off x="457200" y="160020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969264" y="1554480"/>
            <a:ext cx="4837176" cy="36576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Four workstreams, scored honestly</a:t>
            </a:r>
            <a:endParaRPr lang="en-US" sz="1400" dirty="0"/>
          </a:p>
        </p:txBody>
      </p:sp>
      <p:sp>
        <p:nvSpPr>
          <p:cNvPr id="7" name="Text 5"/>
          <p:cNvSpPr txBox="1"/>
          <p:nvPr/>
        </p:nvSpPr>
        <p:spPr>
          <a:xfrm>
            <a:off x="969264" y="1947672"/>
            <a:ext cx="4837176" cy="1005840"/>
          </a:xfrm>
          <a:prstGeom prst="rect">
            <a:avLst/>
          </a:prstGeom>
          <a:noFill/>
          <a:ln/>
        </p:spPr>
        <p:txBody>
          <a:bodyPr wrap="square" lIns="0" tIns="0" rIns="0" bIns="0" rtlCol="0" anchor="t"/>
          <a:lstStyle/>
          <a:p>
            <a:pPr indent="0" marL="0">
              <a:buNone/>
            </a:pPr>
            <a:r>
              <a:rPr lang="en-US" sz="1200" dirty="0">
                <a:solidFill>
                  <a:srgbClr val="555E6B"/>
                </a:solidFill>
                <a:latin typeface="Calibri" pitchFamily="34" charset="0"/>
                <a:ea typeface="Calibri" pitchFamily="34" charset="-122"/>
                <a:cs typeface="Calibri" pitchFamily="34" charset="-120"/>
              </a:rPr>
              <a:t>What's actually built vs. actually decided, across UC3, V2G, P2P trading, and Nharuvi identity.</a:t>
            </a:r>
            <a:endParaRPr lang="en-US" sz="1200" dirty="0"/>
          </a:p>
        </p:txBody>
      </p:sp>
      <p:sp>
        <p:nvSpPr>
          <p:cNvPr id="8" name="Shape 6"/>
          <p:cNvSpPr/>
          <p:nvPr/>
        </p:nvSpPr>
        <p:spPr>
          <a:xfrm>
            <a:off x="6080760" y="1600200"/>
            <a:ext cx="384048" cy="384048"/>
          </a:xfrm>
          <a:prstGeom prst="ellipse">
            <a:avLst/>
          </a:prstGeom>
          <a:solidFill>
            <a:srgbClr val="555E6B"/>
          </a:solidFill>
          <a:ln/>
        </p:spPr>
      </p:sp>
      <p:sp>
        <p:nvSpPr>
          <p:cNvPr id="9" name="Text 7"/>
          <p:cNvSpPr txBox="1"/>
          <p:nvPr/>
        </p:nvSpPr>
        <p:spPr>
          <a:xfrm>
            <a:off x="6080760" y="160020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6592824" y="1554480"/>
            <a:ext cx="4837176" cy="36576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Is P2P trading proven anywhere?</a:t>
            </a:r>
            <a:endParaRPr lang="en-US" sz="1400" dirty="0"/>
          </a:p>
        </p:txBody>
      </p:sp>
      <p:sp>
        <p:nvSpPr>
          <p:cNvPr id="11" name="Text 9"/>
          <p:cNvSpPr txBox="1"/>
          <p:nvPr/>
        </p:nvSpPr>
        <p:spPr>
          <a:xfrm>
            <a:off x="6592824" y="1947672"/>
            <a:ext cx="4837176" cy="1005840"/>
          </a:xfrm>
          <a:prstGeom prst="rect">
            <a:avLst/>
          </a:prstGeom>
          <a:noFill/>
          <a:ln/>
        </p:spPr>
        <p:txBody>
          <a:bodyPr wrap="square" lIns="0" tIns="0" rIns="0" bIns="0" rtlCol="0" anchor="t"/>
          <a:lstStyle/>
          <a:p>
            <a:pPr indent="0" marL="0">
              <a:buNone/>
            </a:pPr>
            <a:r>
              <a:rPr lang="en-US" sz="1200" dirty="0">
                <a:solidFill>
                  <a:srgbClr val="555E6B"/>
                </a:solidFill>
                <a:latin typeface="Calibri" pitchFamily="34" charset="0"/>
                <a:ea typeface="Calibri" pitchFamily="34" charset="-122"/>
                <a:cs typeface="Calibri" pitchFamily="34" charset="-120"/>
              </a:rPr>
              <a:t>Stuck at pilot scale globally for a decade -- except in India, where it's live, regulator-backed, and growing.</a:t>
            </a:r>
            <a:endParaRPr lang="en-US" sz="1200" dirty="0"/>
          </a:p>
        </p:txBody>
      </p:sp>
      <p:sp>
        <p:nvSpPr>
          <p:cNvPr id="12" name="Shape 10"/>
          <p:cNvSpPr/>
          <p:nvPr/>
        </p:nvSpPr>
        <p:spPr>
          <a:xfrm>
            <a:off x="457200" y="3108960"/>
            <a:ext cx="384048" cy="384048"/>
          </a:xfrm>
          <a:prstGeom prst="ellipse">
            <a:avLst/>
          </a:prstGeom>
          <a:solidFill>
            <a:srgbClr val="555E6B"/>
          </a:solidFill>
          <a:ln/>
        </p:spPr>
      </p:sp>
      <p:sp>
        <p:nvSpPr>
          <p:cNvPr id="13" name="Text 11"/>
          <p:cNvSpPr txBox="1"/>
          <p:nvPr/>
        </p:nvSpPr>
        <p:spPr>
          <a:xfrm>
            <a:off x="457200" y="31089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969264" y="3063240"/>
            <a:ext cx="4837176" cy="36576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Who's already shipping on these rails</a:t>
            </a:r>
            <a:endParaRPr lang="en-US" sz="1400" dirty="0"/>
          </a:p>
        </p:txBody>
      </p:sp>
      <p:sp>
        <p:nvSpPr>
          <p:cNvPr id="15" name="Text 13"/>
          <p:cNvSpPr txBox="1"/>
          <p:nvPr/>
        </p:nvSpPr>
        <p:spPr>
          <a:xfrm>
            <a:off x="969264" y="3456432"/>
            <a:ext cx="4837176" cy="1005840"/>
          </a:xfrm>
          <a:prstGeom prst="rect">
            <a:avLst/>
          </a:prstGeom>
          <a:noFill/>
          <a:ln/>
        </p:spPr>
        <p:txBody>
          <a:bodyPr wrap="square" lIns="0" tIns="0" rIns="0" bIns="0" rtlCol="0" anchor="t"/>
          <a:lstStyle/>
          <a:p>
            <a:pPr indent="0" marL="0">
              <a:buNone/>
            </a:pPr>
            <a:r>
              <a:rPr lang="en-US" sz="1200" dirty="0">
                <a:solidFill>
                  <a:srgbClr val="555E6B"/>
                </a:solidFill>
                <a:latin typeface="Calibri" pitchFamily="34" charset="0"/>
                <a:ea typeface="Calibri" pitchFamily="34" charset="-122"/>
                <a:cs typeface="Calibri" pitchFamily="34" charset="-120"/>
              </a:rPr>
              <a:t>A funded, live competitor already covers three of our four workstreams in production.</a:t>
            </a:r>
            <a:endParaRPr lang="en-US" sz="1200" dirty="0"/>
          </a:p>
        </p:txBody>
      </p:sp>
      <p:sp>
        <p:nvSpPr>
          <p:cNvPr id="16" name="Shape 14"/>
          <p:cNvSpPr/>
          <p:nvPr/>
        </p:nvSpPr>
        <p:spPr>
          <a:xfrm>
            <a:off x="6080760" y="3108960"/>
            <a:ext cx="384048" cy="384048"/>
          </a:xfrm>
          <a:prstGeom prst="ellipse">
            <a:avLst/>
          </a:prstGeom>
          <a:solidFill>
            <a:srgbClr val="555E6B"/>
          </a:solidFill>
          <a:ln/>
        </p:spPr>
      </p:sp>
      <p:sp>
        <p:nvSpPr>
          <p:cNvPr id="17" name="Text 15"/>
          <p:cNvSpPr txBox="1"/>
          <p:nvPr/>
        </p:nvSpPr>
        <p:spPr>
          <a:xfrm>
            <a:off x="6080760" y="310896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6592824" y="3063240"/>
            <a:ext cx="4837176" cy="36576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What doing this properly looks like</a:t>
            </a:r>
            <a:endParaRPr lang="en-US" sz="1400" dirty="0"/>
          </a:p>
        </p:txBody>
      </p:sp>
      <p:sp>
        <p:nvSpPr>
          <p:cNvPr id="19" name="Text 17"/>
          <p:cNvSpPr txBox="1"/>
          <p:nvPr/>
        </p:nvSpPr>
        <p:spPr>
          <a:xfrm>
            <a:off x="6592824" y="3456432"/>
            <a:ext cx="4837176" cy="1005840"/>
          </a:xfrm>
          <a:prstGeom prst="rect">
            <a:avLst/>
          </a:prstGeom>
          <a:noFill/>
          <a:ln/>
        </p:spPr>
        <p:txBody>
          <a:bodyPr wrap="square" lIns="0" tIns="0" rIns="0" bIns="0" rtlCol="0" anchor="t"/>
          <a:lstStyle/>
          <a:p>
            <a:pPr indent="0" marL="0">
              <a:buNone/>
            </a:pPr>
            <a:r>
              <a:rPr lang="en-US" sz="1200" dirty="0">
                <a:solidFill>
                  <a:srgbClr val="555E6B"/>
                </a:solidFill>
                <a:latin typeface="Calibri" pitchFamily="34" charset="0"/>
                <a:ea typeface="Calibri" pitchFamily="34" charset="-122"/>
                <a:cs typeface="Calibri" pitchFamily="34" charset="-120"/>
              </a:rPr>
              <a:t>A peer industrial company signed a formal MoU for this exact scope the same week.</a:t>
            </a:r>
            <a:endParaRPr lang="en-US" sz="1200" dirty="0"/>
          </a:p>
        </p:txBody>
      </p:sp>
      <p:sp>
        <p:nvSpPr>
          <p:cNvPr id="20" name="Shape 18"/>
          <p:cNvSpPr/>
          <p:nvPr/>
        </p:nvSpPr>
        <p:spPr>
          <a:xfrm>
            <a:off x="457200" y="4617720"/>
            <a:ext cx="384048" cy="384048"/>
          </a:xfrm>
          <a:prstGeom prst="ellipse">
            <a:avLst/>
          </a:prstGeom>
          <a:solidFill>
            <a:srgbClr val="555E6B"/>
          </a:solidFill>
          <a:ln/>
        </p:spPr>
      </p:sp>
      <p:sp>
        <p:nvSpPr>
          <p:cNvPr id="21" name="Text 19"/>
          <p:cNvSpPr txBox="1"/>
          <p:nvPr/>
        </p:nvSpPr>
        <p:spPr>
          <a:xfrm>
            <a:off x="457200" y="4617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969264" y="4572000"/>
            <a:ext cx="4837176" cy="36576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Where the real value chain points</a:t>
            </a:r>
            <a:endParaRPr lang="en-US" sz="1400" dirty="0"/>
          </a:p>
        </p:txBody>
      </p:sp>
      <p:sp>
        <p:nvSpPr>
          <p:cNvPr id="23" name="Text 21"/>
          <p:cNvSpPr txBox="1"/>
          <p:nvPr/>
        </p:nvSpPr>
        <p:spPr>
          <a:xfrm>
            <a:off x="969264" y="4965192"/>
            <a:ext cx="4837176" cy="1005840"/>
          </a:xfrm>
          <a:prstGeom prst="rect">
            <a:avLst/>
          </a:prstGeom>
          <a:noFill/>
          <a:ln/>
        </p:spPr>
        <p:txBody>
          <a:bodyPr wrap="square" lIns="0" tIns="0" rIns="0" bIns="0" rtlCol="0" anchor="t"/>
          <a:lstStyle/>
          <a:p>
            <a:pPr indent="0" marL="0">
              <a:buNone/>
            </a:pPr>
            <a:r>
              <a:rPr lang="en-US" sz="1200" dirty="0">
                <a:solidFill>
                  <a:srgbClr val="555E6B"/>
                </a:solidFill>
                <a:latin typeface="Calibri" pitchFamily="34" charset="0"/>
                <a:ea typeface="Calibri" pitchFamily="34" charset="-122"/>
                <a:cs typeface="Calibri" pitchFamily="34" charset="-120"/>
              </a:rPr>
              <a:t>A legitimate value case exists -- the open question is whether this work has actually reached it.</a:t>
            </a:r>
            <a:endParaRPr lang="en-US" sz="1200" dirty="0"/>
          </a:p>
        </p:txBody>
      </p:sp>
      <p:sp>
        <p:nvSpPr>
          <p:cNvPr id="24" name="Shape 22"/>
          <p:cNvSpPr/>
          <p:nvPr/>
        </p:nvSpPr>
        <p:spPr>
          <a:xfrm>
            <a:off x="6080760" y="4617720"/>
            <a:ext cx="384048" cy="384048"/>
          </a:xfrm>
          <a:prstGeom prst="ellipse">
            <a:avLst/>
          </a:prstGeom>
          <a:solidFill>
            <a:srgbClr val="555E6B"/>
          </a:solidFill>
          <a:ln/>
        </p:spPr>
      </p:sp>
      <p:sp>
        <p:nvSpPr>
          <p:cNvPr id="25" name="Text 23"/>
          <p:cNvSpPr txBox="1"/>
          <p:nvPr/>
        </p:nvSpPr>
        <p:spPr>
          <a:xfrm>
            <a:off x="6080760" y="4617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6" name="Text 24"/>
          <p:cNvSpPr txBox="1"/>
          <p:nvPr/>
        </p:nvSpPr>
        <p:spPr>
          <a:xfrm>
            <a:off x="6592824" y="4572000"/>
            <a:ext cx="4837176" cy="36576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The decision we need, by when</a:t>
            </a:r>
            <a:endParaRPr lang="en-US" sz="1400" dirty="0"/>
          </a:p>
        </p:txBody>
      </p:sp>
      <p:sp>
        <p:nvSpPr>
          <p:cNvPr id="27" name="Text 25"/>
          <p:cNvSpPr txBox="1"/>
          <p:nvPr/>
        </p:nvSpPr>
        <p:spPr>
          <a:xfrm>
            <a:off x="6592824" y="4965192"/>
            <a:ext cx="4837176" cy="1005840"/>
          </a:xfrm>
          <a:prstGeom prst="rect">
            <a:avLst/>
          </a:prstGeom>
          <a:noFill/>
          <a:ln/>
        </p:spPr>
        <p:txBody>
          <a:bodyPr wrap="square" lIns="0" tIns="0" rIns="0" bIns="0" rtlCol="0" anchor="t"/>
          <a:lstStyle/>
          <a:p>
            <a:pPr indent="0" marL="0">
              <a:buNone/>
            </a:pPr>
            <a:r>
              <a:rPr lang="en-US" sz="1200" dirty="0">
                <a:solidFill>
                  <a:srgbClr val="555E6B"/>
                </a:solidFill>
                <a:latin typeface="Calibri" pitchFamily="34" charset="0"/>
                <a:ea typeface="Calibri" pitchFamily="34" charset="-122"/>
                <a:cs typeface="Calibri" pitchFamily="34" charset="-120"/>
              </a:rPr>
              <a:t>A named sponsor, a deadline, and an answer to an objection that was raised once and never resolved.</a:t>
            </a:r>
            <a:endParaRPr lang="en-US" sz="1200" dirty="0"/>
          </a:p>
        </p:txBody>
      </p:sp>
      <p:sp>
        <p:nvSpPr>
          <p:cNvPr id="28" name="Text 26"/>
          <p:cNvSpPr txBox="1"/>
          <p:nvPr/>
        </p:nvSpPr>
        <p:spPr>
          <a:xfrm>
            <a:off x="457200" y="6473952"/>
            <a:ext cx="10515600" cy="274320"/>
          </a:xfrm>
          <a:prstGeom prst="rect">
            <a:avLst/>
          </a:prstGeom>
          <a:noFill/>
          <a:ln/>
        </p:spPr>
        <p:txBody>
          <a:bodyPr wrap="square" lIns="0" tIns="0" rIns="0" bIns="0" rtlCol="0" anchor="ctr"/>
          <a:lstStyle/>
          <a:p>
            <a:pPr indent="0" marL="0">
              <a:buNone/>
            </a:pPr>
            <a:r>
              <a:rPr lang="en-US" sz="1000" i="1" dirty="0">
                <a:solidFill>
                  <a:srgbClr val="555E6B"/>
                </a:solidFill>
                <a:latin typeface="Calibri" pitchFamily="34" charset="0"/>
                <a:ea typeface="Calibri" pitchFamily="34" charset="-122"/>
                <a:cs typeface="Calibri" pitchFamily="34" charset="-120"/>
              </a:rPr>
              <a:t>Source: This session's own market research, cross-checked against the existing P2P Foundations deck's business-value section</a:t>
            </a:r>
            <a:endParaRPr lang="en-US" sz="1000" dirty="0"/>
          </a:p>
        </p:txBody>
      </p:sp>
      <p:sp>
        <p:nvSpPr>
          <p:cNvPr id="29" name="Text 27"/>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D4ED8"/>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4" name="Text 2"/>
          <p:cNvSpPr txBox="1"/>
          <p:nvPr/>
        </p:nvSpPr>
        <p:spPr>
          <a:xfrm>
            <a:off x="1051560" y="384048"/>
            <a:ext cx="8229600" cy="274320"/>
          </a:xfrm>
          <a:prstGeom prst="rect">
            <a:avLst/>
          </a:prstGeom>
          <a:noFill/>
          <a:ln/>
        </p:spPr>
        <p:txBody>
          <a:bodyPr wrap="square" lIns="0" tIns="0" rIns="0" bIns="0" rtlCol="0" anchor="ctr"/>
          <a:lstStyle/>
          <a:p>
            <a:pPr indent="0" marL="0">
              <a:buNone/>
            </a:pPr>
            <a:r>
              <a:rPr lang="en-US" sz="1200" b="1" spc="100" kern="0" dirty="0">
                <a:solidFill>
                  <a:srgbClr val="1D4ED8"/>
                </a:solidFill>
                <a:latin typeface="Calibri" pitchFamily="34" charset="0"/>
                <a:ea typeface="Calibri" pitchFamily="34" charset="-122"/>
                <a:cs typeface="Calibri" pitchFamily="34" charset="-120"/>
              </a:rPr>
              <a:t>CURRENT STATE</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Four Workstreams, Scored Honestly</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4552" cy="4206240"/>
        </p:xfrm>
        <a:graphic>
          <a:graphicData uri="http://schemas.openxmlformats.org/drawingml/2006/table">
            <a:tbl>
              <a:tblPr/>
              <a:tblGrid>
                <a:gridCol w="2651760"/>
                <a:gridCol w="3017520"/>
                <a:gridCol w="3200400"/>
                <a:gridCol w="2404872"/>
              </a:tblGrid>
              <a:tr h="8412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Workstream</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A1A1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What's built</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A1A1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What's decided / shipped</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A1A1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A1A1A"/>
                    </a:solidFill>
                  </a:tcPr>
                </a:tc>
              </a:tr>
              <a:tr h="841248">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UC3 (Policy as Code)</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Bugs fixed, proposal packaged</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Nothing -- submission form not filed</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Paused once for “no profit,” reopened, still unfiled</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841248">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V2G</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Research notes only</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Nothing</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No prototype exists</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r>
              <a:tr h="841248">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P2P Trading + Aggregation</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4 working apps, 24+ gaps found &amp; tracked</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Nothing external -- 2 internal demos only</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Local demo, no outside use</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841248">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Nharuvi (Beckn identity)</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Dormant</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Nothing</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No recent activity</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r>
            </a:tbl>
          </a:graphicData>
        </a:graphic>
      </p:graphicFrame>
      <p:sp>
        <p:nvSpPr>
          <p:cNvPr id="7" name="Text 4"/>
          <p:cNvSpPr txBox="1"/>
          <p:nvPr/>
        </p:nvSpPr>
        <p:spPr>
          <a:xfrm>
            <a:off x="457200" y="6473952"/>
            <a:ext cx="10515600" cy="274320"/>
          </a:xfrm>
          <a:prstGeom prst="rect">
            <a:avLst/>
          </a:prstGeom>
          <a:noFill/>
          <a:ln/>
        </p:spPr>
        <p:txBody>
          <a:bodyPr wrap="square" lIns="0" tIns="0" rIns="0" bIns="0" rtlCol="0" anchor="ctr"/>
          <a:lstStyle/>
          <a:p>
            <a:pPr indent="0" marL="0">
              <a:buNone/>
            </a:pPr>
            <a:r>
              <a:rPr lang="en-US" sz="1000" i="1" dirty="0">
                <a:solidFill>
                  <a:srgbClr val="555E6B"/>
                </a:solidFill>
                <a:latin typeface="Calibri" pitchFamily="34" charset="0"/>
                <a:ea typeface="Calibri" pitchFamily="34" charset="-122"/>
                <a:cs typeface="Calibri" pitchFamily="34" charset="-120"/>
              </a:rPr>
              <a:t>Source: This project's own repos, commit history, and submission packages, re-verified against the session's raw logs</a:t>
            </a:r>
            <a:endParaRPr lang="en-US" sz="1000" dirty="0"/>
          </a:p>
        </p:txBody>
      </p:sp>
      <p:sp>
        <p:nvSpPr>
          <p:cNvPr id="8" name="Text 5"/>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A82A2A"/>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4" name="Text 2"/>
          <p:cNvSpPr txBox="1"/>
          <p:nvPr/>
        </p:nvSpPr>
        <p:spPr>
          <a:xfrm>
            <a:off x="1051560" y="384048"/>
            <a:ext cx="8229600" cy="274320"/>
          </a:xfrm>
          <a:prstGeom prst="rect">
            <a:avLst/>
          </a:prstGeom>
          <a:noFill/>
          <a:ln/>
        </p:spPr>
        <p:txBody>
          <a:bodyPr wrap="square" lIns="0" tIns="0" rIns="0" bIns="0" rtlCol="0" anchor="ctr"/>
          <a:lstStyle/>
          <a:p>
            <a:pPr indent="0" marL="0">
              <a:buNone/>
            </a:pPr>
            <a:r>
              <a:rPr lang="en-US" sz="1200" b="1" spc="100" kern="0" dirty="0">
                <a:solidFill>
                  <a:srgbClr val="A82A2A"/>
                </a:solidFill>
                <a:latin typeface="Calibri" pitchFamily="34" charset="0"/>
                <a:ea typeface="Calibri" pitchFamily="34" charset="-122"/>
                <a:cs typeface="Calibri" pitchFamily="34" charset="-120"/>
              </a:rPr>
              <a:t>MARKET REALITY -- GLOBAL</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Globally: Pilot-Scale for a Decade, Nowhere Near</a:t>
            </a:r>
            <a:endParaRPr lang="en-US" sz="2800" dirty="0"/>
          </a:p>
        </p:txBody>
      </p:sp>
      <p:sp>
        <p:nvSpPr>
          <p:cNvPr id="6" name="Text 4"/>
          <p:cNvSpPr txBox="1"/>
          <p:nvPr/>
        </p:nvSpPr>
        <p:spPr>
          <a:xfrm>
            <a:off x="457200" y="1691640"/>
            <a:ext cx="11274552" cy="402336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00" dirty="0">
                <a:solidFill>
                  <a:srgbClr val="1A1A1A"/>
                </a:solidFill>
                <a:latin typeface="Calibri" pitchFamily="34" charset="0"/>
                <a:ea typeface="Calibri" pitchFamily="34" charset="-122"/>
                <a:cs typeface="Calibri" pitchFamily="34" charset="-120"/>
              </a:rPr>
              <a:t>Power Ledger (Australia, the biggest name in this space) has shifted its real commercial focus to renewable energy certificate and carbon-credit trading -- not open household P2P trading, which stayed permissioned and pilot-scale.</a:t>
            </a:r>
            <a:endParaRPr lang="en-US" sz="1500" dirty="0"/>
          </a:p>
          <a:p>
            <a:pPr marL="342900" indent="-342900">
              <a:lnSpc>
                <a:spcPct val="115000"/>
              </a:lnSpc>
              <a:spcAft>
                <a:spcPts val="1400"/>
              </a:spcAft>
              <a:buSzPct val="100000"/>
              <a:buChar char="•"/>
            </a:pPr>
            <a:r>
              <a:rPr lang="en-US" sz="1500" dirty="0">
                <a:solidFill>
                  <a:srgbClr val="1A1A1A"/>
                </a:solidFill>
                <a:latin typeface="Calibri" pitchFamily="34" charset="0"/>
                <a:ea typeface="Calibri" pitchFamily="34" charset="-122"/>
                <a:cs typeface="Calibri" pitchFamily="34" charset="-120"/>
              </a:rPr>
              <a:t>Brooklyn Microgrid / LO3 Energy (the famous 2016 case): no confirmed evidence of commercial-scale operation found since 2019, when it was still described as a “test project.”</a:t>
            </a:r>
            <a:endParaRPr lang="en-US" sz="1500" dirty="0"/>
          </a:p>
          <a:p>
            <a:pPr marL="342900" indent="-342900">
              <a:lnSpc>
                <a:spcPct val="115000"/>
              </a:lnSpc>
              <a:spcAft>
                <a:spcPts val="1400"/>
              </a:spcAft>
              <a:buSzPct val="100000"/>
              <a:buChar char="•"/>
            </a:pPr>
            <a:r>
              <a:rPr lang="en-US" sz="1500" dirty="0">
                <a:solidFill>
                  <a:srgbClr val="1A1A1A"/>
                </a:solidFill>
                <a:latin typeface="Calibri" pitchFamily="34" charset="0"/>
                <a:ea typeface="Calibri" pitchFamily="34" charset="-122"/>
                <a:cs typeface="Calibri" pitchFamily="34" charset="-120"/>
              </a:rPr>
              <a:t>The reason is structural, not technical: every grid runs through a utility/DSO that must approve and reconcile each trade, and most regulatory frameworks still give the utility exclusive right to resell power over its own wires.</a:t>
            </a:r>
            <a:endParaRPr lang="en-US" sz="1500" dirty="0"/>
          </a:p>
          <a:p>
            <a:pPr marL="342900" indent="-342900">
              <a:lnSpc>
                <a:spcPct val="115000"/>
              </a:lnSpc>
              <a:buSzPct val="100000"/>
              <a:buChar char="•"/>
            </a:pPr>
            <a:r>
              <a:rPr lang="en-US" sz="1500" i="1" dirty="0">
                <a:solidFill>
                  <a:srgbClr val="1A1A1A"/>
                </a:solidFill>
                <a:latin typeface="Calibri" pitchFamily="34" charset="0"/>
                <a:ea typeface="Calibri" pitchFamily="34" charset="-122"/>
                <a:cs typeface="Calibri" pitchFamily="34" charset="-120"/>
              </a:rPr>
              <a:t>One academic review's own term for this: “pilot purgatory.”</a:t>
            </a:r>
            <a:endParaRPr lang="en-US" sz="1500" dirty="0"/>
          </a:p>
        </p:txBody>
      </p:sp>
      <p:sp>
        <p:nvSpPr>
          <p:cNvPr id="7" name="Text 5"/>
          <p:cNvSpPr txBox="1"/>
          <p:nvPr/>
        </p:nvSpPr>
        <p:spPr>
          <a:xfrm>
            <a:off x="457200" y="6473952"/>
            <a:ext cx="10515600" cy="274320"/>
          </a:xfrm>
          <a:prstGeom prst="rect">
            <a:avLst/>
          </a:prstGeom>
          <a:noFill/>
          <a:ln/>
        </p:spPr>
        <p:txBody>
          <a:bodyPr wrap="square" lIns="0" tIns="0" rIns="0" bIns="0" rtlCol="0" anchor="ctr"/>
          <a:lstStyle/>
          <a:p>
            <a:pPr indent="0" marL="0">
              <a:buNone/>
            </a:pPr>
            <a:r>
              <a:rPr lang="en-US" sz="1000" i="1" dirty="0">
                <a:solidFill>
                  <a:srgbClr val="555E6B"/>
                </a:solidFill>
                <a:latin typeface="Calibri" pitchFamily="34" charset="0"/>
                <a:ea typeface="Calibri" pitchFamily="34" charset="-122"/>
                <a:cs typeface="Calibri" pitchFamily="34" charset="-120"/>
              </a:rPr>
              <a:t>Source: Power Ledger public materials and academic P2P-trading reviews, fetched and cross-checked this session</a:t>
            </a:r>
            <a:endParaRPr lang="en-US" sz="1000" dirty="0"/>
          </a:p>
        </p:txBody>
      </p:sp>
      <p:sp>
        <p:nvSpPr>
          <p:cNvPr id="8" name="Text 6"/>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E7A3C"/>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4" name="Text 2"/>
          <p:cNvSpPr txBox="1"/>
          <p:nvPr/>
        </p:nvSpPr>
        <p:spPr>
          <a:xfrm>
            <a:off x="1051560" y="384048"/>
            <a:ext cx="8229600" cy="274320"/>
          </a:xfrm>
          <a:prstGeom prst="rect">
            <a:avLst/>
          </a:prstGeom>
          <a:noFill/>
          <a:ln/>
        </p:spPr>
        <p:txBody>
          <a:bodyPr wrap="square" lIns="0" tIns="0" rIns="0" bIns="0" rtlCol="0" anchor="ctr"/>
          <a:lstStyle/>
          <a:p>
            <a:pPr indent="0" marL="0">
              <a:buNone/>
            </a:pPr>
            <a:r>
              <a:rPr lang="en-US" sz="1200" b="1" spc="100" kern="0" dirty="0">
                <a:solidFill>
                  <a:srgbClr val="1E7A3C"/>
                </a:solidFill>
                <a:latin typeface="Calibri" pitchFamily="34" charset="0"/>
                <a:ea typeface="Calibri" pitchFamily="34" charset="-122"/>
                <a:cs typeface="Calibri" pitchFamily="34" charset="-120"/>
              </a:rPr>
              <a:t>MARKET REALITY -- INDIA</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India Is Different — And It's Live</a:t>
            </a:r>
            <a:endParaRPr lang="en-US" sz="2800" dirty="0"/>
          </a:p>
        </p:txBody>
      </p:sp>
      <p:sp>
        <p:nvSpPr>
          <p:cNvPr id="6" name="Text 4"/>
          <p:cNvSpPr txBox="1"/>
          <p:nvPr/>
        </p:nvSpPr>
        <p:spPr>
          <a:xfrm>
            <a:off x="457200" y="1691640"/>
            <a:ext cx="3566160" cy="914400"/>
          </a:xfrm>
          <a:prstGeom prst="rect">
            <a:avLst/>
          </a:prstGeom>
          <a:noFill/>
          <a:ln/>
        </p:spPr>
        <p:txBody>
          <a:bodyPr wrap="square" lIns="0" tIns="0" rIns="0" bIns="0" rtlCol="0" anchor="ctr"/>
          <a:lstStyle/>
          <a:p>
            <a:pPr algn="ctr" indent="0" marL="0">
              <a:buNone/>
            </a:pPr>
            <a:r>
              <a:rPr lang="en-US" sz="4000" b="1" dirty="0">
                <a:solidFill>
                  <a:srgbClr val="1E7A3C"/>
                </a:solidFill>
                <a:latin typeface="Calibri" pitchFamily="34" charset="0"/>
                <a:ea typeface="Calibri" pitchFamily="34" charset="-122"/>
                <a:cs typeface="Calibri" pitchFamily="34" charset="-120"/>
              </a:rPr>
              <a:t>1,164</a:t>
            </a:r>
            <a:endParaRPr lang="en-US" sz="4000" dirty="0"/>
          </a:p>
        </p:txBody>
      </p:sp>
      <p:sp>
        <p:nvSpPr>
          <p:cNvPr id="7" name="Text 5"/>
          <p:cNvSpPr txBox="1"/>
          <p:nvPr/>
        </p:nvSpPr>
        <p:spPr>
          <a:xfrm>
            <a:off x="457200" y="2606040"/>
            <a:ext cx="3566160" cy="822960"/>
          </a:xfrm>
          <a:prstGeom prst="rect">
            <a:avLst/>
          </a:prstGeom>
          <a:noFill/>
          <a:ln/>
        </p:spPr>
        <p:txBody>
          <a:bodyPr wrap="square" lIns="0" tIns="0" rIns="0" bIns="0" rtlCol="0" anchor="t"/>
          <a:lstStyle/>
          <a:p>
            <a:pPr algn="ctr" indent="0" marL="0">
              <a:buNone/>
            </a:pPr>
            <a:r>
              <a:rPr lang="en-US" sz="1300" dirty="0">
                <a:solidFill>
                  <a:srgbClr val="555E6B"/>
                </a:solidFill>
                <a:latin typeface="Calibri" pitchFamily="34" charset="0"/>
                <a:ea typeface="Calibri" pitchFamily="34" charset="-122"/>
                <a:cs typeface="Calibri" pitchFamily="34" charset="-120"/>
              </a:rPr>
              <a:t>interstate trades, UPERC-approved PVVNL ↔ Delhi pilot</a:t>
            </a:r>
            <a:endParaRPr lang="en-US" sz="1300" dirty="0"/>
          </a:p>
        </p:txBody>
      </p:sp>
      <p:sp>
        <p:nvSpPr>
          <p:cNvPr id="8" name="Text 6"/>
          <p:cNvSpPr txBox="1"/>
          <p:nvPr/>
        </p:nvSpPr>
        <p:spPr>
          <a:xfrm>
            <a:off x="4261104" y="1691640"/>
            <a:ext cx="3566160" cy="914400"/>
          </a:xfrm>
          <a:prstGeom prst="rect">
            <a:avLst/>
          </a:prstGeom>
          <a:noFill/>
          <a:ln/>
        </p:spPr>
        <p:txBody>
          <a:bodyPr wrap="square" lIns="0" tIns="0" rIns="0" bIns="0" rtlCol="0" anchor="ctr"/>
          <a:lstStyle/>
          <a:p>
            <a:pPr algn="ctr" indent="0" marL="0">
              <a:buNone/>
            </a:pPr>
            <a:r>
              <a:rPr lang="en-US" sz="4000" b="1" dirty="0">
                <a:solidFill>
                  <a:srgbClr val="1E7A3C"/>
                </a:solidFill>
                <a:latin typeface="Calibri" pitchFamily="34" charset="0"/>
                <a:ea typeface="Calibri" pitchFamily="34" charset="-122"/>
                <a:cs typeface="Calibri" pitchFamily="34" charset="-120"/>
              </a:rPr>
              <a:t>₹0.42/kWh</a:t>
            </a:r>
            <a:endParaRPr lang="en-US" sz="4000" dirty="0"/>
          </a:p>
        </p:txBody>
      </p:sp>
      <p:sp>
        <p:nvSpPr>
          <p:cNvPr id="9" name="Text 7"/>
          <p:cNvSpPr txBox="1"/>
          <p:nvPr/>
        </p:nvSpPr>
        <p:spPr>
          <a:xfrm>
            <a:off x="4261104" y="2606040"/>
            <a:ext cx="3566160" cy="822960"/>
          </a:xfrm>
          <a:prstGeom prst="rect">
            <a:avLst/>
          </a:prstGeom>
          <a:noFill/>
          <a:ln/>
        </p:spPr>
        <p:txBody>
          <a:bodyPr wrap="square" lIns="0" tIns="0" rIns="0" bIns="0" rtlCol="0" anchor="t"/>
          <a:lstStyle/>
          <a:p>
            <a:pPr algn="ctr" indent="0" marL="0">
              <a:buNone/>
            </a:pPr>
            <a:r>
              <a:rPr lang="en-US" sz="1300" dirty="0">
                <a:solidFill>
                  <a:srgbClr val="555E6B"/>
                </a:solidFill>
                <a:latin typeface="Calibri" pitchFamily="34" charset="0"/>
                <a:ea typeface="Calibri" pitchFamily="34" charset="-122"/>
                <a:cs typeface="Calibri" pitchFamily="34" charset="-120"/>
              </a:rPr>
              <a:t>transaction fee, regulator-set, split buyer/seller</a:t>
            </a:r>
            <a:endParaRPr lang="en-US" sz="1300" dirty="0"/>
          </a:p>
        </p:txBody>
      </p:sp>
      <p:sp>
        <p:nvSpPr>
          <p:cNvPr id="10" name="Text 8"/>
          <p:cNvSpPr txBox="1"/>
          <p:nvPr/>
        </p:nvSpPr>
        <p:spPr>
          <a:xfrm>
            <a:off x="8065008" y="1691640"/>
            <a:ext cx="3566160" cy="914400"/>
          </a:xfrm>
          <a:prstGeom prst="rect">
            <a:avLst/>
          </a:prstGeom>
          <a:noFill/>
          <a:ln/>
        </p:spPr>
        <p:txBody>
          <a:bodyPr wrap="square" lIns="0" tIns="0" rIns="0" bIns="0" rtlCol="0" anchor="ctr"/>
          <a:lstStyle/>
          <a:p>
            <a:pPr algn="ctr" indent="0" marL="0">
              <a:buNone/>
            </a:pPr>
            <a:r>
              <a:rPr lang="en-US" sz="4000" b="1" dirty="0">
                <a:solidFill>
                  <a:srgbClr val="1E7A3C"/>
                </a:solidFill>
                <a:latin typeface="Calibri" pitchFamily="34" charset="0"/>
                <a:ea typeface="Calibri" pitchFamily="34" charset="-122"/>
                <a:cs typeface="Calibri" pitchFamily="34" charset="-120"/>
              </a:rPr>
              <a:t>Mar 2027</a:t>
            </a:r>
            <a:endParaRPr lang="en-US" sz="4000" dirty="0"/>
          </a:p>
        </p:txBody>
      </p:sp>
      <p:sp>
        <p:nvSpPr>
          <p:cNvPr id="11" name="Text 9"/>
          <p:cNvSpPr txBox="1"/>
          <p:nvPr/>
        </p:nvSpPr>
        <p:spPr>
          <a:xfrm>
            <a:off x="8065008" y="2606040"/>
            <a:ext cx="3566160" cy="822960"/>
          </a:xfrm>
          <a:prstGeom prst="rect">
            <a:avLst/>
          </a:prstGeom>
          <a:noFill/>
          <a:ln/>
        </p:spPr>
        <p:txBody>
          <a:bodyPr wrap="square" lIns="0" tIns="0" rIns="0" bIns="0" rtlCol="0" anchor="t"/>
          <a:lstStyle/>
          <a:p>
            <a:pPr algn="ctr" indent="0" marL="0">
              <a:buNone/>
            </a:pPr>
            <a:r>
              <a:rPr lang="en-US" sz="1300" dirty="0">
                <a:solidFill>
                  <a:srgbClr val="555E6B"/>
                </a:solidFill>
                <a:latin typeface="Calibri" pitchFamily="34" charset="0"/>
                <a:ea typeface="Calibri" pitchFamily="34" charset="-122"/>
                <a:cs typeface="Calibri" pitchFamily="34" charset="-120"/>
              </a:rPr>
              <a:t>pilot extension already granted by DERC</a:t>
            </a:r>
            <a:endParaRPr lang="en-US" sz="1300" dirty="0"/>
          </a:p>
        </p:txBody>
      </p:sp>
      <p:sp>
        <p:nvSpPr>
          <p:cNvPr id="12" name="Text 10"/>
          <p:cNvSpPr txBox="1"/>
          <p:nvPr/>
        </p:nvSpPr>
        <p:spPr>
          <a:xfrm>
            <a:off x="457200" y="3749040"/>
            <a:ext cx="11274552" cy="1463040"/>
          </a:xfrm>
          <a:prstGeom prst="rect">
            <a:avLst/>
          </a:prstGeom>
          <a:noFill/>
          <a:ln/>
        </p:spPr>
        <p:txBody>
          <a:bodyPr wrap="square" lIns="0" tIns="0" rIns="0" bIns="0" rtlCol="0" anchor="t"/>
          <a:lstStyle/>
          <a:p>
            <a:pPr indent="0" marL="0">
              <a:lnSpc>
                <a:spcPct val="120000"/>
              </a:lnSpc>
              <a:buNone/>
            </a:pPr>
            <a:r>
              <a:rPr lang="en-US" sz="1500" dirty="0">
                <a:solidFill>
                  <a:srgbClr val="1A1A1A"/>
                </a:solidFill>
                <a:latin typeface="Calibri" pitchFamily="34" charset="0"/>
                <a:ea typeface="Calibri" pitchFamily="34" charset="-122"/>
                <a:cs typeface="Calibri" pitchFamily="34" charset="-120"/>
              </a:rPr>
              <a:t>The Ministry of Power runs this, with </a:t>
            </a:r>
            <a:pPr indent="0" marL="0">
              <a:lnSpc>
                <a:spcPct val="120000"/>
              </a:lnSpc>
              <a:buNone/>
            </a:pPr>
            <a:r>
              <a:rPr lang="en-US" sz="1500" b="1" dirty="0">
                <a:solidFill>
                  <a:srgbClr val="1A1A1A"/>
                </a:solidFill>
                <a:latin typeface="Calibri" pitchFamily="34" charset="0"/>
                <a:ea typeface="Calibri" pitchFamily="34" charset="-122"/>
                <a:cs typeface="Calibri" pitchFamily="34" charset="-120"/>
              </a:rPr>
              <a:t>REC Limited as the named nodal agency</a:t>
            </a:r>
            <a:pPr indent="0" marL="0">
              <a:lnSpc>
                <a:spcPct val="120000"/>
              </a:lnSpc>
              <a:buNone/>
            </a:pPr>
            <a:r>
              <a:rPr lang="en-US" sz="1500" dirty="0">
                <a:solidFill>
                  <a:srgbClr val="1A1A1A"/>
                </a:solidFill>
                <a:latin typeface="Calibri" pitchFamily="34" charset="0"/>
                <a:ea typeface="Calibri" pitchFamily="34" charset="-122"/>
                <a:cs typeface="Calibri" pitchFamily="34" charset="-120"/>
              </a:rPr>
              <a:t> and a standing Task Force + Expert Working Group gathering DISCOM input right now. This is a real, governed, open submission window — not an abstraction.</a:t>
            </a:r>
            <a:endParaRPr lang="en-US" sz="1500" dirty="0"/>
          </a:p>
        </p:txBody>
      </p:sp>
      <p:sp>
        <p:nvSpPr>
          <p:cNvPr id="13" name="Text 11"/>
          <p:cNvSpPr txBox="1"/>
          <p:nvPr/>
        </p:nvSpPr>
        <p:spPr>
          <a:xfrm>
            <a:off x="457200" y="6473952"/>
            <a:ext cx="10515600" cy="274320"/>
          </a:xfrm>
          <a:prstGeom prst="rect">
            <a:avLst/>
          </a:prstGeom>
          <a:noFill/>
          <a:ln/>
        </p:spPr>
        <p:txBody>
          <a:bodyPr wrap="square" lIns="0" tIns="0" rIns="0" bIns="0" rtlCol="0" anchor="ctr"/>
          <a:lstStyle/>
          <a:p>
            <a:pPr indent="0" marL="0">
              <a:buNone/>
            </a:pPr>
            <a:r>
              <a:rPr lang="en-US" sz="1000" i="1" dirty="0">
                <a:solidFill>
                  <a:srgbClr val="555E6B"/>
                </a:solidFill>
                <a:latin typeface="Calibri" pitchFamily="34" charset="0"/>
                <a:ea typeface="Calibri" pitchFamily="34" charset="-122"/>
                <a:cs typeface="Calibri" pitchFamily="34" charset="-120"/>
              </a:rPr>
              <a:t>Source: DERC/UPERC regulatory orders via Solar Quarter, Renewable Watch; REC Limited public statements — regulator filings, not vendor marketing</a:t>
            </a:r>
            <a:endParaRPr lang="en-US" sz="1000" dirty="0"/>
          </a:p>
        </p:txBody>
      </p:sp>
      <p:sp>
        <p:nvSpPr>
          <p:cNvPr id="14" name="Text 12"/>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A82A2A"/>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4" name="Text 2"/>
          <p:cNvSpPr txBox="1"/>
          <p:nvPr/>
        </p:nvSpPr>
        <p:spPr>
          <a:xfrm>
            <a:off x="1051560" y="384048"/>
            <a:ext cx="8229600" cy="274320"/>
          </a:xfrm>
          <a:prstGeom prst="rect">
            <a:avLst/>
          </a:prstGeom>
          <a:noFill/>
          <a:ln/>
        </p:spPr>
        <p:txBody>
          <a:bodyPr wrap="square" lIns="0" tIns="0" rIns="0" bIns="0" rtlCol="0" anchor="ctr"/>
          <a:lstStyle/>
          <a:p>
            <a:pPr indent="0" marL="0">
              <a:buNone/>
            </a:pPr>
            <a:r>
              <a:rPr lang="en-US" sz="1200" b="1" spc="100" kern="0" dirty="0">
                <a:solidFill>
                  <a:srgbClr val="A82A2A"/>
                </a:solidFill>
                <a:latin typeface="Calibri" pitchFamily="34" charset="0"/>
                <a:ea typeface="Calibri" pitchFamily="34" charset="-122"/>
                <a:cs typeface="Calibri" pitchFamily="34" charset="-120"/>
              </a:rPr>
              <a:t>THE COMPETITOR ALREADY THERE</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Pulse Energy Already Shipped Three of Our Four Workstreams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4552" cy="3931920"/>
        </p:xfrm>
        <a:graphic>
          <a:graphicData uri="http://schemas.openxmlformats.org/drawingml/2006/table">
            <a:tbl>
              <a:tblPr/>
              <a:tblGrid>
                <a:gridCol w="3017520"/>
                <a:gridCol w="6217920"/>
                <a:gridCol w="2039112"/>
              </a:tblGrid>
              <a:tr h="7863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Our workstream</a:t>
                      </a:r>
                      <a:endParaRPr lang="en-US" sz="12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A1A1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Pulse Energy's status</a:t>
                      </a:r>
                      <a:endParaRPr lang="en-US" sz="12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A1A1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Confidence</a:t>
                      </a:r>
                      <a:endParaRPr lang="en-US" sz="12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A1A1A"/>
                    </a:solidFill>
                  </a:tcPr>
                </a:tc>
              </a:tr>
              <a:tr h="786384">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EV charging / V2G-adjacent</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LIVE — Unified Bharat eCharge, 10,000+ chargers, BHIM UPI payment</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VERIFIED</a:t>
                      </a:r>
                      <a:endParaRPr lang="en-US" sz="12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E7A3C"/>
                    </a:solidFill>
                  </a:tcPr>
                </a:tc>
              </a:tr>
              <a:tr h="786384">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P2P solar trading</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Live per UEI Alliance -- self-described “national scale” (their own promotional claim)</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SELF-REPORTED</a:t>
                      </a:r>
                      <a:endParaRPr lang="en-US" sz="12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B85C0A"/>
                    </a:solidFill>
                  </a:tcPr>
                </a:tc>
              </a:tr>
              <a:tr h="786384">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Demand flexibility / aggregation</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LIVE — named enterprise fleet clients: Uber, Amazon, Delhivery</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VERIFIED</a:t>
                      </a:r>
                      <a:endParaRPr lang="en-US" sz="12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E7A3C"/>
                    </a:solidFill>
                  </a:tcPr>
                </a:tc>
              </a:tr>
              <a:tr h="786384">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V2G (reverse power flow)</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Not active — open ground, nobody has it yet</a:t>
                      </a:r>
                      <a:endParaRPr lang="en-US" sz="13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OPEN</a:t>
                      </a:r>
                      <a:endParaRPr lang="en-US" sz="12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555E6B"/>
                    </a:solidFill>
                  </a:tcPr>
                </a:tc>
              </a:tr>
            </a:tbl>
          </a:graphicData>
        </a:graphic>
      </p:graphicFrame>
      <p:sp>
        <p:nvSpPr>
          <p:cNvPr id="7" name="Text 4"/>
          <p:cNvSpPr txBox="1"/>
          <p:nvPr/>
        </p:nvSpPr>
        <p:spPr>
          <a:xfrm>
            <a:off x="457200" y="5669280"/>
            <a:ext cx="11274552" cy="457200"/>
          </a:xfrm>
          <a:prstGeom prst="rect">
            <a:avLst/>
          </a:prstGeom>
          <a:noFill/>
          <a:ln/>
        </p:spPr>
        <p:txBody>
          <a:bodyPr wrap="square" lIns="0" tIns="0" rIns="0" bIns="0" rtlCol="0" anchor="ctr"/>
          <a:lstStyle/>
          <a:p>
            <a:pPr indent="0" marL="0">
              <a:buNone/>
            </a:pPr>
            <a:r>
              <a:rPr lang="en-US" sz="1300" i="1" dirty="0">
                <a:solidFill>
                  <a:srgbClr val="555E6B"/>
                </a:solidFill>
                <a:latin typeface="Calibri" pitchFamily="34" charset="0"/>
                <a:ea typeface="Calibri" pitchFamily="34" charset="-122"/>
                <a:cs typeface="Calibri" pitchFamily="34" charset="-120"/>
              </a:rPr>
              <a:t>Pulse Energy: Mumbai/Bangalore-based, seed-funded ($2.81M), founded 2020 — not a government body, a competitor.</a:t>
            </a:r>
            <a:endParaRPr lang="en-US" sz="1300" dirty="0"/>
          </a:p>
        </p:txBody>
      </p:sp>
      <p:sp>
        <p:nvSpPr>
          <p:cNvPr id="8" name="Text 5"/>
          <p:cNvSpPr txBox="1"/>
          <p:nvPr/>
        </p:nvSpPr>
        <p:spPr>
          <a:xfrm>
            <a:off x="457200" y="6473952"/>
            <a:ext cx="10515600" cy="274320"/>
          </a:xfrm>
          <a:prstGeom prst="rect">
            <a:avLst/>
          </a:prstGeom>
          <a:noFill/>
          <a:ln/>
        </p:spPr>
        <p:txBody>
          <a:bodyPr wrap="square" lIns="0" tIns="0" rIns="0" bIns="0" rtlCol="0" anchor="ctr"/>
          <a:lstStyle/>
          <a:p>
            <a:pPr indent="0" marL="0">
              <a:buNone/>
            </a:pPr>
            <a:r>
              <a:rPr lang="en-US" sz="1000" i="1" dirty="0">
                <a:solidFill>
                  <a:srgbClr val="555E6B"/>
                </a:solidFill>
                <a:latin typeface="Calibri" pitchFamily="34" charset="0"/>
                <a:ea typeface="Calibri" pitchFamily="34" charset="-122"/>
                <a:cs typeface="Calibri" pitchFamily="34" charset="-120"/>
              </a:rPr>
              <a:t>Source: pulseenergy.io, UEI Alliance, EMobility+/AutoCarPro/Tracxn coverage — multiple independent outlets for charging; single-source promotional claim flagged for P2P</a:t>
            </a:r>
            <a:endParaRPr lang="en-US" sz="1000" dirty="0"/>
          </a:p>
        </p:txBody>
      </p:sp>
      <p:sp>
        <p:nvSpPr>
          <p:cNvPr id="9" name="Text 6"/>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A82A2A"/>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4" name="Text 2"/>
          <p:cNvSpPr txBox="1"/>
          <p:nvPr/>
        </p:nvSpPr>
        <p:spPr>
          <a:xfrm>
            <a:off x="1051560" y="384048"/>
            <a:ext cx="8229600" cy="274320"/>
          </a:xfrm>
          <a:prstGeom prst="rect">
            <a:avLst/>
          </a:prstGeom>
          <a:noFill/>
          <a:ln/>
        </p:spPr>
        <p:txBody>
          <a:bodyPr wrap="square" lIns="0" tIns="0" rIns="0" bIns="0" rtlCol="0" anchor="ctr"/>
          <a:lstStyle/>
          <a:p>
            <a:pPr indent="0" marL="0">
              <a:buNone/>
            </a:pPr>
            <a:r>
              <a:rPr lang="en-US" sz="1200" b="1" spc="100" kern="0" dirty="0">
                <a:solidFill>
                  <a:srgbClr val="A82A2A"/>
                </a:solidFill>
                <a:latin typeface="Calibri" pitchFamily="34" charset="0"/>
                <a:ea typeface="Calibri" pitchFamily="34" charset="-122"/>
                <a:cs typeface="Calibri" pitchFamily="34" charset="-120"/>
              </a:rPr>
              <a:t>VERIFIED GROUND REALITY</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Not One App — At Least Six, Live, Right Now</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6949440" cy="3566160"/>
        </p:xfrm>
        <a:graphic>
          <a:graphicData uri="http://schemas.openxmlformats.org/drawingml/2006/table">
            <a:tbl>
              <a:tblPr/>
              <a:tblGrid>
                <a:gridCol w="3291840"/>
                <a:gridCol w="1463040"/>
                <a:gridCol w="2194560"/>
              </a:tblGrid>
              <a:tr h="44577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Authorized provider</a:t>
                      </a:r>
                      <a:endParaRPr lang="en-US" sz="12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A1A1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A1A1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App</a:t>
                      </a:r>
                      <a:endParaRPr lang="en-US" sz="12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A1A1A"/>
                    </a:solidFill>
                  </a:tcPr>
                </a:tc>
              </a:tr>
              <a:tr h="44577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REConnect Energy</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LIVE</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Google Play</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44577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Pulse Energy</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LIVE</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App Store + Google Play (as “SUPEREV”)</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r>
              <a:tr h="44577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Yellow Haze (YoGrid)</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LIVE</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App Store + Google Play</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44577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Kazam Buzz</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LIVE</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App Store + Google Play</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r>
              <a:tr h="44577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Terra Rex Energy</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LIVE</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Google Play</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44577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PowerXchange Innovations</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LIVE</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App Store + Google Play</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r>
              <a:tr h="445770">
                <a:tc>
                  <a:txBody>
                    <a:bodyPr/>
                    <a:lstStyle/>
                    <a:p>
                      <a:pPr indent="0" marL="0">
                        <a:buNone/>
                      </a:pPr>
                      <a:r>
                        <a:rPr lang="en-US" sz="1250" b="1" dirty="0">
                          <a:solidFill>
                            <a:srgbClr val="1A1A1A"/>
                          </a:solidFill>
                          <a:latin typeface="Calibri" pitchFamily="34" charset="0"/>
                          <a:ea typeface="Calibri" pitchFamily="34" charset="-122"/>
                          <a:cs typeface="Calibri" pitchFamily="34" charset="-120"/>
                        </a:rPr>
                        <a:t>Atria University / Ikiteq Steam-A Labs</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Coming soon</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bl>
          </a:graphicData>
        </a:graphic>
      </p:graphicFrame>
      <p:sp>
        <p:nvSpPr>
          <p:cNvPr id="7" name="Shape 4"/>
          <p:cNvSpPr/>
          <p:nvPr/>
        </p:nvSpPr>
        <p:spPr>
          <a:xfrm>
            <a:off x="7680960" y="1554480"/>
            <a:ext cx="4050792" cy="3566160"/>
          </a:xfrm>
          <a:prstGeom prst="roundRect">
            <a:avLst>
              <a:gd name="adj" fmla="val 2051"/>
            </a:avLst>
          </a:prstGeom>
          <a:solidFill>
            <a:srgbClr val="F5F6F8"/>
          </a:solidFill>
          <a:ln/>
        </p:spPr>
      </p:sp>
      <p:sp>
        <p:nvSpPr>
          <p:cNvPr id="8" name="Text 5"/>
          <p:cNvSpPr txBox="1"/>
          <p:nvPr/>
        </p:nvSpPr>
        <p:spPr>
          <a:xfrm>
            <a:off x="7909560" y="1691640"/>
            <a:ext cx="3566160" cy="3291840"/>
          </a:xfrm>
          <a:prstGeom prst="rect">
            <a:avLst/>
          </a:prstGeom>
          <a:noFill/>
          <a:ln/>
        </p:spPr>
        <p:txBody>
          <a:bodyPr wrap="square" lIns="0" tIns="0" rIns="0" bIns="0" rtlCol="0" anchor="t"/>
          <a:lstStyle/>
          <a:p>
            <a:pPr indent="0" marL="0">
              <a:lnSpc>
                <a:spcPct val="115000"/>
              </a:lnSpc>
              <a:spcAft>
                <a:spcPts val="400"/>
              </a:spcAft>
              <a:buNone/>
            </a:pPr>
            <a:r>
              <a:rPr lang="en-US" sz="1150" b="1" dirty="0">
                <a:solidFill>
                  <a:srgbClr val="1A1A1A"/>
                </a:solidFill>
                <a:latin typeface="Calibri" pitchFamily="34" charset="0"/>
                <a:ea typeface="Calibri" pitchFamily="34" charset="-122"/>
                <a:cs typeface="Calibri" pitchFamily="34" charset="-120"/>
              </a:rPr>
              <a:t>Real registration flow (BRPL's own page):
</a:t>
            </a:r>
            <a:endParaRPr lang="en-US" sz="1150" dirty="0"/>
          </a:p>
          <a:p>
            <a:pPr indent="0" marL="0">
              <a:lnSpc>
                <a:spcPct val="115000"/>
              </a:lnSpc>
              <a:spcAft>
                <a:spcPts val="800"/>
              </a:spcAft>
              <a:buNone/>
            </a:pPr>
            <a:r>
              <a:rPr lang="en-US" sz="1150" dirty="0">
                <a:solidFill>
                  <a:srgbClr val="1A1A1A"/>
                </a:solidFill>
                <a:latin typeface="Calibri" pitchFamily="34" charset="0"/>
                <a:ea typeface="Calibri" pitchFamily="34" charset="-122"/>
                <a:cs typeface="Calibri" pitchFamily="34" charset="-120"/>
              </a:rPr>
              <a:t>1. Register as consumer/prosumer
2. DISCOM verifies your meter
3. Generate a Verifiable Credential at p2p.bsesbrpl.co.in
4. Trade — settles on your own electricity bill
</a:t>
            </a:r>
            <a:endParaRPr lang="en-US" sz="1150" dirty="0"/>
          </a:p>
          <a:p>
            <a:pPr indent="0" marL="0">
              <a:lnSpc>
                <a:spcPct val="115000"/>
              </a:lnSpc>
              <a:buNone/>
            </a:pPr>
            <a:r>
              <a:rPr lang="en-US" sz="1150" b="1" dirty="0">
                <a:solidFill>
                  <a:srgbClr val="1A1A1A"/>
                </a:solidFill>
                <a:latin typeface="Calibri" pitchFamily="34" charset="0"/>
                <a:ea typeface="Calibri" pitchFamily="34" charset="-122"/>
                <a:cs typeface="Calibri" pitchFamily="34" charset="-120"/>
              </a:rPr>
              <a:t>Eligibility gate: </a:t>
            </a:r>
            <a:pPr indent="0" marL="0">
              <a:lnSpc>
                <a:spcPct val="115000"/>
              </a:lnSpc>
              <a:spcAft>
                <a:spcPts val="800"/>
              </a:spcAft>
              <a:buNone/>
            </a:pPr>
            <a:r>
              <a:rPr lang="en-US" sz="1150" dirty="0">
                <a:solidFill>
                  <a:srgbClr val="1A1A1A"/>
                </a:solidFill>
                <a:latin typeface="Calibri" pitchFamily="34" charset="0"/>
                <a:ea typeface="Calibri" pitchFamily="34" charset="-122"/>
                <a:cs typeface="Calibri" pitchFamily="34" charset="-120"/>
              </a:rPr>
              <a:t>must already be a BRPL/TPDDL (Delhi) or PVVNL (UP) consumer with a smart meter installed — not open nationwide.
</a:t>
            </a:r>
            <a:endParaRPr lang="en-US" sz="1150" dirty="0"/>
          </a:p>
          <a:p>
            <a:pPr indent="0" marL="0">
              <a:lnSpc>
                <a:spcPct val="115000"/>
              </a:lnSpc>
              <a:buNone/>
            </a:pPr>
            <a:r>
              <a:rPr lang="en-US" sz="1150" b="1" dirty="0">
                <a:solidFill>
                  <a:srgbClr val="1A1A1A"/>
                </a:solidFill>
                <a:latin typeface="Calibri" pitchFamily="34" charset="0"/>
                <a:ea typeface="Calibri" pitchFamily="34" charset="-122"/>
                <a:cs typeface="Calibri" pitchFamily="34" charset="-120"/>
              </a:rPr>
              <a:t>Real scale today: </a:t>
            </a:r>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TPDDL's own page reports 56 total registered participants (15 prosumers, 41 consumers) — small and early, consistent with a real but young pilot.</a:t>
            </a:r>
            <a:endParaRPr lang="en-US" sz="1150" dirty="0"/>
          </a:p>
        </p:txBody>
      </p:sp>
      <p:sp>
        <p:nvSpPr>
          <p:cNvPr id="9" name="Text 6"/>
          <p:cNvSpPr txBox="1"/>
          <p:nvPr/>
        </p:nvSpPr>
        <p:spPr>
          <a:xfrm>
            <a:off x="457200" y="6473952"/>
            <a:ext cx="10515600" cy="274320"/>
          </a:xfrm>
          <a:prstGeom prst="rect">
            <a:avLst/>
          </a:prstGeom>
          <a:noFill/>
          <a:ln/>
        </p:spPr>
        <p:txBody>
          <a:bodyPr wrap="square" lIns="0" tIns="0" rIns="0" bIns="0" rtlCol="0" anchor="ctr"/>
          <a:lstStyle/>
          <a:p>
            <a:pPr indent="0" marL="0">
              <a:buNone/>
            </a:pPr>
            <a:r>
              <a:rPr lang="en-US" sz="1000" i="1" dirty="0">
                <a:solidFill>
                  <a:srgbClr val="555E6B"/>
                </a:solidFill>
                <a:latin typeface="Calibri" pitchFamily="34" charset="0"/>
                <a:ea typeface="Calibri" pitchFamily="34" charset="-122"/>
                <a:cs typeface="Calibri" pitchFamily="34" charset="-120"/>
              </a:rPr>
              <a:t>Source: bsesdelhi.com/web/brpl/p-to-p-trading and tatapower-ddl.com/solar-rooftop/p-to-p-trading, fetched directly this session</a:t>
            </a:r>
            <a:endParaRPr lang="en-US" sz="1000" dirty="0"/>
          </a:p>
        </p:txBody>
      </p:sp>
      <p:sp>
        <p:nvSpPr>
          <p:cNvPr id="10" name="Text 7"/>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E7A3C"/>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4" name="Text 2"/>
          <p:cNvSpPr txBox="1"/>
          <p:nvPr/>
        </p:nvSpPr>
        <p:spPr>
          <a:xfrm>
            <a:off x="1051560" y="384048"/>
            <a:ext cx="8229600" cy="274320"/>
          </a:xfrm>
          <a:prstGeom prst="rect">
            <a:avLst/>
          </a:prstGeom>
          <a:noFill/>
          <a:ln/>
        </p:spPr>
        <p:txBody>
          <a:bodyPr wrap="square" lIns="0" tIns="0" rIns="0" bIns="0" rtlCol="0" anchor="ctr"/>
          <a:lstStyle/>
          <a:p>
            <a:pPr indent="0" marL="0">
              <a:buNone/>
            </a:pPr>
            <a:r>
              <a:rPr lang="en-US" sz="1200" b="1" spc="100" kern="0" dirty="0">
                <a:solidFill>
                  <a:srgbClr val="1E7A3C"/>
                </a:solidFill>
                <a:latin typeface="Calibri" pitchFamily="34" charset="0"/>
                <a:ea typeface="Calibri" pitchFamily="34" charset="-122"/>
                <a:cs typeface="Calibri" pitchFamily="34" charset="-120"/>
              </a:rPr>
              <a:t>VERIFIED AGAINST LIVE CODE</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Fetched the Canonical Schema Directly — Still Open</a:t>
            </a:r>
            <a:endParaRPr lang="en-US" sz="2800" dirty="0"/>
          </a:p>
        </p:txBody>
      </p:sp>
      <p:sp>
        <p:nvSpPr>
          <p:cNvPr id="6" name="Text 4"/>
          <p:cNvSpPr txBox="1"/>
          <p:nvPr/>
        </p:nvSpPr>
        <p:spPr>
          <a:xfrm>
            <a:off x="457200" y="1645920"/>
            <a:ext cx="11274552" cy="283464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00" dirty="0">
                <a:solidFill>
                  <a:srgbClr val="1A1A1A"/>
                </a:solidFill>
                <a:latin typeface="Calibri" pitchFamily="34" charset="0"/>
                <a:ea typeface="Calibri" pitchFamily="34" charset="-122"/>
                <a:cs typeface="Calibri" pitchFamily="34" charset="-120"/>
              </a:rPr>
              <a:t>No hidden repo: India-Energy-Stack/ies-accelerator (Ministry of Power/REC, 543 commits, last updated 9 days ago) covers identity/credentials; beckn/DEG (FIDE + IEA, 1,411 commits, 61 stars, an active 8-person working group) holds the real trading schemas — both public, both actively committed to</a:t>
            </a:r>
            <a:endParaRPr lang="en-US" sz="1500" dirty="0"/>
          </a:p>
          <a:p>
            <a:pPr marL="342900" indent="-342900">
              <a:lnSpc>
                <a:spcPct val="115000"/>
              </a:lnSpc>
              <a:spcAft>
                <a:spcPts val="1400"/>
              </a:spcAft>
              <a:buSzPct val="100000"/>
              <a:buChar char="•"/>
            </a:pPr>
            <a:r>
              <a:rPr lang="en-US" sz="1500" dirty="0">
                <a:solidFill>
                  <a:srgbClr val="1A1A1A"/>
                </a:solidFill>
                <a:latin typeface="Calibri" pitchFamily="34" charset="0"/>
                <a:ea typeface="Calibri" pitchFamily="34" charset="-122"/>
                <a:cs typeface="Calibri" pitchFamily="34" charset="-120"/>
              </a:rPr>
              <a:t>Pulled EnergyTradeOffer/v2.0 directly from beckn/DEG's live repo this session: no resourceId or resourceType field, no enforced commitmentType — exactly the gap this project's own review flagged</a:t>
            </a:r>
            <a:endParaRPr lang="en-US" sz="1500" dirty="0"/>
          </a:p>
          <a:p>
            <a:pPr marL="342900" indent="-342900">
              <a:lnSpc>
                <a:spcPct val="115000"/>
              </a:lnSpc>
              <a:spcAft>
                <a:spcPts val="1400"/>
              </a:spcAft>
              <a:buSzPct val="100000"/>
              <a:buChar char="•"/>
            </a:pPr>
            <a:r>
              <a:rPr lang="en-US" sz="1500" dirty="0">
                <a:solidFill>
                  <a:srgbClr val="1A1A1A"/>
                </a:solidFill>
                <a:latin typeface="Calibri" pitchFamily="34" charset="0"/>
                <a:ea typeface="Calibri" pitchFamily="34" charset="-122"/>
                <a:cs typeface="Calibri" pitchFamily="34" charset="-120"/>
              </a:rPr>
              <a:t>Why real trades still work anyway: every live pilot (DERC/UPERC) only covers direct-flow solar — nobody has shipped stored-energy trading yet, so the gap is unexercised, not disproven</a:t>
            </a:r>
            <a:endParaRPr lang="en-US" sz="1500" dirty="0"/>
          </a:p>
        </p:txBody>
      </p:sp>
      <p:sp>
        <p:nvSpPr>
          <p:cNvPr id="7" name="Shape 5"/>
          <p:cNvSpPr/>
          <p:nvPr/>
        </p:nvSpPr>
        <p:spPr>
          <a:xfrm>
            <a:off x="457200" y="4663440"/>
            <a:ext cx="11274552" cy="1188720"/>
          </a:xfrm>
          <a:prstGeom prst="roundRect">
            <a:avLst>
              <a:gd name="adj" fmla="val 6154"/>
            </a:avLst>
          </a:prstGeom>
          <a:solidFill>
            <a:srgbClr val="EAF7EE"/>
          </a:solidFill>
          <a:ln w="12700">
            <a:solidFill>
              <a:srgbClr val="1E7A3C"/>
            </a:solidFill>
            <a:prstDash val="solid"/>
          </a:ln>
        </p:spPr>
      </p:sp>
      <p:sp>
        <p:nvSpPr>
          <p:cNvPr id="8" name="Text 6"/>
          <p:cNvSpPr txBox="1"/>
          <p:nvPr/>
        </p:nvSpPr>
        <p:spPr>
          <a:xfrm>
            <a:off x="822960" y="4663440"/>
            <a:ext cx="10543032" cy="1188720"/>
          </a:xfrm>
          <a:prstGeom prst="rect">
            <a:avLst/>
          </a:prstGeom>
          <a:noFill/>
          <a:ln/>
        </p:spPr>
        <p:txBody>
          <a:bodyPr wrap="square" lIns="0" tIns="0" rIns="0" bIns="0" rtlCol="0" anchor="ctr"/>
          <a:lstStyle/>
          <a:p>
            <a:pPr indent="0" marL="0">
              <a:buNone/>
            </a:pPr>
            <a:r>
              <a:rPr lang="en-US" sz="1500" b="1" i="1" dirty="0">
                <a:solidFill>
                  <a:srgbClr val="1A1A1A"/>
                </a:solidFill>
                <a:latin typeface="Calibri" pitchFamily="34" charset="0"/>
                <a:ea typeface="Calibri" pitchFamily="34" charset="-122"/>
                <a:cs typeface="Calibri" pitchFamily="34" charset="-120"/>
              </a:rPr>
              <a:t>This is a genuine, verifiable, still-open contribution — it could be raised as a real issue or PR on beckn/DEG, with an actual working group behind it, instead of sitting in a private fork nobody will ever see.</a:t>
            </a:r>
            <a:endParaRPr lang="en-US" sz="1500" dirty="0"/>
          </a:p>
        </p:txBody>
      </p:sp>
      <p:sp>
        <p:nvSpPr>
          <p:cNvPr id="9" name="Text 7"/>
          <p:cNvSpPr txBox="1"/>
          <p:nvPr/>
        </p:nvSpPr>
        <p:spPr>
          <a:xfrm>
            <a:off x="457200" y="6473952"/>
            <a:ext cx="10515600" cy="274320"/>
          </a:xfrm>
          <a:prstGeom prst="rect">
            <a:avLst/>
          </a:prstGeom>
          <a:noFill/>
          <a:ln/>
        </p:spPr>
        <p:txBody>
          <a:bodyPr wrap="square" lIns="0" tIns="0" rIns="0" bIns="0" rtlCol="0" anchor="ctr"/>
          <a:lstStyle/>
          <a:p>
            <a:pPr indent="0" marL="0">
              <a:buNone/>
            </a:pPr>
            <a:r>
              <a:rPr lang="en-US" sz="1000" i="1" dirty="0">
                <a:solidFill>
                  <a:srgbClr val="555E6B"/>
                </a:solidFill>
                <a:latin typeface="Calibri" pitchFamily="34" charset="0"/>
                <a:ea typeface="Calibri" pitchFamily="34" charset="-122"/>
                <a:cs typeface="Calibri" pitchFamily="34" charset="-120"/>
              </a:rPr>
              <a:t>Source: raw.githubusercontent.com/beckn/DEG/main/specification/schema/EnergyTradeOffer/v2.0/attributes.yaml, fetched and read directly this session</a:t>
            </a:r>
            <a:endParaRPr lang="en-US" sz="1000" dirty="0"/>
          </a:p>
        </p:txBody>
      </p:sp>
      <p:sp>
        <p:nvSpPr>
          <p:cNvPr id="10" name="Text 8"/>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D4ED8"/>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a:t>
            </a:r>
            <a:endParaRPr lang="en-US" sz="2000" dirty="0"/>
          </a:p>
        </p:txBody>
      </p:sp>
      <p:sp>
        <p:nvSpPr>
          <p:cNvPr id="4" name="Text 2"/>
          <p:cNvSpPr txBox="1"/>
          <p:nvPr/>
        </p:nvSpPr>
        <p:spPr>
          <a:xfrm>
            <a:off x="1051560" y="384048"/>
            <a:ext cx="8229600" cy="274320"/>
          </a:xfrm>
          <a:prstGeom prst="rect">
            <a:avLst/>
          </a:prstGeom>
          <a:noFill/>
          <a:ln/>
        </p:spPr>
        <p:txBody>
          <a:bodyPr wrap="square" lIns="0" tIns="0" rIns="0" bIns="0" rtlCol="0" anchor="ctr"/>
          <a:lstStyle/>
          <a:p>
            <a:pPr indent="0" marL="0">
              <a:buNone/>
            </a:pPr>
            <a:r>
              <a:rPr lang="en-US" sz="1200" b="1" spc="100" kern="0" dirty="0">
                <a:solidFill>
                  <a:srgbClr val="1D4ED8"/>
                </a:solidFill>
                <a:latin typeface="Calibri" pitchFamily="34" charset="0"/>
                <a:ea typeface="Calibri" pitchFamily="34" charset="-122"/>
                <a:cs typeface="Calibri" pitchFamily="34" charset="-120"/>
              </a:rPr>
              <a:t>WHAT DOING THIS PROPERLY LOOKS LIKE</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Same Week, a Peer Company Did This Right</a:t>
            </a:r>
            <a:endParaRPr lang="en-US" sz="2800" dirty="0"/>
          </a:p>
        </p:txBody>
      </p:sp>
      <p:sp>
        <p:nvSpPr>
          <p:cNvPr id="6" name="Text 4"/>
          <p:cNvSpPr txBox="1"/>
          <p:nvPr/>
        </p:nvSpPr>
        <p:spPr>
          <a:xfrm>
            <a:off x="457200" y="1691640"/>
            <a:ext cx="3840480" cy="914400"/>
          </a:xfrm>
          <a:prstGeom prst="rect">
            <a:avLst/>
          </a:prstGeom>
          <a:noFill/>
          <a:ln/>
        </p:spPr>
        <p:txBody>
          <a:bodyPr wrap="square" lIns="0" tIns="0" rIns="0" bIns="0" rtlCol="0" anchor="ctr"/>
          <a:lstStyle/>
          <a:p>
            <a:pPr indent="0" marL="0">
              <a:buNone/>
            </a:pPr>
            <a:r>
              <a:rPr lang="en-US" sz="3400" b="1" dirty="0">
                <a:solidFill>
                  <a:srgbClr val="1D4ED8"/>
                </a:solidFill>
                <a:latin typeface="Calibri" pitchFamily="34" charset="0"/>
                <a:ea typeface="Calibri" pitchFamily="34" charset="-122"/>
                <a:cs typeface="Calibri" pitchFamily="34" charset="-120"/>
              </a:rPr>
              <a:t>Sept 30, 2026</a:t>
            </a:r>
            <a:endParaRPr lang="en-US" sz="3400" dirty="0"/>
          </a:p>
        </p:txBody>
      </p:sp>
      <p:sp>
        <p:nvSpPr>
          <p:cNvPr id="7" name="Text 5"/>
          <p:cNvSpPr txBox="1"/>
          <p:nvPr/>
        </p:nvSpPr>
        <p:spPr>
          <a:xfrm>
            <a:off x="457200" y="2514600"/>
            <a:ext cx="3840480" cy="1188720"/>
          </a:xfrm>
          <a:prstGeom prst="rect">
            <a:avLst/>
          </a:prstGeom>
          <a:noFill/>
          <a:ln/>
        </p:spPr>
        <p:txBody>
          <a:bodyPr wrap="square" lIns="0" tIns="0" rIns="0" bIns="0" rtlCol="0" anchor="t"/>
          <a:lstStyle/>
          <a:p>
            <a:pPr indent="0" marL="0">
              <a:buNone/>
            </a:pPr>
            <a:r>
              <a:rPr lang="en-US" sz="1400" dirty="0">
                <a:solidFill>
                  <a:srgbClr val="555E6B"/>
                </a:solidFill>
                <a:latin typeface="Calibri" pitchFamily="34" charset="0"/>
                <a:ea typeface="Calibri" pitchFamily="34" charset="-122"/>
                <a:cs typeface="Calibri" pitchFamily="34" charset="-120"/>
              </a:rPr>
              <a:t>Schneider Electric × Networks for Humanity sign a formal MoU on India's Digital Energy Grid</a:t>
            </a:r>
            <a:endParaRPr lang="en-US" sz="1400" dirty="0"/>
          </a:p>
        </p:txBody>
      </p:sp>
      <p:sp>
        <p:nvSpPr>
          <p:cNvPr id="8" name="Text 6"/>
          <p:cNvSpPr txBox="1"/>
          <p:nvPr/>
        </p:nvSpPr>
        <p:spPr>
          <a:xfrm>
            <a:off x="4663440" y="1691640"/>
            <a:ext cx="6611112" cy="237744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400" dirty="0">
                <a:solidFill>
                  <a:srgbClr val="1A1A1A"/>
                </a:solidFill>
                <a:latin typeface="Calibri" pitchFamily="34" charset="0"/>
                <a:ea typeface="Calibri" pitchFamily="34" charset="-122"/>
                <a:cs typeface="Calibri" pitchFamily="34" charset="-120"/>
              </a:rPr>
              <a:t>Scope: utility energy intelligence, industrial/building demand flexibility, home energy management, EV charging flexibility, carbon accounting — almost exactly our four workstreams' ground</a:t>
            </a:r>
            <a:endParaRPr lang="en-US" sz="1400" dirty="0"/>
          </a:p>
          <a:p>
            <a:pPr marL="342900" indent="-342900">
              <a:lnSpc>
                <a:spcPct val="115000"/>
              </a:lnSpc>
              <a:spcAft>
                <a:spcPts val="1200"/>
              </a:spcAft>
              <a:buSzPct val="100000"/>
              <a:buChar char="•"/>
            </a:pPr>
            <a:r>
              <a:rPr lang="en-US" sz="1400" dirty="0">
                <a:solidFill>
                  <a:srgbClr val="1A1A1A"/>
                </a:solidFill>
                <a:latin typeface="Calibri" pitchFamily="34" charset="0"/>
                <a:ea typeface="Calibri" pitchFamily="34" charset="-122"/>
                <a:cs typeface="Calibri" pitchFamily="34" charset="-120"/>
              </a:rPr>
              <a:t>Named executives on record: Schneider's India MD and NFH's co-founder, both quoted at signing</a:t>
            </a:r>
            <a:endParaRPr lang="en-US" sz="1400" dirty="0"/>
          </a:p>
          <a:p>
            <a:pPr marL="342900" indent="-342900">
              <a:lnSpc>
                <a:spcPct val="115000"/>
              </a:lnSpc>
              <a:spcAft>
                <a:spcPts val="1200"/>
              </a:spcAft>
              <a:buSzPct val="100000"/>
              <a:buChar char="•"/>
            </a:pPr>
            <a:r>
              <a:rPr lang="en-US" sz="1400" dirty="0">
                <a:solidFill>
                  <a:srgbClr val="1A1A1A"/>
                </a:solidFill>
                <a:latin typeface="Calibri" pitchFamily="34" charset="0"/>
                <a:ea typeface="Calibri" pitchFamily="34" charset="-122"/>
                <a:cs typeface="Calibri" pitchFamily="34" charset="-120"/>
              </a:rPr>
              <a:t>A signed partnership, a press release, and presumably a real mandate and budget behind it</a:t>
            </a:r>
            <a:endParaRPr lang="en-US" sz="1400" dirty="0"/>
          </a:p>
        </p:txBody>
      </p:sp>
      <p:sp>
        <p:nvSpPr>
          <p:cNvPr id="9" name="Shape 7"/>
          <p:cNvSpPr/>
          <p:nvPr/>
        </p:nvSpPr>
        <p:spPr>
          <a:xfrm>
            <a:off x="457200" y="4343400"/>
            <a:ext cx="11274552" cy="1371600"/>
          </a:xfrm>
          <a:prstGeom prst="roundRect">
            <a:avLst>
              <a:gd name="adj" fmla="val 5333"/>
            </a:avLst>
          </a:prstGeom>
          <a:solidFill>
            <a:srgbClr val="F5F6F8"/>
          </a:solidFill>
          <a:ln w="9525">
            <a:solidFill>
              <a:srgbClr val="E2E4E8"/>
            </a:solidFill>
            <a:prstDash val="solid"/>
          </a:ln>
        </p:spPr>
      </p:sp>
      <p:sp>
        <p:nvSpPr>
          <p:cNvPr id="10" name="Text 8"/>
          <p:cNvSpPr txBox="1"/>
          <p:nvPr/>
        </p:nvSpPr>
        <p:spPr>
          <a:xfrm>
            <a:off x="822960" y="4343400"/>
            <a:ext cx="10543032" cy="1371600"/>
          </a:xfrm>
          <a:prstGeom prst="rect">
            <a:avLst/>
          </a:prstGeom>
          <a:noFill/>
          <a:ln/>
        </p:spPr>
        <p:txBody>
          <a:bodyPr wrap="square" lIns="0" tIns="0" rIns="0" bIns="0" rtlCol="0" anchor="ctr"/>
          <a:lstStyle/>
          <a:p>
            <a:pPr indent="0" marL="0">
              <a:buNone/>
            </a:pPr>
            <a:r>
              <a:rPr lang="en-US" sz="1600" i="1" dirty="0">
                <a:solidFill>
                  <a:srgbClr val="1A1A1A"/>
                </a:solidFill>
                <a:latin typeface="Calibri" pitchFamily="34" charset="0"/>
                <a:ea typeface="Calibri" pitchFamily="34" charset="-122"/>
                <a:cs typeface="Calibri" pitchFamily="34" charset="-120"/>
              </a:rPr>
              <a:t>We've been doing the same category of work — solo, unsponsored, unannounced — for months. This is the clearest available picture of what a properly backed version of this looks like.</a:t>
            </a:r>
            <a:endParaRPr lang="en-US" sz="1600" dirty="0"/>
          </a:p>
        </p:txBody>
      </p:sp>
      <p:sp>
        <p:nvSpPr>
          <p:cNvPr id="11" name="Text 9"/>
          <p:cNvSpPr txBox="1"/>
          <p:nvPr/>
        </p:nvSpPr>
        <p:spPr>
          <a:xfrm>
            <a:off x="457200" y="6473952"/>
            <a:ext cx="10515600" cy="274320"/>
          </a:xfrm>
          <a:prstGeom prst="rect">
            <a:avLst/>
          </a:prstGeom>
          <a:noFill/>
          <a:ln/>
        </p:spPr>
        <p:txBody>
          <a:bodyPr wrap="square" lIns="0" tIns="0" rIns="0" bIns="0" rtlCol="0" anchor="ctr"/>
          <a:lstStyle/>
          <a:p>
            <a:pPr indent="0" marL="0">
              <a:buNone/>
            </a:pPr>
            <a:r>
              <a:rPr lang="en-US" sz="1000" i="1" dirty="0">
                <a:solidFill>
                  <a:srgbClr val="555E6B"/>
                </a:solidFill>
                <a:latin typeface="Calibri" pitchFamily="34" charset="0"/>
                <a:ea typeface="Calibri" pitchFamily="34" charset="-122"/>
                <a:cs typeface="Calibri" pitchFamily="34" charset="-120"/>
              </a:rPr>
              <a:t>Source: PV Magazine India, Energetica India, Construction World — press release coverage of the Schneider/NFH MoU</a:t>
            </a:r>
            <a:endParaRPr lang="en-US" sz="1000" dirty="0"/>
          </a:p>
        </p:txBody>
      </p:sp>
      <p:sp>
        <p:nvSpPr>
          <p:cNvPr id="12" name="Text 10"/>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0E7A6E"/>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a:t>
            </a:r>
            <a:endParaRPr lang="en-US" sz="2000" dirty="0"/>
          </a:p>
        </p:txBody>
      </p:sp>
      <p:sp>
        <p:nvSpPr>
          <p:cNvPr id="4" name="Text 2"/>
          <p:cNvSpPr txBox="1"/>
          <p:nvPr/>
        </p:nvSpPr>
        <p:spPr>
          <a:xfrm>
            <a:off x="1051560" y="384048"/>
            <a:ext cx="8229600"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REFRAMING VALUE</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The Value Case That Actually Holds — If It's True</a:t>
            </a:r>
            <a:endParaRPr lang="en-US" sz="2800" dirty="0"/>
          </a:p>
        </p:txBody>
      </p:sp>
      <p:sp>
        <p:nvSpPr>
          <p:cNvPr id="6" name="Shape 4"/>
          <p:cNvSpPr/>
          <p:nvPr/>
        </p:nvSpPr>
        <p:spPr>
          <a:xfrm>
            <a:off x="457200" y="1783080"/>
            <a:ext cx="2606040" cy="1188720"/>
          </a:xfrm>
          <a:prstGeom prst="roundRect">
            <a:avLst>
              <a:gd name="adj" fmla="val 4615"/>
            </a:avLst>
          </a:prstGeom>
          <a:solidFill>
            <a:srgbClr val="0E7A6E"/>
          </a:solidFill>
          <a:ln/>
        </p:spPr>
      </p:sp>
      <p:sp>
        <p:nvSpPr>
          <p:cNvPr id="7" name="Text 5"/>
          <p:cNvSpPr txBox="1"/>
          <p:nvPr/>
        </p:nvSpPr>
        <p:spPr>
          <a:xfrm>
            <a:off x="594360" y="1892808"/>
            <a:ext cx="2331720" cy="4572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Devkit / protocol team</a:t>
            </a:r>
            <a:endParaRPr lang="en-US" sz="1300" dirty="0"/>
          </a:p>
        </p:txBody>
      </p:sp>
      <p:sp>
        <p:nvSpPr>
          <p:cNvPr id="8" name="Text 6"/>
          <p:cNvSpPr txBox="1"/>
          <p:nvPr/>
        </p:nvSpPr>
        <p:spPr>
          <a:xfrm>
            <a:off x="594360" y="2313432"/>
            <a:ext cx="2331720" cy="62179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Immediate consumer of our gap-hunting work</a:t>
            </a:r>
            <a:endParaRPr lang="en-US" sz="1050" dirty="0"/>
          </a:p>
        </p:txBody>
      </p:sp>
      <p:sp>
        <p:nvSpPr>
          <p:cNvPr id="9" name="Text 7"/>
          <p:cNvSpPr txBox="1"/>
          <p:nvPr/>
        </p:nvSpPr>
        <p:spPr>
          <a:xfrm>
            <a:off x="3072384" y="2148840"/>
            <a:ext cx="210312" cy="457200"/>
          </a:xfrm>
          <a:prstGeom prst="rect">
            <a:avLst/>
          </a:prstGeom>
          <a:noFill/>
          <a:ln/>
        </p:spPr>
        <p:txBody>
          <a:bodyPr wrap="square" lIns="0" tIns="0" rIns="0" bIns="0" rtlCol="0" anchor="ctr"/>
          <a:lstStyle/>
          <a:p>
            <a:pPr algn="ctr" indent="0" marL="0">
              <a:buNone/>
            </a:pPr>
            <a:r>
              <a:rPr lang="en-US" sz="2000" b="1" dirty="0">
                <a:solidFill>
                  <a:srgbClr val="555E6B"/>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3291840" y="1783080"/>
            <a:ext cx="2606040" cy="1188720"/>
          </a:xfrm>
          <a:prstGeom prst="roundRect">
            <a:avLst>
              <a:gd name="adj" fmla="val 4615"/>
            </a:avLst>
          </a:prstGeom>
          <a:solidFill>
            <a:srgbClr val="F5F6F8"/>
          </a:solidFill>
          <a:ln/>
        </p:spPr>
      </p:sp>
      <p:sp>
        <p:nvSpPr>
          <p:cNvPr id="11" name="Text 9"/>
          <p:cNvSpPr txBox="1"/>
          <p:nvPr/>
        </p:nvSpPr>
        <p:spPr>
          <a:xfrm>
            <a:off x="3429000" y="1892808"/>
            <a:ext cx="2331720" cy="457200"/>
          </a:xfrm>
          <a:prstGeom prst="rect">
            <a:avLst/>
          </a:prstGeom>
          <a:noFill/>
          <a:ln/>
        </p:spPr>
        <p:txBody>
          <a:bodyPr wrap="square" lIns="0" tIns="0" rIns="0" bIns="0"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DISCOM engineering</a:t>
            </a:r>
            <a:endParaRPr lang="en-US" sz="1300" dirty="0"/>
          </a:p>
        </p:txBody>
      </p:sp>
      <p:sp>
        <p:nvSpPr>
          <p:cNvPr id="12" name="Text 10"/>
          <p:cNvSpPr txBox="1"/>
          <p:nvPr/>
        </p:nvSpPr>
        <p:spPr>
          <a:xfrm>
            <a:off x="3429000" y="2313432"/>
            <a:ext cx="2331720" cy="621792"/>
          </a:xfrm>
          <a:prstGeom prst="rect">
            <a:avLst/>
          </a:prstGeom>
          <a:noFill/>
          <a:ln/>
        </p:spPr>
        <p:txBody>
          <a:bodyPr wrap="square" lIns="0" tIns="0" rIns="0" bIns="0" rtlCol="0" anchor="t"/>
          <a:lstStyle/>
          <a:p>
            <a:pPr indent="0" marL="0">
              <a:buNone/>
            </a:pPr>
            <a:r>
              <a:rPr lang="en-US" sz="1050" dirty="0">
                <a:solidFill>
                  <a:srgbClr val="555E6B"/>
                </a:solidFill>
                <a:latin typeface="Calibri" pitchFamily="34" charset="0"/>
                <a:ea typeface="Calibri" pitchFamily="34" charset="-122"/>
                <a:cs typeface="Calibri" pitchFamily="34" charset="-120"/>
              </a:rPr>
              <a:t>Adopts the devkit, inherits whatever we did or didn't fix</a:t>
            </a:r>
            <a:endParaRPr lang="en-US" sz="1050" dirty="0"/>
          </a:p>
        </p:txBody>
      </p:sp>
      <p:sp>
        <p:nvSpPr>
          <p:cNvPr id="13" name="Text 11"/>
          <p:cNvSpPr txBox="1"/>
          <p:nvPr/>
        </p:nvSpPr>
        <p:spPr>
          <a:xfrm>
            <a:off x="5907024" y="2148840"/>
            <a:ext cx="210312" cy="457200"/>
          </a:xfrm>
          <a:prstGeom prst="rect">
            <a:avLst/>
          </a:prstGeom>
          <a:noFill/>
          <a:ln/>
        </p:spPr>
        <p:txBody>
          <a:bodyPr wrap="square" lIns="0" tIns="0" rIns="0" bIns="0" rtlCol="0" anchor="ctr"/>
          <a:lstStyle/>
          <a:p>
            <a:pPr algn="ctr" indent="0" marL="0">
              <a:buNone/>
            </a:pPr>
            <a:r>
              <a:rPr lang="en-US" sz="2000" b="1" dirty="0">
                <a:solidFill>
                  <a:srgbClr val="555E6B"/>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6126480" y="1783080"/>
            <a:ext cx="2606040" cy="1188720"/>
          </a:xfrm>
          <a:prstGeom prst="roundRect">
            <a:avLst>
              <a:gd name="adj" fmla="val 4615"/>
            </a:avLst>
          </a:prstGeom>
          <a:solidFill>
            <a:srgbClr val="F5F6F8"/>
          </a:solidFill>
          <a:ln/>
        </p:spPr>
      </p:sp>
      <p:sp>
        <p:nvSpPr>
          <p:cNvPr id="15" name="Text 13"/>
          <p:cNvSpPr txBox="1"/>
          <p:nvPr/>
        </p:nvSpPr>
        <p:spPr>
          <a:xfrm>
            <a:off x="6263640" y="1892808"/>
            <a:ext cx="2331720" cy="457200"/>
          </a:xfrm>
          <a:prstGeom prst="rect">
            <a:avLst/>
          </a:prstGeom>
          <a:noFill/>
          <a:ln/>
        </p:spPr>
        <p:txBody>
          <a:bodyPr wrap="square" lIns="0" tIns="0" rIns="0" bIns="0"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Regulators (CERC/SERC)</a:t>
            </a:r>
            <a:endParaRPr lang="en-US" sz="1300" dirty="0"/>
          </a:p>
        </p:txBody>
      </p:sp>
      <p:sp>
        <p:nvSpPr>
          <p:cNvPr id="16" name="Text 14"/>
          <p:cNvSpPr txBox="1"/>
          <p:nvPr/>
        </p:nvSpPr>
        <p:spPr>
          <a:xfrm>
            <a:off x="6263640" y="2313432"/>
            <a:ext cx="2331720" cy="621792"/>
          </a:xfrm>
          <a:prstGeom prst="rect">
            <a:avLst/>
          </a:prstGeom>
          <a:noFill/>
          <a:ln/>
        </p:spPr>
        <p:txBody>
          <a:bodyPr wrap="square" lIns="0" tIns="0" rIns="0" bIns="0" rtlCol="0" anchor="t"/>
          <a:lstStyle/>
          <a:p>
            <a:pPr indent="0" marL="0">
              <a:buNone/>
            </a:pPr>
            <a:r>
              <a:rPr lang="en-US" sz="1050" dirty="0">
                <a:solidFill>
                  <a:srgbClr val="555E6B"/>
                </a:solidFill>
                <a:latin typeface="Calibri" pitchFamily="34" charset="0"/>
                <a:ea typeface="Calibri" pitchFamily="34" charset="-122"/>
                <a:cs typeface="Calibri" pitchFamily="34" charset="-120"/>
              </a:rPr>
              <a:t>Must be convinced it's safe before real money moves</a:t>
            </a:r>
            <a:endParaRPr lang="en-US" sz="1050" dirty="0"/>
          </a:p>
        </p:txBody>
      </p:sp>
      <p:sp>
        <p:nvSpPr>
          <p:cNvPr id="17" name="Text 15"/>
          <p:cNvSpPr txBox="1"/>
          <p:nvPr/>
        </p:nvSpPr>
        <p:spPr>
          <a:xfrm>
            <a:off x="8741664" y="2148840"/>
            <a:ext cx="210312" cy="457200"/>
          </a:xfrm>
          <a:prstGeom prst="rect">
            <a:avLst/>
          </a:prstGeom>
          <a:noFill/>
          <a:ln/>
        </p:spPr>
        <p:txBody>
          <a:bodyPr wrap="square" lIns="0" tIns="0" rIns="0" bIns="0" rtlCol="0" anchor="ctr"/>
          <a:lstStyle/>
          <a:p>
            <a:pPr algn="ctr" indent="0" marL="0">
              <a:buNone/>
            </a:pPr>
            <a:r>
              <a:rPr lang="en-US" sz="2000" b="1" dirty="0">
                <a:solidFill>
                  <a:srgbClr val="555E6B"/>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8961120" y="1783080"/>
            <a:ext cx="2606040" cy="1188720"/>
          </a:xfrm>
          <a:prstGeom prst="roundRect">
            <a:avLst>
              <a:gd name="adj" fmla="val 4615"/>
            </a:avLst>
          </a:prstGeom>
          <a:solidFill>
            <a:srgbClr val="F5F6F8"/>
          </a:solidFill>
          <a:ln/>
        </p:spPr>
      </p:sp>
      <p:sp>
        <p:nvSpPr>
          <p:cNvPr id="19" name="Text 17"/>
          <p:cNvSpPr txBox="1"/>
          <p:nvPr/>
        </p:nvSpPr>
        <p:spPr>
          <a:xfrm>
            <a:off x="9098280" y="1892808"/>
            <a:ext cx="2331720" cy="457200"/>
          </a:xfrm>
          <a:prstGeom prst="rect">
            <a:avLst/>
          </a:prstGeom>
          <a:noFill/>
          <a:ln/>
        </p:spPr>
        <p:txBody>
          <a:bodyPr wrap="square" lIns="0" tIns="0" rIns="0" bIns="0" rtlCol="0" anchor="t"/>
          <a:lstStyle/>
          <a:p>
            <a:pPr indent="0" marL="0">
              <a:buNone/>
            </a:pPr>
            <a:r>
              <a:rPr lang="en-US" sz="1300" b="1" dirty="0">
                <a:solidFill>
                  <a:srgbClr val="1A1A1A"/>
                </a:solidFill>
                <a:latin typeface="Calibri" pitchFamily="34" charset="0"/>
                <a:ea typeface="Calibri" pitchFamily="34" charset="-122"/>
                <a:cs typeface="Calibri" pitchFamily="34" charset="-120"/>
              </a:rPr>
              <a:t>Real households</a:t>
            </a:r>
            <a:endParaRPr lang="en-US" sz="1300" dirty="0"/>
          </a:p>
        </p:txBody>
      </p:sp>
      <p:sp>
        <p:nvSpPr>
          <p:cNvPr id="20" name="Text 18"/>
          <p:cNvSpPr txBox="1"/>
          <p:nvPr/>
        </p:nvSpPr>
        <p:spPr>
          <a:xfrm>
            <a:off x="9098280" y="2313432"/>
            <a:ext cx="2331720" cy="621792"/>
          </a:xfrm>
          <a:prstGeom prst="rect">
            <a:avLst/>
          </a:prstGeom>
          <a:noFill/>
          <a:ln/>
        </p:spPr>
        <p:txBody>
          <a:bodyPr wrap="square" lIns="0" tIns="0" rIns="0" bIns="0" rtlCol="0" anchor="t"/>
          <a:lstStyle/>
          <a:p>
            <a:pPr indent="0" marL="0">
              <a:buNone/>
            </a:pPr>
            <a:r>
              <a:rPr lang="en-US" sz="1050" dirty="0">
                <a:solidFill>
                  <a:srgbClr val="555E6B"/>
                </a:solidFill>
                <a:latin typeface="Calibri" pitchFamily="34" charset="0"/>
                <a:ea typeface="Calibri" pitchFamily="34" charset="-122"/>
                <a:cs typeface="Calibri" pitchFamily="34" charset="-120"/>
              </a:rPr>
              <a:t>Final beneficiary — actual money at stake</a:t>
            </a:r>
            <a:endParaRPr lang="en-US" sz="1050" dirty="0"/>
          </a:p>
        </p:txBody>
      </p:sp>
      <p:sp>
        <p:nvSpPr>
          <p:cNvPr id="21" name="Text 19"/>
          <p:cNvSpPr txBox="1"/>
          <p:nvPr/>
        </p:nvSpPr>
        <p:spPr>
          <a:xfrm>
            <a:off x="457200" y="3246120"/>
            <a:ext cx="11274552" cy="685800"/>
          </a:xfrm>
          <a:prstGeom prst="rect">
            <a:avLst/>
          </a:prstGeom>
          <a:noFill/>
          <a:ln/>
        </p:spPr>
        <p:txBody>
          <a:bodyPr wrap="square" lIns="0" tIns="0" rIns="0" bIns="0" rtlCol="0" anchor="t"/>
          <a:lstStyle/>
          <a:p>
            <a:pPr indent="0" marL="0">
              <a:buNone/>
            </a:pPr>
            <a:r>
              <a:rPr lang="en-US" sz="1400" dirty="0">
                <a:solidFill>
                  <a:srgbClr val="1A1A1A"/>
                </a:solidFill>
                <a:latin typeface="Calibri" pitchFamily="34" charset="0"/>
                <a:ea typeface="Calibri" pitchFamily="34" charset="-122"/>
                <a:cs typeface="Calibri" pitchFamily="34" charset="-120"/>
              </a:rPr>
              <a:t>Same pattern as UPI/ONDC: pre-production assurance work on public digital infrastructure, not a single paying customer. That model is legitimate — it's the same one argued in the earlier P2P Foundations review.</a:t>
            </a:r>
            <a:endParaRPr lang="en-US" sz="1400" dirty="0"/>
          </a:p>
        </p:txBody>
      </p:sp>
      <p:sp>
        <p:nvSpPr>
          <p:cNvPr id="22" name="Shape 20"/>
          <p:cNvSpPr/>
          <p:nvPr/>
        </p:nvSpPr>
        <p:spPr>
          <a:xfrm>
            <a:off x="457200" y="4114800"/>
            <a:ext cx="11274552" cy="1737360"/>
          </a:xfrm>
          <a:prstGeom prst="roundRect">
            <a:avLst>
              <a:gd name="adj" fmla="val 4211"/>
            </a:avLst>
          </a:prstGeom>
          <a:solidFill>
            <a:srgbClr val="FDECEC"/>
          </a:solidFill>
          <a:ln w="12700">
            <a:solidFill>
              <a:srgbClr val="A82A2A"/>
            </a:solidFill>
            <a:prstDash val="solid"/>
          </a:ln>
        </p:spPr>
      </p:sp>
      <p:sp>
        <p:nvSpPr>
          <p:cNvPr id="23" name="Text 21"/>
          <p:cNvSpPr txBox="1"/>
          <p:nvPr/>
        </p:nvSpPr>
        <p:spPr>
          <a:xfrm>
            <a:off x="822960" y="4206240"/>
            <a:ext cx="10543032" cy="1554480"/>
          </a:xfrm>
          <a:prstGeom prst="rect">
            <a:avLst/>
          </a:prstGeom>
          <a:noFill/>
          <a:ln/>
        </p:spPr>
        <p:txBody>
          <a:bodyPr wrap="square" lIns="0" tIns="0" rIns="0" bIns="0" rtlCol="0" anchor="t"/>
          <a:lstStyle/>
          <a:p>
            <a:pPr indent="0" marL="0">
              <a:lnSpc>
                <a:spcPct val="120000"/>
              </a:lnSpc>
              <a:buNone/>
            </a:pPr>
            <a:r>
              <a:rPr lang="en-US" sz="1400" b="1" dirty="0">
                <a:solidFill>
                  <a:srgbClr val="A82A2A"/>
                </a:solidFill>
                <a:latin typeface="Calibri" pitchFamily="34" charset="0"/>
                <a:ea typeface="Calibri" pitchFamily="34" charset="-122"/>
                <a:cs typeface="Calibri" pitchFamily="34" charset="-120"/>
              </a:rPr>
              <a:t>The open question this model doesn't answer:
</a:t>
            </a:r>
            <a:endParaRPr lang="en-US" sz="1400" dirty="0"/>
          </a:p>
          <a:p>
            <a:pPr indent="0" marL="0">
              <a:lnSpc>
                <a:spcPct val="120000"/>
              </a:lnSpc>
              <a:buNone/>
            </a:pPr>
            <a:r>
              <a:rPr lang="en-US" sz="1400" dirty="0">
                <a:solidFill>
                  <a:srgbClr val="1A1A1A"/>
                </a:solidFill>
                <a:latin typeface="Calibri" pitchFamily="34" charset="0"/>
                <a:ea typeface="Calibri" pitchFamily="34" charset="-122"/>
                <a:cs typeface="Calibri" pitchFamily="34" charset="-120"/>
              </a:rPr>
              <a:t>Has our 24-gap list actually reached the real Beckn/IES devkit maintainers, or is it sitting in a private fork? Has UC3's proposal reached REC Limited's taskforce, or is it still packaged and unfiled? If the answer to either is “not yet,” the value this model describes hasn't been realized — it's been argued.</a:t>
            </a:r>
            <a:endParaRPr lang="en-US" sz="1400" dirty="0"/>
          </a:p>
        </p:txBody>
      </p:sp>
      <p:sp>
        <p:nvSpPr>
          <p:cNvPr id="24" name="Text 22"/>
          <p:cNvSpPr txBox="1"/>
          <p:nvPr/>
        </p:nvSpPr>
        <p:spPr>
          <a:xfrm>
            <a:off x="457200" y="6473952"/>
            <a:ext cx="10515600" cy="274320"/>
          </a:xfrm>
          <a:prstGeom prst="rect">
            <a:avLst/>
          </a:prstGeom>
          <a:noFill/>
          <a:ln/>
        </p:spPr>
        <p:txBody>
          <a:bodyPr wrap="square" lIns="0" tIns="0" rIns="0" bIns="0" rtlCol="0" anchor="ctr"/>
          <a:lstStyle/>
          <a:p>
            <a:pPr indent="0" marL="0">
              <a:buNone/>
            </a:pPr>
            <a:r>
              <a:rPr lang="en-US" sz="1000" i="1" dirty="0">
                <a:solidFill>
                  <a:srgbClr val="555E6B"/>
                </a:solidFill>
                <a:latin typeface="Calibri" pitchFamily="34" charset="0"/>
                <a:ea typeface="Calibri" pitchFamily="34" charset="-122"/>
                <a:cs typeface="Calibri" pitchFamily="34" charset="-120"/>
              </a:rPr>
              <a:t>Source: Customer-chain model carried forward from P2P-Energy-Trading-Foundations-Light.pptx, §G; gap/filing status from this project's own repos</a:t>
            </a:r>
            <a:endParaRPr lang="en-US" sz="1000" dirty="0"/>
          </a:p>
        </p:txBody>
      </p:sp>
      <p:sp>
        <p:nvSpPr>
          <p:cNvPr id="25" name="Text 23"/>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A82A2A"/>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F</a:t>
            </a:r>
            <a:endParaRPr lang="en-US" sz="2000" dirty="0"/>
          </a:p>
        </p:txBody>
      </p:sp>
      <p:sp>
        <p:nvSpPr>
          <p:cNvPr id="4" name="Text 2"/>
          <p:cNvSpPr txBox="1"/>
          <p:nvPr/>
        </p:nvSpPr>
        <p:spPr>
          <a:xfrm>
            <a:off x="1051560" y="384048"/>
            <a:ext cx="8229600" cy="274320"/>
          </a:xfrm>
          <a:prstGeom prst="rect">
            <a:avLst/>
          </a:prstGeom>
          <a:noFill/>
          <a:ln/>
        </p:spPr>
        <p:txBody>
          <a:bodyPr wrap="square" lIns="0" tIns="0" rIns="0" bIns="0" rtlCol="0" anchor="ctr"/>
          <a:lstStyle/>
          <a:p>
            <a:pPr indent="0" marL="0">
              <a:buNone/>
            </a:pPr>
            <a:r>
              <a:rPr lang="en-US" sz="1200" b="1" spc="100" kern="0" dirty="0">
                <a:solidFill>
                  <a:srgbClr val="A82A2A"/>
                </a:solidFill>
                <a:latin typeface="Calibri" pitchFamily="34" charset="0"/>
                <a:ea typeface="Calibri" pitchFamily="34" charset="-122"/>
                <a:cs typeface="Calibri" pitchFamily="34" charset="-120"/>
              </a:rPr>
              <a:t>THE GOVERNANCE GAP</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The Part That's On Leadership, Not On the Work</a:t>
            </a:r>
            <a:endParaRPr lang="en-US" sz="2800" dirty="0"/>
          </a:p>
        </p:txBody>
      </p:sp>
      <p:sp>
        <p:nvSpPr>
          <p:cNvPr id="6" name="Shape 4"/>
          <p:cNvSpPr/>
          <p:nvPr/>
        </p:nvSpPr>
        <p:spPr>
          <a:xfrm>
            <a:off x="457200" y="1645920"/>
            <a:ext cx="11274552" cy="1417320"/>
          </a:xfrm>
          <a:prstGeom prst="roundRect">
            <a:avLst>
              <a:gd name="adj" fmla="val 5161"/>
            </a:avLst>
          </a:prstGeom>
          <a:solidFill>
            <a:srgbClr val="F5F6F8"/>
          </a:solidFill>
          <a:ln/>
        </p:spPr>
      </p:sp>
      <p:sp>
        <p:nvSpPr>
          <p:cNvPr id="7" name="Text 5"/>
          <p:cNvSpPr txBox="1"/>
          <p:nvPr/>
        </p:nvSpPr>
        <p:spPr>
          <a:xfrm>
            <a:off x="822960" y="1737360"/>
            <a:ext cx="10543032" cy="1280160"/>
          </a:xfrm>
          <a:prstGeom prst="rect">
            <a:avLst/>
          </a:prstGeom>
          <a:noFill/>
          <a:ln/>
        </p:spPr>
        <p:txBody>
          <a:bodyPr wrap="square" lIns="0" tIns="0" rIns="0" bIns="0" rtlCol="0" anchor="ctr"/>
          <a:lstStyle/>
          <a:p>
            <a:pPr indent="0" marL="0">
              <a:spcAft>
                <a:spcPts val="800"/>
              </a:spcAft>
              <a:buNone/>
            </a:pPr>
            <a:r>
              <a:rPr lang="en-US" sz="1800" i="1" dirty="0">
                <a:solidFill>
                  <a:srgbClr val="1A1A1A"/>
                </a:solidFill>
                <a:latin typeface="Calibri" pitchFamily="34" charset="0"/>
                <a:ea typeface="Calibri" pitchFamily="34" charset="-122"/>
                <a:cs typeface="Calibri" pitchFamily="34" charset="-120"/>
              </a:rPr>
              <a:t>“There is no profit for organization and seems a completely open source contribution.”</a:t>
            </a:r>
            <a:endParaRPr lang="en-US" sz="1800" dirty="0"/>
          </a:p>
          <a:p>
            <a:pPr indent="0" marL="0">
              <a:buNone/>
            </a:pPr>
            <a:r>
              <a:rPr lang="en-US" sz="1300" dirty="0">
                <a:solidFill>
                  <a:srgbClr val="555E6B"/>
                </a:solidFill>
                <a:latin typeface="Calibri" pitchFamily="34" charset="0"/>
                <a:ea typeface="Calibri" pitchFamily="34" charset="-122"/>
                <a:cs typeface="Calibri" pitchFamily="34" charset="-120"/>
              </a:rPr>
              <a:t>— the stated reason UC3 was paused once. It was reopened without that objection ever being answered.</a:t>
            </a:r>
            <a:endParaRPr lang="en-US" sz="1800" dirty="0"/>
          </a:p>
        </p:txBody>
      </p:sp>
      <p:sp>
        <p:nvSpPr>
          <p:cNvPr id="8" name="Text 6"/>
          <p:cNvSpPr txBox="1"/>
          <p:nvPr/>
        </p:nvSpPr>
        <p:spPr>
          <a:xfrm>
            <a:off x="457200" y="3429000"/>
            <a:ext cx="11274552" cy="2377440"/>
          </a:xfrm>
          <a:prstGeom prst="rect">
            <a:avLst/>
          </a:prstGeom>
          <a:noFill/>
          <a:ln/>
        </p:spPr>
        <p:txBody>
          <a:bodyPr wrap="square" lIns="0" tIns="0" rIns="0" bIns="0" rtlCol="0" anchor="t"/>
          <a:lstStyle/>
          <a:p>
            <a:pPr marL="342900" indent="-342900">
              <a:lnSpc>
                <a:spcPct val="115000"/>
              </a:lnSpc>
              <a:spcAft>
                <a:spcPts val="1600"/>
              </a:spcAft>
              <a:buSzPct val="100000"/>
              <a:buChar char="•"/>
            </a:pPr>
            <a:r>
              <a:rPr lang="en-US" sz="1600" dirty="0">
                <a:solidFill>
                  <a:srgbClr val="1A1A1A"/>
                </a:solidFill>
                <a:latin typeface="Calibri" pitchFamily="34" charset="0"/>
                <a:ea typeface="Calibri" pitchFamily="34" charset="-122"/>
                <a:cs typeface="Calibri" pitchFamily="34" charset="-120"/>
              </a:rPr>
              <a:t>No named sponsor — no business unit, no P&amp;L owner, nobody who signs off on budget</a:t>
            </a:r>
            <a:endParaRPr lang="en-US" sz="1600" dirty="0"/>
          </a:p>
          <a:p>
            <a:pPr marL="342900" indent="-342900">
              <a:lnSpc>
                <a:spcPct val="115000"/>
              </a:lnSpc>
              <a:spcAft>
                <a:spcPts val="1600"/>
              </a:spcAft>
              <a:buSzPct val="100000"/>
              <a:buChar char="•"/>
            </a:pPr>
            <a:r>
              <a:rPr lang="en-US" sz="1600" dirty="0">
                <a:solidFill>
                  <a:srgbClr val="1A1A1A"/>
                </a:solidFill>
                <a:latin typeface="Calibri" pitchFamily="34" charset="0"/>
                <a:ea typeface="Calibri" pitchFamily="34" charset="-122"/>
                <a:cs typeface="Calibri" pitchFamily="34" charset="-120"/>
              </a:rPr>
              <a:t>No decision gate — nothing was ever scoped to produce a go/no-go, only “keep researching”</a:t>
            </a:r>
            <a:endParaRPr lang="en-US" sz="1600" dirty="0"/>
          </a:p>
          <a:p>
            <a:pPr marL="342900" indent="-342900">
              <a:lnSpc>
                <a:spcPct val="115000"/>
              </a:lnSpc>
              <a:spcAft>
                <a:spcPts val="1600"/>
              </a:spcAft>
              <a:buSzPct val="100000"/>
              <a:buChar char="•"/>
            </a:pPr>
            <a:r>
              <a:rPr lang="en-US" sz="1600" dirty="0">
                <a:solidFill>
                  <a:srgbClr val="1A1A1A"/>
                </a:solidFill>
                <a:latin typeface="Calibri" pitchFamily="34" charset="0"/>
                <a:ea typeface="Calibri" pitchFamily="34" charset="-122"/>
                <a:cs typeface="Calibri" pitchFamily="34" charset="-120"/>
              </a:rPr>
              <a:t>No success metric — no quarter-by-quarter measure, no owner of measuring it</a:t>
            </a:r>
            <a:endParaRPr lang="en-US" sz="1600" dirty="0"/>
          </a:p>
        </p:txBody>
      </p:sp>
      <p:sp>
        <p:nvSpPr>
          <p:cNvPr id="9" name="Text 7"/>
          <p:cNvSpPr txBox="1"/>
          <p:nvPr/>
        </p:nvSpPr>
        <p:spPr>
          <a:xfrm>
            <a:off x="457200" y="6473952"/>
            <a:ext cx="10515600" cy="274320"/>
          </a:xfrm>
          <a:prstGeom prst="rect">
            <a:avLst/>
          </a:prstGeom>
          <a:noFill/>
          <a:ln/>
        </p:spPr>
        <p:txBody>
          <a:bodyPr wrap="square" lIns="0" tIns="0" rIns="0" bIns="0" rtlCol="0" anchor="ctr"/>
          <a:lstStyle/>
          <a:p>
            <a:pPr indent="0" marL="0">
              <a:buNone/>
            </a:pPr>
            <a:r>
              <a:rPr lang="en-US" sz="1000" i="1" dirty="0">
                <a:solidFill>
                  <a:srgbClr val="555E6B"/>
                </a:solidFill>
                <a:latin typeface="Calibri" pitchFamily="34" charset="0"/>
                <a:ea typeface="Calibri" pitchFamily="34" charset="-122"/>
                <a:cs typeface="Calibri" pitchFamily="34" charset="-120"/>
              </a:rPr>
              <a:t>Source: This project's own history and memory log — UC3's pause/reopen decision</a:t>
            </a:r>
            <a:endParaRPr lang="en-US" sz="1000" dirty="0"/>
          </a:p>
        </p:txBody>
      </p:sp>
      <p:sp>
        <p:nvSpPr>
          <p:cNvPr id="10" name="Text 8"/>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E7A3C"/>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G</a:t>
            </a:r>
            <a:endParaRPr lang="en-US" sz="2000" dirty="0"/>
          </a:p>
        </p:txBody>
      </p:sp>
      <p:sp>
        <p:nvSpPr>
          <p:cNvPr id="4" name="Text 2"/>
          <p:cNvSpPr txBox="1"/>
          <p:nvPr/>
        </p:nvSpPr>
        <p:spPr>
          <a:xfrm>
            <a:off x="1051560" y="384048"/>
            <a:ext cx="8229600" cy="274320"/>
          </a:xfrm>
          <a:prstGeom prst="rect">
            <a:avLst/>
          </a:prstGeom>
          <a:noFill/>
          <a:ln/>
        </p:spPr>
        <p:txBody>
          <a:bodyPr wrap="square" lIns="0" tIns="0" rIns="0" bIns="0" rtlCol="0" anchor="ctr"/>
          <a:lstStyle/>
          <a:p>
            <a:pPr indent="0" marL="0">
              <a:buNone/>
            </a:pPr>
            <a:r>
              <a:rPr lang="en-US" sz="1200" b="1" spc="100" kern="0" dirty="0">
                <a:solidFill>
                  <a:srgbClr val="1E7A3C"/>
                </a:solidFill>
                <a:latin typeface="Calibri" pitchFamily="34" charset="0"/>
                <a:ea typeface="Calibri" pitchFamily="34" charset="-122"/>
                <a:cs typeface="Calibri" pitchFamily="34" charset="-120"/>
              </a:rPr>
              <a:t>WHAT'S STILL REAL</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Not Everything Here Gets Thrown Out</a:t>
            </a:r>
            <a:endParaRPr lang="en-US" sz="2800" dirty="0"/>
          </a:p>
        </p:txBody>
      </p:sp>
      <p:sp>
        <p:nvSpPr>
          <p:cNvPr id="6" name="Text 4"/>
          <p:cNvSpPr txBox="1"/>
          <p:nvPr/>
        </p:nvSpPr>
        <p:spPr>
          <a:xfrm>
            <a:off x="457200" y="1645920"/>
            <a:ext cx="2377440" cy="274320"/>
          </a:xfrm>
          <a:prstGeom prst="rect">
            <a:avLst/>
          </a:prstGeom>
          <a:solidFill>
            <a:srgbClr val="1E7A3C"/>
          </a:solid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KEEP</a:t>
            </a:r>
            <a:endParaRPr lang="en-US" sz="1000" dirty="0"/>
          </a:p>
        </p:txBody>
      </p:sp>
      <p:sp>
        <p:nvSpPr>
          <p:cNvPr id="7" name="Text 5"/>
          <p:cNvSpPr txBox="1"/>
          <p:nvPr/>
        </p:nvSpPr>
        <p:spPr>
          <a:xfrm>
            <a:off x="457200" y="2057400"/>
            <a:ext cx="5349240" cy="393192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300" dirty="0">
                <a:solidFill>
                  <a:srgbClr val="1A1A1A"/>
                </a:solidFill>
                <a:latin typeface="Calibri" pitchFamily="34" charset="0"/>
                <a:ea typeface="Calibri" pitchFamily="34" charset="-122"/>
                <a:cs typeface="Calibri" pitchFamily="34" charset="-120"/>
              </a:rPr>
              <a:t>Protocol fluency — real, implementation-level Beckn/onix/IES knowledge, the same expertise Schneider just moved to acquire via MoU</a:t>
            </a:r>
            <a:endParaRPr lang="en-US" sz="1300" dirty="0"/>
          </a:p>
          <a:p>
            <a:pPr marL="342900" indent="-342900">
              <a:lnSpc>
                <a:spcPct val="115000"/>
              </a:lnSpc>
              <a:spcAft>
                <a:spcPts val="1200"/>
              </a:spcAft>
              <a:buSzPct val="100000"/>
              <a:buChar char="•"/>
            </a:pPr>
            <a:r>
              <a:rPr lang="en-US" sz="1300" dirty="0">
                <a:solidFill>
                  <a:srgbClr val="1A1A1A"/>
                </a:solidFill>
                <a:latin typeface="Calibri" pitchFamily="34" charset="0"/>
                <a:ea typeface="Calibri" pitchFamily="34" charset="-122"/>
                <a:cs typeface="Calibri" pitchFamily="34" charset="-120"/>
              </a:rPr>
              <a:t>The 24-gap list, especially the storage/commitmentType schema gap — verified this session directly against the live beckn/DEG v2.0 schema: still open, not fixed anywhere upstream</a:t>
            </a:r>
            <a:endParaRPr lang="en-US" sz="1300" dirty="0"/>
          </a:p>
          <a:p>
            <a:pPr marL="342900" indent="-342900">
              <a:lnSpc>
                <a:spcPct val="115000"/>
              </a:lnSpc>
              <a:spcAft>
                <a:spcPts val="1200"/>
              </a:spcAft>
              <a:buSzPct val="100000"/>
              <a:buChar char="•"/>
            </a:pPr>
            <a:r>
              <a:rPr lang="en-US" sz="1300" dirty="0">
                <a:solidFill>
                  <a:srgbClr val="1A1A1A"/>
                </a:solidFill>
                <a:latin typeface="Calibri" pitchFamily="34" charset="0"/>
                <a:ea typeface="Calibri" pitchFamily="34" charset="-122"/>
                <a:cs typeface="Calibri" pitchFamily="34" charset="-120"/>
              </a:rPr>
              <a:t>UC3's submission window — still open, taskforce still active; nothing here closes it</a:t>
            </a:r>
            <a:endParaRPr lang="en-US" sz="1300" dirty="0"/>
          </a:p>
          <a:p>
            <a:pPr marL="342900" indent="-342900">
              <a:lnSpc>
                <a:spcPct val="115000"/>
              </a:lnSpc>
              <a:spcAft>
                <a:spcPts val="1200"/>
              </a:spcAft>
              <a:buSzPct val="100000"/>
              <a:buChar char="•"/>
            </a:pPr>
            <a:r>
              <a:rPr lang="en-US" sz="1300" dirty="0">
                <a:solidFill>
                  <a:srgbClr val="1A1A1A"/>
                </a:solidFill>
                <a:latin typeface="Calibri" pitchFamily="34" charset="0"/>
                <a:ea typeface="Calibri" pitchFamily="34" charset="-122"/>
                <a:cs typeface="Calibri" pitchFamily="34" charset="-120"/>
              </a:rPr>
              <a:t>V2G — genuinely uncontested ground; no prototype, no competitor, anywhere in India yet</a:t>
            </a:r>
            <a:endParaRPr lang="en-US" sz="1300" dirty="0"/>
          </a:p>
        </p:txBody>
      </p:sp>
      <p:sp>
        <p:nvSpPr>
          <p:cNvPr id="8" name="Text 6"/>
          <p:cNvSpPr txBox="1"/>
          <p:nvPr/>
        </p:nvSpPr>
        <p:spPr>
          <a:xfrm>
            <a:off x="6080760" y="1645920"/>
            <a:ext cx="2377440" cy="274320"/>
          </a:xfrm>
          <a:prstGeom prst="rect">
            <a:avLst/>
          </a:prstGeom>
          <a:solidFill>
            <a:srgbClr val="A82A2A"/>
          </a:solidFill>
          <a:ln/>
        </p:spPr>
        <p:txBody>
          <a:bodyPr wrap="square" lIns="25400" tIns="25400" rIns="25400" bIns="2540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SET DOWN</a:t>
            </a:r>
            <a:endParaRPr lang="en-US" sz="1000" dirty="0"/>
          </a:p>
        </p:txBody>
      </p:sp>
      <p:sp>
        <p:nvSpPr>
          <p:cNvPr id="9" name="Text 7"/>
          <p:cNvSpPr txBox="1"/>
          <p:nvPr/>
        </p:nvSpPr>
        <p:spPr>
          <a:xfrm>
            <a:off x="6080760" y="2057400"/>
            <a:ext cx="5349240" cy="393192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300" dirty="0">
                <a:solidFill>
                  <a:srgbClr val="1A1A1A"/>
                </a:solidFill>
                <a:latin typeface="Calibri" pitchFamily="34" charset="0"/>
                <a:ea typeface="Calibri" pitchFamily="34" charset="-122"/>
                <a:cs typeface="Calibri" pitchFamily="34" charset="-120"/>
              </a:rPr>
              <a:t>Building more P2P-trading or aggregation demo apps as a path to a unique Bosch product — that ground is already taken by a funded, live competitor</a:t>
            </a:r>
            <a:endParaRPr lang="en-US" sz="1300" dirty="0"/>
          </a:p>
          <a:p>
            <a:pPr marL="342900" indent="-342900">
              <a:lnSpc>
                <a:spcPct val="115000"/>
              </a:lnSpc>
              <a:spcAft>
                <a:spcPts val="1200"/>
              </a:spcAft>
              <a:buSzPct val="100000"/>
              <a:buChar char="•"/>
            </a:pPr>
            <a:r>
              <a:rPr lang="en-US" sz="1300" dirty="0">
                <a:solidFill>
                  <a:srgbClr val="1A1A1A"/>
                </a:solidFill>
                <a:latin typeface="Calibri" pitchFamily="34" charset="0"/>
                <a:ea typeface="Calibri" pitchFamily="34" charset="-122"/>
                <a:cs typeface="Calibri" pitchFamily="34" charset="-120"/>
              </a:rPr>
              <a:t>Treating the devkit sandbox as product R&amp;D — the ecosystem itself runs this exact exercise as bootcamp-level onboarding</a:t>
            </a:r>
            <a:endParaRPr lang="en-US" sz="1300" dirty="0"/>
          </a:p>
          <a:p>
            <a:pPr marL="342900" indent="-342900">
              <a:lnSpc>
                <a:spcPct val="115000"/>
              </a:lnSpc>
              <a:spcAft>
                <a:spcPts val="1200"/>
              </a:spcAft>
              <a:buSzPct val="100000"/>
              <a:buChar char="•"/>
            </a:pPr>
            <a:r>
              <a:rPr lang="en-US" sz="1300" dirty="0">
                <a:solidFill>
                  <a:srgbClr val="1A1A1A"/>
                </a:solidFill>
                <a:latin typeface="Calibri" pitchFamily="34" charset="0"/>
                <a:ea typeface="Calibri" pitchFamily="34" charset="-122"/>
                <a:cs typeface="Calibri" pitchFamily="34" charset="-120"/>
              </a:rPr>
              <a:t>Continuing without a sponsor, deadline, or metric — the pattern that's produced this exact meeting before</a:t>
            </a:r>
            <a:endParaRPr lang="en-US" sz="1300" dirty="0"/>
          </a:p>
        </p:txBody>
      </p:sp>
      <p:sp>
        <p:nvSpPr>
          <p:cNvPr id="10" name="Text 8"/>
          <p:cNvSpPr txBox="1"/>
          <p:nvPr/>
        </p:nvSpPr>
        <p:spPr>
          <a:xfrm>
            <a:off x="457200" y="6473952"/>
            <a:ext cx="10515600" cy="274320"/>
          </a:xfrm>
          <a:prstGeom prst="rect">
            <a:avLst/>
          </a:prstGeom>
          <a:noFill/>
          <a:ln/>
        </p:spPr>
        <p:txBody>
          <a:bodyPr wrap="square" lIns="0" tIns="0" rIns="0" bIns="0" rtlCol="0" anchor="ctr"/>
          <a:lstStyle/>
          <a:p>
            <a:pPr indent="0" marL="0">
              <a:buNone/>
            </a:pPr>
            <a:r>
              <a:rPr lang="en-US" sz="1000" i="1" dirty="0">
                <a:solidFill>
                  <a:srgbClr val="555E6B"/>
                </a:solidFill>
                <a:latin typeface="Calibri" pitchFamily="34" charset="0"/>
                <a:ea typeface="Calibri" pitchFamily="34" charset="-122"/>
                <a:cs typeface="Calibri" pitchFamily="34" charset="-120"/>
              </a:rPr>
              <a:t>Source: Synthesis of this deck's sections B through F</a:t>
            </a:r>
            <a:endParaRPr lang="en-US" sz="1000" dirty="0"/>
          </a:p>
        </p:txBody>
      </p:sp>
      <p:sp>
        <p:nvSpPr>
          <p:cNvPr id="11" name="Text 9"/>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D4ED8"/>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H</a:t>
            </a:r>
            <a:endParaRPr lang="en-US" sz="2000" dirty="0"/>
          </a:p>
        </p:txBody>
      </p:sp>
      <p:sp>
        <p:nvSpPr>
          <p:cNvPr id="4" name="Text 2"/>
          <p:cNvSpPr txBox="1"/>
          <p:nvPr/>
        </p:nvSpPr>
        <p:spPr>
          <a:xfrm>
            <a:off x="1051560" y="384048"/>
            <a:ext cx="8229600" cy="274320"/>
          </a:xfrm>
          <a:prstGeom prst="rect">
            <a:avLst/>
          </a:prstGeom>
          <a:noFill/>
          <a:ln/>
        </p:spPr>
        <p:txBody>
          <a:bodyPr wrap="square" lIns="0" tIns="0" rIns="0" bIns="0" rtlCol="0" anchor="ctr"/>
          <a:lstStyle/>
          <a:p>
            <a:pPr indent="0" marL="0">
              <a:buNone/>
            </a:pPr>
            <a:r>
              <a:rPr lang="en-US" sz="1200" b="1" spc="100" kern="0" dirty="0">
                <a:solidFill>
                  <a:srgbClr val="1D4ED8"/>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Four Questions That Need Real Answers Today</a:t>
            </a:r>
            <a:endParaRPr lang="en-US" sz="2800" dirty="0"/>
          </a:p>
        </p:txBody>
      </p:sp>
      <p:sp>
        <p:nvSpPr>
          <p:cNvPr id="6" name="Shape 4"/>
          <p:cNvSpPr/>
          <p:nvPr/>
        </p:nvSpPr>
        <p:spPr>
          <a:xfrm>
            <a:off x="457200" y="1691640"/>
            <a:ext cx="5349240" cy="1600200"/>
          </a:xfrm>
          <a:prstGeom prst="roundRect">
            <a:avLst>
              <a:gd name="adj" fmla="val 4571"/>
            </a:avLst>
          </a:prstGeom>
          <a:solidFill>
            <a:srgbClr val="F5F6F8"/>
          </a:solidFill>
          <a:ln/>
        </p:spPr>
      </p:sp>
      <p:sp>
        <p:nvSpPr>
          <p:cNvPr id="7" name="Text 5"/>
          <p:cNvSpPr txBox="1"/>
          <p:nvPr/>
        </p:nvSpPr>
        <p:spPr>
          <a:xfrm>
            <a:off x="685800" y="1874520"/>
            <a:ext cx="548640" cy="548640"/>
          </a:xfrm>
          <a:prstGeom prst="rect">
            <a:avLst/>
          </a:prstGeom>
          <a:noFill/>
          <a:ln/>
        </p:spPr>
        <p:txBody>
          <a:bodyPr wrap="square" lIns="0" tIns="0" rIns="0" bIns="0" rtlCol="0" anchor="ctr"/>
          <a:lstStyle/>
          <a:p>
            <a:pPr indent="0" marL="0">
              <a:buNone/>
            </a:pPr>
            <a:r>
              <a:rPr lang="en-US" sz="2600" b="1" dirty="0">
                <a:solidFill>
                  <a:srgbClr val="1D4ED8"/>
                </a:solidFill>
                <a:latin typeface="Calibri" pitchFamily="34" charset="0"/>
                <a:ea typeface="Calibri" pitchFamily="34" charset="-122"/>
                <a:cs typeface="Calibri" pitchFamily="34" charset="-120"/>
              </a:rPr>
              <a:t>1</a:t>
            </a:r>
            <a:endParaRPr lang="en-US" sz="2600" dirty="0"/>
          </a:p>
        </p:txBody>
      </p:sp>
      <p:sp>
        <p:nvSpPr>
          <p:cNvPr id="8" name="Text 6"/>
          <p:cNvSpPr txBox="1"/>
          <p:nvPr/>
        </p:nvSpPr>
        <p:spPr>
          <a:xfrm>
            <a:off x="1325880" y="1874520"/>
            <a:ext cx="4251960" cy="1234440"/>
          </a:xfrm>
          <a:prstGeom prst="rect">
            <a:avLst/>
          </a:prstGeom>
          <a:noFill/>
          <a:ln/>
        </p:spPr>
        <p:txBody>
          <a:bodyPr wrap="square" lIns="0" tIns="0" rIns="0" bIns="0" rtlCol="0" anchor="ctr"/>
          <a:lstStyle/>
          <a:p>
            <a:pPr indent="0" marL="0">
              <a:lnSpc>
                <a:spcPct val="110000"/>
              </a:lnSpc>
              <a:buNone/>
            </a:pPr>
            <a:r>
              <a:rPr lang="en-US" sz="1450" dirty="0">
                <a:solidFill>
                  <a:srgbClr val="1A1A1A"/>
                </a:solidFill>
                <a:latin typeface="Calibri" pitchFamily="34" charset="0"/>
                <a:ea typeface="Calibri" pitchFamily="34" charset="-122"/>
                <a:cs typeface="Calibri" pitchFamily="34" charset="-120"/>
              </a:rPr>
              <a:t>Who is the named sponsor — which business unit, which P&amp;L, who signs off on budget?</a:t>
            </a:r>
            <a:endParaRPr lang="en-US" sz="1450" dirty="0"/>
          </a:p>
        </p:txBody>
      </p:sp>
      <p:sp>
        <p:nvSpPr>
          <p:cNvPr id="9" name="Shape 7"/>
          <p:cNvSpPr/>
          <p:nvPr/>
        </p:nvSpPr>
        <p:spPr>
          <a:xfrm>
            <a:off x="6080760" y="1691640"/>
            <a:ext cx="5349240" cy="1600200"/>
          </a:xfrm>
          <a:prstGeom prst="roundRect">
            <a:avLst>
              <a:gd name="adj" fmla="val 4571"/>
            </a:avLst>
          </a:prstGeom>
          <a:solidFill>
            <a:srgbClr val="F5F6F8"/>
          </a:solidFill>
          <a:ln/>
        </p:spPr>
      </p:sp>
      <p:sp>
        <p:nvSpPr>
          <p:cNvPr id="10" name="Text 8"/>
          <p:cNvSpPr txBox="1"/>
          <p:nvPr/>
        </p:nvSpPr>
        <p:spPr>
          <a:xfrm>
            <a:off x="6309360" y="1874520"/>
            <a:ext cx="548640" cy="548640"/>
          </a:xfrm>
          <a:prstGeom prst="rect">
            <a:avLst/>
          </a:prstGeom>
          <a:noFill/>
          <a:ln/>
        </p:spPr>
        <p:txBody>
          <a:bodyPr wrap="square" lIns="0" tIns="0" rIns="0" bIns="0" rtlCol="0" anchor="ctr"/>
          <a:lstStyle/>
          <a:p>
            <a:pPr indent="0" marL="0">
              <a:buNone/>
            </a:pPr>
            <a:r>
              <a:rPr lang="en-US" sz="2600" b="1" dirty="0">
                <a:solidFill>
                  <a:srgbClr val="1D4ED8"/>
                </a:solidFill>
                <a:latin typeface="Calibri" pitchFamily="34" charset="0"/>
                <a:ea typeface="Calibri" pitchFamily="34" charset="-122"/>
                <a:cs typeface="Calibri" pitchFamily="34" charset="-120"/>
              </a:rPr>
              <a:t>2</a:t>
            </a:r>
            <a:endParaRPr lang="en-US" sz="2600" dirty="0"/>
          </a:p>
        </p:txBody>
      </p:sp>
      <p:sp>
        <p:nvSpPr>
          <p:cNvPr id="11" name="Text 9"/>
          <p:cNvSpPr txBox="1"/>
          <p:nvPr/>
        </p:nvSpPr>
        <p:spPr>
          <a:xfrm>
            <a:off x="6949440" y="1874520"/>
            <a:ext cx="4251960" cy="1234440"/>
          </a:xfrm>
          <a:prstGeom prst="rect">
            <a:avLst/>
          </a:prstGeom>
          <a:noFill/>
          <a:ln/>
        </p:spPr>
        <p:txBody>
          <a:bodyPr wrap="square" lIns="0" tIns="0" rIns="0" bIns="0" rtlCol="0" anchor="ctr"/>
          <a:lstStyle/>
          <a:p>
            <a:pPr indent="0" marL="0">
              <a:lnSpc>
                <a:spcPct val="110000"/>
              </a:lnSpc>
              <a:buNone/>
            </a:pPr>
            <a:r>
              <a:rPr lang="en-US" sz="1450" dirty="0">
                <a:solidFill>
                  <a:srgbClr val="1A1A1A"/>
                </a:solidFill>
                <a:latin typeface="Calibri" pitchFamily="34" charset="0"/>
                <a:ea typeface="Calibri" pitchFamily="34" charset="-122"/>
                <a:cs typeface="Calibri" pitchFamily="34" charset="-120"/>
              </a:rPr>
              <a:t>What decision does this work feed, and by when — not “keep researching,” an actual go/no-go?</a:t>
            </a:r>
            <a:endParaRPr lang="en-US" sz="1450" dirty="0"/>
          </a:p>
        </p:txBody>
      </p:sp>
      <p:sp>
        <p:nvSpPr>
          <p:cNvPr id="12" name="Shape 10"/>
          <p:cNvSpPr/>
          <p:nvPr/>
        </p:nvSpPr>
        <p:spPr>
          <a:xfrm>
            <a:off x="457200" y="3566160"/>
            <a:ext cx="5349240" cy="1600200"/>
          </a:xfrm>
          <a:prstGeom prst="roundRect">
            <a:avLst>
              <a:gd name="adj" fmla="val 4571"/>
            </a:avLst>
          </a:prstGeom>
          <a:solidFill>
            <a:srgbClr val="F5F6F8"/>
          </a:solidFill>
          <a:ln/>
        </p:spPr>
      </p:sp>
      <p:sp>
        <p:nvSpPr>
          <p:cNvPr id="13" name="Text 11"/>
          <p:cNvSpPr txBox="1"/>
          <p:nvPr/>
        </p:nvSpPr>
        <p:spPr>
          <a:xfrm>
            <a:off x="685800" y="3749040"/>
            <a:ext cx="548640" cy="548640"/>
          </a:xfrm>
          <a:prstGeom prst="rect">
            <a:avLst/>
          </a:prstGeom>
          <a:noFill/>
          <a:ln/>
        </p:spPr>
        <p:txBody>
          <a:bodyPr wrap="square" lIns="0" tIns="0" rIns="0" bIns="0" rtlCol="0" anchor="ctr"/>
          <a:lstStyle/>
          <a:p>
            <a:pPr indent="0" marL="0">
              <a:buNone/>
            </a:pPr>
            <a:r>
              <a:rPr lang="en-US" sz="2600" b="1" dirty="0">
                <a:solidFill>
                  <a:srgbClr val="1D4ED8"/>
                </a:solidFill>
                <a:latin typeface="Calibri" pitchFamily="34" charset="0"/>
                <a:ea typeface="Calibri" pitchFamily="34" charset="-122"/>
                <a:cs typeface="Calibri" pitchFamily="34" charset="-120"/>
              </a:rPr>
              <a:t>3</a:t>
            </a:r>
            <a:endParaRPr lang="en-US" sz="2600" dirty="0"/>
          </a:p>
        </p:txBody>
      </p:sp>
      <p:sp>
        <p:nvSpPr>
          <p:cNvPr id="14" name="Text 12"/>
          <p:cNvSpPr txBox="1"/>
          <p:nvPr/>
        </p:nvSpPr>
        <p:spPr>
          <a:xfrm>
            <a:off x="1325880" y="3749040"/>
            <a:ext cx="4251960" cy="1234440"/>
          </a:xfrm>
          <a:prstGeom prst="rect">
            <a:avLst/>
          </a:prstGeom>
          <a:noFill/>
          <a:ln/>
        </p:spPr>
        <p:txBody>
          <a:bodyPr wrap="square" lIns="0" tIns="0" rIns="0" bIns="0" rtlCol="0" anchor="ctr"/>
          <a:lstStyle/>
          <a:p>
            <a:pPr indent="0" marL="0">
              <a:lnSpc>
                <a:spcPct val="110000"/>
              </a:lnSpc>
              <a:buNone/>
            </a:pPr>
            <a:r>
              <a:rPr lang="en-US" sz="1450" dirty="0">
                <a:solidFill>
                  <a:srgbClr val="1A1A1A"/>
                </a:solidFill>
                <a:latin typeface="Calibri" pitchFamily="34" charset="0"/>
                <a:ea typeface="Calibri" pitchFamily="34" charset="-122"/>
                <a:cs typeface="Calibri" pitchFamily="34" charset="-120"/>
              </a:rPr>
              <a:t>The “no profit, pure open source” objection — was it wrong, or did reopening UC3 just never address it?</a:t>
            </a:r>
            <a:endParaRPr lang="en-US" sz="1450" dirty="0"/>
          </a:p>
        </p:txBody>
      </p:sp>
      <p:sp>
        <p:nvSpPr>
          <p:cNvPr id="15" name="Shape 13"/>
          <p:cNvSpPr/>
          <p:nvPr/>
        </p:nvSpPr>
        <p:spPr>
          <a:xfrm>
            <a:off x="6080760" y="3566160"/>
            <a:ext cx="5349240" cy="1600200"/>
          </a:xfrm>
          <a:prstGeom prst="roundRect">
            <a:avLst>
              <a:gd name="adj" fmla="val 4571"/>
            </a:avLst>
          </a:prstGeom>
          <a:solidFill>
            <a:srgbClr val="F5F6F8"/>
          </a:solidFill>
          <a:ln/>
        </p:spPr>
      </p:sp>
      <p:sp>
        <p:nvSpPr>
          <p:cNvPr id="16" name="Text 14"/>
          <p:cNvSpPr txBox="1"/>
          <p:nvPr/>
        </p:nvSpPr>
        <p:spPr>
          <a:xfrm>
            <a:off x="6309360" y="3749040"/>
            <a:ext cx="548640" cy="548640"/>
          </a:xfrm>
          <a:prstGeom prst="rect">
            <a:avLst/>
          </a:prstGeom>
          <a:noFill/>
          <a:ln/>
        </p:spPr>
        <p:txBody>
          <a:bodyPr wrap="square" lIns="0" tIns="0" rIns="0" bIns="0" rtlCol="0" anchor="ctr"/>
          <a:lstStyle/>
          <a:p>
            <a:pPr indent="0" marL="0">
              <a:buNone/>
            </a:pPr>
            <a:r>
              <a:rPr lang="en-US" sz="2600" b="1" dirty="0">
                <a:solidFill>
                  <a:srgbClr val="1D4ED8"/>
                </a:solidFill>
                <a:latin typeface="Calibri" pitchFamily="34" charset="0"/>
                <a:ea typeface="Calibri" pitchFamily="34" charset="-122"/>
                <a:cs typeface="Calibri" pitchFamily="34" charset="-120"/>
              </a:rPr>
              <a:t>4</a:t>
            </a:r>
            <a:endParaRPr lang="en-US" sz="2600" dirty="0"/>
          </a:p>
        </p:txBody>
      </p:sp>
      <p:sp>
        <p:nvSpPr>
          <p:cNvPr id="17" name="Text 15"/>
          <p:cNvSpPr txBox="1"/>
          <p:nvPr/>
        </p:nvSpPr>
        <p:spPr>
          <a:xfrm>
            <a:off x="6949440" y="3749040"/>
            <a:ext cx="4251960" cy="1234440"/>
          </a:xfrm>
          <a:prstGeom prst="rect">
            <a:avLst/>
          </a:prstGeom>
          <a:noFill/>
          <a:ln/>
        </p:spPr>
        <p:txBody>
          <a:bodyPr wrap="square" lIns="0" tIns="0" rIns="0" bIns="0" rtlCol="0" anchor="ctr"/>
          <a:lstStyle/>
          <a:p>
            <a:pPr indent="0" marL="0">
              <a:lnSpc>
                <a:spcPct val="110000"/>
              </a:lnSpc>
              <a:buNone/>
            </a:pPr>
            <a:r>
              <a:rPr lang="en-US" sz="1450" dirty="0">
                <a:solidFill>
                  <a:srgbClr val="1A1A1A"/>
                </a:solidFill>
                <a:latin typeface="Calibri" pitchFamily="34" charset="0"/>
                <a:ea typeface="Calibri" pitchFamily="34" charset="-122"/>
                <a:cs typeface="Calibri" pitchFamily="34" charset="-120"/>
              </a:rPr>
              <a:t>What's the success metric for next quarter, and who owns measuring it?</a:t>
            </a:r>
            <a:endParaRPr lang="en-US" sz="1450" dirty="0"/>
          </a:p>
        </p:txBody>
      </p:sp>
      <p:sp>
        <p:nvSpPr>
          <p:cNvPr id="18" name="Text 16"/>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0E7A6E"/>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I</a:t>
            </a:r>
            <a:endParaRPr lang="en-US" sz="2000" dirty="0"/>
          </a:p>
        </p:txBody>
      </p:sp>
      <p:sp>
        <p:nvSpPr>
          <p:cNvPr id="4" name="Text 2"/>
          <p:cNvSpPr txBox="1"/>
          <p:nvPr/>
        </p:nvSpPr>
        <p:spPr>
          <a:xfrm>
            <a:off x="1051560" y="384048"/>
            <a:ext cx="8229600" cy="274320"/>
          </a:xfrm>
          <a:prstGeom prst="rect">
            <a:avLst/>
          </a:prstGeom>
          <a:noFill/>
          <a:ln/>
        </p:spPr>
        <p:txBody>
          <a:bodyPr wrap="square" lIns="0" tIns="0" rIns="0" bIns="0" rtlCol="0" anchor="ctr"/>
          <a:lstStyle/>
          <a:p>
            <a:pPr indent="0" marL="0">
              <a:buNone/>
            </a:pPr>
            <a:r>
              <a:rPr lang="en-US" sz="1200" b="1" spc="100" kern="0" dirty="0">
                <a:solidFill>
                  <a:srgbClr val="0E7A6E"/>
                </a:solidFill>
                <a:latin typeface="Calibri" pitchFamily="34" charset="0"/>
                <a:ea typeface="Calibri" pitchFamily="34" charset="-122"/>
                <a:cs typeface="Calibri" pitchFamily="34" charset="-120"/>
              </a:rPr>
              <a:t>THE DECISION</a:t>
            </a:r>
            <a:endParaRPr lang="en-US" sz="1200" dirty="0"/>
          </a:p>
        </p:txBody>
      </p:sp>
      <p:sp>
        <p:nvSpPr>
          <p:cNvPr id="5" name="Text 3"/>
          <p:cNvSpPr txBox="1"/>
          <p:nvPr/>
        </p:nvSpPr>
        <p:spPr>
          <a:xfrm>
            <a:off x="457200" y="713232"/>
            <a:ext cx="11274552" cy="640080"/>
          </a:xfrm>
          <a:prstGeom prst="rect">
            <a:avLst/>
          </a:prstGeom>
          <a:noFill/>
          <a:ln/>
        </p:spPr>
        <p:txBody>
          <a:bodyPr wrap="square" lIns="0" tIns="0" rIns="0" bIns="0" rtlCol="0" anchor="t"/>
          <a:lstStyle/>
          <a:p>
            <a:pPr indent="0" marL="0">
              <a:buNone/>
            </a:pPr>
            <a:r>
              <a:rPr lang="en-US" sz="2800" b="1" dirty="0">
                <a:solidFill>
                  <a:srgbClr val="1A1A1A"/>
                </a:solidFill>
                <a:latin typeface="Calibri" pitchFamily="34" charset="0"/>
                <a:ea typeface="Calibri" pitchFamily="34" charset="-122"/>
                <a:cs typeface="Calibri" pitchFamily="34" charset="-120"/>
              </a:rPr>
              <a:t>What Leadership Can Actually Decide Today</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4206240"/>
        </p:xfrm>
        <a:graphic>
          <a:graphicData uri="http://schemas.openxmlformats.org/drawingml/2006/table">
            <a:tbl>
              <a:tblPr/>
              <a:tblGrid>
                <a:gridCol w="4206240"/>
                <a:gridCol w="7068312"/>
              </a:tblGrid>
              <a:tr h="8412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Option</a:t>
                      </a:r>
                      <a:endParaRPr lang="en-US" sz="12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A1A1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means</a:t>
                      </a:r>
                      <a:endParaRPr lang="en-US" sz="12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1A1A1A"/>
                    </a:solidFill>
                  </a:tcPr>
                </a:tc>
              </a:tr>
              <a:tr h="841248">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A — Sponsor properly, pick defensible ground</a:t>
                      </a:r>
                      <a:endParaRPr lang="en-US" sz="14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Formal mandate + budget, aimed at V2G / industrial flexibility (uncontested) plus the confirmed-still-open BESS/commitmentType schema gap — mirrors Schneider's MoU move</a:t>
                      </a:r>
                      <a:endParaRPr lang="en-US" sz="14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841248">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B — File the UC3 submission now</a:t>
                      </a:r>
                      <a:endParaRPr lang="en-US" sz="14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The window's open and the taskforce is active — the honest move is to file, not let it sit unfiled again</a:t>
                      </a:r>
                      <a:endParaRPr lang="en-US" sz="14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r>
              <a:tr h="841248">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C — Wind down solo P2P/aggregation build</a:t>
                      </a:r>
                      <a:endParaRPr lang="en-US" sz="14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That ground is already taken by a funded, live competitor — more demo-building there is low-value from here</a:t>
                      </a:r>
                      <a:endParaRPr lang="en-US" sz="14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FFFFF"/>
                    </a:solidFill>
                  </a:tcPr>
                </a:tc>
              </a:tr>
              <a:tr h="841248">
                <a:tc>
                  <a:txBody>
                    <a:bodyPr/>
                    <a:lstStyle/>
                    <a:p>
                      <a:pPr indent="0" marL="0">
                        <a:buNone/>
                      </a:pPr>
                      <a:r>
                        <a:rPr lang="en-US" sz="1400" b="1" dirty="0">
                          <a:solidFill>
                            <a:srgbClr val="1A1A1A"/>
                          </a:solidFill>
                          <a:latin typeface="Calibri" pitchFamily="34" charset="0"/>
                          <a:ea typeface="Calibri" pitchFamily="34" charset="-122"/>
                          <a:cs typeface="Calibri" pitchFamily="34" charset="-120"/>
                        </a:rPr>
                        <a:t>D — Do nothing</a:t>
                      </a:r>
                      <a:endParaRPr lang="en-US" sz="14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Still a decision — name it as one, with its cost, rather than letting it happen by default</a:t>
                      </a:r>
                      <a:endParaRPr lang="en-US" sz="1400" dirty="0">
                        <a:latin typeface="Calibri" charset="0"/>
                        <a:ea typeface="Calibri" charset="0"/>
                        <a:cs typeface="Calibri" charset="0"/>
                      </a:endParaRPr>
                    </a:p>
                  </a:txBody>
                  <a:tcPr marL="91440" marR="91440" marT="45720" marB="45720" anchor="ctr">
                    <a:lnL w="9525" cap="flat" cmpd="sng" algn="ctr">
                      <a:solidFill>
                        <a:srgbClr val="E2E4E8"/>
                      </a:solidFill>
                      <a:prstDash val="solid"/>
                      <a:round/>
                      <a:headEnd type="none" w="med" len="med"/>
                      <a:tailEnd type="none" w="med" len="med"/>
                    </a:lnL>
                    <a:lnR w="9525" cap="flat" cmpd="sng" algn="ctr">
                      <a:solidFill>
                        <a:srgbClr val="E2E4E8"/>
                      </a:solidFill>
                      <a:prstDash val="solid"/>
                      <a:round/>
                      <a:headEnd type="none" w="med" len="med"/>
                      <a:tailEnd type="none" w="med" len="med"/>
                    </a:lnR>
                    <a:lnT w="9525" cap="flat" cmpd="sng" algn="ctr">
                      <a:solidFill>
                        <a:srgbClr val="E2E4E8"/>
                      </a:solidFill>
                      <a:prstDash val="solid"/>
                      <a:round/>
                      <a:headEnd type="none" w="med" len="med"/>
                      <a:tailEnd type="none" w="med" len="med"/>
                    </a:lnT>
                    <a:lnB w="9525" cap="flat" cmpd="sng" algn="ctr">
                      <a:solidFill>
                        <a:srgbClr val="E2E4E8"/>
                      </a:solidFill>
                      <a:prstDash val="solid"/>
                      <a:round/>
                      <a:headEnd type="none" w="med" len="med"/>
                      <a:tailEnd type="none" w="med" len="med"/>
                    </a:lnB>
                    <a:solidFill>
                      <a:srgbClr val="F5F6F8"/>
                    </a:solidFill>
                  </a:tcPr>
                </a:tc>
              </a:tr>
            </a:tbl>
          </a:graphicData>
        </a:graphic>
      </p:graphicFrame>
      <p:sp>
        <p:nvSpPr>
          <p:cNvPr id="7" name="Text 4"/>
          <p:cNvSpPr txBox="1"/>
          <p:nvPr/>
        </p:nvSpPr>
        <p:spPr>
          <a:xfrm>
            <a:off x="457200" y="6473952"/>
            <a:ext cx="10515600" cy="274320"/>
          </a:xfrm>
          <a:prstGeom prst="rect">
            <a:avLst/>
          </a:prstGeom>
          <a:noFill/>
          <a:ln/>
        </p:spPr>
        <p:txBody>
          <a:bodyPr wrap="square" lIns="0" tIns="0" rIns="0" bIns="0" rtlCol="0" anchor="ctr"/>
          <a:lstStyle/>
          <a:p>
            <a:pPr indent="0" marL="0">
              <a:buNone/>
            </a:pPr>
            <a:r>
              <a:rPr lang="en-US" sz="1000" i="1" dirty="0">
                <a:solidFill>
                  <a:srgbClr val="555E6B"/>
                </a:solidFill>
                <a:latin typeface="Calibri" pitchFamily="34" charset="0"/>
                <a:ea typeface="Calibri" pitchFamily="34" charset="-122"/>
                <a:cs typeface="Calibri" pitchFamily="34" charset="-120"/>
              </a:rPr>
              <a:t>Source: Synthesis of this deck, sections C, D, F, G</a:t>
            </a:r>
            <a:endParaRPr lang="en-US" sz="1000" dirty="0"/>
          </a:p>
        </p:txBody>
      </p:sp>
      <p:sp>
        <p:nvSpPr>
          <p:cNvPr id="8" name="Text 5"/>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4400" y="1828800"/>
            <a:ext cx="10360152" cy="365760"/>
          </a:xfrm>
          <a:prstGeom prst="rect">
            <a:avLst/>
          </a:prstGeom>
          <a:noFill/>
          <a:ln/>
        </p:spPr>
        <p:txBody>
          <a:bodyPr wrap="square" lIns="0" tIns="0" rIns="0" bIns="0" rtlCol="0" anchor="ctr"/>
          <a:lstStyle/>
          <a:p>
            <a:pPr algn="ctr" indent="0" marL="0">
              <a:buNone/>
            </a:pPr>
            <a:r>
              <a:rPr lang="en-US" sz="1400" b="1" spc="200" kern="0" dirty="0">
                <a:solidFill>
                  <a:srgbClr val="1D4ED8"/>
                </a:solidFill>
                <a:latin typeface="Calibri" pitchFamily="34" charset="0"/>
                <a:ea typeface="Calibri" pitchFamily="34" charset="-122"/>
                <a:cs typeface="Calibri" pitchFamily="34" charset="-120"/>
              </a:rPr>
              <a:t>NEXT STEPS</a:t>
            </a:r>
            <a:endParaRPr lang="en-US" sz="1400" dirty="0"/>
          </a:p>
        </p:txBody>
      </p:sp>
      <p:sp>
        <p:nvSpPr>
          <p:cNvPr id="3" name="Text 1"/>
          <p:cNvSpPr txBox="1"/>
          <p:nvPr/>
        </p:nvSpPr>
        <p:spPr>
          <a:xfrm>
            <a:off x="914400" y="2240280"/>
            <a:ext cx="10360152" cy="1005840"/>
          </a:xfrm>
          <a:prstGeom prst="rect">
            <a:avLst/>
          </a:prstGeom>
          <a:noFill/>
          <a:ln/>
        </p:spPr>
        <p:txBody>
          <a:bodyPr wrap="square" lIns="0" tIns="0" rIns="0" bIns="0" rtlCol="0" anchor="ctr"/>
          <a:lstStyle/>
          <a:p>
            <a:pPr algn="ctr" indent="0" marL="0">
              <a:buNone/>
            </a:pPr>
            <a:r>
              <a:rPr lang="en-US" sz="3200" b="1" dirty="0">
                <a:solidFill>
                  <a:srgbClr val="1A1A1A"/>
                </a:solidFill>
                <a:latin typeface="Calibri" pitchFamily="34" charset="0"/>
                <a:ea typeface="Calibri" pitchFamily="34" charset="-122"/>
                <a:cs typeface="Calibri" pitchFamily="34" charset="-120"/>
              </a:rPr>
              <a:t>This Can Be Sponsored and Scoped — Or It Can Stop</a:t>
            </a:r>
            <a:endParaRPr lang="en-US" sz="3200" dirty="0"/>
          </a:p>
        </p:txBody>
      </p:sp>
      <p:sp>
        <p:nvSpPr>
          <p:cNvPr id="4" name="Text 2"/>
          <p:cNvSpPr txBox="1"/>
          <p:nvPr/>
        </p:nvSpPr>
        <p:spPr>
          <a:xfrm>
            <a:off x="1463040" y="3291840"/>
            <a:ext cx="9235440" cy="548640"/>
          </a:xfrm>
          <a:prstGeom prst="rect">
            <a:avLst/>
          </a:prstGeom>
          <a:noFill/>
          <a:ln/>
        </p:spPr>
        <p:txBody>
          <a:bodyPr wrap="square" lIns="0" tIns="0" rIns="0" bIns="0" rtlCol="0" anchor="ctr"/>
          <a:lstStyle/>
          <a:p>
            <a:pPr algn="ctr" indent="0" marL="0">
              <a:buNone/>
            </a:pPr>
            <a:r>
              <a:rPr lang="en-US" sz="1700" dirty="0">
                <a:solidFill>
                  <a:srgbClr val="555E6B"/>
                </a:solidFill>
                <a:latin typeface="Calibri" pitchFamily="34" charset="0"/>
                <a:ea typeface="Calibri" pitchFamily="34" charset="-122"/>
                <a:cs typeface="Calibri" pitchFamily="34" charset="-120"/>
              </a:rPr>
              <a:t>What it can't be is more of the same: unsponsored, unscoped, undecided.</a:t>
            </a:r>
            <a:endParaRPr lang="en-US" sz="1700" dirty="0"/>
          </a:p>
        </p:txBody>
      </p:sp>
      <p:sp>
        <p:nvSpPr>
          <p:cNvPr id="5" name="Text 3"/>
          <p:cNvSpPr txBox="1"/>
          <p:nvPr/>
        </p:nvSpPr>
        <p:spPr>
          <a:xfrm>
            <a:off x="2834640" y="4206240"/>
            <a:ext cx="6492240" cy="14630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Decision on Options A–D requested by: [date]</a:t>
            </a:r>
            <a:endParaRPr lang="en-US" sz="1500" dirty="0"/>
          </a:p>
          <a:p>
            <a:pPr marL="342900" indent="-3429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If A: named sponsor + budget owner confirmed by: [date]</a:t>
            </a:r>
            <a:endParaRPr lang="en-US" sz="1500" dirty="0"/>
          </a:p>
          <a:p>
            <a:pPr marL="342900" indent="-3429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If B: UC3 form filed by: [date]</a:t>
            </a:r>
            <a:endParaRPr lang="en-US" sz="1500" dirty="0"/>
          </a:p>
        </p:txBody>
      </p:sp>
      <p:sp>
        <p:nvSpPr>
          <p:cNvPr id="6" name="Text 4"/>
          <p:cNvSpPr txBox="1"/>
          <p:nvPr/>
        </p:nvSpPr>
        <p:spPr>
          <a:xfrm>
            <a:off x="11612880" y="6473952"/>
            <a:ext cx="365760" cy="274320"/>
          </a:xfrm>
          <a:prstGeom prst="rect">
            <a:avLst/>
          </a:prstGeom>
          <a:noFill/>
          <a:ln/>
        </p:spPr>
        <p:txBody>
          <a:bodyPr wrap="square" lIns="0" tIns="0" rIns="0" bIns="0" rtlCol="0" anchor="ctr"/>
          <a:lstStyle/>
          <a:p>
            <a:pPr algn="r" indent="0" marL="0">
              <a:buNone/>
            </a:pPr>
            <a:r>
              <a:rPr lang="en-US" sz="1000" dirty="0">
                <a:solidFill>
                  <a:srgbClr val="555E6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DEG Reality Check">
  <a:themeElements>
    <a:clrScheme name="DEG Reality Check">
      <a:dk1>
        <a:srgbClr val="1A1A1A"/>
      </a:dk1>
      <a:lt1>
        <a:srgbClr val="FFFFFF"/>
      </a:lt1>
      <a:dk2>
        <a:srgbClr val="1A1A1A"/>
      </a:dk2>
      <a:lt2>
        <a:srgbClr val="FFFFFF"/>
      </a:lt2>
      <a:accent1>
        <a:srgbClr val="1D4ED8"/>
      </a:accent1>
      <a:accent2>
        <a:srgbClr val="A82A2A"/>
      </a:accent2>
      <a:accent3>
        <a:srgbClr val="555E6B"/>
      </a:accent3>
      <a:accent4>
        <a:srgbClr val="1E7A3C"/>
      </a:accent4>
      <a:accent5>
        <a:srgbClr val="0E7A6E"/>
      </a:accent5>
      <a:accent6>
        <a:srgbClr val="B85C0A"/>
      </a:accent6>
      <a:hlink>
        <a:srgbClr val="1D4ED8"/>
      </a:hlink>
      <a:folHlink>
        <a:srgbClr val="1D4ED8"/>
      </a:folHlink>
    </a:clrScheme>
    <a:fontScheme name="DEG Reality Chec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DEG/IES Portfolio Review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2026-10-21T05:40:43Z</dcterms:created>
  <dcterms:modified xsi:type="dcterms:W3CDTF">2026-10-21T05:40:43Z</dcterms:modified>
</cp:coreProperties>
</file>