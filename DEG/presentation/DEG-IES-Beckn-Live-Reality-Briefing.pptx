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briefing answers one question: what is actually live today in India's Digital Energy Grid, IES, and Beckn ecosystem, what is still missing, and which direction is worth pursuing next. Every fact on every slide comes from a named public source — a regulator's order, a press report, or the open specification repository itself — so each one can be checked independently, right from the link on the slide. By the end, there are four real directions on the table, and the specific questions needed to choose between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quickly: first, a plain explanation of what this whole ecosystem is, for anyone not already familiar with it. Second, the single biggest headline — a real live energy trade demonstrated nationally, and the regulatory orders that make it legal. Third, exactly how a person registers and trades today. Fourth, who already has a live app or network running — this is more crowded than it looks. Fifth, the most recent and most serious move in this space: a formal agreement between a major industrial company and the protocol's own backers. Sixth, a clear look at what's still broken or missing, both in the public specification itself and in the track record of this kind of technology worldwide. And finally, the decision this all points to — four real directions, what each one would actually be worth, and the questions that need answers before picking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names get used almost interchangeably, so it's worth separating them once, clearly. India Energy Stack is the government program — a Ministry of Power initiative, run day to day by REC Limited as the named nodal agency, trying to do for electricity what UPI did for payments: one shared digital backbone instead of every player building their own. Digital Energy Grid is the actual technical build-out of that idea — the part that lets a rooftop solar owner, a DISCOM, a trading app, and a credential all speak the same language. And Beckn Protocol is the open standard sitting underneath both of them — the same transaction protocol that already powers ONDC for retail commerce, now adapted so a buyer and a seller of electricity can discover each other and confirm a trade. The important thing to hold onto: none of these three things belongs to one company. They're public infrastructure. Anyone — a startup, a DISCOM, an industrial company — is free to build on top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February 19th, 2026, at the India AI Impact Summit in New Delhi, REC Limited — the government's own nodal agency for this program — didn't present a slide about peer-to-peer energy trading. They ran one, live, in front of the audience. A farmer in Meerut, Uttar Pradesh, sold six units of his surplus solar power to a shop owner in Delhi for thirty rupees. He did it by talking to a WhatsApp-based AI voice agent built by a company called Pulse Energy, and the transaction settled through the India Energy Stack framework. This matters because it moves the conversation from 'is this a slide deck' to 'this has already happened, in public, with named people, on a named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isn't informal. Two separate state electricity regulators had to approve this before a single trade could legally happen. The Delhi Electricity Regulatory Commission published its Peer-to-Peer Energy Transaction Guidelines back in 2024 — and it's worth noting those rules are technology-neutral: they explicitly allow blockchain 'or any other technology,' they cap eligible participants at 200 kilowatts of sanctioned load, and they cap a prosumer's own solar system at 500 percent of that load. In February 2026, DERC approved specific petitions from BRPL and Tata Power Delhi Distribution to run a live pilot for up to six months, covering both trading within Delhi and trading across the state line with Uttar Pradesh's PVVNL. The Uttar Pradesh regulator, UPERC, separately approved its half of that cross-border arrangement. And the commercial terms are already fixed by regulatory order: a transaction fee of forty-two paise per unit including GST, split evenly between buyer and seller, with no wheeling charge for trades that stay inside Delhi, and a one-rupee-one-paisa wheeling charge for prosumers on the Uttar Pradesh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number that proves this isn't theoretical: between February and July 2026, 1,164 individual trades were executed and settled under this pilot. Not simulated, not a demo environment — actual electricity trades, reconciled against real smart meters, adjusted onto real DISCOM bills. And the most telling fact isn't the number itself, it's what happened next: instead of letting the pilot quietly expire, the Uttar Pradesh regulator extended it all the way out to March 2027. Regulators don't extend pilots that failed. This one is continuing because the first phase produced results worth continuing.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this exactly as it works for a real person today, because it's simpler than it sounds. First, you register as a consumer or a prosumer directly on your own electricity distributor's website. Second, that distributor actually verifies your physical meter and your connection — this isn't a self-declared signup. Third, once verified, you're issued something called a Verifiable Credential: a digital proof, issued by your own DISCOM, of who you are and what you're allowed to trade. Fourth, you take that credential into any one of the accredited trading apps, list your surplus power or browse what's available to buy, and once a trade completes, it doesn't go through some separate wallet or token — it shows up as a line item on your regular monthly electricity bill, same as any other charge.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part that's easy to miss if all you've seen is a government announcement: this market already has at least six different companies live in it today, each with a real app on the App Store and Google Play. BSES Delhi's own official page lists them by name — REConnect Energy, Pulse Energy whose actual consumer app is called SUPEREV, Yellow Haze trading under the name YoGrid, Kazam Buzz, Terra Rex Energy, and PowerXchange Innovations. Two more, Atria University and Ikiteq Steam-A Labs, are listed as coming soon. One honest caveat before anyone gets excited about registering: this only works if you're already an actual electricity customer of BRPL or Tata Power in Delhi, or PVVNL in western Uttar Pradesh, with a smart meter already installed — it isn't a nationwide open signup yet. And to size how early this still is: Tata Power's own page reports just 56 total registered participants so far, 15 prosumers and 41 consumers.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company's name keeps showing up across completely different parts of this ecosystem, and it's worth naming directly: Pulse Energy. In peer-to-peer solar trading, they're not just one of the six accredited apps — they're the company REC Limited itself picked to run the live national demonstration at the AI Impact Summit. Separately, in EV charging, they're a certified technology enabler on Unified Bharat eCharge, the national charging network, with more than ten thousand chargers already connected and payment running straight through BHIM UPI. And in demand flexibility — helping large fleets manage their charging and power use — press coverage reports they already have named enterprise clients. This is one real, funded company, already live and already established, across more than one part of the exact space this ecosystem covers.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EV side of the same story, and it's further along than the trading side. Unified Bharat eCharge is backed by the Ministry of Heavy Industries, with BHEL as the project implementation agency and NPCI's own BHIM Services arm handling design and development. Technically, it runs on the same open Beckn protocol, with the underlying digital infrastructure built by Networks for Humanity — the same organization behind the Digital Energy Grid itself. For an actual driver, this is almost invisible in a good way: open the BHIM app you already have for UPI payments, find a participating charging station, scan its QR code, and pay straight from your bank account — no separate charging app, no separate prepaid wallet to top up. This launched around India's 80th Independence Day in August 2026, and as of the most recent coverage, more than ten thousand chargers are already connected, with more being added across cities and national highways.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recent, and arguably the most serious, move in this entire space, so it earns its own slide. On September 30th, 2026, Schneider Electric and Networks for Humanity signed a formal memorandum of understanding in New Delhi — not a casual partnership announcement, a named, dated, signed agreement, by Deepak Sharma, the managing director and CEO of Schneider Electric India, and Sujith Nair, co-founder of Networks for Humanity. The scope covers utility energy intelligence, demand flexibility for industrial sites and buildings, home energy management, flexible EV charging, and carbon accounting and trading. The release frames this around India's electricity peak demand approaching roughly 300 gigawatts by 2027, driven by data centres, AI, and electric vehicles. And it's explicit that this is a first step: the stated goal is to demonstrate that value creators and value takers can actually discover each other, trust each other, and transact on the Digital Energy Grid — wider deployment depends on what the pilots actually show.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pointing out what's still missing, it's worth being clear about what's genuinely open and checkable. There are two real, public code repositories behind this whole ecosystem. One is the Ministry of Power and REC Limited's own repository, called ies-accelerator — it holds the identity, credential, and meter-data specifications, and it's actively being committed to. The other is called DEG, under the Beckn organization on GitHub, backed by FIDE and the International Energy Agency, with an active multi-person working group — this one holds the actual trading schemas, the technical definitions for an energy resource and an energy trade offer. Both repositories are fully public, openly licensed, and anyone can read them, clone them, or raise an issue against them right now, today, without needing permission from anyone.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concrete, checkable gap, not a vague concern — read directly from the live specification file that every one of those accredited trading apps is supposed to build against. The file defining an EnergyTradeOffer, version 2.0, has four main sections: a validity window, contract attributes, a list of participants, and commitment attributes for the actual price-and-quantity data. What it does not have, anywhere, is a field identifying which physical resource the offer is actually coming from — a rooftop solar panel, a battery, a diesel generator — and it has no required field forcing an offer to declare whether it's a firm, guaranteed commitment or just a best-effort estimate. In practice, that means nothing in the specification itself currently stops a solar-only offer from quietly claiming to be a guaranteed, always-available commitment. The reason this hasn't caused a visible problem yet is simple: every live pilot today only trades direct solar power as it's generated, not stored battery energy — so this particular gap has never actually been exercised by a real transaction. It's open, not disproven.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Zoom out to the rest of the world, because this context changes how impressive the Indian pilot actually is. Power Ledger, based in Australia, is the single biggest name in blockchain-based peer-to-peer energy trading worldwide — and notably, they already ran an earlier pilot with BRPL in Delhi back in 2019, years before the current DERC and UPERC pilot. That earlier trial has gone quiet; it's a separate, older chapter, not the same program running today. Brooklyn Microgrid, the case almost everyone mentions first when this topic comes up, launched in 2016 with Siemens as a technical partner — and there's no confirmed evidence it ever grew past a handful of city blocks into anything resembling commercial scale. The reason this keeps happening isn't a lack of trying or a lack of funding — it's structural: in almost every grid in the world, a utility still has to approve and reconcile every single trade, and most legal frameworks reserve the exclusive right to resell power over public wires to that utility. Set against that ten-year global pattern, India's current pilot — with real money changing hands on real bills, and a regulator actively extending it into 2027 — looks genuinely more advanced than most of what's been tried elsewhere, not just another experiment that will quietly go nowhere.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other half of this picture — vehicle-to-grid, where a car's battery can actually feed power back into the grid. Globally, this is even further behind than peer-to-peer trading. Denmark has had a small commercial fleet, run by a company called Nuvve, doing grid frequency regulation since 2016 — but it's still only around thirty vehicles. Delaware had an earlier commercial fleet of about twenty-five vehicles doing similar work on the PJM market starting in 2013, and that program has since wound down. The most recent concrete development anywhere is from California in April 2026, where the utility PG&amp;E approved the first alternating-current vehicle-to-grid setup for a customer — but that's one single Tesla Cybertruck, a single approval, not a rolled-out program. A report from August 2026 projects that if just ten percent of the electric vehicles expected in California by 2036 were enrolled in vehicle-to-grid programs, it could unlock about nine gigawatts of storage — but that's a model's projection about the future, not something running today. And specifically for India: nothing resembling the DERC or UPERC-style regulatory sandbox that made P2P trading legal exists yet for vehicle-to-grid, for any distribution company, anywhere.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Pulling this together into one honest picture. On the live side: there's a real, regulator-approved trading pilot that has already settled over a thousand trades and just got extended to March 2027; there are already six accredited apps live on the app stores; there's a national EV-charging network that's been running since August 2026 with over ten thousand chargers; and a named global industrial company formally signed on to this exact ecosystem as recently as September 30th, 2026. On the missing side: the published trading specification still has no field forcing an offer to declare what resource it's backed by or whether it's actually a guaranteed commitment; the pilot itself is still geographically narrow, really just Delhi and one Uttar Pradesh utility, with one DISCOM's own count putting total registered users at only around 56; there's no equivalent regulatory sandbox yet for vehicle-to-grid anywhere in India; and globally, the closest comparable technology took roughly a decade to get even this far, with most attempts still stuck. Both lists are true at the same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actual decision on the table, laid out as four real, honestly-scored options — not a trick question with one right answer. Option A: build a trading app or platform. That means competing directly against six already-live, funded applications inside the exact same regulatory pilot — including a company, Pulse Energy, that's already live in three different parts of this space at once. That's a real money opportunity in theory, but it's a crowded race against players who already have a head start. Option B: contribute to the open protocol and schema layer itself — specifically, raise the missing resource-type and commitment-type gap as a real issue or pull request against the public repository. Nobody owns that ground; it's genuinely open and independently verifiable, but the value there is technical standing and credibility, not direct revenue. Option C: pursue vehicle-to-grid specifically. Nobody has a live regulatory sandbox for that in India yet, at any level, and globally it's even earlier-stage than P2P trading — so it's a longer, earlier bet, but a real one, with money as a plausible outcome much further down the line. Option D: don't continue further in this space at all. The live commercial layer is already occupied, and if the remaining open ground doesn't justify the resourcing, walking away is a completely legitimate choice — not a failure, just a decision with no further value claimed from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questions, and they need real answers, not more research. One: is the actual goal here a product that makes money, a technical contribution that builds standing and credibility, or neither of those — and which one, specifically, because the rest of the plan depends entirely on that answer. Two, if the answer is a product: what would actually make it different enough to beat six apps that are already live, including a funded competitor already running three products in this exact space? Three, if the answer is a technical contribution: who is the real, named person willing to actually file an issue or a pull request against the public repository, and by what date — because an idea that never gets filed has the same value as one that was never found. Four, if the answer is vehicle-to-grid: what is the first concrete, fundable step — not another research document, an actual pilot proposal addressed to a specific distribution company or regulator. Every fact in this briefing came from a public source that's linked right on the slide, so none of this needs to be taken on faith — it can be checked today. What's left isn't a question about the facts. It's a decision about which of these four directions is actually worth committing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powerline.net.in/2026/03/06/ies-blueprint-india-energy-stack-seeks-to-create-an-interoperable-electricity-ecosystem/" TargetMode="Externa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www.pv-magazine-india.com/2026/02/19/rec-conducts-live-demo-of-peer%E2%80%91to%E2%80%91peer-decentralized-energy-transaction-at-india-ai-impact-summit-2026/" TargetMode="External"/><Relationship Id="rId2" Type="http://schemas.openxmlformats.org/officeDocument/2006/relationships/hyperlink" Target="https://evreporter.com/a-comprehensive-explainer-on-peer-to-peer-energy-trading-in-india/" TargetMode="External"/><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www.derc.gov.in/sites/default/files/Order%20in%20Petition%20No.%2006_2026.pdf" TargetMode="External"/><Relationship Id="rId2" Type="http://schemas.openxmlformats.org/officeDocument/2006/relationships/hyperlink" Target="https://solar.delhi.gov.in/public/assets/solar/DERC%20Peer%20to%20Peer%20Energy%20Transaction%20Guidelines%202024%20-%2024.06.2024.pdf" TargetMode="External"/><Relationship Id="rId3" Type="http://schemas.openxmlformats.org/officeDocument/2006/relationships/hyperlink" Target="https://www.energetica-india.net/news/uperc-extends-interstate-p2p-renewable-energy-trading-pilot-to-march-2027" TargetMode="External"/><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www.energetica-india.net/news/uperc-extends-interstate-p2p-renewable-energy-trading-pilot-to-march-2027" TargetMode="Externa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evreporter.com/a-comprehensive-explainer-on-peer-to-peer-energy-trading-in-india/" TargetMode="External"/><Relationship Id="rId2" Type="http://schemas.openxmlformats.org/officeDocument/2006/relationships/hyperlink" Target="https://www.bsesdelhi.com/web/brpl/p-to-p-trading" TargetMode="External"/><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www.bsesdelhi.com/web/brpl/p-to-p-trading" TargetMode="External"/><Relationship Id="rId2" Type="http://schemas.openxmlformats.org/officeDocument/2006/relationships/hyperlink" Target="https://www.tatapower-ddl.com/solar-rooftop/p-to-p-trading" TargetMode="External"/><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evreporter.com/a-comprehensive-explainer-on-peer-to-peer-energy-trading-in-india/" TargetMode="External"/><Relationship Id="rId2" Type="http://schemas.openxmlformats.org/officeDocument/2006/relationships/hyperlink" Target="https://www.autocarpro.in/news/pulse-energy-joins-unified-bharat-echarge-as-certified-tech-enabler-134136" TargetMode="External"/><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www.autocarpro.in/news/pulse-energy-joins-unified-bharat-echarge-as-certified-tech-enabler-134136" TargetMode="External"/><Relationship Id="rId2" Type="http://schemas.openxmlformats.org/officeDocument/2006/relationships/hyperlink" Target="https://www.energetica-india.net/news/pulse-energy-connects-over-10000-ev-chargers-to-bhim-upi-via-unified-bharat-echarge" TargetMode="External"/><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www.pv-magazine-india.com/press-releases/schneider-electric-partners-with-networks-for-humanity-to-advance-indias-digital-energy-grid/" TargetMode="Externa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github.com/India-Energy-Stack/ies-accelerator" TargetMode="External"/><Relationship Id="rId2" Type="http://schemas.openxmlformats.org/officeDocument/2006/relationships/hyperlink" Target="https://github.com/beckn/DEG" TargetMode="External"/><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github.com/beckn/DEG/blob/main/specification/schema/EnergyTradeOffer/v2.0/attributes.yaml" TargetMode="Externa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www.powerledger.io/media/brpl-partners-with-power-ledger-launch-blockchain-solar-energy-trading-in-india" TargetMode="External"/><Relationship Id="rId2" Type="http://schemas.openxmlformats.org/officeDocument/2006/relationships/hyperlink" Target="https://eepower.com/news/blockchain-microgrids-from-lo3-energy-and-siemens/" TargetMode="External"/><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https://businessgreen.com/news/2082051/nuvve-brings-v2g-network-denmark" TargetMode="External"/><Relationship Id="rId2" Type="http://schemas.openxmlformats.org/officeDocument/2006/relationships/hyperlink" Target="https://pv-magazine-usa.com/2026/08/18/enrolling-10-of-california-evs-in-vehicle-to-grid-programs-by-2036-could-deliver-a-third-of-the-states-energy-storage-goals/" TargetMode="External"/><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github.com/beckn/DEG" TargetMode="Externa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hyperlink" Target="https://github.com/beckn/DEG" TargetMode="Externa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14400" y="1874520"/>
            <a:ext cx="10360152" cy="365760"/>
          </a:xfrm>
          <a:prstGeom prst="rect">
            <a:avLst/>
          </a:prstGeom>
          <a:noFill/>
          <a:ln/>
        </p:spPr>
        <p:txBody>
          <a:bodyPr wrap="square" lIns="0" tIns="0" rIns="0" bIns="0" rtlCol="0" anchor="ctr"/>
          <a:lstStyle/>
          <a:p>
            <a:pPr algn="ctr" indent="0" marL="0">
              <a:buNone/>
            </a:pPr>
            <a:r>
              <a:rPr lang="en-US" sz="1400" b="1" spc="200" kern="0" dirty="0">
                <a:solidFill>
                  <a:srgbClr val="1D4ED8"/>
                </a:solidFill>
                <a:latin typeface="Calibri" pitchFamily="34" charset="0"/>
                <a:ea typeface="Calibri" pitchFamily="34" charset="-122"/>
                <a:cs typeface="Calibri" pitchFamily="34" charset="-120"/>
              </a:rPr>
              <a:t>WHAT'S ALREADY LIVE, WHAT'S STILL MISSING, WHICH WAY NEXT</a:t>
            </a:r>
            <a:endParaRPr lang="en-US" sz="1400" dirty="0"/>
          </a:p>
        </p:txBody>
      </p:sp>
      <p:sp>
        <p:nvSpPr>
          <p:cNvPr id="3" name="Text 1"/>
          <p:cNvSpPr txBox="1"/>
          <p:nvPr/>
        </p:nvSpPr>
        <p:spPr>
          <a:xfrm>
            <a:off x="914400" y="2331720"/>
            <a:ext cx="10360152" cy="1097280"/>
          </a:xfrm>
          <a:prstGeom prst="rect">
            <a:avLst/>
          </a:prstGeom>
          <a:noFill/>
          <a:ln/>
        </p:spPr>
        <p:txBody>
          <a:bodyPr wrap="square" lIns="0" tIns="0" rIns="0" bIns="0" rtlCol="0" anchor="ctr"/>
          <a:lstStyle/>
          <a:p>
            <a:pPr algn="ctr" indent="0" marL="0">
              <a:buNone/>
            </a:pPr>
            <a:r>
              <a:rPr lang="en-US" sz="4200" b="1" dirty="0">
                <a:solidFill>
                  <a:srgbClr val="1A1A1A"/>
                </a:solidFill>
                <a:latin typeface="Calibri" pitchFamily="34" charset="0"/>
                <a:ea typeface="Calibri" pitchFamily="34" charset="-122"/>
                <a:cs typeface="Calibri" pitchFamily="34" charset="-120"/>
              </a:rPr>
              <a:t>Digital Energy Grid, IES &amp; Beckn</a:t>
            </a:r>
            <a:endParaRPr lang="en-US" sz="4200" dirty="0"/>
          </a:p>
        </p:txBody>
      </p:sp>
      <p:sp>
        <p:nvSpPr>
          <p:cNvPr id="4" name="Text 2"/>
          <p:cNvSpPr txBox="1"/>
          <p:nvPr/>
        </p:nvSpPr>
        <p:spPr>
          <a:xfrm>
            <a:off x="1371600" y="3520440"/>
            <a:ext cx="9445752" cy="822960"/>
          </a:xfrm>
          <a:prstGeom prst="rect">
            <a:avLst/>
          </a:prstGeom>
          <a:noFill/>
          <a:ln/>
        </p:spPr>
        <p:txBody>
          <a:bodyPr wrap="square" lIns="0" tIns="0" rIns="0" bIns="0" rtlCol="0" anchor="ctr"/>
          <a:lstStyle/>
          <a:p>
            <a:pPr algn="ctr" indent="0" marL="0">
              <a:buNone/>
            </a:pPr>
            <a:r>
              <a:rPr lang="en-US" sz="1600" dirty="0">
                <a:solidFill>
                  <a:srgbClr val="555E6B"/>
                </a:solidFill>
                <a:latin typeface="Calibri" pitchFamily="34" charset="0"/>
                <a:ea typeface="Calibri" pitchFamily="34" charset="-122"/>
                <a:cs typeface="Calibri" pitchFamily="34" charset="-120"/>
              </a:rPr>
              <a:t>A fact-based briefing on India's live P2P energy trading and EV-charging rollout — built only from public regulatory orders, press coverage, and the open specification repositories.</a:t>
            </a:r>
            <a:endParaRPr lang="en-US" sz="1600" dirty="0"/>
          </a:p>
        </p:txBody>
      </p:sp>
      <p:sp>
        <p:nvSpPr>
          <p:cNvPr id="5" name="Text 3"/>
          <p:cNvSpPr txBox="1"/>
          <p:nvPr/>
        </p:nvSpPr>
        <p:spPr>
          <a:xfrm>
            <a:off x="1371600" y="5120640"/>
            <a:ext cx="9445752" cy="457200"/>
          </a:xfrm>
          <a:prstGeom prst="rect">
            <a:avLst/>
          </a:prstGeom>
          <a:noFill/>
          <a:ln/>
        </p:spPr>
        <p:txBody>
          <a:bodyPr wrap="square" lIns="0" tIns="0" rIns="0" bIns="0" rtlCol="0" anchor="ctr"/>
          <a:lstStyle/>
          <a:p>
            <a:pPr algn="ctr" indent="0" marL="0">
              <a:buNone/>
            </a:pPr>
            <a:r>
              <a:rPr lang="en-US" sz="1200" i="1" dirty="0">
                <a:solidFill>
                  <a:srgbClr val="555E6B"/>
                </a:solidFill>
                <a:latin typeface="Calibri" pitchFamily="34" charset="0"/>
                <a:ea typeface="Calibri" pitchFamily="34" charset="-122"/>
                <a:cs typeface="Calibri" pitchFamily="34" charset="-120"/>
              </a:rPr>
              <a:t>Every claim on every slide links to the actual order, page, or repository it comes from.</a:t>
            </a:r>
            <a:endParaRPr lang="en-US" sz="1200" dirty="0"/>
          </a:p>
        </p:txBody>
      </p:sp>
      <p:sp>
        <p:nvSpPr>
          <p:cNvPr id="6" name="Text 4"/>
          <p:cNvSpPr txBox="1"/>
          <p:nvPr/>
        </p:nvSpPr>
        <p:spPr>
          <a:xfrm>
            <a:off x="1371600" y="5943600"/>
            <a:ext cx="9445752" cy="365760"/>
          </a:xfrm>
          <a:prstGeom prst="rect">
            <a:avLst/>
          </a:prstGeom>
          <a:noFill/>
          <a:ln/>
        </p:spPr>
        <p:txBody>
          <a:bodyPr wrap="square" lIns="0" tIns="0" rIns="0" bIns="0" rtlCol="0" anchor="ctr"/>
          <a:lstStyle/>
          <a:p>
            <a:pPr algn="ctr" indent="0" marL="0">
              <a:buNone/>
            </a:pPr>
            <a:r>
              <a:rPr lang="en-US" sz="1200" dirty="0">
                <a:solidFill>
                  <a:srgbClr val="555E6B"/>
                </a:solidFill>
                <a:latin typeface="Calibri" pitchFamily="34" charset="0"/>
                <a:ea typeface="Calibri" pitchFamily="34" charset="-122"/>
                <a:cs typeface="Calibri" pitchFamily="34" charset="-120"/>
              </a:rPr>
              <a:t>22 October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51560" y="384048"/>
            <a:ext cx="9144000" cy="274320"/>
          </a:xfrm>
          <a:prstGeom prst="rect">
            <a:avLst/>
          </a:prstGeom>
          <a:noFill/>
          <a:ln/>
        </p:spPr>
        <p:txBody>
          <a:bodyPr wrap="square" lIns="0" tIns="0" rIns="0" bIns="0" rtlCol="0" anchor="ctr"/>
          <a:lstStyle/>
          <a:p>
            <a:pPr indent="0" marL="0">
              <a:buNone/>
            </a:pPr>
            <a:r>
              <a:rPr lang="en-US" sz="1200" b="1" spc="100" kern="0" dirty="0">
                <a:solidFill>
                  <a:srgbClr val="1D4ED8"/>
                </a:solidFill>
                <a:latin typeface="Calibri" pitchFamily="34" charset="0"/>
                <a:ea typeface="Calibri" pitchFamily="34" charset="-122"/>
                <a:cs typeface="Calibri" pitchFamily="34" charset="-120"/>
              </a:rPr>
              <a:t>AGENDA</a:t>
            </a:r>
            <a:endParaRPr lang="en-US" sz="1200" dirty="0"/>
          </a:p>
        </p:txBody>
      </p:sp>
      <p:sp>
        <p:nvSpPr>
          <p:cNvPr id="3" name="Text 1"/>
          <p:cNvSpPr txBox="1"/>
          <p:nvPr/>
        </p:nvSpPr>
        <p:spPr>
          <a:xfrm>
            <a:off x="457200" y="713232"/>
            <a:ext cx="11274552" cy="640080"/>
          </a:xfrm>
          <a:prstGeom prst="rect">
            <a:avLst/>
          </a:prstGeom>
          <a:noFill/>
          <a:ln/>
        </p:spPr>
        <p:txBody>
          <a:bodyPr wrap="square" lIns="0" tIns="0" rIns="0" bIns="0" rtlCol="0" anchor="t"/>
          <a:lstStyle/>
          <a:p>
            <a:pPr indent="0" marL="0">
              <a:buNone/>
            </a:pPr>
            <a:r>
              <a:rPr lang="en-US" sz="2800" b="1" dirty="0">
                <a:solidFill>
                  <a:srgbClr val="1A1A1A"/>
                </a:solidFill>
                <a:latin typeface="Calibri" pitchFamily="34" charset="0"/>
                <a:ea typeface="Calibri" pitchFamily="34" charset="-122"/>
                <a:cs typeface="Calibri" pitchFamily="34" charset="-120"/>
              </a:rPr>
              <a:t>What This Briefing Covers</a:t>
            </a:r>
            <a:endParaRPr lang="en-US" sz="2800" dirty="0"/>
          </a:p>
        </p:txBody>
      </p:sp>
      <p:sp>
        <p:nvSpPr>
          <p:cNvPr id="4" name="Shape 2"/>
          <p:cNvSpPr/>
          <p:nvPr/>
        </p:nvSpPr>
        <p:spPr>
          <a:xfrm>
            <a:off x="457200" y="1508760"/>
            <a:ext cx="365760" cy="365760"/>
          </a:xfrm>
          <a:prstGeom prst="ellipse">
            <a:avLst/>
          </a:prstGeom>
          <a:solidFill>
            <a:srgbClr val="555E6B"/>
          </a:solidFill>
          <a:ln/>
        </p:spPr>
      </p:sp>
      <p:sp>
        <p:nvSpPr>
          <p:cNvPr id="5" name="Text 3"/>
          <p:cNvSpPr txBox="1"/>
          <p:nvPr/>
        </p:nvSpPr>
        <p:spPr>
          <a:xfrm>
            <a:off x="457200" y="150876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950976" y="1472184"/>
            <a:ext cx="4855464" cy="329184"/>
          </a:xfrm>
          <a:prstGeom prst="rect">
            <a:avLst/>
          </a:prstGeom>
          <a:noFill/>
          <a:ln/>
        </p:spPr>
        <p:txBody>
          <a:bodyPr wrap="square" lIns="0" tIns="0" rIns="0" bIns="0" rtlCol="0" anchor="ctr"/>
          <a:lstStyle/>
          <a:p>
            <a:pPr indent="0" marL="0">
              <a:buNone/>
            </a:pPr>
            <a:r>
              <a:rPr lang="en-US" sz="1350" b="1" dirty="0">
                <a:solidFill>
                  <a:srgbClr val="1A1A1A"/>
                </a:solidFill>
                <a:latin typeface="Calibri" pitchFamily="34" charset="0"/>
                <a:ea typeface="Calibri" pitchFamily="34" charset="-122"/>
                <a:cs typeface="Calibri" pitchFamily="34" charset="-120"/>
              </a:rPr>
              <a:t>What DEG / IES / Beckn actually is</a:t>
            </a:r>
            <a:endParaRPr lang="en-US" sz="1350" dirty="0"/>
          </a:p>
        </p:txBody>
      </p:sp>
      <p:sp>
        <p:nvSpPr>
          <p:cNvPr id="7" name="Text 5"/>
          <p:cNvSpPr txBox="1"/>
          <p:nvPr/>
        </p:nvSpPr>
        <p:spPr>
          <a:xfrm>
            <a:off x="950976" y="1801368"/>
            <a:ext cx="4855464" cy="777240"/>
          </a:xfrm>
          <a:prstGeom prst="rect">
            <a:avLst/>
          </a:prstGeom>
          <a:noFill/>
          <a:ln/>
        </p:spPr>
        <p:txBody>
          <a:bodyPr wrap="square" lIns="0" tIns="0" rIns="0" bIns="0" rtlCol="0" anchor="t"/>
          <a:lstStyle/>
          <a:p>
            <a:pPr indent="0" marL="0">
              <a:buNone/>
            </a:pPr>
            <a:r>
              <a:rPr lang="en-US" sz="1150" dirty="0">
                <a:solidFill>
                  <a:srgbClr val="555E6B"/>
                </a:solidFill>
                <a:latin typeface="Calibri" pitchFamily="34" charset="0"/>
                <a:ea typeface="Calibri" pitchFamily="34" charset="-122"/>
                <a:cs typeface="Calibri" pitchFamily="34" charset="-120"/>
              </a:rPr>
              <a:t>A plain explanation before anything else, for anyone not already familiar with it.</a:t>
            </a:r>
            <a:endParaRPr lang="en-US" sz="1150" dirty="0"/>
          </a:p>
        </p:txBody>
      </p:sp>
      <p:sp>
        <p:nvSpPr>
          <p:cNvPr id="8" name="Shape 6"/>
          <p:cNvSpPr/>
          <p:nvPr/>
        </p:nvSpPr>
        <p:spPr>
          <a:xfrm>
            <a:off x="6080760" y="1508760"/>
            <a:ext cx="365760" cy="365760"/>
          </a:xfrm>
          <a:prstGeom prst="ellipse">
            <a:avLst/>
          </a:prstGeom>
          <a:solidFill>
            <a:srgbClr val="555E6B"/>
          </a:solidFill>
          <a:ln/>
        </p:spPr>
      </p:sp>
      <p:sp>
        <p:nvSpPr>
          <p:cNvPr id="9" name="Text 7"/>
          <p:cNvSpPr txBox="1"/>
          <p:nvPr/>
        </p:nvSpPr>
        <p:spPr>
          <a:xfrm>
            <a:off x="6080760" y="150876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0" name="Text 8"/>
          <p:cNvSpPr txBox="1"/>
          <p:nvPr/>
        </p:nvSpPr>
        <p:spPr>
          <a:xfrm>
            <a:off x="6574536" y="1472184"/>
            <a:ext cx="4855464" cy="329184"/>
          </a:xfrm>
          <a:prstGeom prst="rect">
            <a:avLst/>
          </a:prstGeom>
          <a:noFill/>
          <a:ln/>
        </p:spPr>
        <p:txBody>
          <a:bodyPr wrap="square" lIns="0" tIns="0" rIns="0" bIns="0" rtlCol="0" anchor="ctr"/>
          <a:lstStyle/>
          <a:p>
            <a:pPr indent="0" marL="0">
              <a:buNone/>
            </a:pPr>
            <a:r>
              <a:rPr lang="en-US" sz="1350" b="1" dirty="0">
                <a:solidFill>
                  <a:srgbClr val="1A1A1A"/>
                </a:solidFill>
                <a:latin typeface="Calibri" pitchFamily="34" charset="0"/>
                <a:ea typeface="Calibri" pitchFamily="34" charset="-122"/>
                <a:cs typeface="Calibri" pitchFamily="34" charset="-120"/>
              </a:rPr>
              <a:t>The live national demo and the pilot behind it</a:t>
            </a:r>
            <a:endParaRPr lang="en-US" sz="1350" dirty="0"/>
          </a:p>
        </p:txBody>
      </p:sp>
      <p:sp>
        <p:nvSpPr>
          <p:cNvPr id="11" name="Text 9"/>
          <p:cNvSpPr txBox="1"/>
          <p:nvPr/>
        </p:nvSpPr>
        <p:spPr>
          <a:xfrm>
            <a:off x="6574536" y="1801368"/>
            <a:ext cx="4855464" cy="777240"/>
          </a:xfrm>
          <a:prstGeom prst="rect">
            <a:avLst/>
          </a:prstGeom>
          <a:noFill/>
          <a:ln/>
        </p:spPr>
        <p:txBody>
          <a:bodyPr wrap="square" lIns="0" tIns="0" rIns="0" bIns="0" rtlCol="0" anchor="t"/>
          <a:lstStyle/>
          <a:p>
            <a:pPr indent="0" marL="0">
              <a:buNone/>
            </a:pPr>
            <a:r>
              <a:rPr lang="en-US" sz="1150" dirty="0">
                <a:solidFill>
                  <a:srgbClr val="555E6B"/>
                </a:solidFill>
                <a:latin typeface="Calibri" pitchFamily="34" charset="0"/>
                <a:ea typeface="Calibri" pitchFamily="34" charset="-122"/>
                <a:cs typeface="Calibri" pitchFamily="34" charset="-120"/>
              </a:rPr>
              <a:t>A real trade, demonstrated on stage, backed by two state regulators' own orders.</a:t>
            </a:r>
            <a:endParaRPr lang="en-US" sz="1150" dirty="0"/>
          </a:p>
        </p:txBody>
      </p:sp>
      <p:sp>
        <p:nvSpPr>
          <p:cNvPr id="12" name="Shape 10"/>
          <p:cNvSpPr/>
          <p:nvPr/>
        </p:nvSpPr>
        <p:spPr>
          <a:xfrm>
            <a:off x="457200" y="2679192"/>
            <a:ext cx="365760" cy="365760"/>
          </a:xfrm>
          <a:prstGeom prst="ellipse">
            <a:avLst/>
          </a:prstGeom>
          <a:solidFill>
            <a:srgbClr val="555E6B"/>
          </a:solidFill>
          <a:ln/>
        </p:spPr>
      </p:sp>
      <p:sp>
        <p:nvSpPr>
          <p:cNvPr id="13" name="Text 11"/>
          <p:cNvSpPr txBox="1"/>
          <p:nvPr/>
        </p:nvSpPr>
        <p:spPr>
          <a:xfrm>
            <a:off x="457200" y="2679192"/>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4" name="Text 12"/>
          <p:cNvSpPr txBox="1"/>
          <p:nvPr/>
        </p:nvSpPr>
        <p:spPr>
          <a:xfrm>
            <a:off x="950976" y="2642616"/>
            <a:ext cx="4855464" cy="329184"/>
          </a:xfrm>
          <a:prstGeom prst="rect">
            <a:avLst/>
          </a:prstGeom>
          <a:noFill/>
          <a:ln/>
        </p:spPr>
        <p:txBody>
          <a:bodyPr wrap="square" lIns="0" tIns="0" rIns="0" bIns="0" rtlCol="0" anchor="ctr"/>
          <a:lstStyle/>
          <a:p>
            <a:pPr indent="0" marL="0">
              <a:buNone/>
            </a:pPr>
            <a:r>
              <a:rPr lang="en-US" sz="1350" b="1" dirty="0">
                <a:solidFill>
                  <a:srgbClr val="1A1A1A"/>
                </a:solidFill>
                <a:latin typeface="Calibri" pitchFamily="34" charset="0"/>
                <a:ea typeface="Calibri" pitchFamily="34" charset="-122"/>
                <a:cs typeface="Calibri" pitchFamily="34" charset="-120"/>
              </a:rPr>
              <a:t>How a trade actually works today</a:t>
            </a:r>
            <a:endParaRPr lang="en-US" sz="1350" dirty="0"/>
          </a:p>
        </p:txBody>
      </p:sp>
      <p:sp>
        <p:nvSpPr>
          <p:cNvPr id="15" name="Text 13"/>
          <p:cNvSpPr txBox="1"/>
          <p:nvPr/>
        </p:nvSpPr>
        <p:spPr>
          <a:xfrm>
            <a:off x="950976" y="2971800"/>
            <a:ext cx="4855464" cy="777240"/>
          </a:xfrm>
          <a:prstGeom prst="rect">
            <a:avLst/>
          </a:prstGeom>
          <a:noFill/>
          <a:ln/>
        </p:spPr>
        <p:txBody>
          <a:bodyPr wrap="square" lIns="0" tIns="0" rIns="0" bIns="0" rtlCol="0" anchor="t"/>
          <a:lstStyle/>
          <a:p>
            <a:pPr indent="0" marL="0">
              <a:buNone/>
            </a:pPr>
            <a:r>
              <a:rPr lang="en-US" sz="1150" dirty="0">
                <a:solidFill>
                  <a:srgbClr val="555E6B"/>
                </a:solidFill>
                <a:latin typeface="Calibri" pitchFamily="34" charset="0"/>
                <a:ea typeface="Calibri" pitchFamily="34" charset="-122"/>
                <a:cs typeface="Calibri" pitchFamily="34" charset="-120"/>
              </a:rPr>
              <a:t>Register, verify, get credentialed, trade, see it on your bill.</a:t>
            </a:r>
            <a:endParaRPr lang="en-US" sz="1150" dirty="0"/>
          </a:p>
        </p:txBody>
      </p:sp>
      <p:sp>
        <p:nvSpPr>
          <p:cNvPr id="16" name="Shape 14"/>
          <p:cNvSpPr/>
          <p:nvPr/>
        </p:nvSpPr>
        <p:spPr>
          <a:xfrm>
            <a:off x="6080760" y="2679192"/>
            <a:ext cx="365760" cy="365760"/>
          </a:xfrm>
          <a:prstGeom prst="ellipse">
            <a:avLst/>
          </a:prstGeom>
          <a:solidFill>
            <a:srgbClr val="555E6B"/>
          </a:solidFill>
          <a:ln/>
        </p:spPr>
      </p:sp>
      <p:sp>
        <p:nvSpPr>
          <p:cNvPr id="17" name="Text 15"/>
          <p:cNvSpPr txBox="1"/>
          <p:nvPr/>
        </p:nvSpPr>
        <p:spPr>
          <a:xfrm>
            <a:off x="6080760" y="2679192"/>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8" name="Text 16"/>
          <p:cNvSpPr txBox="1"/>
          <p:nvPr/>
        </p:nvSpPr>
        <p:spPr>
          <a:xfrm>
            <a:off x="6574536" y="2642616"/>
            <a:ext cx="4855464" cy="329184"/>
          </a:xfrm>
          <a:prstGeom prst="rect">
            <a:avLst/>
          </a:prstGeom>
          <a:noFill/>
          <a:ln/>
        </p:spPr>
        <p:txBody>
          <a:bodyPr wrap="square" lIns="0" tIns="0" rIns="0" bIns="0" rtlCol="0" anchor="ctr"/>
          <a:lstStyle/>
          <a:p>
            <a:pPr indent="0" marL="0">
              <a:buNone/>
            </a:pPr>
            <a:r>
              <a:rPr lang="en-US" sz="1350" b="1" dirty="0">
                <a:solidFill>
                  <a:srgbClr val="1A1A1A"/>
                </a:solidFill>
                <a:latin typeface="Calibri" pitchFamily="34" charset="0"/>
                <a:ea typeface="Calibri" pitchFamily="34" charset="-122"/>
                <a:cs typeface="Calibri" pitchFamily="34" charset="-120"/>
              </a:rPr>
              <a:t>Who's already live</a:t>
            </a:r>
            <a:endParaRPr lang="en-US" sz="1350" dirty="0"/>
          </a:p>
        </p:txBody>
      </p:sp>
      <p:sp>
        <p:nvSpPr>
          <p:cNvPr id="19" name="Text 17"/>
          <p:cNvSpPr txBox="1"/>
          <p:nvPr/>
        </p:nvSpPr>
        <p:spPr>
          <a:xfrm>
            <a:off x="6574536" y="2971800"/>
            <a:ext cx="4855464" cy="777240"/>
          </a:xfrm>
          <a:prstGeom prst="rect">
            <a:avLst/>
          </a:prstGeom>
          <a:noFill/>
          <a:ln/>
        </p:spPr>
        <p:txBody>
          <a:bodyPr wrap="square" lIns="0" tIns="0" rIns="0" bIns="0" rtlCol="0" anchor="t"/>
          <a:lstStyle/>
          <a:p>
            <a:pPr indent="0" marL="0">
              <a:buNone/>
            </a:pPr>
            <a:r>
              <a:rPr lang="en-US" sz="1150" dirty="0">
                <a:solidFill>
                  <a:srgbClr val="555E6B"/>
                </a:solidFill>
                <a:latin typeface="Calibri" pitchFamily="34" charset="0"/>
                <a:ea typeface="Calibri" pitchFamily="34" charset="-122"/>
                <a:cs typeface="Calibri" pitchFamily="34" charset="-120"/>
              </a:rPr>
              <a:t>Six trading apps and a 10,000-charger EV network, already running.</a:t>
            </a:r>
            <a:endParaRPr lang="en-US" sz="1150" dirty="0"/>
          </a:p>
        </p:txBody>
      </p:sp>
      <p:sp>
        <p:nvSpPr>
          <p:cNvPr id="20" name="Shape 18"/>
          <p:cNvSpPr/>
          <p:nvPr/>
        </p:nvSpPr>
        <p:spPr>
          <a:xfrm>
            <a:off x="457200" y="3849624"/>
            <a:ext cx="365760" cy="365760"/>
          </a:xfrm>
          <a:prstGeom prst="ellipse">
            <a:avLst/>
          </a:prstGeom>
          <a:solidFill>
            <a:srgbClr val="555E6B"/>
          </a:solidFill>
          <a:ln/>
        </p:spPr>
      </p:sp>
      <p:sp>
        <p:nvSpPr>
          <p:cNvPr id="21" name="Text 19"/>
          <p:cNvSpPr txBox="1"/>
          <p:nvPr/>
        </p:nvSpPr>
        <p:spPr>
          <a:xfrm>
            <a:off x="457200" y="3849624"/>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2" name="Text 20"/>
          <p:cNvSpPr txBox="1"/>
          <p:nvPr/>
        </p:nvSpPr>
        <p:spPr>
          <a:xfrm>
            <a:off x="950976" y="3813048"/>
            <a:ext cx="4855464" cy="329184"/>
          </a:xfrm>
          <a:prstGeom prst="rect">
            <a:avLst/>
          </a:prstGeom>
          <a:noFill/>
          <a:ln/>
        </p:spPr>
        <p:txBody>
          <a:bodyPr wrap="square" lIns="0" tIns="0" rIns="0" bIns="0" rtlCol="0" anchor="ctr"/>
          <a:lstStyle/>
          <a:p>
            <a:pPr indent="0" marL="0">
              <a:buNone/>
            </a:pPr>
            <a:r>
              <a:rPr lang="en-US" sz="1350" b="1" dirty="0">
                <a:solidFill>
                  <a:srgbClr val="1A1A1A"/>
                </a:solidFill>
                <a:latin typeface="Calibri" pitchFamily="34" charset="0"/>
                <a:ea typeface="Calibri" pitchFamily="34" charset="-122"/>
                <a:cs typeface="Calibri" pitchFamily="34" charset="-120"/>
              </a:rPr>
              <a:t>The newest move: Schneider Electric × NFH</a:t>
            </a:r>
            <a:endParaRPr lang="en-US" sz="1350" dirty="0"/>
          </a:p>
        </p:txBody>
      </p:sp>
      <p:sp>
        <p:nvSpPr>
          <p:cNvPr id="23" name="Text 21"/>
          <p:cNvSpPr txBox="1"/>
          <p:nvPr/>
        </p:nvSpPr>
        <p:spPr>
          <a:xfrm>
            <a:off x="950976" y="4142232"/>
            <a:ext cx="4855464" cy="777240"/>
          </a:xfrm>
          <a:prstGeom prst="rect">
            <a:avLst/>
          </a:prstGeom>
          <a:noFill/>
          <a:ln/>
        </p:spPr>
        <p:txBody>
          <a:bodyPr wrap="square" lIns="0" tIns="0" rIns="0" bIns="0" rtlCol="0" anchor="t"/>
          <a:lstStyle/>
          <a:p>
            <a:pPr indent="0" marL="0">
              <a:buNone/>
            </a:pPr>
            <a:r>
              <a:rPr lang="en-US" sz="1150" dirty="0">
                <a:solidFill>
                  <a:srgbClr val="555E6B"/>
                </a:solidFill>
                <a:latin typeface="Calibri" pitchFamily="34" charset="0"/>
                <a:ea typeface="Calibri" pitchFamily="34" charset="-122"/>
                <a:cs typeface="Calibri" pitchFamily="34" charset="-120"/>
              </a:rPr>
              <a:t>A formal MoU signed September 30, 2026.</a:t>
            </a:r>
            <a:endParaRPr lang="en-US" sz="1150" dirty="0"/>
          </a:p>
        </p:txBody>
      </p:sp>
      <p:sp>
        <p:nvSpPr>
          <p:cNvPr id="24" name="Shape 22"/>
          <p:cNvSpPr/>
          <p:nvPr/>
        </p:nvSpPr>
        <p:spPr>
          <a:xfrm>
            <a:off x="6080760" y="3849624"/>
            <a:ext cx="365760" cy="365760"/>
          </a:xfrm>
          <a:prstGeom prst="ellipse">
            <a:avLst/>
          </a:prstGeom>
          <a:solidFill>
            <a:srgbClr val="555E6B"/>
          </a:solidFill>
          <a:ln/>
        </p:spPr>
      </p:sp>
      <p:sp>
        <p:nvSpPr>
          <p:cNvPr id="25" name="Text 23"/>
          <p:cNvSpPr txBox="1"/>
          <p:nvPr/>
        </p:nvSpPr>
        <p:spPr>
          <a:xfrm>
            <a:off x="6080760" y="3849624"/>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26" name="Text 24"/>
          <p:cNvSpPr txBox="1"/>
          <p:nvPr/>
        </p:nvSpPr>
        <p:spPr>
          <a:xfrm>
            <a:off x="6574536" y="3813048"/>
            <a:ext cx="4855464" cy="329184"/>
          </a:xfrm>
          <a:prstGeom prst="rect">
            <a:avLst/>
          </a:prstGeom>
          <a:noFill/>
          <a:ln/>
        </p:spPr>
        <p:txBody>
          <a:bodyPr wrap="square" lIns="0" tIns="0" rIns="0" bIns="0" rtlCol="0" anchor="ctr"/>
          <a:lstStyle/>
          <a:p>
            <a:pPr indent="0" marL="0">
              <a:buNone/>
            </a:pPr>
            <a:r>
              <a:rPr lang="en-US" sz="1350" b="1" dirty="0">
                <a:solidFill>
                  <a:srgbClr val="1A1A1A"/>
                </a:solidFill>
                <a:latin typeface="Calibri" pitchFamily="34" charset="0"/>
                <a:ea typeface="Calibri" pitchFamily="34" charset="-122"/>
                <a:cs typeface="Calibri" pitchFamily="34" charset="-120"/>
              </a:rPr>
              <a:t>What's still missing</a:t>
            </a:r>
            <a:endParaRPr lang="en-US" sz="1350" dirty="0"/>
          </a:p>
        </p:txBody>
      </p:sp>
      <p:sp>
        <p:nvSpPr>
          <p:cNvPr id="27" name="Text 25"/>
          <p:cNvSpPr txBox="1"/>
          <p:nvPr/>
        </p:nvSpPr>
        <p:spPr>
          <a:xfrm>
            <a:off x="6574536" y="4142232"/>
            <a:ext cx="4855464" cy="777240"/>
          </a:xfrm>
          <a:prstGeom prst="rect">
            <a:avLst/>
          </a:prstGeom>
          <a:noFill/>
          <a:ln/>
        </p:spPr>
        <p:txBody>
          <a:bodyPr wrap="square" lIns="0" tIns="0" rIns="0" bIns="0" rtlCol="0" anchor="t"/>
          <a:lstStyle/>
          <a:p>
            <a:pPr indent="0" marL="0">
              <a:buNone/>
            </a:pPr>
            <a:r>
              <a:rPr lang="en-US" sz="1150" dirty="0">
                <a:solidFill>
                  <a:srgbClr val="555E6B"/>
                </a:solidFill>
                <a:latin typeface="Calibri" pitchFamily="34" charset="0"/>
                <a:ea typeface="Calibri" pitchFamily="34" charset="-122"/>
                <a:cs typeface="Calibri" pitchFamily="34" charset="-120"/>
              </a:rPr>
              <a:t>A real gap in the open specification, and a decade-long global track record.</a:t>
            </a:r>
            <a:endParaRPr lang="en-US" sz="1150" dirty="0"/>
          </a:p>
        </p:txBody>
      </p:sp>
      <p:sp>
        <p:nvSpPr>
          <p:cNvPr id="28" name="Shape 26"/>
          <p:cNvSpPr/>
          <p:nvPr/>
        </p:nvSpPr>
        <p:spPr>
          <a:xfrm>
            <a:off x="457200" y="5020056"/>
            <a:ext cx="365760" cy="365760"/>
          </a:xfrm>
          <a:prstGeom prst="ellipse">
            <a:avLst/>
          </a:prstGeom>
          <a:solidFill>
            <a:srgbClr val="555E6B"/>
          </a:solidFill>
          <a:ln/>
        </p:spPr>
      </p:sp>
      <p:sp>
        <p:nvSpPr>
          <p:cNvPr id="29" name="Text 27"/>
          <p:cNvSpPr txBox="1"/>
          <p:nvPr/>
        </p:nvSpPr>
        <p:spPr>
          <a:xfrm>
            <a:off x="457200" y="5020056"/>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30" name="Text 28"/>
          <p:cNvSpPr txBox="1"/>
          <p:nvPr/>
        </p:nvSpPr>
        <p:spPr>
          <a:xfrm>
            <a:off x="950976" y="4983480"/>
            <a:ext cx="4855464" cy="329184"/>
          </a:xfrm>
          <a:prstGeom prst="rect">
            <a:avLst/>
          </a:prstGeom>
          <a:noFill/>
          <a:ln/>
        </p:spPr>
        <p:txBody>
          <a:bodyPr wrap="square" lIns="0" tIns="0" rIns="0" bIns="0" rtlCol="0" anchor="ctr"/>
          <a:lstStyle/>
          <a:p>
            <a:pPr indent="0" marL="0">
              <a:buNone/>
            </a:pPr>
            <a:r>
              <a:rPr lang="en-US" sz="1350" b="1" dirty="0">
                <a:solidFill>
                  <a:srgbClr val="1A1A1A"/>
                </a:solidFill>
                <a:latin typeface="Calibri" pitchFamily="34" charset="0"/>
                <a:ea typeface="Calibri" pitchFamily="34" charset="-122"/>
                <a:cs typeface="Calibri" pitchFamily="34" charset="-120"/>
              </a:rPr>
              <a:t>The decision</a:t>
            </a:r>
            <a:endParaRPr lang="en-US" sz="1350" dirty="0"/>
          </a:p>
        </p:txBody>
      </p:sp>
      <p:sp>
        <p:nvSpPr>
          <p:cNvPr id="31" name="Text 29"/>
          <p:cNvSpPr txBox="1"/>
          <p:nvPr/>
        </p:nvSpPr>
        <p:spPr>
          <a:xfrm>
            <a:off x="950976" y="5312664"/>
            <a:ext cx="4855464" cy="777240"/>
          </a:xfrm>
          <a:prstGeom prst="rect">
            <a:avLst/>
          </a:prstGeom>
          <a:noFill/>
          <a:ln/>
        </p:spPr>
        <p:txBody>
          <a:bodyPr wrap="square" lIns="0" tIns="0" rIns="0" bIns="0" rtlCol="0" anchor="t"/>
          <a:lstStyle/>
          <a:p>
            <a:pPr indent="0" marL="0">
              <a:buNone/>
            </a:pPr>
            <a:r>
              <a:rPr lang="en-US" sz="1150" dirty="0">
                <a:solidFill>
                  <a:srgbClr val="555E6B"/>
                </a:solidFill>
                <a:latin typeface="Calibri" pitchFamily="34" charset="0"/>
                <a:ea typeface="Calibri" pitchFamily="34" charset="-122"/>
                <a:cs typeface="Calibri" pitchFamily="34" charset="-120"/>
              </a:rPr>
              <a:t>Four real directions, scored honestly by what each is actually worth.</a:t>
            </a:r>
            <a:endParaRPr lang="en-US" sz="1150" dirty="0"/>
          </a:p>
        </p:txBody>
      </p:sp>
      <p:sp>
        <p:nvSpPr>
          <p:cNvPr id="32" name="Text 30"/>
          <p:cNvSpPr txBox="1"/>
          <p:nvPr/>
        </p:nvSpPr>
        <p:spPr>
          <a:xfrm>
            <a:off x="11612880" y="6473952"/>
            <a:ext cx="365760" cy="274320"/>
          </a:xfrm>
          <a:prstGeom prst="rect">
            <a:avLst/>
          </a:prstGeom>
          <a:noFill/>
          <a:ln/>
        </p:spPr>
        <p:txBody>
          <a:bodyPr wrap="square" lIns="0" tIns="0" rIns="0" bIns="0" rtlCol="0" anchor="ctr"/>
          <a:lstStyle/>
          <a:p>
            <a:pPr algn="r" indent="0" marL="0">
              <a:buNone/>
            </a:pPr>
            <a:r>
              <a:rPr lang="en-US" sz="1000" dirty="0">
                <a:solidFill>
                  <a:srgbClr val="555E6B"/>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51560" y="384048"/>
            <a:ext cx="9144000" cy="274320"/>
          </a:xfrm>
          <a:prstGeom prst="rect">
            <a:avLst/>
          </a:prstGeom>
          <a:noFill/>
          <a:ln/>
        </p:spPr>
        <p:txBody>
          <a:bodyPr wrap="square" lIns="0" tIns="0" rIns="0" bIns="0" rtlCol="0" anchor="ctr"/>
          <a:lstStyle/>
          <a:p>
            <a:pPr indent="0" marL="0">
              <a:buNone/>
            </a:pPr>
            <a:r>
              <a:rPr lang="en-US" sz="1200" b="1" spc="100" kern="0" dirty="0">
                <a:solidFill>
                  <a:srgbClr val="555E6B"/>
                </a:solidFill>
                <a:latin typeface="Calibri" pitchFamily="34" charset="0"/>
                <a:ea typeface="Calibri" pitchFamily="34" charset="-122"/>
                <a:cs typeface="Calibri" pitchFamily="34" charset="-120"/>
              </a:rPr>
              <a:t>BACKGROUND</a:t>
            </a:r>
            <a:endParaRPr lang="en-US" sz="1200" dirty="0"/>
          </a:p>
        </p:txBody>
      </p:sp>
      <p:sp>
        <p:nvSpPr>
          <p:cNvPr id="3" name="Text 1"/>
          <p:cNvSpPr txBox="1"/>
          <p:nvPr/>
        </p:nvSpPr>
        <p:spPr>
          <a:xfrm>
            <a:off x="457200" y="713232"/>
            <a:ext cx="11274552" cy="640080"/>
          </a:xfrm>
          <a:prstGeom prst="rect">
            <a:avLst/>
          </a:prstGeom>
          <a:noFill/>
          <a:ln/>
        </p:spPr>
        <p:txBody>
          <a:bodyPr wrap="square" lIns="0" tIns="0" rIns="0" bIns="0" rtlCol="0" anchor="t"/>
          <a:lstStyle/>
          <a:p>
            <a:pPr indent="0" marL="0">
              <a:buNone/>
            </a:pPr>
            <a:r>
              <a:rPr lang="en-US" sz="2800" b="1" dirty="0">
                <a:solidFill>
                  <a:srgbClr val="1A1A1A"/>
                </a:solidFill>
                <a:latin typeface="Calibri" pitchFamily="34" charset="0"/>
                <a:ea typeface="Calibri" pitchFamily="34" charset="-122"/>
                <a:cs typeface="Calibri" pitchFamily="34" charset="-120"/>
              </a:rPr>
              <a:t>What DEG, IES and Beckn Actually Are</a:t>
            </a:r>
            <a:endParaRPr lang="en-US" sz="2800" dirty="0"/>
          </a:p>
        </p:txBody>
      </p:sp>
      <p:sp>
        <p:nvSpPr>
          <p:cNvPr id="4" name="Text 2"/>
          <p:cNvSpPr txBox="1"/>
          <p:nvPr/>
        </p:nvSpPr>
        <p:spPr>
          <a:xfrm>
            <a:off x="457200" y="1691640"/>
            <a:ext cx="11274552" cy="4206240"/>
          </a:xfrm>
          <a:prstGeom prst="rect">
            <a:avLst/>
          </a:prstGeom>
          <a:noFill/>
          <a:ln/>
        </p:spPr>
        <p:txBody>
          <a:bodyPr wrap="square" lIns="0" tIns="0" rIns="0" bIns="0" rtlCol="0" anchor="t"/>
          <a:lstStyle/>
          <a:p>
            <a:pPr marL="342900" indent="-342900">
              <a:lnSpc>
                <a:spcPct val="120000"/>
              </a:lnSpc>
              <a:spcAft>
                <a:spcPts val="1600"/>
              </a:spcAft>
              <a:buSzPct val="100000"/>
              <a:buChar char="•"/>
            </a:pPr>
            <a:r>
              <a:rPr lang="en-US" sz="1600" dirty="0">
                <a:solidFill>
                  <a:srgbClr val="1A1A1A"/>
                </a:solidFill>
                <a:latin typeface="Calibri" pitchFamily="34" charset="0"/>
                <a:ea typeface="Calibri" pitchFamily="34" charset="-122"/>
                <a:cs typeface="Calibri" pitchFamily="34" charset="-120"/>
              </a:rPr>
              <a:t>India Energy Stack (IES): a Ministry of Power initiative for a shared digital backbone for electricity — the same role UPI plays for payments. REC Limited is the government's named nodal agency running it.</a:t>
            </a:r>
            <a:endParaRPr lang="en-US" sz="1600" dirty="0"/>
          </a:p>
          <a:p>
            <a:pPr marL="342900" indent="-342900">
              <a:lnSpc>
                <a:spcPct val="120000"/>
              </a:lnSpc>
              <a:spcAft>
                <a:spcPts val="1600"/>
              </a:spcAft>
              <a:buSzPct val="100000"/>
              <a:buChar char="•"/>
            </a:pPr>
            <a:r>
              <a:rPr lang="en-US" sz="1600" dirty="0">
                <a:solidFill>
                  <a:srgbClr val="1A1A1A"/>
                </a:solidFill>
                <a:latin typeface="Calibri" pitchFamily="34" charset="0"/>
                <a:ea typeface="Calibri" pitchFamily="34" charset="-122"/>
                <a:cs typeface="Calibri" pitchFamily="34" charset="-120"/>
              </a:rPr>
              <a:t>Digital Energy Grid (DEG): the practical build-out of IES — the layer that lets a rooftop solar owner, a DISCOM, a trading app, and a credential all talk using one shared set of rules.</a:t>
            </a:r>
            <a:endParaRPr lang="en-US" sz="1600" dirty="0"/>
          </a:p>
          <a:p>
            <a:pPr marL="342900" indent="-342900">
              <a:lnSpc>
                <a:spcPct val="120000"/>
              </a:lnSpc>
              <a:spcAft>
                <a:spcPts val="1600"/>
              </a:spcAft>
              <a:buSzPct val="100000"/>
              <a:buChar char="•"/>
            </a:pPr>
            <a:r>
              <a:rPr lang="en-US" sz="1600" dirty="0">
                <a:solidFill>
                  <a:srgbClr val="1A1A1A"/>
                </a:solidFill>
                <a:latin typeface="Calibri" pitchFamily="34" charset="0"/>
                <a:ea typeface="Calibri" pitchFamily="34" charset="-122"/>
                <a:cs typeface="Calibri" pitchFamily="34" charset="-120"/>
              </a:rPr>
              <a:t>Beckn Protocol: the open technical standard underneath both — the same transaction protocol used for ONDC in retail commerce, adapted here for electricity discovery and trade.</a:t>
            </a:r>
            <a:endParaRPr lang="en-US" sz="1600" dirty="0"/>
          </a:p>
          <a:p>
            <a:pPr marL="342900" indent="-342900">
              <a:lnSpc>
                <a:spcPct val="120000"/>
              </a:lnSpc>
              <a:spcAft>
                <a:spcPts val="1600"/>
              </a:spcAft>
              <a:buSzPct val="100000"/>
              <a:buChar char="•"/>
            </a:pPr>
            <a:r>
              <a:rPr lang="en-US" sz="1600" dirty="0">
                <a:solidFill>
                  <a:srgbClr val="1A1A1A"/>
                </a:solidFill>
                <a:latin typeface="Calibri" pitchFamily="34" charset="0"/>
                <a:ea typeface="Calibri" pitchFamily="34" charset="-122"/>
                <a:cs typeface="Calibri" pitchFamily="34" charset="-120"/>
              </a:rPr>
              <a:t>None of these three is a single company's product. They are public infrastructure that any company — a startup, a DISCOM, an industrial player — is free to build on top of.</a:t>
            </a:r>
            <a:endParaRPr lang="en-US" sz="1600" dirty="0"/>
          </a:p>
        </p:txBody>
      </p:sp>
      <p:sp>
        <p:nvSpPr>
          <p:cNvPr id="5" name="Text 3"/>
          <p:cNvSpPr txBox="1"/>
          <p:nvPr/>
        </p:nvSpPr>
        <p:spPr>
          <a:xfrm>
            <a:off x="457200" y="6455664"/>
            <a:ext cx="10972800" cy="310896"/>
          </a:xfrm>
          <a:prstGeom prst="rect">
            <a:avLst/>
          </a:prstGeom>
          <a:noFill/>
          <a:ln/>
        </p:spPr>
        <p:txBody>
          <a:bodyPr wrap="square" lIns="0" tIns="0" rIns="0" bIns="0" rtlCol="0" anchor="ctr"/>
          <a:lstStyle/>
          <a:p>
            <a:pPr indent="0" marL="0">
              <a:buNone/>
            </a:pPr>
            <a:r>
              <a:rPr lang="en-US" sz="950" i="1" dirty="0">
                <a:solidFill>
                  <a:srgbClr val="555E6B"/>
                </a:solidFill>
                <a:latin typeface="Calibri" pitchFamily="34" charset="0"/>
                <a:ea typeface="Calibri" pitchFamily="34" charset="-122"/>
                <a:cs typeface="Calibri" pitchFamily="34" charset="-120"/>
              </a:rPr>
              <a:t>Source: </a:t>
            </a:r>
            <a:pPr indent="0" marL="0">
              <a:buNone/>
            </a:pPr>
            <a:r>
              <a:rPr lang="en-US" sz="950" i="1" u="sng" dirty="0">
                <a:solidFill>
                  <a:srgbClr val="1D4ED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Powerline.net.in — "IES Blueprint: India Energy Stack seeks to create an interoperable electricity ecosystem"</a:t>
            </a:r>
            <a:endParaRPr lang="en-US" sz="950" dirty="0"/>
          </a:p>
        </p:txBody>
      </p:sp>
      <p:sp>
        <p:nvSpPr>
          <p:cNvPr id="6" name="Text 4"/>
          <p:cNvSpPr txBox="1"/>
          <p:nvPr/>
        </p:nvSpPr>
        <p:spPr>
          <a:xfrm>
            <a:off x="11612880" y="6473952"/>
            <a:ext cx="365760" cy="274320"/>
          </a:xfrm>
          <a:prstGeom prst="rect">
            <a:avLst/>
          </a:prstGeom>
          <a:noFill/>
          <a:ln/>
        </p:spPr>
        <p:txBody>
          <a:bodyPr wrap="square" lIns="0" tIns="0" rIns="0" bIns="0" rtlCol="0" anchor="ctr"/>
          <a:lstStyle/>
          <a:p>
            <a:pPr algn="r" indent="0" marL="0">
              <a:buNone/>
            </a:pPr>
            <a:r>
              <a:rPr lang="en-US" sz="1000" dirty="0">
                <a:solidFill>
                  <a:srgbClr val="555E6B"/>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ellipse">
            <a:avLst/>
          </a:prstGeom>
          <a:solidFill>
            <a:srgbClr val="1D4ED8"/>
          </a:solidFill>
          <a:ln/>
        </p:spPr>
      </p:sp>
      <p:sp>
        <p:nvSpPr>
          <p:cNvPr id="3" name="Text 1"/>
          <p:cNvSpPr txBox="1"/>
          <p:nvPr/>
        </p:nvSpPr>
        <p:spPr>
          <a:xfrm>
            <a:off x="457200" y="384048"/>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4" name="Text 2"/>
          <p:cNvSpPr txBox="1"/>
          <p:nvPr/>
        </p:nvSpPr>
        <p:spPr>
          <a:xfrm>
            <a:off x="1051560" y="384048"/>
            <a:ext cx="9144000" cy="274320"/>
          </a:xfrm>
          <a:prstGeom prst="rect">
            <a:avLst/>
          </a:prstGeom>
          <a:noFill/>
          <a:ln/>
        </p:spPr>
        <p:txBody>
          <a:bodyPr wrap="square" lIns="0" tIns="0" rIns="0" bIns="0" rtlCol="0" anchor="ctr"/>
          <a:lstStyle/>
          <a:p>
            <a:pPr indent="0" marL="0">
              <a:buNone/>
            </a:pPr>
            <a:r>
              <a:rPr lang="en-US" sz="1200" b="1" spc="100" kern="0" dirty="0">
                <a:solidFill>
                  <a:srgbClr val="1D4ED8"/>
                </a:solidFill>
                <a:latin typeface="Calibri" pitchFamily="34" charset="0"/>
                <a:ea typeface="Calibri" pitchFamily="34" charset="-122"/>
                <a:cs typeface="Calibri" pitchFamily="34" charset="-120"/>
              </a:rPr>
              <a:t>HEADLINE FACT</a:t>
            </a:r>
            <a:endParaRPr lang="en-US" sz="1200" dirty="0"/>
          </a:p>
        </p:txBody>
      </p:sp>
      <p:sp>
        <p:nvSpPr>
          <p:cNvPr id="5" name="Text 3"/>
          <p:cNvSpPr txBox="1"/>
          <p:nvPr/>
        </p:nvSpPr>
        <p:spPr>
          <a:xfrm>
            <a:off x="457200" y="713232"/>
            <a:ext cx="11274552" cy="640080"/>
          </a:xfrm>
          <a:prstGeom prst="rect">
            <a:avLst/>
          </a:prstGeom>
          <a:noFill/>
          <a:ln/>
        </p:spPr>
        <p:txBody>
          <a:bodyPr wrap="square" lIns="0" tIns="0" rIns="0" bIns="0" rtlCol="0" anchor="t"/>
          <a:lstStyle/>
          <a:p>
            <a:pPr indent="0" marL="0">
              <a:buNone/>
            </a:pPr>
            <a:r>
              <a:rPr lang="en-US" sz="2800" b="1" dirty="0">
                <a:solidFill>
                  <a:srgbClr val="1A1A1A"/>
                </a:solidFill>
                <a:latin typeface="Calibri" pitchFamily="34" charset="0"/>
                <a:ea typeface="Calibri" pitchFamily="34" charset="-122"/>
                <a:cs typeface="Calibri" pitchFamily="34" charset="-120"/>
              </a:rPr>
              <a:t>A Real Live Trade Was Demonstrated Nationally</a:t>
            </a:r>
            <a:endParaRPr lang="en-US" sz="2800" dirty="0"/>
          </a:p>
        </p:txBody>
      </p:sp>
      <p:sp>
        <p:nvSpPr>
          <p:cNvPr id="6" name="Text 4"/>
          <p:cNvSpPr txBox="1"/>
          <p:nvPr/>
        </p:nvSpPr>
        <p:spPr>
          <a:xfrm>
            <a:off x="457200" y="1737360"/>
            <a:ext cx="3931920" cy="914400"/>
          </a:xfrm>
          <a:prstGeom prst="rect">
            <a:avLst/>
          </a:prstGeom>
          <a:noFill/>
          <a:ln/>
        </p:spPr>
        <p:txBody>
          <a:bodyPr wrap="square" lIns="0" tIns="0" rIns="0" bIns="0" rtlCol="0" anchor="ctr"/>
          <a:lstStyle/>
          <a:p>
            <a:pPr indent="0" marL="0">
              <a:buNone/>
            </a:pPr>
            <a:r>
              <a:rPr lang="en-US" sz="3800" b="1" dirty="0">
                <a:solidFill>
                  <a:srgbClr val="1D4ED8"/>
                </a:solidFill>
                <a:latin typeface="Calibri" pitchFamily="34" charset="0"/>
                <a:ea typeface="Calibri" pitchFamily="34" charset="-122"/>
                <a:cs typeface="Calibri" pitchFamily="34" charset="-120"/>
              </a:rPr>
              <a:t>19 Feb 2026</a:t>
            </a:r>
            <a:endParaRPr lang="en-US" sz="3800" dirty="0"/>
          </a:p>
        </p:txBody>
      </p:sp>
      <p:sp>
        <p:nvSpPr>
          <p:cNvPr id="7" name="Text 5"/>
          <p:cNvSpPr txBox="1"/>
          <p:nvPr/>
        </p:nvSpPr>
        <p:spPr>
          <a:xfrm>
            <a:off x="457200" y="2606040"/>
            <a:ext cx="3931920" cy="548640"/>
          </a:xfrm>
          <a:prstGeom prst="rect">
            <a:avLst/>
          </a:prstGeom>
          <a:noFill/>
          <a:ln/>
        </p:spPr>
        <p:txBody>
          <a:bodyPr wrap="square" lIns="0" tIns="0" rIns="0" bIns="0" rtlCol="0" anchor="ctr"/>
          <a:lstStyle/>
          <a:p>
            <a:pPr indent="0" marL="0">
              <a:buNone/>
            </a:pPr>
            <a:r>
              <a:rPr lang="en-US" sz="1400" dirty="0">
                <a:solidFill>
                  <a:srgbClr val="555E6B"/>
                </a:solidFill>
                <a:latin typeface="Calibri" pitchFamily="34" charset="0"/>
                <a:ea typeface="Calibri" pitchFamily="34" charset="-122"/>
                <a:cs typeface="Calibri" pitchFamily="34" charset="-120"/>
              </a:rPr>
              <a:t>India AI Impact Summit, New Delhi</a:t>
            </a:r>
            <a:endParaRPr lang="en-US" sz="1400" dirty="0"/>
          </a:p>
        </p:txBody>
      </p:sp>
      <p:sp>
        <p:nvSpPr>
          <p:cNvPr id="8" name="Text 6"/>
          <p:cNvSpPr txBox="1"/>
          <p:nvPr/>
        </p:nvSpPr>
        <p:spPr>
          <a:xfrm>
            <a:off x="4663440" y="1737360"/>
            <a:ext cx="6583680" cy="3017520"/>
          </a:xfrm>
          <a:prstGeom prst="rect">
            <a:avLst/>
          </a:prstGeom>
          <a:noFill/>
          <a:ln/>
        </p:spPr>
        <p:txBody>
          <a:bodyPr wrap="square" lIns="0" tIns="0" rIns="0" bIns="0" rtlCol="0" anchor="t"/>
          <a:lstStyle/>
          <a:p>
            <a:pPr indent="0" marL="0">
              <a:lnSpc>
                <a:spcPct val="120000"/>
              </a:lnSpc>
              <a:spcAft>
                <a:spcPts val="1000"/>
              </a:spcAft>
              <a:buNone/>
            </a:pPr>
            <a:r>
              <a:rPr lang="en-US" sz="1600" dirty="0">
                <a:solidFill>
                  <a:srgbClr val="1A1A1A"/>
                </a:solidFill>
                <a:latin typeface="Calibri" pitchFamily="34" charset="0"/>
                <a:ea typeface="Calibri" pitchFamily="34" charset="-122"/>
                <a:cs typeface="Calibri" pitchFamily="34" charset="-120"/>
              </a:rPr>
              <a:t>REC Limited — the Ministry of Power's own nodal agency — ran a real peer-to-peer energy transaction live on stage, not a slide about one.
</a:t>
            </a:r>
            <a:endParaRPr lang="en-US" sz="1600" dirty="0"/>
          </a:p>
          <a:p>
            <a:pPr indent="0" marL="0">
              <a:lnSpc>
                <a:spcPct val="120000"/>
              </a:lnSpc>
              <a:buNone/>
            </a:pPr>
            <a:r>
              <a:rPr lang="en-US" sz="1600" dirty="0">
                <a:solidFill>
                  <a:srgbClr val="1A1A1A"/>
                </a:solidFill>
                <a:latin typeface="Calibri" pitchFamily="34" charset="0"/>
                <a:ea typeface="Calibri" pitchFamily="34" charset="-122"/>
                <a:cs typeface="Calibri" pitchFamily="34" charset="-120"/>
              </a:rPr>
              <a:t>A farmer in Meerut (Uttar Pradesh) sold 6 units of surplus solar power to a shop owner in Delhi for ₹30, using Pulse Energy's WhatsApp-based AI voice agent, settled through the IES framework.</a:t>
            </a:r>
            <a:endParaRPr lang="en-US" sz="1600" dirty="0"/>
          </a:p>
        </p:txBody>
      </p:sp>
      <p:sp>
        <p:nvSpPr>
          <p:cNvPr id="9" name="Text 7"/>
          <p:cNvSpPr txBox="1"/>
          <p:nvPr/>
        </p:nvSpPr>
        <p:spPr>
          <a:xfrm>
            <a:off x="457200" y="6455664"/>
            <a:ext cx="10972800" cy="310896"/>
          </a:xfrm>
          <a:prstGeom prst="rect">
            <a:avLst/>
          </a:prstGeom>
          <a:noFill/>
          <a:ln/>
        </p:spPr>
        <p:txBody>
          <a:bodyPr wrap="square" lIns="0" tIns="0" rIns="0" bIns="0" rtlCol="0" anchor="ctr"/>
          <a:lstStyle/>
          <a:p>
            <a:pPr indent="0" marL="0">
              <a:buNone/>
            </a:pPr>
            <a:r>
              <a:rPr lang="en-US" sz="950" i="1" dirty="0">
                <a:solidFill>
                  <a:srgbClr val="555E6B"/>
                </a:solidFill>
                <a:latin typeface="Calibri" pitchFamily="34" charset="0"/>
                <a:ea typeface="Calibri" pitchFamily="34" charset="-122"/>
                <a:cs typeface="Calibri" pitchFamily="34" charset="-120"/>
              </a:rPr>
              <a:t>Source: </a:t>
            </a:r>
            <a:pPr indent="0" marL="0">
              <a:buNone/>
            </a:pPr>
            <a:r>
              <a:rPr lang="en-US" sz="950" i="1" u="sng" dirty="0">
                <a:solidFill>
                  <a:srgbClr val="1D4ED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PV Magazine India — "REC conducts live demo of peer-to-peer decentralized energy transaction at India AI Impact Summit 2026"</a:t>
            </a:r>
            <a:pPr indent="0" marL="0">
              <a:buNone/>
            </a:pPr>
            <a:r>
              <a:rPr lang="en-US" sz="950" i="1" dirty="0">
                <a:solidFill>
                  <a:srgbClr val="555E6B"/>
                </a:solidFill>
                <a:latin typeface="Calibri" pitchFamily="34" charset="0"/>
                <a:ea typeface="Calibri" pitchFamily="34" charset="-122"/>
                <a:cs typeface="Calibri" pitchFamily="34" charset="-120"/>
              </a:rPr>
              <a:t>  ·  </a:t>
            </a:r>
            <a:pPr indent="0" marL="0">
              <a:buNone/>
            </a:pPr>
            <a:r>
              <a:rPr lang="en-US" sz="950" i="1" u="sng" dirty="0">
                <a:solidFill>
                  <a:srgbClr val="1D4ED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evreporter.com — "A Comprehensive Explainer on P2P Energy Trading in India"</a:t>
            </a:r>
            <a:endParaRPr lang="en-US" sz="950" dirty="0"/>
          </a:p>
        </p:txBody>
      </p:sp>
      <p:sp>
        <p:nvSpPr>
          <p:cNvPr id="10" name="Text 8"/>
          <p:cNvSpPr txBox="1"/>
          <p:nvPr/>
        </p:nvSpPr>
        <p:spPr>
          <a:xfrm>
            <a:off x="11612880" y="6473952"/>
            <a:ext cx="365760" cy="274320"/>
          </a:xfrm>
          <a:prstGeom prst="rect">
            <a:avLst/>
          </a:prstGeom>
          <a:noFill/>
          <a:ln/>
        </p:spPr>
        <p:txBody>
          <a:bodyPr wrap="square" lIns="0" tIns="0" rIns="0" bIns="0" rtlCol="0" anchor="ctr"/>
          <a:lstStyle/>
          <a:p>
            <a:pPr algn="r" indent="0" marL="0">
              <a:buNone/>
            </a:pPr>
            <a:r>
              <a:rPr lang="en-US" sz="1000" dirty="0">
                <a:solidFill>
                  <a:srgbClr val="555E6B"/>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ellipse">
            <a:avLst/>
          </a:prstGeom>
          <a:solidFill>
            <a:srgbClr val="1D4ED8"/>
          </a:solidFill>
          <a:ln/>
        </p:spPr>
      </p:sp>
      <p:sp>
        <p:nvSpPr>
          <p:cNvPr id="3" name="Text 1"/>
          <p:cNvSpPr txBox="1"/>
          <p:nvPr/>
        </p:nvSpPr>
        <p:spPr>
          <a:xfrm>
            <a:off x="457200" y="384048"/>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4" name="Text 2"/>
          <p:cNvSpPr txBox="1"/>
          <p:nvPr/>
        </p:nvSpPr>
        <p:spPr>
          <a:xfrm>
            <a:off x="1051560" y="384048"/>
            <a:ext cx="9144000" cy="274320"/>
          </a:xfrm>
          <a:prstGeom prst="rect">
            <a:avLst/>
          </a:prstGeom>
          <a:noFill/>
          <a:ln/>
        </p:spPr>
        <p:txBody>
          <a:bodyPr wrap="square" lIns="0" tIns="0" rIns="0" bIns="0" rtlCol="0" anchor="ctr"/>
          <a:lstStyle/>
          <a:p>
            <a:pPr indent="0" marL="0">
              <a:buNone/>
            </a:pPr>
            <a:r>
              <a:rPr lang="en-US" sz="1200" b="1" spc="100" kern="0" dirty="0">
                <a:solidFill>
                  <a:srgbClr val="1D4ED8"/>
                </a:solidFill>
                <a:latin typeface="Calibri" pitchFamily="34" charset="0"/>
                <a:ea typeface="Calibri" pitchFamily="34" charset="-122"/>
                <a:cs typeface="Calibri" pitchFamily="34" charset="-120"/>
              </a:rPr>
              <a:t>THE LEGAL BACKBONE</a:t>
            </a:r>
            <a:endParaRPr lang="en-US" sz="1200" dirty="0"/>
          </a:p>
        </p:txBody>
      </p:sp>
      <p:sp>
        <p:nvSpPr>
          <p:cNvPr id="5" name="Text 3"/>
          <p:cNvSpPr txBox="1"/>
          <p:nvPr/>
        </p:nvSpPr>
        <p:spPr>
          <a:xfrm>
            <a:off x="457200" y="713232"/>
            <a:ext cx="11274552" cy="640080"/>
          </a:xfrm>
          <a:prstGeom prst="rect">
            <a:avLst/>
          </a:prstGeom>
          <a:noFill/>
          <a:ln/>
        </p:spPr>
        <p:txBody>
          <a:bodyPr wrap="square" lIns="0" tIns="0" rIns="0" bIns="0" rtlCol="0" anchor="t"/>
          <a:lstStyle/>
          <a:p>
            <a:pPr indent="0" marL="0">
              <a:buNone/>
            </a:pPr>
            <a:r>
              <a:rPr lang="en-US" sz="2800" b="1" dirty="0">
                <a:solidFill>
                  <a:srgbClr val="1A1A1A"/>
                </a:solidFill>
                <a:latin typeface="Calibri" pitchFamily="34" charset="0"/>
                <a:ea typeface="Calibri" pitchFamily="34" charset="-122"/>
                <a:cs typeface="Calibri" pitchFamily="34" charset="-120"/>
              </a:rPr>
              <a:t>Two Real Regulators Made This Legal</a:t>
            </a:r>
            <a:endParaRPr lang="en-US" sz="2800" dirty="0"/>
          </a:p>
        </p:txBody>
      </p:sp>
      <p:sp>
        <p:nvSpPr>
          <p:cNvPr id="6" name="Text 4"/>
          <p:cNvSpPr txBox="1"/>
          <p:nvPr/>
        </p:nvSpPr>
        <p:spPr>
          <a:xfrm>
            <a:off x="457200" y="1691640"/>
            <a:ext cx="11274552" cy="4206240"/>
          </a:xfrm>
          <a:prstGeom prst="rect">
            <a:avLst/>
          </a:prstGeom>
          <a:noFill/>
          <a:ln/>
        </p:spPr>
        <p:txBody>
          <a:bodyPr wrap="square" lIns="0" tIns="0" rIns="0" bIns="0" rtlCol="0" anchor="t"/>
          <a:lstStyle/>
          <a:p>
            <a:pPr marL="342900" indent="-342900">
              <a:lnSpc>
                <a:spcPct val="115000"/>
              </a:lnSpc>
              <a:spcAft>
                <a:spcPts val="1400"/>
              </a:spcAft>
              <a:buSzPct val="100000"/>
              <a:buChar char="•"/>
            </a:pPr>
            <a:r>
              <a:rPr lang="en-US" sz="1500" dirty="0">
                <a:solidFill>
                  <a:srgbClr val="1A1A1A"/>
                </a:solidFill>
                <a:latin typeface="Calibri" pitchFamily="34" charset="0"/>
                <a:ea typeface="Calibri" pitchFamily="34" charset="-122"/>
                <a:cs typeface="Calibri" pitchFamily="34" charset="-120"/>
              </a:rPr>
              <a:t>DERC (Delhi Electricity Regulatory Commission) issued its Peer-to-Peer Energy Transaction Guidelines in 2024 — technology-neutral (blockchain "or any other technology"), capped at 200 kW sanctioned load, prosumer solar capped at 500% of that load.</a:t>
            </a:r>
            <a:endParaRPr lang="en-US" sz="1500" dirty="0"/>
          </a:p>
          <a:p>
            <a:pPr marL="342900" indent="-342900">
              <a:lnSpc>
                <a:spcPct val="115000"/>
              </a:lnSpc>
              <a:spcAft>
                <a:spcPts val="1400"/>
              </a:spcAft>
              <a:buSzPct val="100000"/>
              <a:buChar char="•"/>
            </a:pPr>
            <a:r>
              <a:rPr lang="en-US" sz="1500" dirty="0">
                <a:solidFill>
                  <a:srgbClr val="1A1A1A"/>
                </a:solidFill>
                <a:latin typeface="Calibri" pitchFamily="34" charset="0"/>
                <a:ea typeface="Calibri" pitchFamily="34" charset="-122"/>
                <a:cs typeface="Calibri" pitchFamily="34" charset="-120"/>
              </a:rPr>
              <a:t>In Feb 2026, DERC approved BRPL's and TPDDL's petitions for a live pilot — up to 6 months, covering both intra-Delhi trades and inter-state trades with PVVNL (Uttar Pradesh).</a:t>
            </a:r>
            <a:endParaRPr lang="en-US" sz="1500" dirty="0"/>
          </a:p>
          <a:p>
            <a:pPr marL="342900" indent="-342900">
              <a:lnSpc>
                <a:spcPct val="115000"/>
              </a:lnSpc>
              <a:spcAft>
                <a:spcPts val="1400"/>
              </a:spcAft>
              <a:buSzPct val="100000"/>
              <a:buChar char="•"/>
            </a:pPr>
            <a:r>
              <a:rPr lang="en-US" sz="1500" dirty="0">
                <a:solidFill>
                  <a:srgbClr val="1A1A1A"/>
                </a:solidFill>
                <a:latin typeface="Calibri" pitchFamily="34" charset="0"/>
                <a:ea typeface="Calibri" pitchFamily="34" charset="-122"/>
                <a:cs typeface="Calibri" pitchFamily="34" charset="-120"/>
              </a:rPr>
              <a:t>UPERC (Uttar Pradesh) separately approved the matching inter-state side of the same pilot.</a:t>
            </a:r>
            <a:endParaRPr lang="en-US" sz="1500" dirty="0"/>
          </a:p>
          <a:p>
            <a:pPr marL="342900" indent="-342900">
              <a:lnSpc>
                <a:spcPct val="115000"/>
              </a:lnSpc>
              <a:spcAft>
                <a:spcPts val="1400"/>
              </a:spcAft>
              <a:buSzPct val="100000"/>
              <a:buChar char="•"/>
            </a:pPr>
            <a:r>
              <a:rPr lang="en-US" sz="1500" dirty="0">
                <a:solidFill>
                  <a:srgbClr val="1A1A1A"/>
                </a:solidFill>
                <a:latin typeface="Calibri" pitchFamily="34" charset="0"/>
                <a:ea typeface="Calibri" pitchFamily="34" charset="-122"/>
                <a:cs typeface="Calibri" pitchFamily="34" charset="-120"/>
              </a:rPr>
              <a:t>Commercial terms are fixed by order: ₹0.42/kWh transaction fee including GST, split ₹0.21 each between buyer and seller. No wheeling charge within Delhi; ₹1.01/unit wheeling charge for PVVNL-side prosumers.</a:t>
            </a:r>
            <a:endParaRPr lang="en-US" sz="1500" dirty="0"/>
          </a:p>
        </p:txBody>
      </p:sp>
      <p:sp>
        <p:nvSpPr>
          <p:cNvPr id="7" name="Text 5"/>
          <p:cNvSpPr txBox="1"/>
          <p:nvPr/>
        </p:nvSpPr>
        <p:spPr>
          <a:xfrm>
            <a:off x="457200" y="6455664"/>
            <a:ext cx="10972800" cy="310896"/>
          </a:xfrm>
          <a:prstGeom prst="rect">
            <a:avLst/>
          </a:prstGeom>
          <a:noFill/>
          <a:ln/>
        </p:spPr>
        <p:txBody>
          <a:bodyPr wrap="square" lIns="0" tIns="0" rIns="0" bIns="0" rtlCol="0" anchor="ctr"/>
          <a:lstStyle/>
          <a:p>
            <a:pPr indent="0" marL="0">
              <a:buNone/>
            </a:pPr>
            <a:r>
              <a:rPr lang="en-US" sz="950" i="1" dirty="0">
                <a:solidFill>
                  <a:srgbClr val="555E6B"/>
                </a:solidFill>
                <a:latin typeface="Calibri" pitchFamily="34" charset="0"/>
                <a:ea typeface="Calibri" pitchFamily="34" charset="-122"/>
                <a:cs typeface="Calibri" pitchFamily="34" charset="-120"/>
              </a:rPr>
              <a:t>Source: </a:t>
            </a:r>
            <a:pPr indent="0" marL="0">
              <a:buNone/>
            </a:pPr>
            <a:r>
              <a:rPr lang="en-US" sz="950" i="1" u="sng" dirty="0">
                <a:solidFill>
                  <a:srgbClr val="1D4ED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DERC — Order in Petition No. 06/2026 (official PDF)</a:t>
            </a:r>
            <a:pPr indent="0" marL="0">
              <a:buNone/>
            </a:pPr>
            <a:r>
              <a:rPr lang="en-US" sz="950" i="1" dirty="0">
                <a:solidFill>
                  <a:srgbClr val="555E6B"/>
                </a:solidFill>
                <a:latin typeface="Calibri" pitchFamily="34" charset="0"/>
                <a:ea typeface="Calibri" pitchFamily="34" charset="-122"/>
                <a:cs typeface="Calibri" pitchFamily="34" charset="-120"/>
              </a:rPr>
              <a:t>  ·  </a:t>
            </a:r>
            <a:pPr indent="0" marL="0">
              <a:buNone/>
            </a:pPr>
            <a:r>
              <a:rPr lang="en-US" sz="950" i="1" u="sng" dirty="0">
                <a:solidFill>
                  <a:srgbClr val="1D4ED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Delhi Electricity Regulatory Commission (P2P Energy Transaction) Guidelines, 2024</a:t>
            </a:r>
            <a:pPr indent="0" marL="0">
              <a:buNone/>
            </a:pPr>
            <a:r>
              <a:rPr lang="en-US" sz="950" i="1" dirty="0">
                <a:solidFill>
                  <a:srgbClr val="555E6B"/>
                </a:solidFill>
                <a:latin typeface="Calibri" pitchFamily="34" charset="0"/>
                <a:ea typeface="Calibri" pitchFamily="34" charset="-122"/>
                <a:cs typeface="Calibri" pitchFamily="34" charset="-120"/>
              </a:rPr>
              <a:t>  ·  </a:t>
            </a:r>
            <a:pPr indent="0" marL="0">
              <a:buNone/>
            </a:pPr>
            <a:r>
              <a:rPr lang="en-US" sz="950" i="1" u="sng" dirty="0">
                <a:solidFill>
                  <a:srgbClr val="1D4ED8"/>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Energetica India — UPERC extension article</a:t>
            </a:r>
            <a:endParaRPr lang="en-US" sz="950" dirty="0"/>
          </a:p>
        </p:txBody>
      </p:sp>
      <p:sp>
        <p:nvSpPr>
          <p:cNvPr id="8" name="Text 6"/>
          <p:cNvSpPr txBox="1"/>
          <p:nvPr/>
        </p:nvSpPr>
        <p:spPr>
          <a:xfrm>
            <a:off x="11612880" y="6473952"/>
            <a:ext cx="365760" cy="274320"/>
          </a:xfrm>
          <a:prstGeom prst="rect">
            <a:avLst/>
          </a:prstGeom>
          <a:noFill/>
          <a:ln/>
        </p:spPr>
        <p:txBody>
          <a:bodyPr wrap="square" lIns="0" tIns="0" rIns="0" bIns="0" rtlCol="0" anchor="ctr"/>
          <a:lstStyle/>
          <a:p>
            <a:pPr algn="r" indent="0" marL="0">
              <a:buNone/>
            </a:pPr>
            <a:r>
              <a:rPr lang="en-US" sz="1000" dirty="0">
                <a:solidFill>
                  <a:srgbClr val="555E6B"/>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ellipse">
            <a:avLst/>
          </a:prstGeom>
          <a:solidFill>
            <a:srgbClr val="1E7A3C"/>
          </a:solidFill>
          <a:ln/>
        </p:spPr>
      </p:sp>
      <p:sp>
        <p:nvSpPr>
          <p:cNvPr id="3" name="Text 1"/>
          <p:cNvSpPr txBox="1"/>
          <p:nvPr/>
        </p:nvSpPr>
        <p:spPr>
          <a:xfrm>
            <a:off x="457200" y="384048"/>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4" name="Text 2"/>
          <p:cNvSpPr txBox="1"/>
          <p:nvPr/>
        </p:nvSpPr>
        <p:spPr>
          <a:xfrm>
            <a:off x="1051560" y="384048"/>
            <a:ext cx="9144000" cy="274320"/>
          </a:xfrm>
          <a:prstGeom prst="rect">
            <a:avLst/>
          </a:prstGeom>
          <a:noFill/>
          <a:ln/>
        </p:spPr>
        <p:txBody>
          <a:bodyPr wrap="square" lIns="0" tIns="0" rIns="0" bIns="0" rtlCol="0" anchor="ctr"/>
          <a:lstStyle/>
          <a:p>
            <a:pPr indent="0" marL="0">
              <a:buNone/>
            </a:pPr>
            <a:r>
              <a:rPr lang="en-US" sz="1200" b="1" spc="100" kern="0" dirty="0">
                <a:solidFill>
                  <a:srgbClr val="1E7A3C"/>
                </a:solidFill>
                <a:latin typeface="Calibri" pitchFamily="34" charset="0"/>
                <a:ea typeface="Calibri" pitchFamily="34" charset="-122"/>
                <a:cs typeface="Calibri" pitchFamily="34" charset="-120"/>
              </a:rPr>
              <a:t>THE SCOREBOARD</a:t>
            </a:r>
            <a:endParaRPr lang="en-US" sz="1200" dirty="0"/>
          </a:p>
        </p:txBody>
      </p:sp>
      <p:sp>
        <p:nvSpPr>
          <p:cNvPr id="5" name="Text 3"/>
          <p:cNvSpPr txBox="1"/>
          <p:nvPr/>
        </p:nvSpPr>
        <p:spPr>
          <a:xfrm>
            <a:off x="457200" y="713232"/>
            <a:ext cx="11274552" cy="640080"/>
          </a:xfrm>
          <a:prstGeom prst="rect">
            <a:avLst/>
          </a:prstGeom>
          <a:noFill/>
          <a:ln/>
        </p:spPr>
        <p:txBody>
          <a:bodyPr wrap="square" lIns="0" tIns="0" rIns="0" bIns="0" rtlCol="0" anchor="t"/>
          <a:lstStyle/>
          <a:p>
            <a:pPr indent="0" marL="0">
              <a:buNone/>
            </a:pPr>
            <a:r>
              <a:rPr lang="en-US" sz="2800" b="1" dirty="0">
                <a:solidFill>
                  <a:srgbClr val="1A1A1A"/>
                </a:solidFill>
                <a:latin typeface="Calibri" pitchFamily="34" charset="0"/>
                <a:ea typeface="Calibri" pitchFamily="34" charset="-122"/>
                <a:cs typeface="Calibri" pitchFamily="34" charset="-120"/>
              </a:rPr>
              <a:t>Real Trades, Not Just a Pilot on Paper</a:t>
            </a:r>
            <a:endParaRPr lang="en-US" sz="2800" dirty="0"/>
          </a:p>
        </p:txBody>
      </p:sp>
      <p:sp>
        <p:nvSpPr>
          <p:cNvPr id="6" name="Text 4"/>
          <p:cNvSpPr txBox="1"/>
          <p:nvPr/>
        </p:nvSpPr>
        <p:spPr>
          <a:xfrm>
            <a:off x="457200" y="1737360"/>
            <a:ext cx="3566160" cy="914400"/>
          </a:xfrm>
          <a:prstGeom prst="rect">
            <a:avLst/>
          </a:prstGeom>
          <a:noFill/>
          <a:ln/>
        </p:spPr>
        <p:txBody>
          <a:bodyPr wrap="square" lIns="0" tIns="0" rIns="0" bIns="0" rtlCol="0" anchor="ctr"/>
          <a:lstStyle/>
          <a:p>
            <a:pPr algn="ctr" indent="0" marL="0">
              <a:buNone/>
            </a:pPr>
            <a:r>
              <a:rPr lang="en-US" sz="3800" b="1" dirty="0">
                <a:solidFill>
                  <a:srgbClr val="1E7A3C"/>
                </a:solidFill>
                <a:latin typeface="Calibri" pitchFamily="34" charset="0"/>
                <a:ea typeface="Calibri" pitchFamily="34" charset="-122"/>
                <a:cs typeface="Calibri" pitchFamily="34" charset="-120"/>
              </a:rPr>
              <a:t>1,164</a:t>
            </a:r>
            <a:endParaRPr lang="en-US" sz="3800" dirty="0"/>
          </a:p>
        </p:txBody>
      </p:sp>
      <p:sp>
        <p:nvSpPr>
          <p:cNvPr id="7" name="Text 5"/>
          <p:cNvSpPr txBox="1"/>
          <p:nvPr/>
        </p:nvSpPr>
        <p:spPr>
          <a:xfrm>
            <a:off x="457200" y="2606040"/>
            <a:ext cx="3566160" cy="822960"/>
          </a:xfrm>
          <a:prstGeom prst="rect">
            <a:avLst/>
          </a:prstGeom>
          <a:noFill/>
          <a:ln/>
        </p:spPr>
        <p:txBody>
          <a:bodyPr wrap="square" lIns="0" tIns="0" rIns="0" bIns="0" rtlCol="0" anchor="t"/>
          <a:lstStyle/>
          <a:p>
            <a:pPr algn="ctr" indent="0" marL="0">
              <a:buNone/>
            </a:pPr>
            <a:r>
              <a:rPr lang="en-US" sz="1300" dirty="0">
                <a:solidFill>
                  <a:srgbClr val="555E6B"/>
                </a:solidFill>
                <a:latin typeface="Calibri" pitchFamily="34" charset="0"/>
                <a:ea typeface="Calibri" pitchFamily="34" charset="-122"/>
                <a:cs typeface="Calibri" pitchFamily="34" charset="-120"/>
              </a:rPr>
              <a:t>trades executed and settled, Feb–Jul 2026</a:t>
            </a:r>
            <a:endParaRPr lang="en-US" sz="1300" dirty="0"/>
          </a:p>
        </p:txBody>
      </p:sp>
      <p:sp>
        <p:nvSpPr>
          <p:cNvPr id="8" name="Text 6"/>
          <p:cNvSpPr txBox="1"/>
          <p:nvPr/>
        </p:nvSpPr>
        <p:spPr>
          <a:xfrm>
            <a:off x="4261104" y="1737360"/>
            <a:ext cx="3566160" cy="914400"/>
          </a:xfrm>
          <a:prstGeom prst="rect">
            <a:avLst/>
          </a:prstGeom>
          <a:noFill/>
          <a:ln/>
        </p:spPr>
        <p:txBody>
          <a:bodyPr wrap="square" lIns="0" tIns="0" rIns="0" bIns="0" rtlCol="0" anchor="ctr"/>
          <a:lstStyle/>
          <a:p>
            <a:pPr algn="ctr" indent="0" marL="0">
              <a:buNone/>
            </a:pPr>
            <a:r>
              <a:rPr lang="en-US" sz="3800" b="1" dirty="0">
                <a:solidFill>
                  <a:srgbClr val="1E7A3C"/>
                </a:solidFill>
                <a:latin typeface="Calibri" pitchFamily="34" charset="0"/>
                <a:ea typeface="Calibri" pitchFamily="34" charset="-122"/>
                <a:cs typeface="Calibri" pitchFamily="34" charset="-120"/>
              </a:rPr>
              <a:t>₹0.42/kWh</a:t>
            </a:r>
            <a:endParaRPr lang="en-US" sz="3800" dirty="0"/>
          </a:p>
        </p:txBody>
      </p:sp>
      <p:sp>
        <p:nvSpPr>
          <p:cNvPr id="9" name="Text 7"/>
          <p:cNvSpPr txBox="1"/>
          <p:nvPr/>
        </p:nvSpPr>
        <p:spPr>
          <a:xfrm>
            <a:off x="4261104" y="2606040"/>
            <a:ext cx="3566160" cy="822960"/>
          </a:xfrm>
          <a:prstGeom prst="rect">
            <a:avLst/>
          </a:prstGeom>
          <a:noFill/>
          <a:ln/>
        </p:spPr>
        <p:txBody>
          <a:bodyPr wrap="square" lIns="0" tIns="0" rIns="0" bIns="0" rtlCol="0" anchor="t"/>
          <a:lstStyle/>
          <a:p>
            <a:pPr algn="ctr" indent="0" marL="0">
              <a:buNone/>
            </a:pPr>
            <a:r>
              <a:rPr lang="en-US" sz="1300" dirty="0">
                <a:solidFill>
                  <a:srgbClr val="555E6B"/>
                </a:solidFill>
                <a:latin typeface="Calibri" pitchFamily="34" charset="0"/>
                <a:ea typeface="Calibri" pitchFamily="34" charset="-122"/>
                <a:cs typeface="Calibri" pitchFamily="34" charset="-120"/>
              </a:rPr>
              <a:t>transaction fee, regulator-set</a:t>
            </a:r>
            <a:endParaRPr lang="en-US" sz="1300" dirty="0"/>
          </a:p>
        </p:txBody>
      </p:sp>
      <p:sp>
        <p:nvSpPr>
          <p:cNvPr id="10" name="Text 8"/>
          <p:cNvSpPr txBox="1"/>
          <p:nvPr/>
        </p:nvSpPr>
        <p:spPr>
          <a:xfrm>
            <a:off x="8065008" y="1737360"/>
            <a:ext cx="3566160" cy="914400"/>
          </a:xfrm>
          <a:prstGeom prst="rect">
            <a:avLst/>
          </a:prstGeom>
          <a:noFill/>
          <a:ln/>
        </p:spPr>
        <p:txBody>
          <a:bodyPr wrap="square" lIns="0" tIns="0" rIns="0" bIns="0" rtlCol="0" anchor="ctr"/>
          <a:lstStyle/>
          <a:p>
            <a:pPr algn="ctr" indent="0" marL="0">
              <a:buNone/>
            </a:pPr>
            <a:r>
              <a:rPr lang="en-US" sz="3800" b="1" dirty="0">
                <a:solidFill>
                  <a:srgbClr val="1E7A3C"/>
                </a:solidFill>
                <a:latin typeface="Calibri" pitchFamily="34" charset="0"/>
                <a:ea typeface="Calibri" pitchFamily="34" charset="-122"/>
                <a:cs typeface="Calibri" pitchFamily="34" charset="-120"/>
              </a:rPr>
              <a:t>Mar 2027</a:t>
            </a:r>
            <a:endParaRPr lang="en-US" sz="3800" dirty="0"/>
          </a:p>
        </p:txBody>
      </p:sp>
      <p:sp>
        <p:nvSpPr>
          <p:cNvPr id="11" name="Text 9"/>
          <p:cNvSpPr txBox="1"/>
          <p:nvPr/>
        </p:nvSpPr>
        <p:spPr>
          <a:xfrm>
            <a:off x="8065008" y="2606040"/>
            <a:ext cx="3566160" cy="822960"/>
          </a:xfrm>
          <a:prstGeom prst="rect">
            <a:avLst/>
          </a:prstGeom>
          <a:noFill/>
          <a:ln/>
        </p:spPr>
        <p:txBody>
          <a:bodyPr wrap="square" lIns="0" tIns="0" rIns="0" bIns="0" rtlCol="0" anchor="t"/>
          <a:lstStyle/>
          <a:p>
            <a:pPr algn="ctr" indent="0" marL="0">
              <a:buNone/>
            </a:pPr>
            <a:r>
              <a:rPr lang="en-US" sz="1300" dirty="0">
                <a:solidFill>
                  <a:srgbClr val="555E6B"/>
                </a:solidFill>
                <a:latin typeface="Calibri" pitchFamily="34" charset="0"/>
                <a:ea typeface="Calibri" pitchFamily="34" charset="-122"/>
                <a:cs typeface="Calibri" pitchFamily="34" charset="-120"/>
              </a:rPr>
              <a:t>pilot extension, granted by UPERC</a:t>
            </a:r>
            <a:endParaRPr lang="en-US" sz="1300" dirty="0"/>
          </a:p>
        </p:txBody>
      </p:sp>
      <p:sp>
        <p:nvSpPr>
          <p:cNvPr id="12" name="Text 10"/>
          <p:cNvSpPr txBox="1"/>
          <p:nvPr/>
        </p:nvSpPr>
        <p:spPr>
          <a:xfrm>
            <a:off x="457200" y="3931920"/>
            <a:ext cx="11274552" cy="731520"/>
          </a:xfrm>
          <a:prstGeom prst="rect">
            <a:avLst/>
          </a:prstGeom>
          <a:noFill/>
          <a:ln/>
        </p:spPr>
        <p:txBody>
          <a:bodyPr wrap="square" lIns="0" tIns="0" rIns="0" bIns="0" rtlCol="0" anchor="t"/>
          <a:lstStyle/>
          <a:p>
            <a:pPr indent="0" marL="0">
              <a:buNone/>
            </a:pPr>
            <a:r>
              <a:rPr lang="en-US" sz="1600" b="1" dirty="0">
                <a:solidFill>
                  <a:srgbClr val="1A1A1A"/>
                </a:solidFill>
                <a:latin typeface="Calibri" pitchFamily="34" charset="0"/>
                <a:ea typeface="Calibri" pitchFamily="34" charset="-122"/>
                <a:cs typeface="Calibri" pitchFamily="34" charset="-120"/>
              </a:rPr>
              <a:t>The pilot wasn't quietly shut down after a trial window — UPERC extended it, based on these results. Regulators don't extend pilots that failed.</a:t>
            </a:r>
            <a:endParaRPr lang="en-US" sz="1600" dirty="0"/>
          </a:p>
        </p:txBody>
      </p:sp>
      <p:sp>
        <p:nvSpPr>
          <p:cNvPr id="13" name="Text 11"/>
          <p:cNvSpPr txBox="1"/>
          <p:nvPr/>
        </p:nvSpPr>
        <p:spPr>
          <a:xfrm>
            <a:off x="457200" y="6455664"/>
            <a:ext cx="10972800" cy="310896"/>
          </a:xfrm>
          <a:prstGeom prst="rect">
            <a:avLst/>
          </a:prstGeom>
          <a:noFill/>
          <a:ln/>
        </p:spPr>
        <p:txBody>
          <a:bodyPr wrap="square" lIns="0" tIns="0" rIns="0" bIns="0" rtlCol="0" anchor="ctr"/>
          <a:lstStyle/>
          <a:p>
            <a:pPr indent="0" marL="0">
              <a:buNone/>
            </a:pPr>
            <a:r>
              <a:rPr lang="en-US" sz="950" i="1" dirty="0">
                <a:solidFill>
                  <a:srgbClr val="555E6B"/>
                </a:solidFill>
                <a:latin typeface="Calibri" pitchFamily="34" charset="0"/>
                <a:ea typeface="Calibri" pitchFamily="34" charset="-122"/>
                <a:cs typeface="Calibri" pitchFamily="34" charset="-120"/>
              </a:rPr>
              <a:t>Source: </a:t>
            </a:r>
            <a:pPr indent="0" marL="0">
              <a:buNone/>
            </a:pPr>
            <a:r>
              <a:rPr lang="en-US" sz="950" i="1" u="sng" dirty="0">
                <a:solidFill>
                  <a:srgbClr val="1D4ED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Energetica India — "UPERC extends interstate P2P renewable energy trading pilot to March 2027"</a:t>
            </a:r>
            <a:endParaRPr lang="en-US" sz="950" dirty="0"/>
          </a:p>
        </p:txBody>
      </p:sp>
      <p:sp>
        <p:nvSpPr>
          <p:cNvPr id="14" name="Text 12"/>
          <p:cNvSpPr txBox="1"/>
          <p:nvPr/>
        </p:nvSpPr>
        <p:spPr>
          <a:xfrm>
            <a:off x="11612880" y="6473952"/>
            <a:ext cx="365760" cy="274320"/>
          </a:xfrm>
          <a:prstGeom prst="rect">
            <a:avLst/>
          </a:prstGeom>
          <a:noFill/>
          <a:ln/>
        </p:spPr>
        <p:txBody>
          <a:bodyPr wrap="square" lIns="0" tIns="0" rIns="0" bIns="0" rtlCol="0" anchor="ctr"/>
          <a:lstStyle/>
          <a:p>
            <a:pPr algn="r" indent="0" marL="0">
              <a:buNone/>
            </a:pPr>
            <a:r>
              <a:rPr lang="en-US" sz="1000" dirty="0">
                <a:solidFill>
                  <a:srgbClr val="555E6B"/>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ellipse">
            <a:avLst/>
          </a:prstGeom>
          <a:solidFill>
            <a:srgbClr val="1D4ED8"/>
          </a:solidFill>
          <a:ln/>
        </p:spPr>
      </p:sp>
      <p:sp>
        <p:nvSpPr>
          <p:cNvPr id="3" name="Text 1"/>
          <p:cNvSpPr txBox="1"/>
          <p:nvPr/>
        </p:nvSpPr>
        <p:spPr>
          <a:xfrm>
            <a:off x="457200" y="384048"/>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4" name="Text 2"/>
          <p:cNvSpPr txBox="1"/>
          <p:nvPr/>
        </p:nvSpPr>
        <p:spPr>
          <a:xfrm>
            <a:off x="1051560" y="384048"/>
            <a:ext cx="9144000" cy="274320"/>
          </a:xfrm>
          <a:prstGeom prst="rect">
            <a:avLst/>
          </a:prstGeom>
          <a:noFill/>
          <a:ln/>
        </p:spPr>
        <p:txBody>
          <a:bodyPr wrap="square" lIns="0" tIns="0" rIns="0" bIns="0" rtlCol="0" anchor="ctr"/>
          <a:lstStyle/>
          <a:p>
            <a:pPr indent="0" marL="0">
              <a:buNone/>
            </a:pPr>
            <a:r>
              <a:rPr lang="en-US" sz="1200" b="1" spc="100" kern="0" dirty="0">
                <a:solidFill>
                  <a:srgbClr val="1D4ED8"/>
                </a:solidFill>
                <a:latin typeface="Calibri" pitchFamily="34" charset="0"/>
                <a:ea typeface="Calibri" pitchFamily="34" charset="-122"/>
                <a:cs typeface="Calibri" pitchFamily="34" charset="-120"/>
              </a:rPr>
              <a:t>HOW IT ACTUALLY WORKS</a:t>
            </a:r>
            <a:endParaRPr lang="en-US" sz="1200" dirty="0"/>
          </a:p>
        </p:txBody>
      </p:sp>
      <p:sp>
        <p:nvSpPr>
          <p:cNvPr id="5" name="Text 3"/>
          <p:cNvSpPr txBox="1"/>
          <p:nvPr/>
        </p:nvSpPr>
        <p:spPr>
          <a:xfrm>
            <a:off x="457200" y="713232"/>
            <a:ext cx="11274552" cy="640080"/>
          </a:xfrm>
          <a:prstGeom prst="rect">
            <a:avLst/>
          </a:prstGeom>
          <a:noFill/>
          <a:ln/>
        </p:spPr>
        <p:txBody>
          <a:bodyPr wrap="square" lIns="0" tIns="0" rIns="0" bIns="0" rtlCol="0" anchor="t"/>
          <a:lstStyle/>
          <a:p>
            <a:pPr indent="0" marL="0">
              <a:buNone/>
            </a:pPr>
            <a:r>
              <a:rPr lang="en-US" sz="2800" b="1" dirty="0">
                <a:solidFill>
                  <a:srgbClr val="1A1A1A"/>
                </a:solidFill>
                <a:latin typeface="Calibri" pitchFamily="34" charset="0"/>
                <a:ea typeface="Calibri" pitchFamily="34" charset="-122"/>
                <a:cs typeface="Calibri" pitchFamily="34" charset="-120"/>
              </a:rPr>
              <a:t>What Happens When Someone Actually Trades</a:t>
            </a:r>
            <a:endParaRPr lang="en-US" sz="2800" dirty="0"/>
          </a:p>
        </p:txBody>
      </p:sp>
      <p:sp>
        <p:nvSpPr>
          <p:cNvPr id="6" name="Shape 4"/>
          <p:cNvSpPr/>
          <p:nvPr/>
        </p:nvSpPr>
        <p:spPr>
          <a:xfrm>
            <a:off x="457200" y="1828800"/>
            <a:ext cx="2606040" cy="2377440"/>
          </a:xfrm>
          <a:prstGeom prst="roundRect">
            <a:avLst>
              <a:gd name="adj" fmla="val 2308"/>
            </a:avLst>
          </a:prstGeom>
          <a:solidFill>
            <a:srgbClr val="F5F6F8"/>
          </a:solidFill>
          <a:ln/>
        </p:spPr>
      </p:sp>
      <p:sp>
        <p:nvSpPr>
          <p:cNvPr id="7" name="Text 5"/>
          <p:cNvSpPr txBox="1"/>
          <p:nvPr/>
        </p:nvSpPr>
        <p:spPr>
          <a:xfrm>
            <a:off x="640080" y="2011680"/>
            <a:ext cx="548640" cy="548640"/>
          </a:xfrm>
          <a:prstGeom prst="rect">
            <a:avLst/>
          </a:prstGeom>
          <a:noFill/>
          <a:ln/>
        </p:spPr>
        <p:txBody>
          <a:bodyPr wrap="square" lIns="0" tIns="0" rIns="0" bIns="0" rtlCol="0" anchor="ctr"/>
          <a:lstStyle/>
          <a:p>
            <a:pPr indent="0" marL="0">
              <a:buNone/>
            </a:pPr>
            <a:r>
              <a:rPr lang="en-US" sz="2400" b="1" dirty="0">
                <a:solidFill>
                  <a:srgbClr val="1D4ED8"/>
                </a:solidFill>
                <a:latin typeface="Calibri" pitchFamily="34" charset="0"/>
                <a:ea typeface="Calibri" pitchFamily="34" charset="-122"/>
                <a:cs typeface="Calibri" pitchFamily="34" charset="-120"/>
              </a:rPr>
              <a:t>1</a:t>
            </a:r>
            <a:endParaRPr lang="en-US" sz="2400" dirty="0"/>
          </a:p>
        </p:txBody>
      </p:sp>
      <p:sp>
        <p:nvSpPr>
          <p:cNvPr id="8" name="Text 6"/>
          <p:cNvSpPr txBox="1"/>
          <p:nvPr/>
        </p:nvSpPr>
        <p:spPr>
          <a:xfrm>
            <a:off x="640080" y="2606040"/>
            <a:ext cx="2240280" cy="365760"/>
          </a:xfrm>
          <a:prstGeom prst="rect">
            <a:avLst/>
          </a:prstGeom>
          <a:noFill/>
          <a:ln/>
        </p:spPr>
        <p:txBody>
          <a:bodyPr wrap="square" lIns="0" tIns="0" rIns="0" bIns="0" rtlCol="0" anchor="ctr"/>
          <a:lstStyle/>
          <a:p>
            <a:pPr indent="0" marL="0">
              <a:buNone/>
            </a:pPr>
            <a:r>
              <a:rPr lang="en-US" sz="1500" b="1" dirty="0">
                <a:solidFill>
                  <a:srgbClr val="1A1A1A"/>
                </a:solidFill>
                <a:latin typeface="Calibri" pitchFamily="34" charset="0"/>
                <a:ea typeface="Calibri" pitchFamily="34" charset="-122"/>
                <a:cs typeface="Calibri" pitchFamily="34" charset="-120"/>
              </a:rPr>
              <a:t>Register</a:t>
            </a:r>
            <a:endParaRPr lang="en-US" sz="1500" dirty="0"/>
          </a:p>
        </p:txBody>
      </p:sp>
      <p:sp>
        <p:nvSpPr>
          <p:cNvPr id="9" name="Text 7"/>
          <p:cNvSpPr txBox="1"/>
          <p:nvPr/>
        </p:nvSpPr>
        <p:spPr>
          <a:xfrm>
            <a:off x="640080" y="3017520"/>
            <a:ext cx="2240280" cy="1097280"/>
          </a:xfrm>
          <a:prstGeom prst="rect">
            <a:avLst/>
          </a:prstGeom>
          <a:noFill/>
          <a:ln/>
        </p:spPr>
        <p:txBody>
          <a:bodyPr wrap="square" lIns="0" tIns="0" rIns="0" bIns="0" rtlCol="0" anchor="t"/>
          <a:lstStyle/>
          <a:p>
            <a:pPr indent="0" marL="0">
              <a:buNone/>
            </a:pPr>
            <a:r>
              <a:rPr lang="en-US" sz="1200" dirty="0">
                <a:solidFill>
                  <a:srgbClr val="555E6B"/>
                </a:solidFill>
                <a:latin typeface="Calibri" pitchFamily="34" charset="0"/>
                <a:ea typeface="Calibri" pitchFamily="34" charset="-122"/>
                <a:cs typeface="Calibri" pitchFamily="34" charset="-120"/>
              </a:rPr>
              <a:t>as a consumer or prosumer on your own DISCOM's portal</a:t>
            </a:r>
            <a:endParaRPr lang="en-US" sz="1200" dirty="0"/>
          </a:p>
        </p:txBody>
      </p:sp>
      <p:sp>
        <p:nvSpPr>
          <p:cNvPr id="10" name="Text 8"/>
          <p:cNvSpPr txBox="1"/>
          <p:nvPr/>
        </p:nvSpPr>
        <p:spPr>
          <a:xfrm>
            <a:off x="3072384" y="2743200"/>
            <a:ext cx="210312" cy="457200"/>
          </a:xfrm>
          <a:prstGeom prst="rect">
            <a:avLst/>
          </a:prstGeom>
          <a:noFill/>
          <a:ln/>
        </p:spPr>
        <p:txBody>
          <a:bodyPr wrap="square" lIns="0" tIns="0" rIns="0" bIns="0" rtlCol="0" anchor="ctr"/>
          <a:lstStyle/>
          <a:p>
            <a:pPr algn="ctr" indent="0" marL="0">
              <a:buNone/>
            </a:pPr>
            <a:r>
              <a:rPr lang="en-US" sz="2000" b="1" dirty="0">
                <a:solidFill>
                  <a:srgbClr val="555E6B"/>
                </a:solidFill>
                <a:latin typeface="Calibri" pitchFamily="34" charset="0"/>
                <a:ea typeface="Calibri" pitchFamily="34" charset="-122"/>
                <a:cs typeface="Calibri" pitchFamily="34" charset="-120"/>
              </a:rPr>
              <a:t>→</a:t>
            </a:r>
            <a:endParaRPr lang="en-US" sz="2000" dirty="0"/>
          </a:p>
        </p:txBody>
      </p:sp>
      <p:sp>
        <p:nvSpPr>
          <p:cNvPr id="11" name="Shape 9"/>
          <p:cNvSpPr/>
          <p:nvPr/>
        </p:nvSpPr>
        <p:spPr>
          <a:xfrm>
            <a:off x="3291840" y="1828800"/>
            <a:ext cx="2606040" cy="2377440"/>
          </a:xfrm>
          <a:prstGeom prst="roundRect">
            <a:avLst>
              <a:gd name="adj" fmla="val 2308"/>
            </a:avLst>
          </a:prstGeom>
          <a:solidFill>
            <a:srgbClr val="F5F6F8"/>
          </a:solidFill>
          <a:ln/>
        </p:spPr>
      </p:sp>
      <p:sp>
        <p:nvSpPr>
          <p:cNvPr id="12" name="Text 10"/>
          <p:cNvSpPr txBox="1"/>
          <p:nvPr/>
        </p:nvSpPr>
        <p:spPr>
          <a:xfrm>
            <a:off x="3474720" y="2011680"/>
            <a:ext cx="548640" cy="548640"/>
          </a:xfrm>
          <a:prstGeom prst="rect">
            <a:avLst/>
          </a:prstGeom>
          <a:noFill/>
          <a:ln/>
        </p:spPr>
        <p:txBody>
          <a:bodyPr wrap="square" lIns="0" tIns="0" rIns="0" bIns="0" rtlCol="0" anchor="ctr"/>
          <a:lstStyle/>
          <a:p>
            <a:pPr indent="0" marL="0">
              <a:buNone/>
            </a:pPr>
            <a:r>
              <a:rPr lang="en-US" sz="2400" b="1" dirty="0">
                <a:solidFill>
                  <a:srgbClr val="1D4ED8"/>
                </a:solidFill>
                <a:latin typeface="Calibri" pitchFamily="34" charset="0"/>
                <a:ea typeface="Calibri" pitchFamily="34" charset="-122"/>
                <a:cs typeface="Calibri" pitchFamily="34" charset="-120"/>
              </a:rPr>
              <a:t>2</a:t>
            </a:r>
            <a:endParaRPr lang="en-US" sz="2400" dirty="0"/>
          </a:p>
        </p:txBody>
      </p:sp>
      <p:sp>
        <p:nvSpPr>
          <p:cNvPr id="13" name="Text 11"/>
          <p:cNvSpPr txBox="1"/>
          <p:nvPr/>
        </p:nvSpPr>
        <p:spPr>
          <a:xfrm>
            <a:off x="3474720" y="2606040"/>
            <a:ext cx="2240280" cy="365760"/>
          </a:xfrm>
          <a:prstGeom prst="rect">
            <a:avLst/>
          </a:prstGeom>
          <a:noFill/>
          <a:ln/>
        </p:spPr>
        <p:txBody>
          <a:bodyPr wrap="square" lIns="0" tIns="0" rIns="0" bIns="0" rtlCol="0" anchor="ctr"/>
          <a:lstStyle/>
          <a:p>
            <a:pPr indent="0" marL="0">
              <a:buNone/>
            </a:pPr>
            <a:r>
              <a:rPr lang="en-US" sz="1500" b="1" dirty="0">
                <a:solidFill>
                  <a:srgbClr val="1A1A1A"/>
                </a:solidFill>
                <a:latin typeface="Calibri" pitchFamily="34" charset="0"/>
                <a:ea typeface="Calibri" pitchFamily="34" charset="-122"/>
                <a:cs typeface="Calibri" pitchFamily="34" charset="-120"/>
              </a:rPr>
              <a:t>Get verified</a:t>
            </a:r>
            <a:endParaRPr lang="en-US" sz="1500" dirty="0"/>
          </a:p>
        </p:txBody>
      </p:sp>
      <p:sp>
        <p:nvSpPr>
          <p:cNvPr id="14" name="Text 12"/>
          <p:cNvSpPr txBox="1"/>
          <p:nvPr/>
        </p:nvSpPr>
        <p:spPr>
          <a:xfrm>
            <a:off x="3474720" y="3017520"/>
            <a:ext cx="2240280" cy="1097280"/>
          </a:xfrm>
          <a:prstGeom prst="rect">
            <a:avLst/>
          </a:prstGeom>
          <a:noFill/>
          <a:ln/>
        </p:spPr>
        <p:txBody>
          <a:bodyPr wrap="square" lIns="0" tIns="0" rIns="0" bIns="0" rtlCol="0" anchor="t"/>
          <a:lstStyle/>
          <a:p>
            <a:pPr indent="0" marL="0">
              <a:buNone/>
            </a:pPr>
            <a:r>
              <a:rPr lang="en-US" sz="1200" dirty="0">
                <a:solidFill>
                  <a:srgbClr val="555E6B"/>
                </a:solidFill>
                <a:latin typeface="Calibri" pitchFamily="34" charset="0"/>
                <a:ea typeface="Calibri" pitchFamily="34" charset="-122"/>
                <a:cs typeface="Calibri" pitchFamily="34" charset="-120"/>
              </a:rPr>
              <a:t>the DISCOM checks your real meter and connection</a:t>
            </a:r>
            <a:endParaRPr lang="en-US" sz="1200" dirty="0"/>
          </a:p>
        </p:txBody>
      </p:sp>
      <p:sp>
        <p:nvSpPr>
          <p:cNvPr id="15" name="Text 13"/>
          <p:cNvSpPr txBox="1"/>
          <p:nvPr/>
        </p:nvSpPr>
        <p:spPr>
          <a:xfrm>
            <a:off x="5907024" y="2743200"/>
            <a:ext cx="210312" cy="457200"/>
          </a:xfrm>
          <a:prstGeom prst="rect">
            <a:avLst/>
          </a:prstGeom>
          <a:noFill/>
          <a:ln/>
        </p:spPr>
        <p:txBody>
          <a:bodyPr wrap="square" lIns="0" tIns="0" rIns="0" bIns="0" rtlCol="0" anchor="ctr"/>
          <a:lstStyle/>
          <a:p>
            <a:pPr algn="ctr" indent="0" marL="0">
              <a:buNone/>
            </a:pPr>
            <a:r>
              <a:rPr lang="en-US" sz="2000" b="1" dirty="0">
                <a:solidFill>
                  <a:srgbClr val="555E6B"/>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6126480" y="1828800"/>
            <a:ext cx="2606040" cy="2377440"/>
          </a:xfrm>
          <a:prstGeom prst="roundRect">
            <a:avLst>
              <a:gd name="adj" fmla="val 2308"/>
            </a:avLst>
          </a:prstGeom>
          <a:solidFill>
            <a:srgbClr val="F5F6F8"/>
          </a:solidFill>
          <a:ln/>
        </p:spPr>
      </p:sp>
      <p:sp>
        <p:nvSpPr>
          <p:cNvPr id="17" name="Text 15"/>
          <p:cNvSpPr txBox="1"/>
          <p:nvPr/>
        </p:nvSpPr>
        <p:spPr>
          <a:xfrm>
            <a:off x="6309360" y="2011680"/>
            <a:ext cx="548640" cy="548640"/>
          </a:xfrm>
          <a:prstGeom prst="rect">
            <a:avLst/>
          </a:prstGeom>
          <a:noFill/>
          <a:ln/>
        </p:spPr>
        <p:txBody>
          <a:bodyPr wrap="square" lIns="0" tIns="0" rIns="0" bIns="0" rtlCol="0" anchor="ctr"/>
          <a:lstStyle/>
          <a:p>
            <a:pPr indent="0" marL="0">
              <a:buNone/>
            </a:pPr>
            <a:r>
              <a:rPr lang="en-US" sz="2400" b="1" dirty="0">
                <a:solidFill>
                  <a:srgbClr val="1D4ED8"/>
                </a:solidFill>
                <a:latin typeface="Calibri" pitchFamily="34" charset="0"/>
                <a:ea typeface="Calibri" pitchFamily="34" charset="-122"/>
                <a:cs typeface="Calibri" pitchFamily="34" charset="-120"/>
              </a:rPr>
              <a:t>3</a:t>
            </a:r>
            <a:endParaRPr lang="en-US" sz="2400" dirty="0"/>
          </a:p>
        </p:txBody>
      </p:sp>
      <p:sp>
        <p:nvSpPr>
          <p:cNvPr id="18" name="Text 16"/>
          <p:cNvSpPr txBox="1"/>
          <p:nvPr/>
        </p:nvSpPr>
        <p:spPr>
          <a:xfrm>
            <a:off x="6309360" y="2606040"/>
            <a:ext cx="2240280" cy="365760"/>
          </a:xfrm>
          <a:prstGeom prst="rect">
            <a:avLst/>
          </a:prstGeom>
          <a:noFill/>
          <a:ln/>
        </p:spPr>
        <p:txBody>
          <a:bodyPr wrap="square" lIns="0" tIns="0" rIns="0" bIns="0" rtlCol="0" anchor="ctr"/>
          <a:lstStyle/>
          <a:p>
            <a:pPr indent="0" marL="0">
              <a:buNone/>
            </a:pPr>
            <a:r>
              <a:rPr lang="en-US" sz="1500" b="1" dirty="0">
                <a:solidFill>
                  <a:srgbClr val="1A1A1A"/>
                </a:solidFill>
                <a:latin typeface="Calibri" pitchFamily="34" charset="0"/>
                <a:ea typeface="Calibri" pitchFamily="34" charset="-122"/>
                <a:cs typeface="Calibri" pitchFamily="34" charset="-120"/>
              </a:rPr>
              <a:t>Get credentialed</a:t>
            </a:r>
            <a:endParaRPr lang="en-US" sz="1500" dirty="0"/>
          </a:p>
        </p:txBody>
      </p:sp>
      <p:sp>
        <p:nvSpPr>
          <p:cNvPr id="19" name="Text 17"/>
          <p:cNvSpPr txBox="1"/>
          <p:nvPr/>
        </p:nvSpPr>
        <p:spPr>
          <a:xfrm>
            <a:off x="6309360" y="3017520"/>
            <a:ext cx="2240280" cy="1097280"/>
          </a:xfrm>
          <a:prstGeom prst="rect">
            <a:avLst/>
          </a:prstGeom>
          <a:noFill/>
          <a:ln/>
        </p:spPr>
        <p:txBody>
          <a:bodyPr wrap="square" lIns="0" tIns="0" rIns="0" bIns="0" rtlCol="0" anchor="t"/>
          <a:lstStyle/>
          <a:p>
            <a:pPr indent="0" marL="0">
              <a:buNone/>
            </a:pPr>
            <a:r>
              <a:rPr lang="en-US" sz="1200" dirty="0">
                <a:solidFill>
                  <a:srgbClr val="555E6B"/>
                </a:solidFill>
                <a:latin typeface="Calibri" pitchFamily="34" charset="0"/>
                <a:ea typeface="Calibri" pitchFamily="34" charset="-122"/>
                <a:cs typeface="Calibri" pitchFamily="34" charset="-120"/>
              </a:rPr>
              <a:t>you receive a DISCOM-issued Verifiable Credential</a:t>
            </a:r>
            <a:endParaRPr lang="en-US" sz="1200" dirty="0"/>
          </a:p>
        </p:txBody>
      </p:sp>
      <p:sp>
        <p:nvSpPr>
          <p:cNvPr id="20" name="Text 18"/>
          <p:cNvSpPr txBox="1"/>
          <p:nvPr/>
        </p:nvSpPr>
        <p:spPr>
          <a:xfrm>
            <a:off x="8741664" y="2743200"/>
            <a:ext cx="210312" cy="457200"/>
          </a:xfrm>
          <a:prstGeom prst="rect">
            <a:avLst/>
          </a:prstGeom>
          <a:noFill/>
          <a:ln/>
        </p:spPr>
        <p:txBody>
          <a:bodyPr wrap="square" lIns="0" tIns="0" rIns="0" bIns="0" rtlCol="0" anchor="ctr"/>
          <a:lstStyle/>
          <a:p>
            <a:pPr algn="ctr" indent="0" marL="0">
              <a:buNone/>
            </a:pPr>
            <a:r>
              <a:rPr lang="en-US" sz="2000" b="1" dirty="0">
                <a:solidFill>
                  <a:srgbClr val="555E6B"/>
                </a:solidFill>
                <a:latin typeface="Calibri" pitchFamily="34" charset="0"/>
                <a:ea typeface="Calibri" pitchFamily="34" charset="-122"/>
                <a:cs typeface="Calibri" pitchFamily="34" charset="-120"/>
              </a:rPr>
              <a:t>→</a:t>
            </a:r>
            <a:endParaRPr lang="en-US" sz="2000" dirty="0"/>
          </a:p>
        </p:txBody>
      </p:sp>
      <p:sp>
        <p:nvSpPr>
          <p:cNvPr id="21" name="Shape 19"/>
          <p:cNvSpPr/>
          <p:nvPr/>
        </p:nvSpPr>
        <p:spPr>
          <a:xfrm>
            <a:off x="8961120" y="1828800"/>
            <a:ext cx="2606040" cy="2377440"/>
          </a:xfrm>
          <a:prstGeom prst="roundRect">
            <a:avLst>
              <a:gd name="adj" fmla="val 2308"/>
            </a:avLst>
          </a:prstGeom>
          <a:solidFill>
            <a:srgbClr val="1D4ED8"/>
          </a:solidFill>
          <a:ln/>
        </p:spPr>
      </p:sp>
      <p:sp>
        <p:nvSpPr>
          <p:cNvPr id="22" name="Text 20"/>
          <p:cNvSpPr txBox="1"/>
          <p:nvPr/>
        </p:nvSpPr>
        <p:spPr>
          <a:xfrm>
            <a:off x="9144000" y="2011680"/>
            <a:ext cx="548640" cy="5486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4</a:t>
            </a:r>
            <a:endParaRPr lang="en-US" sz="2400" dirty="0"/>
          </a:p>
        </p:txBody>
      </p:sp>
      <p:sp>
        <p:nvSpPr>
          <p:cNvPr id="23" name="Text 21"/>
          <p:cNvSpPr txBox="1"/>
          <p:nvPr/>
        </p:nvSpPr>
        <p:spPr>
          <a:xfrm>
            <a:off x="9144000" y="2606040"/>
            <a:ext cx="224028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Trade</a:t>
            </a:r>
            <a:endParaRPr lang="en-US" sz="1500" dirty="0"/>
          </a:p>
        </p:txBody>
      </p:sp>
      <p:sp>
        <p:nvSpPr>
          <p:cNvPr id="24" name="Text 22"/>
          <p:cNvSpPr txBox="1"/>
          <p:nvPr/>
        </p:nvSpPr>
        <p:spPr>
          <a:xfrm>
            <a:off x="9144000" y="3017520"/>
            <a:ext cx="2240280" cy="109728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log into any accredited app; it settles on your normal bill</a:t>
            </a:r>
            <a:endParaRPr lang="en-US" sz="1200" dirty="0"/>
          </a:p>
        </p:txBody>
      </p:sp>
      <p:sp>
        <p:nvSpPr>
          <p:cNvPr id="25" name="Text 23"/>
          <p:cNvSpPr txBox="1"/>
          <p:nvPr/>
        </p:nvSpPr>
        <p:spPr>
          <a:xfrm>
            <a:off x="457200" y="6455664"/>
            <a:ext cx="10972800" cy="310896"/>
          </a:xfrm>
          <a:prstGeom prst="rect">
            <a:avLst/>
          </a:prstGeom>
          <a:noFill/>
          <a:ln/>
        </p:spPr>
        <p:txBody>
          <a:bodyPr wrap="square" lIns="0" tIns="0" rIns="0" bIns="0" rtlCol="0" anchor="ctr"/>
          <a:lstStyle/>
          <a:p>
            <a:pPr indent="0" marL="0">
              <a:buNone/>
            </a:pPr>
            <a:r>
              <a:rPr lang="en-US" sz="950" i="1" dirty="0">
                <a:solidFill>
                  <a:srgbClr val="555E6B"/>
                </a:solidFill>
                <a:latin typeface="Calibri" pitchFamily="34" charset="0"/>
                <a:ea typeface="Calibri" pitchFamily="34" charset="-122"/>
                <a:cs typeface="Calibri" pitchFamily="34" charset="-120"/>
              </a:rPr>
              <a:t>Source: </a:t>
            </a:r>
            <a:pPr indent="0" marL="0">
              <a:buNone/>
            </a:pPr>
            <a:r>
              <a:rPr lang="en-US" sz="950" i="1" u="sng" dirty="0">
                <a:solidFill>
                  <a:srgbClr val="1D4ED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evreporter.com — "A Comprehensive Explainer on P2P Energy Trading in India"</a:t>
            </a:r>
            <a:pPr indent="0" marL="0">
              <a:buNone/>
            </a:pPr>
            <a:r>
              <a:rPr lang="en-US" sz="950" i="1" dirty="0">
                <a:solidFill>
                  <a:srgbClr val="555E6B"/>
                </a:solidFill>
                <a:latin typeface="Calibri" pitchFamily="34" charset="0"/>
                <a:ea typeface="Calibri" pitchFamily="34" charset="-122"/>
                <a:cs typeface="Calibri" pitchFamily="34" charset="-120"/>
              </a:rPr>
              <a:t>  ·  </a:t>
            </a:r>
            <a:pPr indent="0" marL="0">
              <a:buNone/>
            </a:pPr>
            <a:r>
              <a:rPr lang="en-US" sz="950" i="1" u="sng" dirty="0">
                <a:solidFill>
                  <a:srgbClr val="1D4ED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BSES Delhi (BRPL) — official P2P trading page</a:t>
            </a:r>
            <a:endParaRPr lang="en-US" sz="950" dirty="0"/>
          </a:p>
        </p:txBody>
      </p:sp>
      <p:sp>
        <p:nvSpPr>
          <p:cNvPr id="26" name="Text 24"/>
          <p:cNvSpPr txBox="1"/>
          <p:nvPr/>
        </p:nvSpPr>
        <p:spPr>
          <a:xfrm>
            <a:off x="11612880" y="6473952"/>
            <a:ext cx="365760" cy="274320"/>
          </a:xfrm>
          <a:prstGeom prst="rect">
            <a:avLst/>
          </a:prstGeom>
          <a:noFill/>
          <a:ln/>
        </p:spPr>
        <p:txBody>
          <a:bodyPr wrap="square" lIns="0" tIns="0" rIns="0" bIns="0" rtlCol="0" anchor="ctr"/>
          <a:lstStyle/>
          <a:p>
            <a:pPr algn="r" indent="0" marL="0">
              <a:buNone/>
            </a:pPr>
            <a:r>
              <a:rPr lang="en-US" sz="1000" dirty="0">
                <a:solidFill>
                  <a:srgbClr val="555E6B"/>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ellipse">
            <a:avLst/>
          </a:prstGeom>
          <a:solidFill>
            <a:srgbClr val="1E7A3C"/>
          </a:solidFill>
          <a:ln/>
        </p:spPr>
      </p:sp>
      <p:sp>
        <p:nvSpPr>
          <p:cNvPr id="3" name="Text 1"/>
          <p:cNvSpPr txBox="1"/>
          <p:nvPr/>
        </p:nvSpPr>
        <p:spPr>
          <a:xfrm>
            <a:off x="457200" y="384048"/>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4" name="Text 2"/>
          <p:cNvSpPr txBox="1"/>
          <p:nvPr/>
        </p:nvSpPr>
        <p:spPr>
          <a:xfrm>
            <a:off x="1051560" y="384048"/>
            <a:ext cx="9144000" cy="274320"/>
          </a:xfrm>
          <a:prstGeom prst="rect">
            <a:avLst/>
          </a:prstGeom>
          <a:noFill/>
          <a:ln/>
        </p:spPr>
        <p:txBody>
          <a:bodyPr wrap="square" lIns="0" tIns="0" rIns="0" bIns="0" rtlCol="0" anchor="ctr"/>
          <a:lstStyle/>
          <a:p>
            <a:pPr indent="0" marL="0">
              <a:buNone/>
            </a:pPr>
            <a:r>
              <a:rPr lang="en-US" sz="1200" b="1" spc="100" kern="0" dirty="0">
                <a:solidFill>
                  <a:srgbClr val="1E7A3C"/>
                </a:solidFill>
                <a:latin typeface="Calibri" pitchFamily="34" charset="0"/>
                <a:ea typeface="Calibri" pitchFamily="34" charset="-122"/>
                <a:cs typeface="Calibri" pitchFamily="34" charset="-120"/>
              </a:rPr>
              <a:t>WHO'S ALREADY LIVE</a:t>
            </a:r>
            <a:endParaRPr lang="en-US" sz="1200" dirty="0"/>
          </a:p>
        </p:txBody>
      </p:sp>
      <p:sp>
        <p:nvSpPr>
          <p:cNvPr id="5" name="Text 3"/>
          <p:cNvSpPr txBox="1"/>
          <p:nvPr/>
        </p:nvSpPr>
        <p:spPr>
          <a:xfrm>
            <a:off x="457200" y="713232"/>
            <a:ext cx="11274552" cy="640080"/>
          </a:xfrm>
          <a:prstGeom prst="rect">
            <a:avLst/>
          </a:prstGeom>
          <a:noFill/>
          <a:ln/>
        </p:spPr>
        <p:txBody>
          <a:bodyPr wrap="square" lIns="0" tIns="0" rIns="0" bIns="0" rtlCol="0" anchor="t"/>
          <a:lstStyle/>
          <a:p>
            <a:pPr indent="0" marL="0">
              <a:buNone/>
            </a:pPr>
            <a:r>
              <a:rPr lang="en-US" sz="2800" b="1" dirty="0">
                <a:solidFill>
                  <a:srgbClr val="1A1A1A"/>
                </a:solidFill>
                <a:latin typeface="Calibri" pitchFamily="34" charset="0"/>
                <a:ea typeface="Calibri" pitchFamily="34" charset="-122"/>
                <a:cs typeface="Calibri" pitchFamily="34" charset="-120"/>
              </a:rPr>
              <a:t>Not One App — At Least Six, Already Live</a:t>
            </a:r>
            <a:endParaRPr lang="en-US" sz="2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554480"/>
          <a:ext cx="6949440" cy="3566160"/>
        </p:xfrm>
        <a:graphic>
          <a:graphicData uri="http://schemas.openxmlformats.org/drawingml/2006/table">
            <a:tbl>
              <a:tblPr/>
              <a:tblGrid>
                <a:gridCol w="3291840"/>
                <a:gridCol w="1463040"/>
                <a:gridCol w="2194560"/>
              </a:tblGrid>
              <a:tr h="44577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Authorized provider</a:t>
                      </a:r>
                      <a:endParaRPr lang="en-US" sz="120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1A1A1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Status</a:t>
                      </a:r>
                      <a:endParaRPr lang="en-US" sz="120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1A1A1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App</a:t>
                      </a:r>
                      <a:endParaRPr lang="en-US" sz="120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1A1A1A"/>
                    </a:solidFill>
                  </a:tcPr>
                </a:tc>
              </a:tr>
              <a:tr h="445770">
                <a:tc>
                  <a:txBody>
                    <a:bodyPr/>
                    <a:lstStyle/>
                    <a:p>
                      <a:pPr indent="0" marL="0">
                        <a:buNone/>
                      </a:pPr>
                      <a:r>
                        <a:rPr lang="en-US" sz="1250" b="1" dirty="0">
                          <a:solidFill>
                            <a:srgbClr val="1A1A1A"/>
                          </a:solidFill>
                          <a:latin typeface="Calibri" pitchFamily="34" charset="0"/>
                          <a:ea typeface="Calibri" pitchFamily="34" charset="-122"/>
                          <a:cs typeface="Calibri" pitchFamily="34" charset="-120"/>
                        </a:rPr>
                        <a:t>REConnect Energy</a:t>
                      </a:r>
                      <a:endParaRPr lang="en-US" sz="125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LIVE</a:t>
                      </a:r>
                      <a:endParaRPr lang="en-US" sz="125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Google Play</a:t>
                      </a:r>
                      <a:endParaRPr lang="en-US" sz="125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r>
              <a:tr h="445770">
                <a:tc>
                  <a:txBody>
                    <a:bodyPr/>
                    <a:lstStyle/>
                    <a:p>
                      <a:pPr indent="0" marL="0">
                        <a:buNone/>
                      </a:pPr>
                      <a:r>
                        <a:rPr lang="en-US" sz="1250" b="1" dirty="0">
                          <a:solidFill>
                            <a:srgbClr val="1A1A1A"/>
                          </a:solidFill>
                          <a:latin typeface="Calibri" pitchFamily="34" charset="0"/>
                          <a:ea typeface="Calibri" pitchFamily="34" charset="-122"/>
                          <a:cs typeface="Calibri" pitchFamily="34" charset="-120"/>
                        </a:rPr>
                        <a:t>Pulse Energy</a:t>
                      </a:r>
                      <a:endParaRPr lang="en-US" sz="125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5F6F8"/>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LIVE</a:t>
                      </a:r>
                      <a:endParaRPr lang="en-US" sz="125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5F6F8"/>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App Store + Google Play (as "SUPEREV")</a:t>
                      </a:r>
                      <a:endParaRPr lang="en-US" sz="125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5F6F8"/>
                    </a:solidFill>
                  </a:tcPr>
                </a:tc>
              </a:tr>
              <a:tr h="445770">
                <a:tc>
                  <a:txBody>
                    <a:bodyPr/>
                    <a:lstStyle/>
                    <a:p>
                      <a:pPr indent="0" marL="0">
                        <a:buNone/>
                      </a:pPr>
                      <a:r>
                        <a:rPr lang="en-US" sz="1250" b="1" dirty="0">
                          <a:solidFill>
                            <a:srgbClr val="1A1A1A"/>
                          </a:solidFill>
                          <a:latin typeface="Calibri" pitchFamily="34" charset="0"/>
                          <a:ea typeface="Calibri" pitchFamily="34" charset="-122"/>
                          <a:cs typeface="Calibri" pitchFamily="34" charset="-120"/>
                        </a:rPr>
                        <a:t>Yellow Haze (YoGrid)</a:t>
                      </a:r>
                      <a:endParaRPr lang="en-US" sz="125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LIVE</a:t>
                      </a:r>
                      <a:endParaRPr lang="en-US" sz="125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App Store + Google Play</a:t>
                      </a:r>
                      <a:endParaRPr lang="en-US" sz="125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r>
              <a:tr h="445770">
                <a:tc>
                  <a:txBody>
                    <a:bodyPr/>
                    <a:lstStyle/>
                    <a:p>
                      <a:pPr indent="0" marL="0">
                        <a:buNone/>
                      </a:pPr>
                      <a:r>
                        <a:rPr lang="en-US" sz="1250" b="1" dirty="0">
                          <a:solidFill>
                            <a:srgbClr val="1A1A1A"/>
                          </a:solidFill>
                          <a:latin typeface="Calibri" pitchFamily="34" charset="0"/>
                          <a:ea typeface="Calibri" pitchFamily="34" charset="-122"/>
                          <a:cs typeface="Calibri" pitchFamily="34" charset="-120"/>
                        </a:rPr>
                        <a:t>Kazam Buzz</a:t>
                      </a:r>
                      <a:endParaRPr lang="en-US" sz="125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5F6F8"/>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LIVE</a:t>
                      </a:r>
                      <a:endParaRPr lang="en-US" sz="125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5F6F8"/>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App Store + Google Play</a:t>
                      </a:r>
                      <a:endParaRPr lang="en-US" sz="125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5F6F8"/>
                    </a:solidFill>
                  </a:tcPr>
                </a:tc>
              </a:tr>
              <a:tr h="445770">
                <a:tc>
                  <a:txBody>
                    <a:bodyPr/>
                    <a:lstStyle/>
                    <a:p>
                      <a:pPr indent="0" marL="0">
                        <a:buNone/>
                      </a:pPr>
                      <a:r>
                        <a:rPr lang="en-US" sz="1250" b="1" dirty="0">
                          <a:solidFill>
                            <a:srgbClr val="1A1A1A"/>
                          </a:solidFill>
                          <a:latin typeface="Calibri" pitchFamily="34" charset="0"/>
                          <a:ea typeface="Calibri" pitchFamily="34" charset="-122"/>
                          <a:cs typeface="Calibri" pitchFamily="34" charset="-120"/>
                        </a:rPr>
                        <a:t>Terra Rex Energy</a:t>
                      </a:r>
                      <a:endParaRPr lang="en-US" sz="125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LIVE</a:t>
                      </a:r>
                      <a:endParaRPr lang="en-US" sz="125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Google Play</a:t>
                      </a:r>
                      <a:endParaRPr lang="en-US" sz="125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r>
              <a:tr h="445770">
                <a:tc>
                  <a:txBody>
                    <a:bodyPr/>
                    <a:lstStyle/>
                    <a:p>
                      <a:pPr indent="0" marL="0">
                        <a:buNone/>
                      </a:pPr>
                      <a:r>
                        <a:rPr lang="en-US" sz="1250" b="1" dirty="0">
                          <a:solidFill>
                            <a:srgbClr val="1A1A1A"/>
                          </a:solidFill>
                          <a:latin typeface="Calibri" pitchFamily="34" charset="0"/>
                          <a:ea typeface="Calibri" pitchFamily="34" charset="-122"/>
                          <a:cs typeface="Calibri" pitchFamily="34" charset="-120"/>
                        </a:rPr>
                        <a:t>PowerXchange Innovations</a:t>
                      </a:r>
                      <a:endParaRPr lang="en-US" sz="125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5F6F8"/>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LIVE</a:t>
                      </a:r>
                      <a:endParaRPr lang="en-US" sz="125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5F6F8"/>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App Store + Google Play</a:t>
                      </a:r>
                      <a:endParaRPr lang="en-US" sz="125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5F6F8"/>
                    </a:solidFill>
                  </a:tcPr>
                </a:tc>
              </a:tr>
              <a:tr h="445770">
                <a:tc>
                  <a:txBody>
                    <a:bodyPr/>
                    <a:lstStyle/>
                    <a:p>
                      <a:pPr indent="0" marL="0">
                        <a:buNone/>
                      </a:pPr>
                      <a:r>
                        <a:rPr lang="en-US" sz="1250" b="1" dirty="0">
                          <a:solidFill>
                            <a:srgbClr val="1A1A1A"/>
                          </a:solidFill>
                          <a:latin typeface="Calibri" pitchFamily="34" charset="0"/>
                          <a:ea typeface="Calibri" pitchFamily="34" charset="-122"/>
                          <a:cs typeface="Calibri" pitchFamily="34" charset="-120"/>
                        </a:rPr>
                        <a:t>Atria University / Ikiteq Steam-A Labs</a:t>
                      </a:r>
                      <a:endParaRPr lang="en-US" sz="125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Coming soon</a:t>
                      </a:r>
                      <a:endParaRPr lang="en-US" sz="125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r>
            </a:tbl>
          </a:graphicData>
        </a:graphic>
      </p:graphicFrame>
      <p:sp>
        <p:nvSpPr>
          <p:cNvPr id="7" name="Shape 4"/>
          <p:cNvSpPr/>
          <p:nvPr/>
        </p:nvSpPr>
        <p:spPr>
          <a:xfrm>
            <a:off x="7680960" y="1554480"/>
            <a:ext cx="4050792" cy="3566160"/>
          </a:xfrm>
          <a:prstGeom prst="roundRect">
            <a:avLst>
              <a:gd name="adj" fmla="val 2051"/>
            </a:avLst>
          </a:prstGeom>
          <a:solidFill>
            <a:srgbClr val="F5F6F8"/>
          </a:solidFill>
          <a:ln/>
        </p:spPr>
      </p:sp>
      <p:sp>
        <p:nvSpPr>
          <p:cNvPr id="8" name="Text 5"/>
          <p:cNvSpPr txBox="1"/>
          <p:nvPr/>
        </p:nvSpPr>
        <p:spPr>
          <a:xfrm>
            <a:off x="7909560" y="1737360"/>
            <a:ext cx="3566160" cy="3200400"/>
          </a:xfrm>
          <a:prstGeom prst="rect">
            <a:avLst/>
          </a:prstGeom>
          <a:noFill/>
          <a:ln/>
        </p:spPr>
        <p:txBody>
          <a:bodyPr wrap="square" lIns="0" tIns="0" rIns="0" bIns="0" rtlCol="0" anchor="t"/>
          <a:lstStyle/>
          <a:p>
            <a:pPr indent="0" marL="0">
              <a:lnSpc>
                <a:spcPct val="120000"/>
              </a:lnSpc>
              <a:spcAft>
                <a:spcPts val="400"/>
              </a:spcAft>
              <a:buNone/>
            </a:pPr>
            <a:r>
              <a:rPr lang="en-US" sz="1250" b="1" dirty="0">
                <a:solidFill>
                  <a:srgbClr val="1A1A1A"/>
                </a:solidFill>
                <a:latin typeface="Calibri" pitchFamily="34" charset="0"/>
                <a:ea typeface="Calibri" pitchFamily="34" charset="-122"/>
                <a:cs typeface="Calibri" pitchFamily="34" charset="-120"/>
              </a:rPr>
              <a:t>Eligibility gate:
</a:t>
            </a:r>
            <a:endParaRPr lang="en-US" sz="1250" dirty="0"/>
          </a:p>
          <a:p>
            <a:pPr indent="0" marL="0">
              <a:lnSpc>
                <a:spcPct val="120000"/>
              </a:lnSpc>
              <a:spcAft>
                <a:spcPts val="1000"/>
              </a:spcAft>
              <a:buNone/>
            </a:pPr>
            <a:r>
              <a:rPr lang="en-US" sz="1250" dirty="0">
                <a:solidFill>
                  <a:srgbClr val="1A1A1A"/>
                </a:solidFill>
                <a:latin typeface="Calibri" pitchFamily="34" charset="0"/>
                <a:ea typeface="Calibri" pitchFamily="34" charset="-122"/>
                <a:cs typeface="Calibri" pitchFamily="34" charset="-120"/>
              </a:rPr>
              <a:t>must already be a BRPL / TPDDL (Delhi) or PVVNL (UP) consumer with a smart meter installed — not open nationwide.
</a:t>
            </a:r>
            <a:endParaRPr lang="en-US" sz="1250" dirty="0"/>
          </a:p>
          <a:p>
            <a:pPr indent="0" marL="0">
              <a:lnSpc>
                <a:spcPct val="120000"/>
              </a:lnSpc>
              <a:spcAft>
                <a:spcPts val="400"/>
              </a:spcAft>
              <a:buNone/>
            </a:pPr>
            <a:r>
              <a:rPr lang="en-US" sz="1250" b="1" dirty="0">
                <a:solidFill>
                  <a:srgbClr val="1A1A1A"/>
                </a:solidFill>
                <a:latin typeface="Calibri" pitchFamily="34" charset="0"/>
                <a:ea typeface="Calibri" pitchFamily="34" charset="-122"/>
                <a:cs typeface="Calibri" pitchFamily="34" charset="-120"/>
              </a:rPr>
              <a:t>Real scale today:
</a:t>
            </a:r>
            <a:endParaRPr lang="en-US" sz="1250" dirty="0"/>
          </a:p>
          <a:p>
            <a:pPr indent="0" marL="0">
              <a:lnSpc>
                <a:spcPct val="120000"/>
              </a:lnSpc>
              <a:buNone/>
            </a:pPr>
            <a:r>
              <a:rPr lang="en-US" sz="1250" dirty="0">
                <a:solidFill>
                  <a:srgbClr val="1A1A1A"/>
                </a:solidFill>
                <a:latin typeface="Calibri" pitchFamily="34" charset="0"/>
                <a:ea typeface="Calibri" pitchFamily="34" charset="-122"/>
                <a:cs typeface="Calibri" pitchFamily="34" charset="-120"/>
              </a:rPr>
              <a:t>TPDDL's own page reports 56 total registered participants (15 prosumers, 41 consumers) — small and early, consistent with a real but young pilot.</a:t>
            </a:r>
            <a:endParaRPr lang="en-US" sz="1250" dirty="0"/>
          </a:p>
        </p:txBody>
      </p:sp>
      <p:sp>
        <p:nvSpPr>
          <p:cNvPr id="9" name="Text 6"/>
          <p:cNvSpPr txBox="1"/>
          <p:nvPr/>
        </p:nvSpPr>
        <p:spPr>
          <a:xfrm>
            <a:off x="457200" y="6455664"/>
            <a:ext cx="10972800" cy="310896"/>
          </a:xfrm>
          <a:prstGeom prst="rect">
            <a:avLst/>
          </a:prstGeom>
          <a:noFill/>
          <a:ln/>
        </p:spPr>
        <p:txBody>
          <a:bodyPr wrap="square" lIns="0" tIns="0" rIns="0" bIns="0" rtlCol="0" anchor="ctr"/>
          <a:lstStyle/>
          <a:p>
            <a:pPr indent="0" marL="0">
              <a:buNone/>
            </a:pPr>
            <a:r>
              <a:rPr lang="en-US" sz="950" i="1" dirty="0">
                <a:solidFill>
                  <a:srgbClr val="555E6B"/>
                </a:solidFill>
                <a:latin typeface="Calibri" pitchFamily="34" charset="0"/>
                <a:ea typeface="Calibri" pitchFamily="34" charset="-122"/>
                <a:cs typeface="Calibri" pitchFamily="34" charset="-120"/>
              </a:rPr>
              <a:t>Source: </a:t>
            </a:r>
            <a:pPr indent="0" marL="0">
              <a:buNone/>
            </a:pPr>
            <a:r>
              <a:rPr lang="en-US" sz="950" i="1" u="sng" dirty="0">
                <a:solidFill>
                  <a:srgbClr val="1D4ED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BSES Delhi (BRPL) — official P2P trading / provider list</a:t>
            </a:r>
            <a:pPr indent="0" marL="0">
              <a:buNone/>
            </a:pPr>
            <a:r>
              <a:rPr lang="en-US" sz="950" i="1" dirty="0">
                <a:solidFill>
                  <a:srgbClr val="555E6B"/>
                </a:solidFill>
                <a:latin typeface="Calibri" pitchFamily="34" charset="0"/>
                <a:ea typeface="Calibri" pitchFamily="34" charset="-122"/>
                <a:cs typeface="Calibri" pitchFamily="34" charset="-120"/>
              </a:rPr>
              <a:t>  ·  </a:t>
            </a:r>
            <a:pPr indent="0" marL="0">
              <a:buNone/>
            </a:pPr>
            <a:r>
              <a:rPr lang="en-US" sz="950" i="1" u="sng" dirty="0">
                <a:solidFill>
                  <a:srgbClr val="1D4ED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Tata Power-DDL — official P2P trading page</a:t>
            </a:r>
            <a:endParaRPr lang="en-US" sz="950" dirty="0"/>
          </a:p>
        </p:txBody>
      </p:sp>
      <p:sp>
        <p:nvSpPr>
          <p:cNvPr id="10" name="Text 7"/>
          <p:cNvSpPr txBox="1"/>
          <p:nvPr/>
        </p:nvSpPr>
        <p:spPr>
          <a:xfrm>
            <a:off x="11612880" y="6473952"/>
            <a:ext cx="365760" cy="274320"/>
          </a:xfrm>
          <a:prstGeom prst="rect">
            <a:avLst/>
          </a:prstGeom>
          <a:noFill/>
          <a:ln/>
        </p:spPr>
        <p:txBody>
          <a:bodyPr wrap="square" lIns="0" tIns="0" rIns="0" bIns="0" rtlCol="0" anchor="ctr"/>
          <a:lstStyle/>
          <a:p>
            <a:pPr algn="r" indent="0" marL="0">
              <a:buNone/>
            </a:pPr>
            <a:r>
              <a:rPr lang="en-US" sz="1000" dirty="0">
                <a:solidFill>
                  <a:srgbClr val="555E6B"/>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ellipse">
            <a:avLst/>
          </a:prstGeom>
          <a:solidFill>
            <a:srgbClr val="B85C0A"/>
          </a:solidFill>
          <a:ln/>
        </p:spPr>
      </p:sp>
      <p:sp>
        <p:nvSpPr>
          <p:cNvPr id="3" name="Text 1"/>
          <p:cNvSpPr txBox="1"/>
          <p:nvPr/>
        </p:nvSpPr>
        <p:spPr>
          <a:xfrm>
            <a:off x="457200" y="384048"/>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6</a:t>
            </a:r>
            <a:endParaRPr lang="en-US" sz="2000" dirty="0"/>
          </a:p>
        </p:txBody>
      </p:sp>
      <p:sp>
        <p:nvSpPr>
          <p:cNvPr id="4" name="Text 2"/>
          <p:cNvSpPr txBox="1"/>
          <p:nvPr/>
        </p:nvSpPr>
        <p:spPr>
          <a:xfrm>
            <a:off x="1051560" y="384048"/>
            <a:ext cx="9144000" cy="274320"/>
          </a:xfrm>
          <a:prstGeom prst="rect">
            <a:avLst/>
          </a:prstGeom>
          <a:noFill/>
          <a:ln/>
        </p:spPr>
        <p:txBody>
          <a:bodyPr wrap="square" lIns="0" tIns="0" rIns="0" bIns="0" rtlCol="0" anchor="ctr"/>
          <a:lstStyle/>
          <a:p>
            <a:pPr indent="0" marL="0">
              <a:buNone/>
            </a:pPr>
            <a:r>
              <a:rPr lang="en-US" sz="1200" b="1" spc="100" kern="0" dirty="0">
                <a:solidFill>
                  <a:srgbClr val="B85C0A"/>
                </a:solidFill>
                <a:latin typeface="Calibri" pitchFamily="34" charset="0"/>
                <a:ea typeface="Calibri" pitchFamily="34" charset="-122"/>
                <a:cs typeface="Calibri" pitchFamily="34" charset="-120"/>
              </a:rPr>
              <a:t>ONE NAME, THREE LIVE PROGRAMS</a:t>
            </a:r>
            <a:endParaRPr lang="en-US" sz="1200" dirty="0"/>
          </a:p>
        </p:txBody>
      </p:sp>
      <p:sp>
        <p:nvSpPr>
          <p:cNvPr id="5" name="Text 3"/>
          <p:cNvSpPr txBox="1"/>
          <p:nvPr/>
        </p:nvSpPr>
        <p:spPr>
          <a:xfrm>
            <a:off x="457200" y="713232"/>
            <a:ext cx="11274552" cy="640080"/>
          </a:xfrm>
          <a:prstGeom prst="rect">
            <a:avLst/>
          </a:prstGeom>
          <a:noFill/>
          <a:ln/>
        </p:spPr>
        <p:txBody>
          <a:bodyPr wrap="square" lIns="0" tIns="0" rIns="0" bIns="0" rtlCol="0" anchor="t"/>
          <a:lstStyle/>
          <a:p>
            <a:pPr indent="0" marL="0">
              <a:buNone/>
            </a:pPr>
            <a:r>
              <a:rPr lang="en-US" sz="2800" b="1" dirty="0">
                <a:solidFill>
                  <a:srgbClr val="1A1A1A"/>
                </a:solidFill>
                <a:latin typeface="Calibri" pitchFamily="34" charset="0"/>
                <a:ea typeface="Calibri" pitchFamily="34" charset="-122"/>
                <a:cs typeface="Calibri" pitchFamily="34" charset="-120"/>
              </a:rPr>
              <a:t>Pulse Energy Is Already Live in Three Places</a:t>
            </a:r>
            <a:endParaRPr lang="en-US" sz="2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11274552" cy="3017520"/>
        </p:xfrm>
        <a:graphic>
          <a:graphicData uri="http://schemas.openxmlformats.org/drawingml/2006/table">
            <a:tbl>
              <a:tblPr/>
              <a:tblGrid>
                <a:gridCol w="3017520"/>
                <a:gridCol w="8257032"/>
              </a:tblGrid>
              <a:tr h="75438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Area</a:t>
                      </a:r>
                      <a:endParaRPr lang="en-US" sz="120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1A1A1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What's actually live</a:t>
                      </a:r>
                      <a:endParaRPr lang="en-US" sz="120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1A1A1A"/>
                    </a:solidFill>
                  </a:tcPr>
                </a:tc>
              </a:tr>
              <a:tr h="754380">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P2P solar trading</a:t>
                      </a:r>
                      <a:endParaRPr lang="en-US" sz="140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Accredited app ("SUPEREV") in the DERC/UPERC pilot — and the company REC Limited chose for the national live demo</a:t>
                      </a:r>
                      <a:endParaRPr lang="en-US" sz="140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r>
              <a:tr h="754380">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EV charging</a:t>
                      </a:r>
                      <a:endParaRPr lang="en-US" sz="140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5F6F8"/>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Certified technology enabler on Unified Bharat eCharge — 10,000+ connected chargers, payment via BHIM UPI</a:t>
                      </a:r>
                      <a:endParaRPr lang="en-US" sz="140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5F6F8"/>
                    </a:solidFill>
                  </a:tcPr>
                </a:tc>
              </a:tr>
              <a:tr h="754380">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Demand flexibility</a:t>
                      </a:r>
                      <a:endParaRPr lang="en-US" sz="140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Fleet / charge-management product with named enterprise clients, per press coverage</a:t>
                      </a:r>
                      <a:endParaRPr lang="en-US" sz="140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457200" y="5029200"/>
            <a:ext cx="11274552" cy="548640"/>
          </a:xfrm>
          <a:prstGeom prst="rect">
            <a:avLst/>
          </a:prstGeom>
          <a:noFill/>
          <a:ln/>
        </p:spPr>
        <p:txBody>
          <a:bodyPr wrap="square" lIns="0" tIns="0" rIns="0" bIns="0" rtlCol="0" anchor="ctr"/>
          <a:lstStyle/>
          <a:p>
            <a:pPr indent="0" marL="0">
              <a:buNone/>
            </a:pPr>
            <a:r>
              <a:rPr lang="en-US" sz="1300" i="1" dirty="0">
                <a:solidFill>
                  <a:srgbClr val="555E6B"/>
                </a:solidFill>
                <a:latin typeface="Calibri" pitchFamily="34" charset="0"/>
                <a:ea typeface="Calibri" pitchFamily="34" charset="-122"/>
                <a:cs typeface="Calibri" pitchFamily="34" charset="-120"/>
              </a:rPr>
              <a:t>Pulse Energy: Indian startup, founded 2020, seed-funded — not a government body, a real company already established across more than one part of this exact ecosystem.</a:t>
            </a:r>
            <a:endParaRPr lang="en-US" sz="1300" dirty="0"/>
          </a:p>
        </p:txBody>
      </p:sp>
      <p:sp>
        <p:nvSpPr>
          <p:cNvPr id="8" name="Text 5"/>
          <p:cNvSpPr txBox="1"/>
          <p:nvPr/>
        </p:nvSpPr>
        <p:spPr>
          <a:xfrm>
            <a:off x="457200" y="6455664"/>
            <a:ext cx="10972800" cy="310896"/>
          </a:xfrm>
          <a:prstGeom prst="rect">
            <a:avLst/>
          </a:prstGeom>
          <a:noFill/>
          <a:ln/>
        </p:spPr>
        <p:txBody>
          <a:bodyPr wrap="square" lIns="0" tIns="0" rIns="0" bIns="0" rtlCol="0" anchor="ctr"/>
          <a:lstStyle/>
          <a:p>
            <a:pPr indent="0" marL="0">
              <a:buNone/>
            </a:pPr>
            <a:r>
              <a:rPr lang="en-US" sz="950" i="1" dirty="0">
                <a:solidFill>
                  <a:srgbClr val="555E6B"/>
                </a:solidFill>
                <a:latin typeface="Calibri" pitchFamily="34" charset="0"/>
                <a:ea typeface="Calibri" pitchFamily="34" charset="-122"/>
                <a:cs typeface="Calibri" pitchFamily="34" charset="-120"/>
              </a:rPr>
              <a:t>Source: </a:t>
            </a:r>
            <a:pPr indent="0" marL="0">
              <a:buNone/>
            </a:pPr>
            <a:r>
              <a:rPr lang="en-US" sz="950" i="1" u="sng" dirty="0">
                <a:solidFill>
                  <a:srgbClr val="1D4ED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evreporter.com — CEO interview</a:t>
            </a:r>
            <a:pPr indent="0" marL="0">
              <a:buNone/>
            </a:pPr>
            <a:r>
              <a:rPr lang="en-US" sz="950" i="1" dirty="0">
                <a:solidFill>
                  <a:srgbClr val="555E6B"/>
                </a:solidFill>
                <a:latin typeface="Calibri" pitchFamily="34" charset="0"/>
                <a:ea typeface="Calibri" pitchFamily="34" charset="-122"/>
                <a:cs typeface="Calibri" pitchFamily="34" charset="-120"/>
              </a:rPr>
              <a:t>  ·  </a:t>
            </a:r>
            <a:pPr indent="0" marL="0">
              <a:buNone/>
            </a:pPr>
            <a:r>
              <a:rPr lang="en-US" sz="950" i="1" u="sng" dirty="0">
                <a:solidFill>
                  <a:srgbClr val="1D4ED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Autocar Professional — "Pulse Energy Joins Unified Bharat eCharge as Certified Tech Enabler"</a:t>
            </a:r>
            <a:endParaRPr lang="en-US" sz="950" dirty="0"/>
          </a:p>
        </p:txBody>
      </p:sp>
      <p:sp>
        <p:nvSpPr>
          <p:cNvPr id="9" name="Text 6"/>
          <p:cNvSpPr txBox="1"/>
          <p:nvPr/>
        </p:nvSpPr>
        <p:spPr>
          <a:xfrm>
            <a:off x="11612880" y="6473952"/>
            <a:ext cx="365760" cy="274320"/>
          </a:xfrm>
          <a:prstGeom prst="rect">
            <a:avLst/>
          </a:prstGeom>
          <a:noFill/>
          <a:ln/>
        </p:spPr>
        <p:txBody>
          <a:bodyPr wrap="square" lIns="0" tIns="0" rIns="0" bIns="0" rtlCol="0" anchor="ctr"/>
          <a:lstStyle/>
          <a:p>
            <a:pPr algn="r" indent="0" marL="0">
              <a:buNone/>
            </a:pPr>
            <a:r>
              <a:rPr lang="en-US" sz="1000" dirty="0">
                <a:solidFill>
                  <a:srgbClr val="555E6B"/>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ellipse">
            <a:avLst/>
          </a:prstGeom>
          <a:solidFill>
            <a:srgbClr val="1E7A3C"/>
          </a:solidFill>
          <a:ln/>
        </p:spPr>
      </p:sp>
      <p:sp>
        <p:nvSpPr>
          <p:cNvPr id="3" name="Text 1"/>
          <p:cNvSpPr txBox="1"/>
          <p:nvPr/>
        </p:nvSpPr>
        <p:spPr>
          <a:xfrm>
            <a:off x="457200" y="384048"/>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7</a:t>
            </a:r>
            <a:endParaRPr lang="en-US" sz="2000" dirty="0"/>
          </a:p>
        </p:txBody>
      </p:sp>
      <p:sp>
        <p:nvSpPr>
          <p:cNvPr id="4" name="Text 2"/>
          <p:cNvSpPr txBox="1"/>
          <p:nvPr/>
        </p:nvSpPr>
        <p:spPr>
          <a:xfrm>
            <a:off x="1051560" y="384048"/>
            <a:ext cx="9144000" cy="274320"/>
          </a:xfrm>
          <a:prstGeom prst="rect">
            <a:avLst/>
          </a:prstGeom>
          <a:noFill/>
          <a:ln/>
        </p:spPr>
        <p:txBody>
          <a:bodyPr wrap="square" lIns="0" tIns="0" rIns="0" bIns="0" rtlCol="0" anchor="ctr"/>
          <a:lstStyle/>
          <a:p>
            <a:pPr indent="0" marL="0">
              <a:buNone/>
            </a:pPr>
            <a:r>
              <a:rPr lang="en-US" sz="1200" b="1" spc="100" kern="0" dirty="0">
                <a:solidFill>
                  <a:srgbClr val="1E7A3C"/>
                </a:solidFill>
                <a:latin typeface="Calibri" pitchFamily="34" charset="0"/>
                <a:ea typeface="Calibri" pitchFamily="34" charset="-122"/>
                <a:cs typeface="Calibri" pitchFamily="34" charset="-120"/>
              </a:rPr>
              <a:t>THE NATIONAL EV BACKBONE</a:t>
            </a:r>
            <a:endParaRPr lang="en-US" sz="1200" dirty="0"/>
          </a:p>
        </p:txBody>
      </p:sp>
      <p:sp>
        <p:nvSpPr>
          <p:cNvPr id="5" name="Text 3"/>
          <p:cNvSpPr txBox="1"/>
          <p:nvPr/>
        </p:nvSpPr>
        <p:spPr>
          <a:xfrm>
            <a:off x="457200" y="713232"/>
            <a:ext cx="11274552" cy="640080"/>
          </a:xfrm>
          <a:prstGeom prst="rect">
            <a:avLst/>
          </a:prstGeom>
          <a:noFill/>
          <a:ln/>
        </p:spPr>
        <p:txBody>
          <a:bodyPr wrap="square" lIns="0" tIns="0" rIns="0" bIns="0" rtlCol="0" anchor="t"/>
          <a:lstStyle/>
          <a:p>
            <a:pPr indent="0" marL="0">
              <a:buNone/>
            </a:pPr>
            <a:r>
              <a:rPr lang="en-US" sz="2800" b="1" dirty="0">
                <a:solidFill>
                  <a:srgbClr val="1A1A1A"/>
                </a:solidFill>
                <a:latin typeface="Calibri" pitchFamily="34" charset="0"/>
                <a:ea typeface="Calibri" pitchFamily="34" charset="-122"/>
                <a:cs typeface="Calibri" pitchFamily="34" charset="-120"/>
              </a:rPr>
              <a:t>Unified Bharat eCharge — Live Since Aug 2026</a:t>
            </a:r>
            <a:endParaRPr lang="en-US" sz="2800" dirty="0"/>
          </a:p>
        </p:txBody>
      </p:sp>
      <p:sp>
        <p:nvSpPr>
          <p:cNvPr id="6" name="Text 4"/>
          <p:cNvSpPr txBox="1"/>
          <p:nvPr/>
        </p:nvSpPr>
        <p:spPr>
          <a:xfrm>
            <a:off x="457200" y="1691640"/>
            <a:ext cx="11274552" cy="4114800"/>
          </a:xfrm>
          <a:prstGeom prst="rect">
            <a:avLst/>
          </a:prstGeom>
          <a:noFill/>
          <a:ln/>
        </p:spPr>
        <p:txBody>
          <a:bodyPr wrap="square" lIns="0" tIns="0" rIns="0" bIns="0" rtlCol="0" anchor="t"/>
          <a:lstStyle/>
          <a:p>
            <a:pPr marL="342900" indent="-342900">
              <a:lnSpc>
                <a:spcPct val="120000"/>
              </a:lnSpc>
              <a:spcAft>
                <a:spcPts val="1400"/>
              </a:spcAft>
              <a:buSzPct val="100000"/>
              <a:buChar char="•"/>
            </a:pPr>
            <a:r>
              <a:rPr lang="en-US" sz="1550" dirty="0">
                <a:solidFill>
                  <a:srgbClr val="1A1A1A"/>
                </a:solidFill>
                <a:latin typeface="Calibri" pitchFamily="34" charset="0"/>
                <a:ea typeface="Calibri" pitchFamily="34" charset="-122"/>
                <a:cs typeface="Calibri" pitchFamily="34" charset="-120"/>
              </a:rPr>
              <a:t>Ministry of Heavy Industries backs the network; BHEL is the project implementation agency; NPCI BHIM Services Ltd handles design and development.</a:t>
            </a:r>
            <a:endParaRPr lang="en-US" sz="1550" dirty="0"/>
          </a:p>
          <a:p>
            <a:pPr marL="342900" indent="-342900">
              <a:lnSpc>
                <a:spcPct val="120000"/>
              </a:lnSpc>
              <a:spcAft>
                <a:spcPts val="1400"/>
              </a:spcAft>
              <a:buSzPct val="100000"/>
              <a:buChar char="•"/>
            </a:pPr>
            <a:r>
              <a:rPr lang="en-US" sz="1550" dirty="0">
                <a:solidFill>
                  <a:srgbClr val="1A1A1A"/>
                </a:solidFill>
                <a:latin typeface="Calibri" pitchFamily="34" charset="0"/>
                <a:ea typeface="Calibri" pitchFamily="34" charset="-122"/>
                <a:cs typeface="Calibri" pitchFamily="34" charset="-120"/>
              </a:rPr>
              <a:t>Runs on the open Beckn protocol; the underlying digital infrastructure was built by Networks for Humanity — the same organization behind the Digital Energy Grid itself.</a:t>
            </a:r>
            <a:endParaRPr lang="en-US" sz="1550" dirty="0"/>
          </a:p>
          <a:p>
            <a:pPr marL="342900" indent="-342900">
              <a:lnSpc>
                <a:spcPct val="120000"/>
              </a:lnSpc>
              <a:spcAft>
                <a:spcPts val="1400"/>
              </a:spcAft>
              <a:buSzPct val="100000"/>
              <a:buChar char="•"/>
            </a:pPr>
            <a:r>
              <a:rPr lang="en-US" sz="1550" dirty="0">
                <a:solidFill>
                  <a:srgbClr val="1A1A1A"/>
                </a:solidFill>
                <a:latin typeface="Calibri" pitchFamily="34" charset="0"/>
                <a:ea typeface="Calibri" pitchFamily="34" charset="-122"/>
                <a:cs typeface="Calibri" pitchFamily="34" charset="-120"/>
              </a:rPr>
              <a:t>A driver opens the BHIM app, finds a station, scans a QR code, and pays directly from their bank account — no separate app or prepaid wallet.</a:t>
            </a:r>
            <a:endParaRPr lang="en-US" sz="1550" dirty="0"/>
          </a:p>
          <a:p>
            <a:pPr marL="342900" indent="-342900">
              <a:lnSpc>
                <a:spcPct val="120000"/>
              </a:lnSpc>
              <a:spcAft>
                <a:spcPts val="1400"/>
              </a:spcAft>
              <a:buSzPct val="100000"/>
              <a:buChar char="•"/>
            </a:pPr>
            <a:r>
              <a:rPr lang="en-US" sz="1550" dirty="0">
                <a:solidFill>
                  <a:srgbClr val="1A1A1A"/>
                </a:solidFill>
                <a:latin typeface="Calibri" pitchFamily="34" charset="0"/>
                <a:ea typeface="Calibri" pitchFamily="34" charset="-122"/>
                <a:cs typeface="Calibri" pitchFamily="34" charset="-120"/>
              </a:rPr>
              <a:t>Rolled out around India's 80th Independence Day (Aug 2026): 10,000+ chargers connected, with more added across cities and highways.</a:t>
            </a:r>
            <a:endParaRPr lang="en-US" sz="1550" dirty="0"/>
          </a:p>
        </p:txBody>
      </p:sp>
      <p:sp>
        <p:nvSpPr>
          <p:cNvPr id="7" name="Text 5"/>
          <p:cNvSpPr txBox="1"/>
          <p:nvPr/>
        </p:nvSpPr>
        <p:spPr>
          <a:xfrm>
            <a:off x="457200" y="6455664"/>
            <a:ext cx="10972800" cy="310896"/>
          </a:xfrm>
          <a:prstGeom prst="rect">
            <a:avLst/>
          </a:prstGeom>
          <a:noFill/>
          <a:ln/>
        </p:spPr>
        <p:txBody>
          <a:bodyPr wrap="square" lIns="0" tIns="0" rIns="0" bIns="0" rtlCol="0" anchor="ctr"/>
          <a:lstStyle/>
          <a:p>
            <a:pPr indent="0" marL="0">
              <a:buNone/>
            </a:pPr>
            <a:r>
              <a:rPr lang="en-US" sz="950" i="1" dirty="0">
                <a:solidFill>
                  <a:srgbClr val="555E6B"/>
                </a:solidFill>
                <a:latin typeface="Calibri" pitchFamily="34" charset="0"/>
                <a:ea typeface="Calibri" pitchFamily="34" charset="-122"/>
                <a:cs typeface="Calibri" pitchFamily="34" charset="-120"/>
              </a:rPr>
              <a:t>Source: </a:t>
            </a:r>
            <a:pPr indent="0" marL="0">
              <a:buNone/>
            </a:pPr>
            <a:r>
              <a:rPr lang="en-US" sz="950" i="1" u="sng" dirty="0">
                <a:solidFill>
                  <a:srgbClr val="1D4ED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Autocar Professional — Pulse Energy / Unified Bharat eCharge</a:t>
            </a:r>
            <a:pPr indent="0" marL="0">
              <a:buNone/>
            </a:pPr>
            <a:r>
              <a:rPr lang="en-US" sz="950" i="1" dirty="0">
                <a:solidFill>
                  <a:srgbClr val="555E6B"/>
                </a:solidFill>
                <a:latin typeface="Calibri" pitchFamily="34" charset="0"/>
                <a:ea typeface="Calibri" pitchFamily="34" charset="-122"/>
                <a:cs typeface="Calibri" pitchFamily="34" charset="-120"/>
              </a:rPr>
              <a:t>  ·  </a:t>
            </a:r>
            <a:pPr indent="0" marL="0">
              <a:buNone/>
            </a:pPr>
            <a:r>
              <a:rPr lang="en-US" sz="950" i="1" u="sng" dirty="0">
                <a:solidFill>
                  <a:srgbClr val="1D4ED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Energetica India — "Pulse Energy connects over 10,000 EV chargers to BHIM UPI"</a:t>
            </a:r>
            <a:endParaRPr lang="en-US" sz="950" dirty="0"/>
          </a:p>
        </p:txBody>
      </p:sp>
      <p:sp>
        <p:nvSpPr>
          <p:cNvPr id="8" name="Text 6"/>
          <p:cNvSpPr txBox="1"/>
          <p:nvPr/>
        </p:nvSpPr>
        <p:spPr>
          <a:xfrm>
            <a:off x="11612880" y="6473952"/>
            <a:ext cx="365760" cy="274320"/>
          </a:xfrm>
          <a:prstGeom prst="rect">
            <a:avLst/>
          </a:prstGeom>
          <a:noFill/>
          <a:ln/>
        </p:spPr>
        <p:txBody>
          <a:bodyPr wrap="square" lIns="0" tIns="0" rIns="0" bIns="0" rtlCol="0" anchor="ctr"/>
          <a:lstStyle/>
          <a:p>
            <a:pPr algn="r" indent="0" marL="0">
              <a:buNone/>
            </a:pPr>
            <a:r>
              <a:rPr lang="en-US" sz="1000" dirty="0">
                <a:solidFill>
                  <a:srgbClr val="555E6B"/>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ellipse">
            <a:avLst/>
          </a:prstGeom>
          <a:solidFill>
            <a:srgbClr val="1D4ED8"/>
          </a:solidFill>
          <a:ln/>
        </p:spPr>
      </p:sp>
      <p:sp>
        <p:nvSpPr>
          <p:cNvPr id="3" name="Text 1"/>
          <p:cNvSpPr txBox="1"/>
          <p:nvPr/>
        </p:nvSpPr>
        <p:spPr>
          <a:xfrm>
            <a:off x="457200" y="384048"/>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8</a:t>
            </a:r>
            <a:endParaRPr lang="en-US" sz="2000" dirty="0"/>
          </a:p>
        </p:txBody>
      </p:sp>
      <p:sp>
        <p:nvSpPr>
          <p:cNvPr id="4" name="Text 2"/>
          <p:cNvSpPr txBox="1"/>
          <p:nvPr/>
        </p:nvSpPr>
        <p:spPr>
          <a:xfrm>
            <a:off x="1051560" y="384048"/>
            <a:ext cx="9144000" cy="274320"/>
          </a:xfrm>
          <a:prstGeom prst="rect">
            <a:avLst/>
          </a:prstGeom>
          <a:noFill/>
          <a:ln/>
        </p:spPr>
        <p:txBody>
          <a:bodyPr wrap="square" lIns="0" tIns="0" rIns="0" bIns="0" rtlCol="0" anchor="ctr"/>
          <a:lstStyle/>
          <a:p>
            <a:pPr indent="0" marL="0">
              <a:buNone/>
            </a:pPr>
            <a:r>
              <a:rPr lang="en-US" sz="1200" b="1" spc="100" kern="0" dirty="0">
                <a:solidFill>
                  <a:srgbClr val="1D4ED8"/>
                </a:solidFill>
                <a:latin typeface="Calibri" pitchFamily="34" charset="0"/>
                <a:ea typeface="Calibri" pitchFamily="34" charset="-122"/>
                <a:cs typeface="Calibri" pitchFamily="34" charset="-120"/>
              </a:rPr>
              <a:t>HOT NEWS — 30 SEPTEMBER 2026</a:t>
            </a:r>
            <a:endParaRPr lang="en-US" sz="1200" dirty="0"/>
          </a:p>
        </p:txBody>
      </p:sp>
      <p:sp>
        <p:nvSpPr>
          <p:cNvPr id="5" name="Text 3"/>
          <p:cNvSpPr txBox="1"/>
          <p:nvPr/>
        </p:nvSpPr>
        <p:spPr>
          <a:xfrm>
            <a:off x="457200" y="713232"/>
            <a:ext cx="11274552" cy="640080"/>
          </a:xfrm>
          <a:prstGeom prst="rect">
            <a:avLst/>
          </a:prstGeom>
          <a:noFill/>
          <a:ln/>
        </p:spPr>
        <p:txBody>
          <a:bodyPr wrap="square" lIns="0" tIns="0" rIns="0" bIns="0" rtlCol="0" anchor="t"/>
          <a:lstStyle/>
          <a:p>
            <a:pPr indent="0" marL="0">
              <a:buNone/>
            </a:pPr>
            <a:r>
              <a:rPr lang="en-US" sz="2800" b="1" dirty="0">
                <a:solidFill>
                  <a:srgbClr val="1A1A1A"/>
                </a:solidFill>
                <a:latin typeface="Calibri" pitchFamily="34" charset="0"/>
                <a:ea typeface="Calibri" pitchFamily="34" charset="-122"/>
                <a:cs typeface="Calibri" pitchFamily="34" charset="-120"/>
              </a:rPr>
              <a:t>Schneider Electric × Networks for Humanity Sign a Formal MoU</a:t>
            </a:r>
            <a:endParaRPr lang="en-US" sz="2800" dirty="0"/>
          </a:p>
        </p:txBody>
      </p:sp>
      <p:sp>
        <p:nvSpPr>
          <p:cNvPr id="6" name="Text 4"/>
          <p:cNvSpPr txBox="1"/>
          <p:nvPr/>
        </p:nvSpPr>
        <p:spPr>
          <a:xfrm>
            <a:off x="457200" y="1691640"/>
            <a:ext cx="11274552" cy="4114800"/>
          </a:xfrm>
          <a:prstGeom prst="rect">
            <a:avLst/>
          </a:prstGeom>
          <a:noFill/>
          <a:ln/>
        </p:spPr>
        <p:txBody>
          <a:bodyPr wrap="square" lIns="0" tIns="0" rIns="0" bIns="0" rtlCol="0" anchor="t"/>
          <a:lstStyle/>
          <a:p>
            <a:pPr marL="342900" indent="-342900">
              <a:lnSpc>
                <a:spcPct val="120000"/>
              </a:lnSpc>
              <a:spcAft>
                <a:spcPts val="1400"/>
              </a:spcAft>
              <a:buSzPct val="100000"/>
              <a:buChar char="•"/>
            </a:pPr>
            <a:r>
              <a:rPr lang="en-US" sz="1550" dirty="0">
                <a:solidFill>
                  <a:srgbClr val="1A1A1A"/>
                </a:solidFill>
                <a:latin typeface="Calibri" pitchFamily="34" charset="0"/>
                <a:ea typeface="Calibri" pitchFamily="34" charset="-122"/>
                <a:cs typeface="Calibri" pitchFamily="34" charset="-120"/>
              </a:rPr>
              <a:t>Signed in New Delhi on 30 Sept 2026 by Deepak Sharma (MD &amp; CEO, Schneider Electric India) and Sujith Nair (Co-Founder, Networks for Humanity).</a:t>
            </a:r>
            <a:endParaRPr lang="en-US" sz="1550" dirty="0"/>
          </a:p>
          <a:p>
            <a:pPr marL="342900" indent="-342900">
              <a:lnSpc>
                <a:spcPct val="120000"/>
              </a:lnSpc>
              <a:spcAft>
                <a:spcPts val="1400"/>
              </a:spcAft>
              <a:buSzPct val="100000"/>
              <a:buChar char="•"/>
            </a:pPr>
            <a:r>
              <a:rPr lang="en-US" sz="1550" dirty="0">
                <a:solidFill>
                  <a:srgbClr val="1A1A1A"/>
                </a:solidFill>
                <a:latin typeface="Calibri" pitchFamily="34" charset="0"/>
                <a:ea typeface="Calibri" pitchFamily="34" charset="-122"/>
                <a:cs typeface="Calibri" pitchFamily="34" charset="-120"/>
              </a:rPr>
              <a:t>Scope: utility energy intelligence, industrial &amp; building demand flexibility, home energy management, flexible EV charging, carbon footprint accounting and trading.</a:t>
            </a:r>
            <a:endParaRPr lang="en-US" sz="1550" dirty="0"/>
          </a:p>
          <a:p>
            <a:pPr marL="342900" indent="-342900">
              <a:lnSpc>
                <a:spcPct val="120000"/>
              </a:lnSpc>
              <a:spcAft>
                <a:spcPts val="1400"/>
              </a:spcAft>
              <a:buSzPct val="100000"/>
              <a:buChar char="•"/>
            </a:pPr>
            <a:r>
              <a:rPr lang="en-US" sz="1550" dirty="0">
                <a:solidFill>
                  <a:srgbClr val="1A1A1A"/>
                </a:solidFill>
                <a:latin typeface="Calibri" pitchFamily="34" charset="0"/>
                <a:ea typeface="Calibri" pitchFamily="34" charset="-122"/>
                <a:cs typeface="Calibri" pitchFamily="34" charset="-120"/>
              </a:rPr>
              <a:t>Framed around India's electricity peak demand approaching ~300 GW by 2027, driven by data centres, AI, and EVs.</a:t>
            </a:r>
            <a:endParaRPr lang="en-US" sz="1550" dirty="0"/>
          </a:p>
          <a:p>
            <a:pPr marL="342900" indent="-342900">
              <a:lnSpc>
                <a:spcPct val="120000"/>
              </a:lnSpc>
              <a:spcAft>
                <a:spcPts val="1400"/>
              </a:spcAft>
              <a:buSzPct val="100000"/>
              <a:buChar char="•"/>
            </a:pPr>
            <a:r>
              <a:rPr lang="en-US" sz="1550" dirty="0">
                <a:solidFill>
                  <a:srgbClr val="1A1A1A"/>
                </a:solidFill>
                <a:latin typeface="Calibri" pitchFamily="34" charset="0"/>
                <a:ea typeface="Calibri" pitchFamily="34" charset="-122"/>
                <a:cs typeface="Calibri" pitchFamily="34" charset="-120"/>
              </a:rPr>
              <a:t>Stated goal: demonstrate discoverability, trust, and transactability between "value creators" and "value takers" on the DEG — wider deployment depends on pilot results.</a:t>
            </a:r>
            <a:endParaRPr lang="en-US" sz="1550" dirty="0"/>
          </a:p>
        </p:txBody>
      </p:sp>
      <p:sp>
        <p:nvSpPr>
          <p:cNvPr id="7" name="Text 5"/>
          <p:cNvSpPr txBox="1"/>
          <p:nvPr/>
        </p:nvSpPr>
        <p:spPr>
          <a:xfrm>
            <a:off x="457200" y="6455664"/>
            <a:ext cx="10972800" cy="310896"/>
          </a:xfrm>
          <a:prstGeom prst="rect">
            <a:avLst/>
          </a:prstGeom>
          <a:noFill/>
          <a:ln/>
        </p:spPr>
        <p:txBody>
          <a:bodyPr wrap="square" lIns="0" tIns="0" rIns="0" bIns="0" rtlCol="0" anchor="ctr"/>
          <a:lstStyle/>
          <a:p>
            <a:pPr indent="0" marL="0">
              <a:buNone/>
            </a:pPr>
            <a:r>
              <a:rPr lang="en-US" sz="950" i="1" dirty="0">
                <a:solidFill>
                  <a:srgbClr val="555E6B"/>
                </a:solidFill>
                <a:latin typeface="Calibri" pitchFamily="34" charset="0"/>
                <a:ea typeface="Calibri" pitchFamily="34" charset="-122"/>
                <a:cs typeface="Calibri" pitchFamily="34" charset="-120"/>
              </a:rPr>
              <a:t>Source: </a:t>
            </a:r>
            <a:pPr indent="0" marL="0">
              <a:buNone/>
            </a:pPr>
            <a:r>
              <a:rPr lang="en-US" sz="950" i="1" u="sng" dirty="0">
                <a:solidFill>
                  <a:srgbClr val="1D4ED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PV Magazine India — "Schneider Electric partners with Networks for Humanity to advance India's Digital Energy Grid"</a:t>
            </a:r>
            <a:endParaRPr lang="en-US" sz="950" dirty="0"/>
          </a:p>
        </p:txBody>
      </p:sp>
      <p:sp>
        <p:nvSpPr>
          <p:cNvPr id="8" name="Text 6"/>
          <p:cNvSpPr txBox="1"/>
          <p:nvPr/>
        </p:nvSpPr>
        <p:spPr>
          <a:xfrm>
            <a:off x="11612880" y="6473952"/>
            <a:ext cx="365760" cy="274320"/>
          </a:xfrm>
          <a:prstGeom prst="rect">
            <a:avLst/>
          </a:prstGeom>
          <a:noFill/>
          <a:ln/>
        </p:spPr>
        <p:txBody>
          <a:bodyPr wrap="square" lIns="0" tIns="0" rIns="0" bIns="0" rtlCol="0" anchor="ctr"/>
          <a:lstStyle/>
          <a:p>
            <a:pPr algn="r" indent="0" marL="0">
              <a:buNone/>
            </a:pPr>
            <a:r>
              <a:rPr lang="en-US" sz="1000" dirty="0">
                <a:solidFill>
                  <a:srgbClr val="555E6B"/>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ellipse">
            <a:avLst/>
          </a:prstGeom>
          <a:solidFill>
            <a:srgbClr val="555E6B"/>
          </a:solidFill>
          <a:ln/>
        </p:spPr>
      </p:sp>
      <p:sp>
        <p:nvSpPr>
          <p:cNvPr id="3" name="Text 1"/>
          <p:cNvSpPr txBox="1"/>
          <p:nvPr/>
        </p:nvSpPr>
        <p:spPr>
          <a:xfrm>
            <a:off x="457200" y="384048"/>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9</a:t>
            </a:r>
            <a:endParaRPr lang="en-US" sz="2000" dirty="0"/>
          </a:p>
        </p:txBody>
      </p:sp>
      <p:sp>
        <p:nvSpPr>
          <p:cNvPr id="4" name="Text 2"/>
          <p:cNvSpPr txBox="1"/>
          <p:nvPr/>
        </p:nvSpPr>
        <p:spPr>
          <a:xfrm>
            <a:off x="1051560" y="384048"/>
            <a:ext cx="9144000" cy="274320"/>
          </a:xfrm>
          <a:prstGeom prst="rect">
            <a:avLst/>
          </a:prstGeom>
          <a:noFill/>
          <a:ln/>
        </p:spPr>
        <p:txBody>
          <a:bodyPr wrap="square" lIns="0" tIns="0" rIns="0" bIns="0" rtlCol="0" anchor="ctr"/>
          <a:lstStyle/>
          <a:p>
            <a:pPr indent="0" marL="0">
              <a:buNone/>
            </a:pPr>
            <a:r>
              <a:rPr lang="en-US" sz="1200" b="1" spc="100" kern="0" dirty="0">
                <a:solidFill>
                  <a:srgbClr val="555E6B"/>
                </a:solidFill>
                <a:latin typeface="Calibri" pitchFamily="34" charset="0"/>
                <a:ea typeface="Calibri" pitchFamily="34" charset="-122"/>
                <a:cs typeface="Calibri" pitchFamily="34" charset="-120"/>
              </a:rPr>
              <a:t>THE PUBLIC ENGINEERING RECORD</a:t>
            </a:r>
            <a:endParaRPr lang="en-US" sz="1200" dirty="0"/>
          </a:p>
        </p:txBody>
      </p:sp>
      <p:sp>
        <p:nvSpPr>
          <p:cNvPr id="5" name="Text 3"/>
          <p:cNvSpPr txBox="1"/>
          <p:nvPr/>
        </p:nvSpPr>
        <p:spPr>
          <a:xfrm>
            <a:off x="457200" y="713232"/>
            <a:ext cx="11274552" cy="640080"/>
          </a:xfrm>
          <a:prstGeom prst="rect">
            <a:avLst/>
          </a:prstGeom>
          <a:noFill/>
          <a:ln/>
        </p:spPr>
        <p:txBody>
          <a:bodyPr wrap="square" lIns="0" tIns="0" rIns="0" bIns="0" rtlCol="0" anchor="t"/>
          <a:lstStyle/>
          <a:p>
            <a:pPr indent="0" marL="0">
              <a:buNone/>
            </a:pPr>
            <a:r>
              <a:rPr lang="en-US" sz="2800" b="1" dirty="0">
                <a:solidFill>
                  <a:srgbClr val="1A1A1A"/>
                </a:solidFill>
                <a:latin typeface="Calibri" pitchFamily="34" charset="0"/>
                <a:ea typeface="Calibri" pitchFamily="34" charset="-122"/>
                <a:cs typeface="Calibri" pitchFamily="34" charset="-120"/>
              </a:rPr>
              <a:t>Two Real, Public Repositories — Nothing Hidden</a:t>
            </a:r>
            <a:endParaRPr lang="en-US" sz="2800" dirty="0"/>
          </a:p>
        </p:txBody>
      </p:sp>
      <p:sp>
        <p:nvSpPr>
          <p:cNvPr id="6" name="Text 4"/>
          <p:cNvSpPr txBox="1"/>
          <p:nvPr/>
        </p:nvSpPr>
        <p:spPr>
          <a:xfrm>
            <a:off x="457200" y="1737360"/>
            <a:ext cx="11274552" cy="3017520"/>
          </a:xfrm>
          <a:prstGeom prst="rect">
            <a:avLst/>
          </a:prstGeom>
          <a:noFill/>
          <a:ln/>
        </p:spPr>
        <p:txBody>
          <a:bodyPr wrap="square" lIns="0" tIns="0" rIns="0" bIns="0" rtlCol="0" anchor="t"/>
          <a:lstStyle/>
          <a:p>
            <a:pPr marL="342900" indent="-342900">
              <a:lnSpc>
                <a:spcPct val="120000"/>
              </a:lnSpc>
              <a:spcAft>
                <a:spcPts val="1600"/>
              </a:spcAft>
              <a:buSzPct val="100000"/>
              <a:buChar char="•"/>
            </a:pPr>
            <a:r>
              <a:rPr lang="en-US" sz="1600" dirty="0">
                <a:solidFill>
                  <a:srgbClr val="1A1A1A"/>
                </a:solidFill>
                <a:latin typeface="Calibri" pitchFamily="34" charset="0"/>
                <a:ea typeface="Calibri" pitchFamily="34" charset="-122"/>
                <a:cs typeface="Calibri" pitchFamily="34" charset="-120"/>
              </a:rPr>
              <a:t>India-Energy-Stack/ies-accelerator — the Ministry of Power / REC Limited's own repository: identity, credentials, and meter-data schemas, actively committed to.</a:t>
            </a:r>
            <a:endParaRPr lang="en-US" sz="1600" dirty="0"/>
          </a:p>
          <a:p>
            <a:pPr marL="342900" indent="-342900">
              <a:lnSpc>
                <a:spcPct val="120000"/>
              </a:lnSpc>
              <a:spcAft>
                <a:spcPts val="1600"/>
              </a:spcAft>
              <a:buSzPct val="100000"/>
              <a:buChar char="•"/>
            </a:pPr>
            <a:r>
              <a:rPr lang="en-US" sz="1600" dirty="0">
                <a:solidFill>
                  <a:srgbClr val="1A1A1A"/>
                </a:solidFill>
                <a:latin typeface="Calibri" pitchFamily="34" charset="0"/>
                <a:ea typeface="Calibri" pitchFamily="34" charset="-122"/>
                <a:cs typeface="Calibri" pitchFamily="34" charset="-120"/>
              </a:rPr>
              <a:t>beckn/DEG — backed by FIDE and the IEA, with an active multi-person working group: holds the actual P2P energy-trading schemas (EnergyResource, EnergyTradeOffer, and others).</a:t>
            </a:r>
            <a:endParaRPr lang="en-US" sz="1600" dirty="0"/>
          </a:p>
          <a:p>
            <a:pPr marL="342900" indent="-342900">
              <a:lnSpc>
                <a:spcPct val="120000"/>
              </a:lnSpc>
              <a:spcAft>
                <a:spcPts val="1600"/>
              </a:spcAft>
              <a:buSzPct val="100000"/>
              <a:buChar char="•"/>
            </a:pPr>
            <a:r>
              <a:rPr lang="en-US" sz="1600" dirty="0">
                <a:solidFill>
                  <a:srgbClr val="1A1A1A"/>
                </a:solidFill>
                <a:latin typeface="Calibri" pitchFamily="34" charset="0"/>
                <a:ea typeface="Calibri" pitchFamily="34" charset="-122"/>
                <a:cs typeface="Calibri" pitchFamily="34" charset="-120"/>
              </a:rPr>
              <a:t>Both repositories are public and openly licensed — anyone can read them, clone them, or raise an issue against them, right now, today.</a:t>
            </a:r>
            <a:endParaRPr lang="en-US" sz="1600" dirty="0"/>
          </a:p>
        </p:txBody>
      </p:sp>
      <p:sp>
        <p:nvSpPr>
          <p:cNvPr id="7" name="Text 5"/>
          <p:cNvSpPr txBox="1"/>
          <p:nvPr/>
        </p:nvSpPr>
        <p:spPr>
          <a:xfrm>
            <a:off x="457200" y="6455664"/>
            <a:ext cx="10972800" cy="310896"/>
          </a:xfrm>
          <a:prstGeom prst="rect">
            <a:avLst/>
          </a:prstGeom>
          <a:noFill/>
          <a:ln/>
        </p:spPr>
        <p:txBody>
          <a:bodyPr wrap="square" lIns="0" tIns="0" rIns="0" bIns="0" rtlCol="0" anchor="ctr"/>
          <a:lstStyle/>
          <a:p>
            <a:pPr indent="0" marL="0">
              <a:buNone/>
            </a:pPr>
            <a:r>
              <a:rPr lang="en-US" sz="950" i="1" dirty="0">
                <a:solidFill>
                  <a:srgbClr val="555E6B"/>
                </a:solidFill>
                <a:latin typeface="Calibri" pitchFamily="34" charset="0"/>
                <a:ea typeface="Calibri" pitchFamily="34" charset="-122"/>
                <a:cs typeface="Calibri" pitchFamily="34" charset="-120"/>
              </a:rPr>
              <a:t>Source: </a:t>
            </a:r>
            <a:pPr indent="0" marL="0">
              <a:buNone/>
            </a:pPr>
            <a:r>
              <a:rPr lang="en-US" sz="950" i="1" u="sng" dirty="0">
                <a:solidFill>
                  <a:srgbClr val="1D4ED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github.com/India-Energy-Stack/ies-accelerator</a:t>
            </a:r>
            <a:pPr indent="0" marL="0">
              <a:buNone/>
            </a:pPr>
            <a:r>
              <a:rPr lang="en-US" sz="950" i="1" dirty="0">
                <a:solidFill>
                  <a:srgbClr val="555E6B"/>
                </a:solidFill>
                <a:latin typeface="Calibri" pitchFamily="34" charset="0"/>
                <a:ea typeface="Calibri" pitchFamily="34" charset="-122"/>
                <a:cs typeface="Calibri" pitchFamily="34" charset="-120"/>
              </a:rPr>
              <a:t>  ·  </a:t>
            </a:r>
            <a:pPr indent="0" marL="0">
              <a:buNone/>
            </a:pPr>
            <a:r>
              <a:rPr lang="en-US" sz="950" i="1" u="sng" dirty="0">
                <a:solidFill>
                  <a:srgbClr val="1D4ED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github.com/beckn/DEG</a:t>
            </a:r>
            <a:endParaRPr lang="en-US" sz="950" dirty="0"/>
          </a:p>
        </p:txBody>
      </p:sp>
      <p:sp>
        <p:nvSpPr>
          <p:cNvPr id="8" name="Text 6"/>
          <p:cNvSpPr txBox="1"/>
          <p:nvPr/>
        </p:nvSpPr>
        <p:spPr>
          <a:xfrm>
            <a:off x="11612880" y="6473952"/>
            <a:ext cx="365760" cy="274320"/>
          </a:xfrm>
          <a:prstGeom prst="rect">
            <a:avLst/>
          </a:prstGeom>
          <a:noFill/>
          <a:ln/>
        </p:spPr>
        <p:txBody>
          <a:bodyPr wrap="square" lIns="0" tIns="0" rIns="0" bIns="0" rtlCol="0" anchor="ctr"/>
          <a:lstStyle/>
          <a:p>
            <a:pPr algn="r" indent="0" marL="0">
              <a:buNone/>
            </a:pPr>
            <a:r>
              <a:rPr lang="en-US" sz="1000" dirty="0">
                <a:solidFill>
                  <a:srgbClr val="555E6B"/>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ellipse">
            <a:avLst/>
          </a:prstGeom>
          <a:solidFill>
            <a:srgbClr val="A82A2A"/>
          </a:solidFill>
          <a:ln/>
        </p:spPr>
      </p:sp>
      <p:sp>
        <p:nvSpPr>
          <p:cNvPr id="3" name="Text 1"/>
          <p:cNvSpPr txBox="1"/>
          <p:nvPr/>
        </p:nvSpPr>
        <p:spPr>
          <a:xfrm>
            <a:off x="457200" y="384048"/>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10</a:t>
            </a:r>
            <a:endParaRPr lang="en-US" sz="2000" dirty="0"/>
          </a:p>
        </p:txBody>
      </p:sp>
      <p:sp>
        <p:nvSpPr>
          <p:cNvPr id="4" name="Text 2"/>
          <p:cNvSpPr txBox="1"/>
          <p:nvPr/>
        </p:nvSpPr>
        <p:spPr>
          <a:xfrm>
            <a:off x="1051560" y="384048"/>
            <a:ext cx="9144000" cy="274320"/>
          </a:xfrm>
          <a:prstGeom prst="rect">
            <a:avLst/>
          </a:prstGeom>
          <a:noFill/>
          <a:ln/>
        </p:spPr>
        <p:txBody>
          <a:bodyPr wrap="square" lIns="0" tIns="0" rIns="0" bIns="0" rtlCol="0" anchor="ctr"/>
          <a:lstStyle/>
          <a:p>
            <a:pPr indent="0" marL="0">
              <a:buNone/>
            </a:pPr>
            <a:r>
              <a:rPr lang="en-US" sz="1200" b="1" spc="100" kern="0" dirty="0">
                <a:solidFill>
                  <a:srgbClr val="A82A2A"/>
                </a:solidFill>
                <a:latin typeface="Calibri" pitchFamily="34" charset="0"/>
                <a:ea typeface="Calibri" pitchFamily="34" charset="-122"/>
                <a:cs typeface="Calibri" pitchFamily="34" charset="-120"/>
              </a:rPr>
              <a:t>WHAT'S STILL MISSING — THE SPECIFICATION</a:t>
            </a:r>
            <a:endParaRPr lang="en-US" sz="1200" dirty="0"/>
          </a:p>
        </p:txBody>
      </p:sp>
      <p:sp>
        <p:nvSpPr>
          <p:cNvPr id="5" name="Text 3"/>
          <p:cNvSpPr txBox="1"/>
          <p:nvPr/>
        </p:nvSpPr>
        <p:spPr>
          <a:xfrm>
            <a:off x="457200" y="713232"/>
            <a:ext cx="11274552" cy="640080"/>
          </a:xfrm>
          <a:prstGeom prst="rect">
            <a:avLst/>
          </a:prstGeom>
          <a:noFill/>
          <a:ln/>
        </p:spPr>
        <p:txBody>
          <a:bodyPr wrap="square" lIns="0" tIns="0" rIns="0" bIns="0" rtlCol="0" anchor="t"/>
          <a:lstStyle/>
          <a:p>
            <a:pPr indent="0" marL="0">
              <a:buNone/>
            </a:pPr>
            <a:r>
              <a:rPr lang="en-US" sz="2600" b="1" dirty="0">
                <a:solidFill>
                  <a:srgbClr val="1A1A1A"/>
                </a:solidFill>
                <a:latin typeface="Calibri" pitchFamily="34" charset="0"/>
                <a:ea typeface="Calibri" pitchFamily="34" charset="-122"/>
                <a:cs typeface="Calibri" pitchFamily="34" charset="-120"/>
              </a:rPr>
              <a:t>The Published Spec Still Has a Real Gap</a:t>
            </a:r>
            <a:endParaRPr lang="en-US" sz="2600" dirty="0"/>
          </a:p>
        </p:txBody>
      </p:sp>
      <p:sp>
        <p:nvSpPr>
          <p:cNvPr id="6" name="Shape 4"/>
          <p:cNvSpPr/>
          <p:nvPr/>
        </p:nvSpPr>
        <p:spPr>
          <a:xfrm>
            <a:off x="457200" y="1600200"/>
            <a:ext cx="6492240" cy="3566160"/>
          </a:xfrm>
          <a:prstGeom prst="roundRect">
            <a:avLst>
              <a:gd name="adj" fmla="val 1538"/>
            </a:avLst>
          </a:prstGeom>
          <a:solidFill>
            <a:srgbClr val="0F172A"/>
          </a:solidFill>
          <a:ln/>
        </p:spPr>
      </p:sp>
      <p:sp>
        <p:nvSpPr>
          <p:cNvPr id="7" name="Text 5"/>
          <p:cNvSpPr txBox="1"/>
          <p:nvPr/>
        </p:nvSpPr>
        <p:spPr>
          <a:xfrm>
            <a:off x="731520" y="1783080"/>
            <a:ext cx="5943600" cy="3200400"/>
          </a:xfrm>
          <a:prstGeom prst="rect">
            <a:avLst/>
          </a:prstGeom>
          <a:noFill/>
          <a:ln/>
        </p:spPr>
        <p:txBody>
          <a:bodyPr wrap="square" lIns="0" tIns="0" rIns="0" bIns="0" rtlCol="0" anchor="t"/>
          <a:lstStyle/>
          <a:p>
            <a:pPr indent="0" marL="0">
              <a:lnSpc>
                <a:spcPct val="125000"/>
              </a:lnSpc>
              <a:spcAft>
                <a:spcPts val="600"/>
              </a:spcAft>
              <a:buNone/>
            </a:pPr>
            <a:r>
              <a:rPr lang="en-US" sz="1300" b="1" dirty="0">
                <a:solidFill>
                  <a:srgbClr val="93C5FD"/>
                </a:solidFill>
                <a:latin typeface="Consolas" pitchFamily="34" charset="0"/>
                <a:ea typeface="Consolas" pitchFamily="34" charset="-122"/>
                <a:cs typeface="Consolas" pitchFamily="34" charset="-120"/>
              </a:rPr>
              <a:t>EnergyTradeOffer / v2.0 / attributes.yaml
</a:t>
            </a:r>
            <a:endParaRPr lang="en-US" sz="1300" dirty="0"/>
          </a:p>
          <a:p>
            <a:pPr indent="0" marL="0">
              <a:lnSpc>
                <a:spcPct val="125000"/>
              </a:lnSpc>
              <a:spcAft>
                <a:spcPts val="600"/>
              </a:spcAft>
              <a:buNone/>
            </a:pPr>
            <a:r>
              <a:rPr lang="en-US" sz="1300" dirty="0">
                <a:solidFill>
                  <a:srgbClr val="E2E8F0"/>
                </a:solidFill>
                <a:latin typeface="Consolas" pitchFamily="34" charset="0"/>
                <a:ea typeface="Consolas" pitchFamily="34" charset="-122"/>
                <a:cs typeface="Consolas" pitchFamily="34" charset="-120"/>
              </a:rPr>
              <a:t>properties:
  validityWindow: ...
  contractAttributes: ...
  participants: ...
  commitmentAttributes: ...
</a:t>
            </a:r>
            <a:endParaRPr lang="en-US" sz="1300" dirty="0"/>
          </a:p>
          <a:p>
            <a:pPr indent="0" marL="0">
              <a:lnSpc>
                <a:spcPct val="125000"/>
              </a:lnSpc>
              <a:buNone/>
            </a:pPr>
            <a:r>
              <a:rPr lang="en-US" sz="1300" b="1" dirty="0">
                <a:solidFill>
                  <a:srgbClr val="FCA5A5"/>
                </a:solidFill>
                <a:latin typeface="Consolas" pitchFamily="34" charset="0"/>
                <a:ea typeface="Consolas" pitchFamily="34" charset="-122"/>
                <a:cs typeface="Consolas" pitchFamily="34" charset="-120"/>
              </a:rPr>
              <a:t># No resourceId / resourceType field.</a:t>
            </a:r>
            <a:endParaRPr lang="en-US" sz="1300" dirty="0"/>
          </a:p>
          <a:p>
            <a:pPr indent="0" marL="0">
              <a:lnSpc>
                <a:spcPct val="125000"/>
              </a:lnSpc>
              <a:buNone/>
            </a:pPr>
            <a:r>
              <a:rPr lang="en-US" sz="1300" b="1" dirty="0">
                <a:solidFill>
                  <a:srgbClr val="FCA5A5"/>
                </a:solidFill>
                <a:latin typeface="Consolas" pitchFamily="34" charset="0"/>
                <a:ea typeface="Consolas" pitchFamily="34" charset="-122"/>
                <a:cs typeface="Consolas" pitchFamily="34" charset="-120"/>
              </a:rPr>
              <a:t># No enforced commitmentType (FIRM vs.</a:t>
            </a:r>
            <a:endParaRPr lang="en-US" sz="1300" dirty="0"/>
          </a:p>
          <a:p>
            <a:pPr indent="0" marL="0">
              <a:lnSpc>
                <a:spcPct val="125000"/>
              </a:lnSpc>
              <a:buNone/>
            </a:pPr>
            <a:r>
              <a:rPr lang="en-US" sz="1300" b="1" dirty="0">
                <a:solidFill>
                  <a:srgbClr val="FCA5A5"/>
                </a:solidFill>
                <a:latin typeface="Consolas" pitchFamily="34" charset="0"/>
                <a:ea typeface="Consolas" pitchFamily="34" charset="-122"/>
                <a:cs typeface="Consolas" pitchFamily="34" charset="-120"/>
              </a:rPr>
              <a:t># BEST_EFFORT). Nothing here.</a:t>
            </a:r>
            <a:endParaRPr lang="en-US" sz="1300" dirty="0"/>
          </a:p>
        </p:txBody>
      </p:sp>
      <p:sp>
        <p:nvSpPr>
          <p:cNvPr id="8" name="Text 6"/>
          <p:cNvSpPr txBox="1"/>
          <p:nvPr/>
        </p:nvSpPr>
        <p:spPr>
          <a:xfrm>
            <a:off x="7223760" y="1783080"/>
            <a:ext cx="4507992" cy="3291840"/>
          </a:xfrm>
          <a:prstGeom prst="rect">
            <a:avLst/>
          </a:prstGeom>
          <a:noFill/>
          <a:ln/>
        </p:spPr>
        <p:txBody>
          <a:bodyPr wrap="square" lIns="0" tIns="0" rIns="0" bIns="0" rtlCol="0" anchor="t"/>
          <a:lstStyle/>
          <a:p>
            <a:pPr indent="0" marL="0">
              <a:lnSpc>
                <a:spcPct val="120000"/>
              </a:lnSpc>
              <a:spcAft>
                <a:spcPts val="600"/>
              </a:spcAft>
              <a:buNone/>
            </a:pPr>
            <a:r>
              <a:rPr lang="en-US" sz="1350" b="1" dirty="0">
                <a:solidFill>
                  <a:srgbClr val="1A1A1A"/>
                </a:solidFill>
                <a:latin typeface="Calibri" pitchFamily="34" charset="0"/>
                <a:ea typeface="Calibri" pitchFamily="34" charset="-122"/>
                <a:cs typeface="Calibri" pitchFamily="34" charset="-120"/>
              </a:rPr>
              <a:t>What this actually means:
</a:t>
            </a:r>
            <a:endParaRPr lang="en-US" sz="1350" dirty="0"/>
          </a:p>
          <a:p>
            <a:pPr indent="0" marL="0">
              <a:lnSpc>
                <a:spcPct val="120000"/>
              </a:lnSpc>
              <a:spcAft>
                <a:spcPts val="1000"/>
              </a:spcAft>
              <a:buNone/>
            </a:pPr>
            <a:r>
              <a:rPr lang="en-US" sz="1350" dirty="0">
                <a:solidFill>
                  <a:srgbClr val="1A1A1A"/>
                </a:solidFill>
                <a:latin typeface="Calibri" pitchFamily="34" charset="0"/>
                <a:ea typeface="Calibri" pitchFamily="34" charset="-122"/>
                <a:cs typeface="Calibri" pitchFamily="34" charset="-120"/>
              </a:rPr>
              <a:t>Nothing in the specification stops an offer from a solar panel (which can fail on a cloudy day) from quietly claiming the same guaranteed status as a battery-backed offer.
</a:t>
            </a:r>
            <a:endParaRPr lang="en-US" sz="1350" dirty="0"/>
          </a:p>
          <a:p>
            <a:pPr indent="0" marL="0">
              <a:lnSpc>
                <a:spcPct val="120000"/>
              </a:lnSpc>
              <a:spcAft>
                <a:spcPts val="600"/>
              </a:spcAft>
              <a:buNone/>
            </a:pPr>
            <a:r>
              <a:rPr lang="en-US" sz="1350" b="1" dirty="0">
                <a:solidFill>
                  <a:srgbClr val="1A1A1A"/>
                </a:solidFill>
                <a:latin typeface="Calibri" pitchFamily="34" charset="0"/>
                <a:ea typeface="Calibri" pitchFamily="34" charset="-122"/>
                <a:cs typeface="Calibri" pitchFamily="34" charset="-120"/>
              </a:rPr>
              <a:t>Why it hasn't broken anything yet:
</a:t>
            </a:r>
            <a:endParaRPr lang="en-US" sz="1350" dirty="0"/>
          </a:p>
          <a:p>
            <a:pPr indent="0" marL="0">
              <a:lnSpc>
                <a:spcPct val="120000"/>
              </a:lnSpc>
              <a:buNone/>
            </a:pPr>
            <a:r>
              <a:rPr lang="en-US" sz="1350" dirty="0">
                <a:solidFill>
                  <a:srgbClr val="1A1A1A"/>
                </a:solidFill>
                <a:latin typeface="Calibri" pitchFamily="34" charset="0"/>
                <a:ea typeface="Calibri" pitchFamily="34" charset="-122"/>
                <a:cs typeface="Calibri" pitchFamily="34" charset="-120"/>
              </a:rPr>
              <a:t>every live pilot today only trades direct solar flow, not stored battery energy — so this gap has never actually been exercised by a real transaction.</a:t>
            </a:r>
            <a:endParaRPr lang="en-US" sz="1350" dirty="0"/>
          </a:p>
        </p:txBody>
      </p:sp>
      <p:sp>
        <p:nvSpPr>
          <p:cNvPr id="9" name="Text 7"/>
          <p:cNvSpPr txBox="1"/>
          <p:nvPr/>
        </p:nvSpPr>
        <p:spPr>
          <a:xfrm>
            <a:off x="457200" y="6455664"/>
            <a:ext cx="10972800" cy="310896"/>
          </a:xfrm>
          <a:prstGeom prst="rect">
            <a:avLst/>
          </a:prstGeom>
          <a:noFill/>
          <a:ln/>
        </p:spPr>
        <p:txBody>
          <a:bodyPr wrap="square" lIns="0" tIns="0" rIns="0" bIns="0" rtlCol="0" anchor="ctr"/>
          <a:lstStyle/>
          <a:p>
            <a:pPr indent="0" marL="0">
              <a:buNone/>
            </a:pPr>
            <a:r>
              <a:rPr lang="en-US" sz="950" i="1" dirty="0">
                <a:solidFill>
                  <a:srgbClr val="555E6B"/>
                </a:solidFill>
                <a:latin typeface="Calibri" pitchFamily="34" charset="0"/>
                <a:ea typeface="Calibri" pitchFamily="34" charset="-122"/>
                <a:cs typeface="Calibri" pitchFamily="34" charset="-120"/>
              </a:rPr>
              <a:t>Source: </a:t>
            </a:r>
            <a:pPr indent="0" marL="0">
              <a:buNone/>
            </a:pPr>
            <a:r>
              <a:rPr lang="en-US" sz="950" i="1" u="sng" dirty="0">
                <a:solidFill>
                  <a:srgbClr val="1D4ED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github.com/beckn/DEG — specification/schema/EnergyTradeOffer/v2.0/attributes.yaml (read directly)</a:t>
            </a:r>
            <a:endParaRPr lang="en-US" sz="950" dirty="0"/>
          </a:p>
        </p:txBody>
      </p:sp>
      <p:sp>
        <p:nvSpPr>
          <p:cNvPr id="10" name="Text 8"/>
          <p:cNvSpPr txBox="1"/>
          <p:nvPr/>
        </p:nvSpPr>
        <p:spPr>
          <a:xfrm>
            <a:off x="11612880" y="6473952"/>
            <a:ext cx="365760" cy="274320"/>
          </a:xfrm>
          <a:prstGeom prst="rect">
            <a:avLst/>
          </a:prstGeom>
          <a:noFill/>
          <a:ln/>
        </p:spPr>
        <p:txBody>
          <a:bodyPr wrap="square" lIns="0" tIns="0" rIns="0" bIns="0" rtlCol="0" anchor="ctr"/>
          <a:lstStyle/>
          <a:p>
            <a:pPr algn="r" indent="0" marL="0">
              <a:buNone/>
            </a:pPr>
            <a:r>
              <a:rPr lang="en-US" sz="1000" dirty="0">
                <a:solidFill>
                  <a:srgbClr val="555E6B"/>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ellipse">
            <a:avLst/>
          </a:prstGeom>
          <a:solidFill>
            <a:srgbClr val="B85C0A"/>
          </a:solidFill>
          <a:ln/>
        </p:spPr>
      </p:sp>
      <p:sp>
        <p:nvSpPr>
          <p:cNvPr id="3" name="Text 1"/>
          <p:cNvSpPr txBox="1"/>
          <p:nvPr/>
        </p:nvSpPr>
        <p:spPr>
          <a:xfrm>
            <a:off x="457200" y="384048"/>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11</a:t>
            </a:r>
            <a:endParaRPr lang="en-US" sz="2000" dirty="0"/>
          </a:p>
        </p:txBody>
      </p:sp>
      <p:sp>
        <p:nvSpPr>
          <p:cNvPr id="4" name="Text 2"/>
          <p:cNvSpPr txBox="1"/>
          <p:nvPr/>
        </p:nvSpPr>
        <p:spPr>
          <a:xfrm>
            <a:off x="1051560" y="384048"/>
            <a:ext cx="9144000" cy="274320"/>
          </a:xfrm>
          <a:prstGeom prst="rect">
            <a:avLst/>
          </a:prstGeom>
          <a:noFill/>
          <a:ln/>
        </p:spPr>
        <p:txBody>
          <a:bodyPr wrap="square" lIns="0" tIns="0" rIns="0" bIns="0" rtlCol="0" anchor="ctr"/>
          <a:lstStyle/>
          <a:p>
            <a:pPr indent="0" marL="0">
              <a:buNone/>
            </a:pPr>
            <a:r>
              <a:rPr lang="en-US" sz="1200" b="1" spc="100" kern="0" dirty="0">
                <a:solidFill>
                  <a:srgbClr val="B85C0A"/>
                </a:solidFill>
                <a:latin typeface="Calibri" pitchFamily="34" charset="0"/>
                <a:ea typeface="Calibri" pitchFamily="34" charset="-122"/>
                <a:cs typeface="Calibri" pitchFamily="34" charset="-120"/>
              </a:rPr>
              <a:t>THE GLOBAL TRACK RECORD — P2P TRADING</a:t>
            </a:r>
            <a:endParaRPr lang="en-US" sz="1200" dirty="0"/>
          </a:p>
        </p:txBody>
      </p:sp>
      <p:sp>
        <p:nvSpPr>
          <p:cNvPr id="5" name="Text 3"/>
          <p:cNvSpPr txBox="1"/>
          <p:nvPr/>
        </p:nvSpPr>
        <p:spPr>
          <a:xfrm>
            <a:off x="457200" y="713232"/>
            <a:ext cx="11274552" cy="640080"/>
          </a:xfrm>
          <a:prstGeom prst="rect">
            <a:avLst/>
          </a:prstGeom>
          <a:noFill/>
          <a:ln/>
        </p:spPr>
        <p:txBody>
          <a:bodyPr wrap="square" lIns="0" tIns="0" rIns="0" bIns="0" rtlCol="0" anchor="t"/>
          <a:lstStyle/>
          <a:p>
            <a:pPr indent="0" marL="0">
              <a:buNone/>
            </a:pPr>
            <a:r>
              <a:rPr lang="en-US" sz="2600" b="1" dirty="0">
                <a:solidFill>
                  <a:srgbClr val="1A1A1A"/>
                </a:solidFill>
                <a:latin typeface="Calibri" pitchFamily="34" charset="0"/>
                <a:ea typeface="Calibri" pitchFamily="34" charset="-122"/>
                <a:cs typeface="Calibri" pitchFamily="34" charset="-120"/>
              </a:rPr>
              <a:t>Worldwide, This Has Taken a Decade</a:t>
            </a:r>
            <a:endParaRPr lang="en-US" sz="2600" dirty="0"/>
          </a:p>
        </p:txBody>
      </p:sp>
      <p:sp>
        <p:nvSpPr>
          <p:cNvPr id="6" name="Text 4"/>
          <p:cNvSpPr txBox="1"/>
          <p:nvPr/>
        </p:nvSpPr>
        <p:spPr>
          <a:xfrm>
            <a:off x="457200" y="1645920"/>
            <a:ext cx="11274552" cy="3017520"/>
          </a:xfrm>
          <a:prstGeom prst="rect">
            <a:avLst/>
          </a:prstGeom>
          <a:noFill/>
          <a:ln/>
        </p:spPr>
        <p:txBody>
          <a:bodyPr wrap="square" lIns="0" tIns="0" rIns="0" bIns="0" rtlCol="0" anchor="t"/>
          <a:lstStyle/>
          <a:p>
            <a:pPr marL="342900" indent="-342900">
              <a:lnSpc>
                <a:spcPct val="118000"/>
              </a:lnSpc>
              <a:spcAft>
                <a:spcPts val="1400"/>
              </a:spcAft>
              <a:buSzPct val="100000"/>
              <a:buChar char="•"/>
            </a:pPr>
            <a:r>
              <a:rPr lang="en-US" sz="1500" dirty="0">
                <a:solidFill>
                  <a:srgbClr val="1A1A1A"/>
                </a:solidFill>
                <a:latin typeface="Calibri" pitchFamily="34" charset="0"/>
                <a:ea typeface="Calibri" pitchFamily="34" charset="-122"/>
                <a:cs typeface="Calibri" pitchFamily="34" charset="-120"/>
              </a:rPr>
              <a:t>Power Ledger (Australia): the biggest name in blockchain P2P energy trading. Its own BRPL partnership ran an earlier Delhi pilot back in 2019 — a separate, now-quiet trial, years before the current DERC/UPERC pilot.</a:t>
            </a:r>
            <a:endParaRPr lang="en-US" sz="1500" dirty="0"/>
          </a:p>
          <a:p>
            <a:pPr marL="342900" indent="-342900">
              <a:lnSpc>
                <a:spcPct val="118000"/>
              </a:lnSpc>
              <a:spcAft>
                <a:spcPts val="1400"/>
              </a:spcAft>
              <a:buSzPct val="100000"/>
              <a:buChar char="•"/>
            </a:pPr>
            <a:r>
              <a:rPr lang="en-US" sz="1500" dirty="0">
                <a:solidFill>
                  <a:srgbClr val="1A1A1A"/>
                </a:solidFill>
                <a:latin typeface="Calibri" pitchFamily="34" charset="0"/>
                <a:ea typeface="Calibri" pitchFamily="34" charset="-122"/>
                <a:cs typeface="Calibri" pitchFamily="34" charset="-120"/>
              </a:rPr>
              <a:t>Brooklyn Microgrid / LO3 Energy (Brooklyn, NY): the case most often cited first; launched with Siemens in 2016. No confirmed evidence found of it ever reaching commercial scale beyond a few city blocks.</a:t>
            </a:r>
            <a:endParaRPr lang="en-US" sz="1500" dirty="0"/>
          </a:p>
          <a:p>
            <a:pPr marL="342900" indent="-342900">
              <a:lnSpc>
                <a:spcPct val="118000"/>
              </a:lnSpc>
              <a:spcAft>
                <a:spcPts val="1400"/>
              </a:spcAft>
              <a:buSzPct val="100000"/>
              <a:buChar char="•"/>
            </a:pPr>
            <a:r>
              <a:rPr lang="en-US" sz="1500" dirty="0">
                <a:solidFill>
                  <a:srgbClr val="1A1A1A"/>
                </a:solidFill>
                <a:latin typeface="Calibri" pitchFamily="34" charset="0"/>
                <a:ea typeface="Calibri" pitchFamily="34" charset="-122"/>
                <a:cs typeface="Calibri" pitchFamily="34" charset="-120"/>
              </a:rPr>
              <a:t>The structural reason: almost every grid still requires a utility to approve and reconcile every trade, and most legal frameworks reserve the right to resell power over public wires to that utility alone.</a:t>
            </a:r>
            <a:endParaRPr lang="en-US" sz="1500" dirty="0"/>
          </a:p>
        </p:txBody>
      </p:sp>
      <p:sp>
        <p:nvSpPr>
          <p:cNvPr id="7" name="Shape 5"/>
          <p:cNvSpPr/>
          <p:nvPr/>
        </p:nvSpPr>
        <p:spPr>
          <a:xfrm>
            <a:off x="457200" y="4800600"/>
            <a:ext cx="11274552" cy="1051560"/>
          </a:xfrm>
          <a:prstGeom prst="roundRect">
            <a:avLst>
              <a:gd name="adj" fmla="val 6957"/>
            </a:avLst>
          </a:prstGeom>
          <a:solidFill>
            <a:srgbClr val="EAF7EE"/>
          </a:solidFill>
          <a:ln w="12700">
            <a:solidFill>
              <a:srgbClr val="1E7A3C"/>
            </a:solidFill>
            <a:prstDash val="solid"/>
          </a:ln>
        </p:spPr>
      </p:sp>
      <p:sp>
        <p:nvSpPr>
          <p:cNvPr id="8" name="Text 6"/>
          <p:cNvSpPr txBox="1"/>
          <p:nvPr/>
        </p:nvSpPr>
        <p:spPr>
          <a:xfrm>
            <a:off x="822960" y="4800600"/>
            <a:ext cx="10543032" cy="1051560"/>
          </a:xfrm>
          <a:prstGeom prst="rect">
            <a:avLst/>
          </a:prstGeom>
          <a:noFill/>
          <a:ln/>
        </p:spPr>
        <p:txBody>
          <a:bodyPr wrap="square" lIns="0" tIns="0" rIns="0" bIns="0" rtlCol="0" anchor="ctr"/>
          <a:lstStyle/>
          <a:p>
            <a:pPr indent="0" marL="0">
              <a:buNone/>
            </a:pPr>
            <a:r>
              <a:rPr lang="en-US" sz="1450" b="1" i="1" dirty="0">
                <a:solidFill>
                  <a:srgbClr val="1A1A1A"/>
                </a:solidFill>
                <a:latin typeface="Calibri" pitchFamily="34" charset="0"/>
                <a:ea typeface="Calibri" pitchFamily="34" charset="-122"/>
                <a:cs typeface="Calibri" pitchFamily="34" charset="-120"/>
              </a:rPr>
              <a:t>Against that backdrop, India's current regulator-run pilot — with real settlement-on-bill and a continuation to 2027 — stands out as comparatively advanced, not another stalled trial.</a:t>
            </a:r>
            <a:endParaRPr lang="en-US" sz="1450" dirty="0"/>
          </a:p>
        </p:txBody>
      </p:sp>
      <p:sp>
        <p:nvSpPr>
          <p:cNvPr id="9" name="Text 7"/>
          <p:cNvSpPr txBox="1"/>
          <p:nvPr/>
        </p:nvSpPr>
        <p:spPr>
          <a:xfrm>
            <a:off x="457200" y="6455664"/>
            <a:ext cx="10972800" cy="310896"/>
          </a:xfrm>
          <a:prstGeom prst="rect">
            <a:avLst/>
          </a:prstGeom>
          <a:noFill/>
          <a:ln/>
        </p:spPr>
        <p:txBody>
          <a:bodyPr wrap="square" lIns="0" tIns="0" rIns="0" bIns="0" rtlCol="0" anchor="ctr"/>
          <a:lstStyle/>
          <a:p>
            <a:pPr indent="0" marL="0">
              <a:buNone/>
            </a:pPr>
            <a:r>
              <a:rPr lang="en-US" sz="950" i="1" dirty="0">
                <a:solidFill>
                  <a:srgbClr val="555E6B"/>
                </a:solidFill>
                <a:latin typeface="Calibri" pitchFamily="34" charset="0"/>
                <a:ea typeface="Calibri" pitchFamily="34" charset="-122"/>
                <a:cs typeface="Calibri" pitchFamily="34" charset="-120"/>
              </a:rPr>
              <a:t>Source: </a:t>
            </a:r>
            <a:pPr indent="0" marL="0">
              <a:buNone/>
            </a:pPr>
            <a:r>
              <a:rPr lang="en-US" sz="950" i="1" u="sng" dirty="0">
                <a:solidFill>
                  <a:srgbClr val="1D4ED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Power Ledger — BRPL partnership release (2019)</a:t>
            </a:r>
            <a:pPr indent="0" marL="0">
              <a:buNone/>
            </a:pPr>
            <a:r>
              <a:rPr lang="en-US" sz="950" i="1" dirty="0">
                <a:solidFill>
                  <a:srgbClr val="555E6B"/>
                </a:solidFill>
                <a:latin typeface="Calibri" pitchFamily="34" charset="0"/>
                <a:ea typeface="Calibri" pitchFamily="34" charset="-122"/>
                <a:cs typeface="Calibri" pitchFamily="34" charset="-120"/>
              </a:rPr>
              <a:t>  ·  </a:t>
            </a:r>
            <a:pPr indent="0" marL="0">
              <a:buNone/>
            </a:pPr>
            <a:r>
              <a:rPr lang="en-US" sz="950" i="1" u="sng" dirty="0">
                <a:solidFill>
                  <a:srgbClr val="1D4ED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eepower.com — "Blockchain Microgrids from LO3 Energy and Siemens"</a:t>
            </a:r>
            <a:endParaRPr lang="en-US" sz="950" dirty="0"/>
          </a:p>
        </p:txBody>
      </p:sp>
      <p:sp>
        <p:nvSpPr>
          <p:cNvPr id="10" name="Text 8"/>
          <p:cNvSpPr txBox="1"/>
          <p:nvPr/>
        </p:nvSpPr>
        <p:spPr>
          <a:xfrm>
            <a:off x="11612880" y="6473952"/>
            <a:ext cx="365760" cy="274320"/>
          </a:xfrm>
          <a:prstGeom prst="rect">
            <a:avLst/>
          </a:prstGeom>
          <a:noFill/>
          <a:ln/>
        </p:spPr>
        <p:txBody>
          <a:bodyPr wrap="square" lIns="0" tIns="0" rIns="0" bIns="0" rtlCol="0" anchor="ctr"/>
          <a:lstStyle/>
          <a:p>
            <a:pPr algn="r" indent="0" marL="0">
              <a:buNone/>
            </a:pPr>
            <a:r>
              <a:rPr lang="en-US" sz="1000" dirty="0">
                <a:solidFill>
                  <a:srgbClr val="555E6B"/>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ellipse">
            <a:avLst/>
          </a:prstGeom>
          <a:solidFill>
            <a:srgbClr val="B85C0A"/>
          </a:solidFill>
          <a:ln/>
        </p:spPr>
      </p:sp>
      <p:sp>
        <p:nvSpPr>
          <p:cNvPr id="3" name="Text 1"/>
          <p:cNvSpPr txBox="1"/>
          <p:nvPr/>
        </p:nvSpPr>
        <p:spPr>
          <a:xfrm>
            <a:off x="457200" y="384048"/>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12</a:t>
            </a:r>
            <a:endParaRPr lang="en-US" sz="2000" dirty="0"/>
          </a:p>
        </p:txBody>
      </p:sp>
      <p:sp>
        <p:nvSpPr>
          <p:cNvPr id="4" name="Text 2"/>
          <p:cNvSpPr txBox="1"/>
          <p:nvPr/>
        </p:nvSpPr>
        <p:spPr>
          <a:xfrm>
            <a:off x="1051560" y="384048"/>
            <a:ext cx="9144000" cy="274320"/>
          </a:xfrm>
          <a:prstGeom prst="rect">
            <a:avLst/>
          </a:prstGeom>
          <a:noFill/>
          <a:ln/>
        </p:spPr>
        <p:txBody>
          <a:bodyPr wrap="square" lIns="0" tIns="0" rIns="0" bIns="0" rtlCol="0" anchor="ctr"/>
          <a:lstStyle/>
          <a:p>
            <a:pPr indent="0" marL="0">
              <a:buNone/>
            </a:pPr>
            <a:r>
              <a:rPr lang="en-US" sz="1200" b="1" spc="100" kern="0" dirty="0">
                <a:solidFill>
                  <a:srgbClr val="B85C0A"/>
                </a:solidFill>
                <a:latin typeface="Calibri" pitchFamily="34" charset="0"/>
                <a:ea typeface="Calibri" pitchFamily="34" charset="-122"/>
                <a:cs typeface="Calibri" pitchFamily="34" charset="-120"/>
              </a:rPr>
              <a:t>THE GLOBAL TRACK RECORD — VEHICLE-TO-GRID</a:t>
            </a:r>
            <a:endParaRPr lang="en-US" sz="1200" dirty="0"/>
          </a:p>
        </p:txBody>
      </p:sp>
      <p:sp>
        <p:nvSpPr>
          <p:cNvPr id="5" name="Text 3"/>
          <p:cNvSpPr txBox="1"/>
          <p:nvPr/>
        </p:nvSpPr>
        <p:spPr>
          <a:xfrm>
            <a:off x="457200" y="713232"/>
            <a:ext cx="11274552" cy="640080"/>
          </a:xfrm>
          <a:prstGeom prst="rect">
            <a:avLst/>
          </a:prstGeom>
          <a:noFill/>
          <a:ln/>
        </p:spPr>
        <p:txBody>
          <a:bodyPr wrap="square" lIns="0" tIns="0" rIns="0" bIns="0" rtlCol="0" anchor="t"/>
          <a:lstStyle/>
          <a:p>
            <a:pPr indent="0" marL="0">
              <a:buNone/>
            </a:pPr>
            <a:r>
              <a:rPr lang="en-US" sz="2600" b="1" dirty="0">
                <a:solidFill>
                  <a:srgbClr val="1A1A1A"/>
                </a:solidFill>
                <a:latin typeface="Calibri" pitchFamily="34" charset="0"/>
                <a:ea typeface="Calibri" pitchFamily="34" charset="-122"/>
                <a:cs typeface="Calibri" pitchFamily="34" charset="-120"/>
              </a:rPr>
              <a:t>V2G: Further Behind, and Open in India</a:t>
            </a:r>
            <a:endParaRPr lang="en-US" sz="2600" dirty="0"/>
          </a:p>
        </p:txBody>
      </p:sp>
      <p:sp>
        <p:nvSpPr>
          <p:cNvPr id="6" name="Text 4"/>
          <p:cNvSpPr txBox="1"/>
          <p:nvPr/>
        </p:nvSpPr>
        <p:spPr>
          <a:xfrm>
            <a:off x="457200" y="1645920"/>
            <a:ext cx="11274552" cy="4206240"/>
          </a:xfrm>
          <a:prstGeom prst="rect">
            <a:avLst/>
          </a:prstGeom>
          <a:noFill/>
          <a:ln/>
        </p:spPr>
        <p:txBody>
          <a:bodyPr wrap="square" lIns="0" tIns="0" rIns="0" bIns="0" rtlCol="0" anchor="t"/>
          <a:lstStyle/>
          <a:p>
            <a:pPr marL="342900" indent="-342900">
              <a:lnSpc>
                <a:spcPct val="115000"/>
              </a:lnSpc>
              <a:spcAft>
                <a:spcPts val="1100"/>
              </a:spcAft>
              <a:buSzPct val="100000"/>
              <a:buChar char="•"/>
            </a:pPr>
            <a:r>
              <a:rPr lang="en-US" sz="1450" dirty="0">
                <a:solidFill>
                  <a:srgbClr val="1A1A1A"/>
                </a:solidFill>
                <a:latin typeface="Calibri" pitchFamily="34" charset="0"/>
                <a:ea typeface="Calibri" pitchFamily="34" charset="-122"/>
                <a:cs typeface="Calibri" pitchFamily="34" charset="-120"/>
              </a:rPr>
              <a:t>Denmark: Nuvve's frequency-regulation fleet has run since 2016 — around 30 vehicles, still small-scale.</a:t>
            </a:r>
            <a:endParaRPr lang="en-US" sz="1450" dirty="0"/>
          </a:p>
          <a:p>
            <a:pPr marL="342900" indent="-342900">
              <a:lnSpc>
                <a:spcPct val="115000"/>
              </a:lnSpc>
              <a:spcAft>
                <a:spcPts val="1100"/>
              </a:spcAft>
              <a:buSzPct val="100000"/>
              <a:buChar char="•"/>
            </a:pPr>
            <a:r>
              <a:rPr lang="en-US" sz="1450" dirty="0">
                <a:solidFill>
                  <a:srgbClr val="1A1A1A"/>
                </a:solidFill>
                <a:latin typeface="Calibri" pitchFamily="34" charset="0"/>
                <a:ea typeface="Calibri" pitchFamily="34" charset="-122"/>
                <a:cs typeface="Calibri" pitchFamily="34" charset="-120"/>
              </a:rPr>
              <a:t>Delaware / PJM: an earlier commercial V2G fleet (~25 vehicles) ran for several years from 2013 before winding down.</a:t>
            </a:r>
            <a:endParaRPr lang="en-US" sz="1450" dirty="0"/>
          </a:p>
          <a:p>
            <a:pPr marL="342900" indent="-342900">
              <a:lnSpc>
                <a:spcPct val="115000"/>
              </a:lnSpc>
              <a:spcAft>
                <a:spcPts val="1100"/>
              </a:spcAft>
              <a:buSzPct val="100000"/>
              <a:buChar char="•"/>
            </a:pPr>
            <a:r>
              <a:rPr lang="en-US" sz="1450" dirty="0">
                <a:solidFill>
                  <a:srgbClr val="1A1A1A"/>
                </a:solidFill>
                <a:latin typeface="Calibri" pitchFamily="34" charset="0"/>
                <a:ea typeface="Calibri" pitchFamily="34" charset="-122"/>
                <a:cs typeface="Calibri" pitchFamily="34" charset="-120"/>
              </a:rPr>
              <a:t>California, April 2026: PG&amp;E approved the first AC vehicle-to-grid setup for a customer — a single Tesla Cybertruck. One approval, not a program.</a:t>
            </a:r>
            <a:endParaRPr lang="en-US" sz="1450" dirty="0"/>
          </a:p>
          <a:p>
            <a:pPr marL="342900" indent="-342900">
              <a:lnSpc>
                <a:spcPct val="115000"/>
              </a:lnSpc>
              <a:spcAft>
                <a:spcPts val="1100"/>
              </a:spcAft>
              <a:buSzPct val="100000"/>
              <a:buChar char="•"/>
            </a:pPr>
            <a:r>
              <a:rPr lang="en-US" sz="1450" dirty="0">
                <a:solidFill>
                  <a:srgbClr val="1A1A1A"/>
                </a:solidFill>
                <a:latin typeface="Calibri" pitchFamily="34" charset="0"/>
                <a:ea typeface="Calibri" pitchFamily="34" charset="-122"/>
                <a:cs typeface="Calibri" pitchFamily="34" charset="-120"/>
              </a:rPr>
              <a:t>An Aug 2026 GridLab / Kevala / E3 report projects that enrolling 10% of California's expected EVs in V2G by 2036 could unlock ~9 GW of storage — a modelling projection, not something deployed.</a:t>
            </a:r>
            <a:endParaRPr lang="en-US" sz="1450" dirty="0"/>
          </a:p>
          <a:p>
            <a:pPr marL="342900" indent="-342900">
              <a:lnSpc>
                <a:spcPct val="115000"/>
              </a:lnSpc>
              <a:spcAft>
                <a:spcPts val="1100"/>
              </a:spcAft>
              <a:buSzPct val="100000"/>
              <a:buChar char="•"/>
            </a:pPr>
            <a:r>
              <a:rPr lang="en-US" sz="1450" dirty="0">
                <a:solidFill>
                  <a:srgbClr val="1A1A1A"/>
                </a:solidFill>
                <a:latin typeface="Calibri" pitchFamily="34" charset="0"/>
                <a:ea typeface="Calibri" pitchFamily="34" charset="-122"/>
                <a:cs typeface="Calibri" pitchFamily="34" charset="-120"/>
              </a:rPr>
              <a:t>Nothing resembling the DERC/UPERC-style regulatory sandbox exists for V2G in India yet, for any DISCOM.</a:t>
            </a:r>
            <a:endParaRPr lang="en-US" sz="1450" dirty="0"/>
          </a:p>
        </p:txBody>
      </p:sp>
      <p:sp>
        <p:nvSpPr>
          <p:cNvPr id="7" name="Text 5"/>
          <p:cNvSpPr txBox="1"/>
          <p:nvPr/>
        </p:nvSpPr>
        <p:spPr>
          <a:xfrm>
            <a:off x="457200" y="6455664"/>
            <a:ext cx="10972800" cy="310896"/>
          </a:xfrm>
          <a:prstGeom prst="rect">
            <a:avLst/>
          </a:prstGeom>
          <a:noFill/>
          <a:ln/>
        </p:spPr>
        <p:txBody>
          <a:bodyPr wrap="square" lIns="0" tIns="0" rIns="0" bIns="0" rtlCol="0" anchor="ctr"/>
          <a:lstStyle/>
          <a:p>
            <a:pPr indent="0" marL="0">
              <a:buNone/>
            </a:pPr>
            <a:r>
              <a:rPr lang="en-US" sz="950" i="1" dirty="0">
                <a:solidFill>
                  <a:srgbClr val="555E6B"/>
                </a:solidFill>
                <a:latin typeface="Calibri" pitchFamily="34" charset="0"/>
                <a:ea typeface="Calibri" pitchFamily="34" charset="-122"/>
                <a:cs typeface="Calibri" pitchFamily="34" charset="-120"/>
              </a:rPr>
              <a:t>Source: </a:t>
            </a:r>
            <a:pPr indent="0" marL="0">
              <a:buNone/>
            </a:pPr>
            <a:r>
              <a:rPr lang="en-US" sz="950" i="1" u="sng" dirty="0">
                <a:solidFill>
                  <a:srgbClr val="1D4ED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BusinessGreen — "Nuvve brings V2G network to Denmark"</a:t>
            </a:r>
            <a:pPr indent="0" marL="0">
              <a:buNone/>
            </a:pPr>
            <a:r>
              <a:rPr lang="en-US" sz="950" i="1" dirty="0">
                <a:solidFill>
                  <a:srgbClr val="555E6B"/>
                </a:solidFill>
                <a:latin typeface="Calibri" pitchFamily="34" charset="0"/>
                <a:ea typeface="Calibri" pitchFamily="34" charset="-122"/>
                <a:cs typeface="Calibri" pitchFamily="34" charset="-120"/>
              </a:rPr>
              <a:t>  ·  </a:t>
            </a:r>
            <a:pPr indent="0" marL="0">
              <a:buNone/>
            </a:pPr>
            <a:r>
              <a:rPr lang="en-US" sz="950" i="1" u="sng" dirty="0">
                <a:solidFill>
                  <a:srgbClr val="1D4ED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PV Magazine USA — GridLab/Kevala/E3 California V2G report (Aug 2026)</a:t>
            </a:r>
            <a:endParaRPr lang="en-US" sz="950" dirty="0"/>
          </a:p>
        </p:txBody>
      </p:sp>
      <p:sp>
        <p:nvSpPr>
          <p:cNvPr id="8" name="Text 6"/>
          <p:cNvSpPr txBox="1"/>
          <p:nvPr/>
        </p:nvSpPr>
        <p:spPr>
          <a:xfrm>
            <a:off x="11612880" y="6473952"/>
            <a:ext cx="365760" cy="274320"/>
          </a:xfrm>
          <a:prstGeom prst="rect">
            <a:avLst/>
          </a:prstGeom>
          <a:noFill/>
          <a:ln/>
        </p:spPr>
        <p:txBody>
          <a:bodyPr wrap="square" lIns="0" tIns="0" rIns="0" bIns="0" rtlCol="0" anchor="ctr"/>
          <a:lstStyle/>
          <a:p>
            <a:pPr algn="r" indent="0" marL="0">
              <a:buNone/>
            </a:pPr>
            <a:r>
              <a:rPr lang="en-US" sz="1000" dirty="0">
                <a:solidFill>
                  <a:srgbClr val="555E6B"/>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ellipse">
            <a:avLst/>
          </a:prstGeom>
          <a:solidFill>
            <a:srgbClr val="555E6B"/>
          </a:solidFill>
          <a:ln/>
        </p:spPr>
      </p:sp>
      <p:sp>
        <p:nvSpPr>
          <p:cNvPr id="3" name="Text 1"/>
          <p:cNvSpPr txBox="1"/>
          <p:nvPr/>
        </p:nvSpPr>
        <p:spPr>
          <a:xfrm>
            <a:off x="457200" y="384048"/>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13</a:t>
            </a:r>
            <a:endParaRPr lang="en-US" sz="2000" dirty="0"/>
          </a:p>
        </p:txBody>
      </p:sp>
      <p:sp>
        <p:nvSpPr>
          <p:cNvPr id="4" name="Text 2"/>
          <p:cNvSpPr txBox="1"/>
          <p:nvPr/>
        </p:nvSpPr>
        <p:spPr>
          <a:xfrm>
            <a:off x="1051560" y="384048"/>
            <a:ext cx="9144000" cy="274320"/>
          </a:xfrm>
          <a:prstGeom prst="rect">
            <a:avLst/>
          </a:prstGeom>
          <a:noFill/>
          <a:ln/>
        </p:spPr>
        <p:txBody>
          <a:bodyPr wrap="square" lIns="0" tIns="0" rIns="0" bIns="0" rtlCol="0" anchor="ctr"/>
          <a:lstStyle/>
          <a:p>
            <a:pPr indent="0" marL="0">
              <a:buNone/>
            </a:pPr>
            <a:r>
              <a:rPr lang="en-US" sz="1200" b="1" spc="100" kern="0" dirty="0">
                <a:solidFill>
                  <a:srgbClr val="555E6B"/>
                </a:solidFill>
                <a:latin typeface="Calibri" pitchFamily="34" charset="0"/>
                <a:ea typeface="Calibri" pitchFamily="34" charset="-122"/>
                <a:cs typeface="Calibri" pitchFamily="34" charset="-120"/>
              </a:rPr>
              <a:t>PUTTING IT TOGETHER</a:t>
            </a:r>
            <a:endParaRPr lang="en-US" sz="1200" dirty="0"/>
          </a:p>
        </p:txBody>
      </p:sp>
      <p:sp>
        <p:nvSpPr>
          <p:cNvPr id="5" name="Text 3"/>
          <p:cNvSpPr txBox="1"/>
          <p:nvPr/>
        </p:nvSpPr>
        <p:spPr>
          <a:xfrm>
            <a:off x="457200" y="713232"/>
            <a:ext cx="11274552" cy="640080"/>
          </a:xfrm>
          <a:prstGeom prst="rect">
            <a:avLst/>
          </a:prstGeom>
          <a:noFill/>
          <a:ln/>
        </p:spPr>
        <p:txBody>
          <a:bodyPr wrap="square" lIns="0" tIns="0" rIns="0" bIns="0" rtlCol="0" anchor="t"/>
          <a:lstStyle/>
          <a:p>
            <a:pPr indent="0" marL="0">
              <a:buNone/>
            </a:pPr>
            <a:r>
              <a:rPr lang="en-US" sz="2800" b="1" dirty="0">
                <a:solidFill>
                  <a:srgbClr val="1A1A1A"/>
                </a:solidFill>
                <a:latin typeface="Calibri" pitchFamily="34" charset="0"/>
                <a:ea typeface="Calibri" pitchFamily="34" charset="-122"/>
                <a:cs typeface="Calibri" pitchFamily="34" charset="-120"/>
              </a:rPr>
              <a:t>What's Genuinely Live, What's Genuinely Missing</a:t>
            </a:r>
            <a:endParaRPr lang="en-US" sz="2800" dirty="0"/>
          </a:p>
        </p:txBody>
      </p:sp>
      <p:sp>
        <p:nvSpPr>
          <p:cNvPr id="6" name="Text 4"/>
          <p:cNvSpPr txBox="1"/>
          <p:nvPr/>
        </p:nvSpPr>
        <p:spPr>
          <a:xfrm>
            <a:off x="457200" y="1600200"/>
            <a:ext cx="2103120" cy="274320"/>
          </a:xfrm>
          <a:prstGeom prst="rect">
            <a:avLst/>
          </a:prstGeom>
          <a:solidFill>
            <a:srgbClr val="1E7A3C"/>
          </a:solidFill>
          <a:ln/>
        </p:spPr>
        <p:txBody>
          <a:bodyPr wrap="square" lIns="25400" tIns="25400" rIns="25400" bIns="2540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LIVE / REAL</a:t>
            </a:r>
            <a:endParaRPr lang="en-US" sz="1000" dirty="0"/>
          </a:p>
        </p:txBody>
      </p:sp>
      <p:sp>
        <p:nvSpPr>
          <p:cNvPr id="7" name="Text 5"/>
          <p:cNvSpPr txBox="1"/>
          <p:nvPr/>
        </p:nvSpPr>
        <p:spPr>
          <a:xfrm>
            <a:off x="457200" y="2011680"/>
            <a:ext cx="5349240" cy="3931920"/>
          </a:xfrm>
          <a:prstGeom prst="rect">
            <a:avLst/>
          </a:prstGeom>
          <a:noFill/>
          <a:ln/>
        </p:spPr>
        <p:txBody>
          <a:bodyPr wrap="square" lIns="0" tIns="0" rIns="0" bIns="0" rtlCol="0" anchor="t"/>
          <a:lstStyle/>
          <a:p>
            <a:pPr marL="342900" indent="-342900">
              <a:lnSpc>
                <a:spcPct val="118000"/>
              </a:lnSpc>
              <a:spcAft>
                <a:spcPts val="1300"/>
              </a:spcAft>
              <a:buSzPct val="100000"/>
              <a:buChar char="•"/>
            </a:pPr>
            <a:r>
              <a:rPr lang="en-US" sz="1300" dirty="0">
                <a:solidFill>
                  <a:srgbClr val="1A1A1A"/>
                </a:solidFill>
                <a:latin typeface="Calibri" pitchFamily="34" charset="0"/>
                <a:ea typeface="Calibri" pitchFamily="34" charset="-122"/>
                <a:cs typeface="Calibri" pitchFamily="34" charset="-120"/>
              </a:rPr>
              <a:t>A regulator-approved P2P trading pilot: 1,164 settled trades, extended to March 2027</a:t>
            </a:r>
            <a:endParaRPr lang="en-US" sz="1300" dirty="0"/>
          </a:p>
          <a:p>
            <a:pPr marL="342900" indent="-342900">
              <a:lnSpc>
                <a:spcPct val="118000"/>
              </a:lnSpc>
              <a:spcAft>
                <a:spcPts val="1300"/>
              </a:spcAft>
              <a:buSzPct val="100000"/>
              <a:buChar char="•"/>
            </a:pPr>
            <a:r>
              <a:rPr lang="en-US" sz="1300" dirty="0">
                <a:solidFill>
                  <a:srgbClr val="1A1A1A"/>
                </a:solidFill>
                <a:latin typeface="Calibri" pitchFamily="34" charset="0"/>
                <a:ea typeface="Calibri" pitchFamily="34" charset="-122"/>
                <a:cs typeface="Calibri" pitchFamily="34" charset="-120"/>
              </a:rPr>
              <a:t>Six accredited trading apps already in the App Store / Google Play</a:t>
            </a:r>
            <a:endParaRPr lang="en-US" sz="1300" dirty="0"/>
          </a:p>
          <a:p>
            <a:pPr marL="342900" indent="-342900">
              <a:lnSpc>
                <a:spcPct val="118000"/>
              </a:lnSpc>
              <a:spcAft>
                <a:spcPts val="1300"/>
              </a:spcAft>
              <a:buSzPct val="100000"/>
              <a:buChar char="•"/>
            </a:pPr>
            <a:r>
              <a:rPr lang="en-US" sz="1300" dirty="0">
                <a:solidFill>
                  <a:srgbClr val="1A1A1A"/>
                </a:solidFill>
                <a:latin typeface="Calibri" pitchFamily="34" charset="0"/>
                <a:ea typeface="Calibri" pitchFamily="34" charset="-122"/>
                <a:cs typeface="Calibri" pitchFamily="34" charset="-120"/>
              </a:rPr>
              <a:t>A national EV-charging network live since Aug 2026 — 10,000+ chargers, on BHIM UPI</a:t>
            </a:r>
            <a:endParaRPr lang="en-US" sz="1300" dirty="0"/>
          </a:p>
          <a:p>
            <a:pPr marL="342900" indent="-342900">
              <a:lnSpc>
                <a:spcPct val="118000"/>
              </a:lnSpc>
              <a:spcAft>
                <a:spcPts val="1300"/>
              </a:spcAft>
              <a:buSzPct val="100000"/>
              <a:buChar char="•"/>
            </a:pPr>
            <a:r>
              <a:rPr lang="en-US" sz="1300" dirty="0">
                <a:solidFill>
                  <a:srgbClr val="1A1A1A"/>
                </a:solidFill>
                <a:latin typeface="Calibri" pitchFamily="34" charset="0"/>
                <a:ea typeface="Calibri" pitchFamily="34" charset="-122"/>
                <a:cs typeface="Calibri" pitchFamily="34" charset="-120"/>
              </a:rPr>
              <a:t>A named industrial company (Schneider Electric) formally signed on, Sept 30 2026</a:t>
            </a:r>
            <a:endParaRPr lang="en-US" sz="1300" dirty="0"/>
          </a:p>
        </p:txBody>
      </p:sp>
      <p:sp>
        <p:nvSpPr>
          <p:cNvPr id="8" name="Text 6"/>
          <p:cNvSpPr txBox="1"/>
          <p:nvPr/>
        </p:nvSpPr>
        <p:spPr>
          <a:xfrm>
            <a:off x="6080760" y="1600200"/>
            <a:ext cx="2103120" cy="274320"/>
          </a:xfrm>
          <a:prstGeom prst="rect">
            <a:avLst/>
          </a:prstGeom>
          <a:solidFill>
            <a:srgbClr val="A82A2A"/>
          </a:solidFill>
          <a:ln/>
        </p:spPr>
        <p:txBody>
          <a:bodyPr wrap="square" lIns="25400" tIns="25400" rIns="25400" bIns="2540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MISSING / OPEN</a:t>
            </a:r>
            <a:endParaRPr lang="en-US" sz="1000" dirty="0"/>
          </a:p>
        </p:txBody>
      </p:sp>
      <p:sp>
        <p:nvSpPr>
          <p:cNvPr id="9" name="Text 7"/>
          <p:cNvSpPr txBox="1"/>
          <p:nvPr/>
        </p:nvSpPr>
        <p:spPr>
          <a:xfrm>
            <a:off x="6080760" y="2011680"/>
            <a:ext cx="5349240" cy="3931920"/>
          </a:xfrm>
          <a:prstGeom prst="rect">
            <a:avLst/>
          </a:prstGeom>
          <a:noFill/>
          <a:ln/>
        </p:spPr>
        <p:txBody>
          <a:bodyPr wrap="square" lIns="0" tIns="0" rIns="0" bIns="0" rtlCol="0" anchor="t"/>
          <a:lstStyle/>
          <a:p>
            <a:pPr marL="342900" indent="-342900">
              <a:lnSpc>
                <a:spcPct val="118000"/>
              </a:lnSpc>
              <a:spcAft>
                <a:spcPts val="1300"/>
              </a:spcAft>
              <a:buSzPct val="100000"/>
              <a:buChar char="•"/>
            </a:pPr>
            <a:r>
              <a:rPr lang="en-US" sz="1300" dirty="0">
                <a:solidFill>
                  <a:srgbClr val="1A1A1A"/>
                </a:solidFill>
                <a:latin typeface="Calibri" pitchFamily="34" charset="0"/>
                <a:ea typeface="Calibri" pitchFamily="34" charset="-122"/>
                <a:cs typeface="Calibri" pitchFamily="34" charset="-120"/>
              </a:rPr>
              <a:t>The published trading schema has no resource-type or guaranteed-commitment field</a:t>
            </a:r>
            <a:endParaRPr lang="en-US" sz="1300" dirty="0"/>
          </a:p>
          <a:p>
            <a:pPr marL="342900" indent="-342900">
              <a:lnSpc>
                <a:spcPct val="118000"/>
              </a:lnSpc>
              <a:spcAft>
                <a:spcPts val="1300"/>
              </a:spcAft>
              <a:buSzPct val="100000"/>
              <a:buChar char="•"/>
            </a:pPr>
            <a:r>
              <a:rPr lang="en-US" sz="1300" dirty="0">
                <a:solidFill>
                  <a:srgbClr val="1A1A1A"/>
                </a:solidFill>
                <a:latin typeface="Calibri" pitchFamily="34" charset="0"/>
                <a:ea typeface="Calibri" pitchFamily="34" charset="-122"/>
                <a:cs typeface="Calibri" pitchFamily="34" charset="-120"/>
              </a:rPr>
              <a:t>Still geographically narrow — Delhi + one UP utility, ~56 registered users on one DISCOM's own count</a:t>
            </a:r>
            <a:endParaRPr lang="en-US" sz="1300" dirty="0"/>
          </a:p>
          <a:p>
            <a:pPr marL="342900" indent="-342900">
              <a:lnSpc>
                <a:spcPct val="118000"/>
              </a:lnSpc>
              <a:spcAft>
                <a:spcPts val="1300"/>
              </a:spcAft>
              <a:buSzPct val="100000"/>
              <a:buChar char="•"/>
            </a:pPr>
            <a:r>
              <a:rPr lang="en-US" sz="1300" dirty="0">
                <a:solidFill>
                  <a:srgbClr val="1A1A1A"/>
                </a:solidFill>
                <a:latin typeface="Calibri" pitchFamily="34" charset="0"/>
                <a:ea typeface="Calibri" pitchFamily="34" charset="-122"/>
                <a:cs typeface="Calibri" pitchFamily="34" charset="-120"/>
              </a:rPr>
              <a:t>No regulatory sandbox yet for V2G, in India or at meaningful scale anywhere</a:t>
            </a:r>
            <a:endParaRPr lang="en-US" sz="1300" dirty="0"/>
          </a:p>
          <a:p>
            <a:pPr marL="342900" indent="-342900">
              <a:lnSpc>
                <a:spcPct val="118000"/>
              </a:lnSpc>
              <a:spcAft>
                <a:spcPts val="1300"/>
              </a:spcAft>
              <a:buSzPct val="100000"/>
              <a:buChar char="•"/>
            </a:pPr>
            <a:r>
              <a:rPr lang="en-US" sz="1300" dirty="0">
                <a:solidFill>
                  <a:srgbClr val="1A1A1A"/>
                </a:solidFill>
                <a:latin typeface="Calibri" pitchFamily="34" charset="0"/>
                <a:ea typeface="Calibri" pitchFamily="34" charset="-122"/>
                <a:cs typeface="Calibri" pitchFamily="34" charset="-120"/>
              </a:rPr>
              <a:t>Globally, the closest comparable tech (P2P blockchain trading) took a decade to get this far — most of it still hasn't</a:t>
            </a:r>
            <a:endParaRPr lang="en-US" sz="1300" dirty="0"/>
          </a:p>
        </p:txBody>
      </p:sp>
      <p:sp>
        <p:nvSpPr>
          <p:cNvPr id="10" name="Text 8"/>
          <p:cNvSpPr txBox="1"/>
          <p:nvPr/>
        </p:nvSpPr>
        <p:spPr>
          <a:xfrm>
            <a:off x="457200" y="6455664"/>
            <a:ext cx="10972800" cy="310896"/>
          </a:xfrm>
          <a:prstGeom prst="rect">
            <a:avLst/>
          </a:prstGeom>
          <a:noFill/>
          <a:ln/>
        </p:spPr>
        <p:txBody>
          <a:bodyPr wrap="square" lIns="0" tIns="0" rIns="0" bIns="0" rtlCol="0" anchor="ctr"/>
          <a:lstStyle/>
          <a:p>
            <a:pPr indent="0" marL="0">
              <a:buNone/>
            </a:pPr>
            <a:r>
              <a:rPr lang="en-US" sz="950" i="1" dirty="0">
                <a:solidFill>
                  <a:srgbClr val="555E6B"/>
                </a:solidFill>
                <a:latin typeface="Calibri" pitchFamily="34" charset="0"/>
                <a:ea typeface="Calibri" pitchFamily="34" charset="-122"/>
                <a:cs typeface="Calibri" pitchFamily="34" charset="-120"/>
              </a:rPr>
              <a:t>Source: </a:t>
            </a:r>
            <a:pPr indent="0" marL="0">
              <a:buNone/>
            </a:pPr>
            <a:r>
              <a:rPr lang="en-US" sz="950" i="1" u="sng" dirty="0">
                <a:solidFill>
                  <a:srgbClr val="1D4ED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Synthesis of slides 4–15 — each fact individually linked on its own slide</a:t>
            </a:r>
            <a:endParaRPr lang="en-US" sz="950" dirty="0"/>
          </a:p>
        </p:txBody>
      </p:sp>
      <p:sp>
        <p:nvSpPr>
          <p:cNvPr id="11" name="Text 9"/>
          <p:cNvSpPr txBox="1"/>
          <p:nvPr/>
        </p:nvSpPr>
        <p:spPr>
          <a:xfrm>
            <a:off x="11612880" y="6473952"/>
            <a:ext cx="365760" cy="274320"/>
          </a:xfrm>
          <a:prstGeom prst="rect">
            <a:avLst/>
          </a:prstGeom>
          <a:noFill/>
          <a:ln/>
        </p:spPr>
        <p:txBody>
          <a:bodyPr wrap="square" lIns="0" tIns="0" rIns="0" bIns="0" rtlCol="0" anchor="ctr"/>
          <a:lstStyle/>
          <a:p>
            <a:pPr algn="r" indent="0" marL="0">
              <a:buNone/>
            </a:pPr>
            <a:r>
              <a:rPr lang="en-US" sz="1000" dirty="0">
                <a:solidFill>
                  <a:srgbClr val="555E6B"/>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ellipse">
            <a:avLst/>
          </a:prstGeom>
          <a:solidFill>
            <a:srgbClr val="1D4ED8"/>
          </a:solidFill>
          <a:ln/>
        </p:spPr>
      </p:sp>
      <p:sp>
        <p:nvSpPr>
          <p:cNvPr id="3" name="Text 1"/>
          <p:cNvSpPr txBox="1"/>
          <p:nvPr/>
        </p:nvSpPr>
        <p:spPr>
          <a:xfrm>
            <a:off x="457200" y="384048"/>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14</a:t>
            </a:r>
            <a:endParaRPr lang="en-US" sz="2000" dirty="0"/>
          </a:p>
        </p:txBody>
      </p:sp>
      <p:sp>
        <p:nvSpPr>
          <p:cNvPr id="4" name="Text 2"/>
          <p:cNvSpPr txBox="1"/>
          <p:nvPr/>
        </p:nvSpPr>
        <p:spPr>
          <a:xfrm>
            <a:off x="1051560" y="384048"/>
            <a:ext cx="9144000" cy="274320"/>
          </a:xfrm>
          <a:prstGeom prst="rect">
            <a:avLst/>
          </a:prstGeom>
          <a:noFill/>
          <a:ln/>
        </p:spPr>
        <p:txBody>
          <a:bodyPr wrap="square" lIns="0" tIns="0" rIns="0" bIns="0" rtlCol="0" anchor="ctr"/>
          <a:lstStyle/>
          <a:p>
            <a:pPr indent="0" marL="0">
              <a:buNone/>
            </a:pPr>
            <a:r>
              <a:rPr lang="en-US" sz="1200" b="1" spc="100" kern="0" dirty="0">
                <a:solidFill>
                  <a:srgbClr val="1D4ED8"/>
                </a:solidFill>
                <a:latin typeface="Calibri" pitchFamily="34" charset="0"/>
                <a:ea typeface="Calibri" pitchFamily="34" charset="-122"/>
                <a:cs typeface="Calibri" pitchFamily="34" charset="-120"/>
              </a:rPr>
              <a:t>THE DECISION</a:t>
            </a:r>
            <a:endParaRPr lang="en-US" sz="1200" dirty="0"/>
          </a:p>
        </p:txBody>
      </p:sp>
      <p:sp>
        <p:nvSpPr>
          <p:cNvPr id="5" name="Text 3"/>
          <p:cNvSpPr txBox="1"/>
          <p:nvPr/>
        </p:nvSpPr>
        <p:spPr>
          <a:xfrm>
            <a:off x="457200" y="713232"/>
            <a:ext cx="11274552" cy="640080"/>
          </a:xfrm>
          <a:prstGeom prst="rect">
            <a:avLst/>
          </a:prstGeom>
          <a:noFill/>
          <a:ln/>
        </p:spPr>
        <p:txBody>
          <a:bodyPr wrap="square" lIns="0" tIns="0" rIns="0" bIns="0" rtlCol="0" anchor="t"/>
          <a:lstStyle/>
          <a:p>
            <a:pPr indent="0" marL="0">
              <a:buNone/>
            </a:pPr>
            <a:r>
              <a:rPr lang="en-US" sz="2600" b="1" dirty="0">
                <a:solidFill>
                  <a:srgbClr val="1A1A1A"/>
                </a:solidFill>
                <a:latin typeface="Calibri" pitchFamily="34" charset="0"/>
                <a:ea typeface="Calibri" pitchFamily="34" charset="-122"/>
                <a:cs typeface="Calibri" pitchFamily="34" charset="-120"/>
              </a:rPr>
              <a:t>Four Real Directions — Honestly Scored</a:t>
            </a:r>
            <a:endParaRPr lang="en-US" sz="26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11274552" cy="4206240"/>
        </p:xfrm>
        <a:graphic>
          <a:graphicData uri="http://schemas.openxmlformats.org/drawingml/2006/table">
            <a:tbl>
              <a:tblPr/>
              <a:tblGrid>
                <a:gridCol w="3291840"/>
                <a:gridCol w="5239512"/>
                <a:gridCol w="2743200"/>
              </a:tblGrid>
              <a:tr h="8412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Direction</a:t>
                      </a:r>
                      <a:endParaRPr lang="en-US" sz="120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1A1A1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Who already owns this ground</a:t>
                      </a:r>
                      <a:endParaRPr lang="en-US" sz="120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1A1A1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Real value type</a:t>
                      </a:r>
                      <a:endParaRPr lang="en-US" sz="120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1A1A1A"/>
                    </a:solidFill>
                  </a:tcPr>
                </a:tc>
              </a:tr>
              <a:tr h="841248">
                <a:tc>
                  <a:txBody>
                    <a:bodyPr/>
                    <a:lstStyle/>
                    <a:p>
                      <a:pPr indent="0" marL="0">
                        <a:buNone/>
                      </a:pPr>
                      <a:r>
                        <a:rPr lang="en-US" sz="1250" b="1" dirty="0">
                          <a:solidFill>
                            <a:srgbClr val="1A1A1A"/>
                          </a:solidFill>
                          <a:latin typeface="Calibri" pitchFamily="34" charset="0"/>
                          <a:ea typeface="Calibri" pitchFamily="34" charset="-122"/>
                          <a:cs typeface="Calibri" pitchFamily="34" charset="-120"/>
                        </a:rPr>
                        <a:t>A — Build a trading app / platform</a:t>
                      </a:r>
                      <a:endParaRPr lang="en-US" sz="125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5F6F8"/>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Six accredited apps already live, incl. a funded, 3-product competitor (Pulse Energy)</a:t>
                      </a:r>
                      <a:endParaRPr lang="en-US" sz="125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5F6F8"/>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Money — but a crowded, low-differentiation race</a:t>
                      </a:r>
                      <a:endParaRPr lang="en-US" sz="125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5F6F8"/>
                    </a:solidFill>
                  </a:tcPr>
                </a:tc>
              </a:tr>
              <a:tr h="841248">
                <a:tc>
                  <a:txBody>
                    <a:bodyPr/>
                    <a:lstStyle/>
                    <a:p>
                      <a:pPr indent="0" marL="0">
                        <a:buNone/>
                      </a:pPr>
                      <a:r>
                        <a:rPr lang="en-US" sz="1250" b="1" dirty="0">
                          <a:solidFill>
                            <a:srgbClr val="1A1A1A"/>
                          </a:solidFill>
                          <a:latin typeface="Calibri" pitchFamily="34" charset="0"/>
                          <a:ea typeface="Calibri" pitchFamily="34" charset="-122"/>
                          <a:cs typeface="Calibri" pitchFamily="34" charset="-120"/>
                        </a:rPr>
                        <a:t>B — Contribute to the open protocol / schema</a:t>
                      </a:r>
                      <a:endParaRPr lang="en-US" sz="125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Nobody — the resource-type / commitment-type gap is unclaimed and verifiable</a:t>
                      </a:r>
                      <a:endParaRPr lang="en-US" sz="125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Capability / standing — not direct revenue</a:t>
                      </a:r>
                      <a:endParaRPr lang="en-US" sz="125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r>
              <a:tr h="841248">
                <a:tc>
                  <a:txBody>
                    <a:bodyPr/>
                    <a:lstStyle/>
                    <a:p>
                      <a:pPr indent="0" marL="0">
                        <a:buNone/>
                      </a:pPr>
                      <a:r>
                        <a:rPr lang="en-US" sz="1250" b="1" dirty="0">
                          <a:solidFill>
                            <a:srgbClr val="1A1A1A"/>
                          </a:solidFill>
                          <a:latin typeface="Calibri" pitchFamily="34" charset="0"/>
                          <a:ea typeface="Calibri" pitchFamily="34" charset="-122"/>
                          <a:cs typeface="Calibri" pitchFamily="34" charset="-120"/>
                        </a:rPr>
                        <a:t>C — Pursue vehicle-to-grid</a:t>
                      </a:r>
                      <a:endParaRPr lang="en-US" sz="125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5F6F8"/>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Nobody has a live sandbox for this in India; globally still small-scale everywhere</a:t>
                      </a:r>
                      <a:endParaRPr lang="en-US" sz="125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5F6F8"/>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Possible money later — a longer, earlier-stage bet</a:t>
                      </a:r>
                      <a:endParaRPr lang="en-US" sz="125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5F6F8"/>
                    </a:solidFill>
                  </a:tcPr>
                </a:tc>
              </a:tr>
              <a:tr h="841248">
                <a:tc>
                  <a:txBody>
                    <a:bodyPr/>
                    <a:lstStyle/>
                    <a:p>
                      <a:pPr indent="0" marL="0">
                        <a:buNone/>
                      </a:pPr>
                      <a:r>
                        <a:rPr lang="en-US" sz="1250" b="1" dirty="0">
                          <a:solidFill>
                            <a:srgbClr val="1A1A1A"/>
                          </a:solidFill>
                          <a:latin typeface="Calibri" pitchFamily="34" charset="0"/>
                          <a:ea typeface="Calibri" pitchFamily="34" charset="-122"/>
                          <a:cs typeface="Calibri" pitchFamily="34" charset="-120"/>
                        </a:rPr>
                        <a:t>D — Don't continue further here</a:t>
                      </a:r>
                      <a:endParaRPr lang="en-US" sz="125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None — a legitimate choice, not a failure</a:t>
                      </a:r>
                      <a:endParaRPr lang="en-US" sz="125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457200" y="6455664"/>
            <a:ext cx="10972800" cy="310896"/>
          </a:xfrm>
          <a:prstGeom prst="rect">
            <a:avLst/>
          </a:prstGeom>
          <a:noFill/>
          <a:ln/>
        </p:spPr>
        <p:txBody>
          <a:bodyPr wrap="square" lIns="0" tIns="0" rIns="0" bIns="0" rtlCol="0" anchor="ctr"/>
          <a:lstStyle/>
          <a:p>
            <a:pPr indent="0" marL="0">
              <a:buNone/>
            </a:pPr>
            <a:r>
              <a:rPr lang="en-US" sz="950" i="1" dirty="0">
                <a:solidFill>
                  <a:srgbClr val="555E6B"/>
                </a:solidFill>
                <a:latin typeface="Calibri" pitchFamily="34" charset="0"/>
                <a:ea typeface="Calibri" pitchFamily="34" charset="-122"/>
                <a:cs typeface="Calibri" pitchFamily="34" charset="-120"/>
              </a:rPr>
              <a:t>Source: </a:t>
            </a:r>
            <a:pPr indent="0" marL="0">
              <a:buNone/>
            </a:pPr>
            <a:r>
              <a:rPr lang="en-US" sz="950" i="1" u="sng" dirty="0">
                <a:solidFill>
                  <a:srgbClr val="1D4ED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Synthesis of this briefing's own findings — see slides 8, 9, 13, 15</a:t>
            </a:r>
            <a:endParaRPr lang="en-US" sz="950" dirty="0"/>
          </a:p>
        </p:txBody>
      </p:sp>
      <p:sp>
        <p:nvSpPr>
          <p:cNvPr id="8" name="Text 5"/>
          <p:cNvSpPr txBox="1"/>
          <p:nvPr/>
        </p:nvSpPr>
        <p:spPr>
          <a:xfrm>
            <a:off x="11612880" y="6473952"/>
            <a:ext cx="365760" cy="274320"/>
          </a:xfrm>
          <a:prstGeom prst="rect">
            <a:avLst/>
          </a:prstGeom>
          <a:noFill/>
          <a:ln/>
        </p:spPr>
        <p:txBody>
          <a:bodyPr wrap="square" lIns="0" tIns="0" rIns="0" bIns="0" rtlCol="0" anchor="ctr"/>
          <a:lstStyle/>
          <a:p>
            <a:pPr algn="r" indent="0" marL="0">
              <a:buNone/>
            </a:pPr>
            <a:r>
              <a:rPr lang="en-US" sz="1000" dirty="0">
                <a:solidFill>
                  <a:srgbClr val="555E6B"/>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51560" y="384048"/>
            <a:ext cx="9144000" cy="274320"/>
          </a:xfrm>
          <a:prstGeom prst="rect">
            <a:avLst/>
          </a:prstGeom>
          <a:noFill/>
          <a:ln/>
        </p:spPr>
        <p:txBody>
          <a:bodyPr wrap="square" lIns="0" tIns="0" rIns="0" bIns="0" rtlCol="0" anchor="ctr"/>
          <a:lstStyle/>
          <a:p>
            <a:pPr indent="0" marL="0">
              <a:buNone/>
            </a:pPr>
            <a:r>
              <a:rPr lang="en-US" sz="1200" b="1" spc="100" kern="0" dirty="0">
                <a:solidFill>
                  <a:srgbClr val="1D4ED8"/>
                </a:solidFill>
                <a:latin typeface="Calibri" pitchFamily="34" charset="0"/>
                <a:ea typeface="Calibri" pitchFamily="34" charset="-122"/>
                <a:cs typeface="Calibri" pitchFamily="34" charset="-120"/>
              </a:rPr>
              <a:t>THE ASK</a:t>
            </a:r>
            <a:endParaRPr lang="en-US" sz="1200" dirty="0"/>
          </a:p>
        </p:txBody>
      </p:sp>
      <p:sp>
        <p:nvSpPr>
          <p:cNvPr id="3" name="Text 1"/>
          <p:cNvSpPr txBox="1"/>
          <p:nvPr/>
        </p:nvSpPr>
        <p:spPr>
          <a:xfrm>
            <a:off x="457200" y="713232"/>
            <a:ext cx="11274552" cy="640080"/>
          </a:xfrm>
          <a:prstGeom prst="rect">
            <a:avLst/>
          </a:prstGeom>
          <a:noFill/>
          <a:ln/>
        </p:spPr>
        <p:txBody>
          <a:bodyPr wrap="square" lIns="0" tIns="0" rIns="0" bIns="0" rtlCol="0" anchor="t"/>
          <a:lstStyle/>
          <a:p>
            <a:pPr indent="0" marL="0">
              <a:buNone/>
            </a:pPr>
            <a:r>
              <a:rPr lang="en-US" sz="2800" b="1" dirty="0">
                <a:solidFill>
                  <a:srgbClr val="1A1A1A"/>
                </a:solidFill>
                <a:latin typeface="Calibri" pitchFamily="34" charset="0"/>
                <a:ea typeface="Calibri" pitchFamily="34" charset="-122"/>
                <a:cs typeface="Calibri" pitchFamily="34" charset="-120"/>
              </a:rPr>
              <a:t>The Questions to Answer Before Choosing</a:t>
            </a:r>
            <a:endParaRPr lang="en-US" sz="2800" dirty="0"/>
          </a:p>
        </p:txBody>
      </p:sp>
      <p:sp>
        <p:nvSpPr>
          <p:cNvPr id="4" name="Shape 2"/>
          <p:cNvSpPr/>
          <p:nvPr/>
        </p:nvSpPr>
        <p:spPr>
          <a:xfrm>
            <a:off x="457200" y="1691640"/>
            <a:ext cx="5349240" cy="1600200"/>
          </a:xfrm>
          <a:prstGeom prst="roundRect">
            <a:avLst>
              <a:gd name="adj" fmla="val 4571"/>
            </a:avLst>
          </a:prstGeom>
          <a:solidFill>
            <a:srgbClr val="F5F6F8"/>
          </a:solidFill>
          <a:ln/>
        </p:spPr>
      </p:sp>
      <p:sp>
        <p:nvSpPr>
          <p:cNvPr id="5" name="Text 3"/>
          <p:cNvSpPr txBox="1"/>
          <p:nvPr/>
        </p:nvSpPr>
        <p:spPr>
          <a:xfrm>
            <a:off x="685800" y="1874520"/>
            <a:ext cx="548640" cy="548640"/>
          </a:xfrm>
          <a:prstGeom prst="rect">
            <a:avLst/>
          </a:prstGeom>
          <a:noFill/>
          <a:ln/>
        </p:spPr>
        <p:txBody>
          <a:bodyPr wrap="square" lIns="0" tIns="0" rIns="0" bIns="0" rtlCol="0" anchor="ctr"/>
          <a:lstStyle/>
          <a:p>
            <a:pPr indent="0" marL="0">
              <a:buNone/>
            </a:pPr>
            <a:r>
              <a:rPr lang="en-US" sz="2600" b="1" dirty="0">
                <a:solidFill>
                  <a:srgbClr val="1D4ED8"/>
                </a:solidFill>
                <a:latin typeface="Calibri" pitchFamily="34" charset="0"/>
                <a:ea typeface="Calibri" pitchFamily="34" charset="-122"/>
                <a:cs typeface="Calibri" pitchFamily="34" charset="-120"/>
              </a:rPr>
              <a:t>1</a:t>
            </a:r>
            <a:endParaRPr lang="en-US" sz="2600" dirty="0"/>
          </a:p>
        </p:txBody>
      </p:sp>
      <p:sp>
        <p:nvSpPr>
          <p:cNvPr id="6" name="Text 4"/>
          <p:cNvSpPr txBox="1"/>
          <p:nvPr/>
        </p:nvSpPr>
        <p:spPr>
          <a:xfrm>
            <a:off x="1325880" y="1874520"/>
            <a:ext cx="4251960" cy="1234440"/>
          </a:xfrm>
          <a:prstGeom prst="rect">
            <a:avLst/>
          </a:prstGeom>
          <a:noFill/>
          <a:ln/>
        </p:spPr>
        <p:txBody>
          <a:bodyPr wrap="square" lIns="0" tIns="0" rIns="0" bIns="0" rtlCol="0" anchor="ctr"/>
          <a:lstStyle/>
          <a:p>
            <a:pPr indent="0" marL="0">
              <a:lnSpc>
                <a:spcPct val="110000"/>
              </a:lnSpc>
              <a:buNone/>
            </a:pPr>
            <a:r>
              <a:rPr lang="en-US" sz="1350" dirty="0">
                <a:solidFill>
                  <a:srgbClr val="1A1A1A"/>
                </a:solidFill>
                <a:latin typeface="Calibri" pitchFamily="34" charset="0"/>
                <a:ea typeface="Calibri" pitchFamily="34" charset="-122"/>
                <a:cs typeface="Calibri" pitchFamily="34" charset="-120"/>
              </a:rPr>
              <a:t>Is the goal a product that makes money, a technical contribution that builds standing, or neither — which one, specifically?</a:t>
            </a:r>
            <a:endParaRPr lang="en-US" sz="1350" dirty="0"/>
          </a:p>
        </p:txBody>
      </p:sp>
      <p:sp>
        <p:nvSpPr>
          <p:cNvPr id="7" name="Shape 5"/>
          <p:cNvSpPr/>
          <p:nvPr/>
        </p:nvSpPr>
        <p:spPr>
          <a:xfrm>
            <a:off x="6080760" y="1691640"/>
            <a:ext cx="5349240" cy="1600200"/>
          </a:xfrm>
          <a:prstGeom prst="roundRect">
            <a:avLst>
              <a:gd name="adj" fmla="val 4571"/>
            </a:avLst>
          </a:prstGeom>
          <a:solidFill>
            <a:srgbClr val="F5F6F8"/>
          </a:solidFill>
          <a:ln/>
        </p:spPr>
      </p:sp>
      <p:sp>
        <p:nvSpPr>
          <p:cNvPr id="8" name="Text 6"/>
          <p:cNvSpPr txBox="1"/>
          <p:nvPr/>
        </p:nvSpPr>
        <p:spPr>
          <a:xfrm>
            <a:off x="6309360" y="1874520"/>
            <a:ext cx="548640" cy="548640"/>
          </a:xfrm>
          <a:prstGeom prst="rect">
            <a:avLst/>
          </a:prstGeom>
          <a:noFill/>
          <a:ln/>
        </p:spPr>
        <p:txBody>
          <a:bodyPr wrap="square" lIns="0" tIns="0" rIns="0" bIns="0" rtlCol="0" anchor="ctr"/>
          <a:lstStyle/>
          <a:p>
            <a:pPr indent="0" marL="0">
              <a:buNone/>
            </a:pPr>
            <a:r>
              <a:rPr lang="en-US" sz="2600" b="1" dirty="0">
                <a:solidFill>
                  <a:srgbClr val="1D4ED8"/>
                </a:solidFill>
                <a:latin typeface="Calibri" pitchFamily="34" charset="0"/>
                <a:ea typeface="Calibri" pitchFamily="34" charset="-122"/>
                <a:cs typeface="Calibri" pitchFamily="34" charset="-120"/>
              </a:rPr>
              <a:t>2</a:t>
            </a:r>
            <a:endParaRPr lang="en-US" sz="2600" dirty="0"/>
          </a:p>
        </p:txBody>
      </p:sp>
      <p:sp>
        <p:nvSpPr>
          <p:cNvPr id="9" name="Text 7"/>
          <p:cNvSpPr txBox="1"/>
          <p:nvPr/>
        </p:nvSpPr>
        <p:spPr>
          <a:xfrm>
            <a:off x="6949440" y="1874520"/>
            <a:ext cx="4251960" cy="1234440"/>
          </a:xfrm>
          <a:prstGeom prst="rect">
            <a:avLst/>
          </a:prstGeom>
          <a:noFill/>
          <a:ln/>
        </p:spPr>
        <p:txBody>
          <a:bodyPr wrap="square" lIns="0" tIns="0" rIns="0" bIns="0" rtlCol="0" anchor="ctr"/>
          <a:lstStyle/>
          <a:p>
            <a:pPr indent="0" marL="0">
              <a:lnSpc>
                <a:spcPct val="110000"/>
              </a:lnSpc>
              <a:buNone/>
            </a:pPr>
            <a:r>
              <a:rPr lang="en-US" sz="1350" dirty="0">
                <a:solidFill>
                  <a:srgbClr val="1A1A1A"/>
                </a:solidFill>
                <a:latin typeface="Calibri" pitchFamily="34" charset="0"/>
                <a:ea typeface="Calibri" pitchFamily="34" charset="-122"/>
                <a:cs typeface="Calibri" pitchFamily="34" charset="-120"/>
              </a:rPr>
              <a:t>If A (a product): what makes it different enough to beat six apps and a funded, multi-product competitor already live on the same pilot?</a:t>
            </a:r>
            <a:endParaRPr lang="en-US" sz="1350" dirty="0"/>
          </a:p>
        </p:txBody>
      </p:sp>
      <p:sp>
        <p:nvSpPr>
          <p:cNvPr id="10" name="Shape 8"/>
          <p:cNvSpPr/>
          <p:nvPr/>
        </p:nvSpPr>
        <p:spPr>
          <a:xfrm>
            <a:off x="457200" y="3566160"/>
            <a:ext cx="5349240" cy="1600200"/>
          </a:xfrm>
          <a:prstGeom prst="roundRect">
            <a:avLst>
              <a:gd name="adj" fmla="val 4571"/>
            </a:avLst>
          </a:prstGeom>
          <a:solidFill>
            <a:srgbClr val="F5F6F8"/>
          </a:solidFill>
          <a:ln/>
        </p:spPr>
      </p:sp>
      <p:sp>
        <p:nvSpPr>
          <p:cNvPr id="11" name="Text 9"/>
          <p:cNvSpPr txBox="1"/>
          <p:nvPr/>
        </p:nvSpPr>
        <p:spPr>
          <a:xfrm>
            <a:off x="685800" y="3749040"/>
            <a:ext cx="548640" cy="548640"/>
          </a:xfrm>
          <a:prstGeom prst="rect">
            <a:avLst/>
          </a:prstGeom>
          <a:noFill/>
          <a:ln/>
        </p:spPr>
        <p:txBody>
          <a:bodyPr wrap="square" lIns="0" tIns="0" rIns="0" bIns="0" rtlCol="0" anchor="ctr"/>
          <a:lstStyle/>
          <a:p>
            <a:pPr indent="0" marL="0">
              <a:buNone/>
            </a:pPr>
            <a:r>
              <a:rPr lang="en-US" sz="2600" b="1" dirty="0">
                <a:solidFill>
                  <a:srgbClr val="1D4ED8"/>
                </a:solidFill>
                <a:latin typeface="Calibri" pitchFamily="34" charset="0"/>
                <a:ea typeface="Calibri" pitchFamily="34" charset="-122"/>
                <a:cs typeface="Calibri" pitchFamily="34" charset="-120"/>
              </a:rPr>
              <a:t>3</a:t>
            </a:r>
            <a:endParaRPr lang="en-US" sz="2600" dirty="0"/>
          </a:p>
        </p:txBody>
      </p:sp>
      <p:sp>
        <p:nvSpPr>
          <p:cNvPr id="12" name="Text 10"/>
          <p:cNvSpPr txBox="1"/>
          <p:nvPr/>
        </p:nvSpPr>
        <p:spPr>
          <a:xfrm>
            <a:off x="1325880" y="3749040"/>
            <a:ext cx="4251960" cy="1234440"/>
          </a:xfrm>
          <a:prstGeom prst="rect">
            <a:avLst/>
          </a:prstGeom>
          <a:noFill/>
          <a:ln/>
        </p:spPr>
        <p:txBody>
          <a:bodyPr wrap="square" lIns="0" tIns="0" rIns="0" bIns="0" rtlCol="0" anchor="ctr"/>
          <a:lstStyle/>
          <a:p>
            <a:pPr indent="0" marL="0">
              <a:lnSpc>
                <a:spcPct val="110000"/>
              </a:lnSpc>
              <a:buNone/>
            </a:pPr>
            <a:r>
              <a:rPr lang="en-US" sz="1350" dirty="0">
                <a:solidFill>
                  <a:srgbClr val="1A1A1A"/>
                </a:solidFill>
                <a:latin typeface="Calibri" pitchFamily="34" charset="0"/>
                <a:ea typeface="Calibri" pitchFamily="34" charset="-122"/>
                <a:cs typeface="Calibri" pitchFamily="34" charset="-120"/>
              </a:rPr>
              <a:t>If B (a contribution): who is the actual owner willing to file a real issue or pull request against the public repository, and by when?</a:t>
            </a:r>
            <a:endParaRPr lang="en-US" sz="1350" dirty="0"/>
          </a:p>
        </p:txBody>
      </p:sp>
      <p:sp>
        <p:nvSpPr>
          <p:cNvPr id="13" name="Shape 11"/>
          <p:cNvSpPr/>
          <p:nvPr/>
        </p:nvSpPr>
        <p:spPr>
          <a:xfrm>
            <a:off x="6080760" y="3566160"/>
            <a:ext cx="5349240" cy="1600200"/>
          </a:xfrm>
          <a:prstGeom prst="roundRect">
            <a:avLst>
              <a:gd name="adj" fmla="val 4571"/>
            </a:avLst>
          </a:prstGeom>
          <a:solidFill>
            <a:srgbClr val="F5F6F8"/>
          </a:solidFill>
          <a:ln/>
        </p:spPr>
      </p:sp>
      <p:sp>
        <p:nvSpPr>
          <p:cNvPr id="14" name="Text 12"/>
          <p:cNvSpPr txBox="1"/>
          <p:nvPr/>
        </p:nvSpPr>
        <p:spPr>
          <a:xfrm>
            <a:off x="6309360" y="3749040"/>
            <a:ext cx="548640" cy="548640"/>
          </a:xfrm>
          <a:prstGeom prst="rect">
            <a:avLst/>
          </a:prstGeom>
          <a:noFill/>
          <a:ln/>
        </p:spPr>
        <p:txBody>
          <a:bodyPr wrap="square" lIns="0" tIns="0" rIns="0" bIns="0" rtlCol="0" anchor="ctr"/>
          <a:lstStyle/>
          <a:p>
            <a:pPr indent="0" marL="0">
              <a:buNone/>
            </a:pPr>
            <a:r>
              <a:rPr lang="en-US" sz="2600" b="1" dirty="0">
                <a:solidFill>
                  <a:srgbClr val="1D4ED8"/>
                </a:solidFill>
                <a:latin typeface="Calibri" pitchFamily="34" charset="0"/>
                <a:ea typeface="Calibri" pitchFamily="34" charset="-122"/>
                <a:cs typeface="Calibri" pitchFamily="34" charset="-120"/>
              </a:rPr>
              <a:t>4</a:t>
            </a:r>
            <a:endParaRPr lang="en-US" sz="2600" dirty="0"/>
          </a:p>
        </p:txBody>
      </p:sp>
      <p:sp>
        <p:nvSpPr>
          <p:cNvPr id="15" name="Text 13"/>
          <p:cNvSpPr txBox="1"/>
          <p:nvPr/>
        </p:nvSpPr>
        <p:spPr>
          <a:xfrm>
            <a:off x="6949440" y="3749040"/>
            <a:ext cx="4251960" cy="1234440"/>
          </a:xfrm>
          <a:prstGeom prst="rect">
            <a:avLst/>
          </a:prstGeom>
          <a:noFill/>
          <a:ln/>
        </p:spPr>
        <p:txBody>
          <a:bodyPr wrap="square" lIns="0" tIns="0" rIns="0" bIns="0" rtlCol="0" anchor="ctr"/>
          <a:lstStyle/>
          <a:p>
            <a:pPr indent="0" marL="0">
              <a:lnSpc>
                <a:spcPct val="110000"/>
              </a:lnSpc>
              <a:buNone/>
            </a:pPr>
            <a:r>
              <a:rPr lang="en-US" sz="1350" dirty="0">
                <a:solidFill>
                  <a:srgbClr val="1A1A1A"/>
                </a:solidFill>
                <a:latin typeface="Calibri" pitchFamily="34" charset="0"/>
                <a:ea typeface="Calibri" pitchFamily="34" charset="-122"/>
                <a:cs typeface="Calibri" pitchFamily="34" charset="-120"/>
              </a:rPr>
              <a:t>If C (V2G): what is the first concrete, fundable step — not more research, an actual pilot proposal to a specific DISCOM or regulator?</a:t>
            </a:r>
            <a:endParaRPr lang="en-US" sz="1350" dirty="0"/>
          </a:p>
        </p:txBody>
      </p:sp>
      <p:sp>
        <p:nvSpPr>
          <p:cNvPr id="16" name="Text 14"/>
          <p:cNvSpPr txBox="1"/>
          <p:nvPr/>
        </p:nvSpPr>
        <p:spPr>
          <a:xfrm>
            <a:off x="457200" y="5349240"/>
            <a:ext cx="11274552" cy="822960"/>
          </a:xfrm>
          <a:prstGeom prst="rect">
            <a:avLst/>
          </a:prstGeom>
          <a:noFill/>
          <a:ln/>
        </p:spPr>
        <p:txBody>
          <a:bodyPr wrap="square" lIns="0" tIns="0" rIns="0" bIns="0" rtlCol="0" anchor="t"/>
          <a:lstStyle/>
          <a:p>
            <a:pPr indent="0" marL="0">
              <a:buNone/>
            </a:pPr>
            <a:r>
              <a:rPr lang="en-US" sz="1400" i="1" dirty="0">
                <a:solidFill>
                  <a:srgbClr val="555E6B"/>
                </a:solidFill>
                <a:latin typeface="Calibri" pitchFamily="34" charset="0"/>
                <a:ea typeface="Calibri" pitchFamily="34" charset="-122"/>
                <a:cs typeface="Calibri" pitchFamily="34" charset="-120"/>
              </a:rPr>
              <a:t>Every fact in this briefing is checkable today, at the links already given. What's left isn't a question about the facts — it's which of these four directions is worth committing to.</a:t>
            </a:r>
            <a:endParaRPr lang="en-US" sz="1400" dirty="0"/>
          </a:p>
        </p:txBody>
      </p:sp>
      <p:sp>
        <p:nvSpPr>
          <p:cNvPr id="17" name="Text 15"/>
          <p:cNvSpPr txBox="1"/>
          <p:nvPr/>
        </p:nvSpPr>
        <p:spPr>
          <a:xfrm>
            <a:off x="11612880" y="6473952"/>
            <a:ext cx="365760" cy="274320"/>
          </a:xfrm>
          <a:prstGeom prst="rect">
            <a:avLst/>
          </a:prstGeom>
          <a:noFill/>
          <a:ln/>
        </p:spPr>
        <p:txBody>
          <a:bodyPr wrap="square" lIns="0" tIns="0" rIns="0" bIns="0" rtlCol="0" anchor="ctr"/>
          <a:lstStyle/>
          <a:p>
            <a:pPr algn="r" indent="0" marL="0">
              <a:buNone/>
            </a:pPr>
            <a:r>
              <a:rPr lang="en-US" sz="1000" dirty="0">
                <a:solidFill>
                  <a:srgbClr val="555E6B"/>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theme/theme1.xml><?xml version="1.0" encoding="utf-8"?>
<a:theme xmlns:a="http://schemas.openxmlformats.org/drawingml/2006/main" name="DEG Reality Check">
  <a:themeElements>
    <a:clrScheme name="DEG Reality Check">
      <a:dk1>
        <a:srgbClr val="1A1A1A"/>
      </a:dk1>
      <a:lt1>
        <a:srgbClr val="FFFFFF"/>
      </a:lt1>
      <a:dk2>
        <a:srgbClr val="1A1A1A"/>
      </a:dk2>
      <a:lt2>
        <a:srgbClr val="FFFFFF"/>
      </a:lt2>
      <a:accent1>
        <a:srgbClr val="1D4ED8"/>
      </a:accent1>
      <a:accent2>
        <a:srgbClr val="A82A2A"/>
      </a:accent2>
      <a:accent3>
        <a:srgbClr val="555E6B"/>
      </a:accent3>
      <a:accent4>
        <a:srgbClr val="1E7A3C"/>
      </a:accent4>
      <a:accent5>
        <a:srgbClr val="0E7A6E"/>
      </a:accent5>
      <a:accent6>
        <a:srgbClr val="B85C0A"/>
      </a:accent6>
      <a:hlink>
        <a:srgbClr val="1D4ED8"/>
      </a:hlink>
      <a:folHlink>
        <a:srgbClr val="1D4ED8"/>
      </a:folHlink>
    </a:clrScheme>
    <a:fontScheme name="DEG Reality Check">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DEG / IES / Beckn — Live Reality Briefing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2026-10-22T05:53:32Z</dcterms:created>
  <dcterms:modified xsi:type="dcterms:W3CDTF">2026-10-22T05:53:32Z</dcterms:modified>
</cp:coreProperties>
</file>