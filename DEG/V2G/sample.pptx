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301" r:id="rId2"/>
    <p:sldId id="302" r:id="rId3"/>
    <p:sldId id="260" r:id="rId4"/>
    <p:sldId id="261" r:id="rId5"/>
    <p:sldId id="262" r:id="rId6"/>
    <p:sldId id="269" r:id="rId7"/>
    <p:sldId id="271" r:id="rId8"/>
    <p:sldId id="298" r:id="rId9"/>
    <p:sldId id="268" r:id="rId10"/>
    <p:sldId id="263" r:id="rId11"/>
    <p:sldId id="264" r:id="rId12"/>
    <p:sldId id="294" r:id="rId13"/>
    <p:sldId id="300" r:id="rId14"/>
    <p:sldId id="265" r:id="rId15"/>
    <p:sldId id="295" r:id="rId16"/>
    <p:sldId id="266" r:id="rId17"/>
    <p:sldId id="297" r:id="rId18"/>
    <p:sldId id="267" r:id="rId19"/>
    <p:sldId id="296" r:id="rId20"/>
    <p:sldId id="29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DD8BCB-AE09-4B87-8CA0-A8BE66318A59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9BAF67-9301-4F14-91F8-CECAFAF28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66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9BAF67-9301-4F14-91F8-CECAFAF2866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0463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2D48B2-9EB0-4B37-9B35-FC11E2EA535A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61212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2D48B2-9EB0-4B37-9B35-FC11E2EA535A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220422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7115484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F3747-8F55-83C4-44BD-6B6D44FE19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8513C9-E3EE-4D58-3ABC-CD7609D470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420C45-8A2B-E348-8676-04D7E0B89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02507-9B3A-4501-81D2-F3CEFB65EC82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02524B-84A8-F5C1-D2CD-728E25EC8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44F896-96EA-F2CB-579E-75F1CBCCD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818B0-665A-4282-9E57-FB0816FDD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23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DAE0C-9E0B-295A-D363-18787AF61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1E643-4045-CF13-1DD2-6537EDFEE0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4D440-41B6-E964-1436-461AB6C6E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02507-9B3A-4501-81D2-F3CEFB65EC82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DC86A2-501A-17A6-3199-0DDFE3A6E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A3806D-F77C-DF72-D7A6-D1A1E4F44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818B0-665A-4282-9E57-FB0816FDD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7256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0CBB0-D026-32CD-199E-6C11C3953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87702E-E097-B132-F830-7998B85BAA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3DBD8-0327-7639-3A7D-37C237E4D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02507-9B3A-4501-81D2-F3CEFB65EC82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813AF0-B061-E451-89C8-21B75DD72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62C355-A3B1-1016-29D0-24F4CF686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818B0-665A-4282-9E57-FB0816FDD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21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447D3-822F-DA30-BFA0-483FD7799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40302-7BCB-F5EA-E321-289E5713D8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086005-1195-73EE-9049-C95304F914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EB8E87-3B73-617D-6560-CB23CA0F5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02507-9B3A-4501-81D2-F3CEFB65EC82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CCEC23-A299-EEBB-8798-BFAA67F5A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FAF7D6-0F91-9F28-6DE0-9F58CFA5A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818B0-665A-4282-9E57-FB0816FDD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794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A0D9B-2318-B3F7-432B-C3CE47FBD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409520-2FE5-88B1-348A-4555E7E22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3350C5-09F7-C80C-6E9F-757606CBAE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ECB0BB-363F-6337-05C6-42A95032F8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126F8E-6D0C-A8DD-9624-47874069FA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D493AA-B95E-75DD-7DFA-5A8E5D7BA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02507-9B3A-4501-81D2-F3CEFB65EC82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3E4436-F1E0-280A-99E5-508BF74B3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118316-C51E-3FB1-429E-5D3C80B46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818B0-665A-4282-9E57-FB0816FDD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56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57320-094A-93C2-5322-E58636DEB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B7A040-6DD1-1560-5FCA-7FA714F69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02507-9B3A-4501-81D2-F3CEFB65EC82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B124E0-9EB8-EC6D-1175-C38BC4DC1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CEFC98-D533-694C-D529-4326011A8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818B0-665A-4282-9E57-FB0816FDD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494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233080-88FA-0387-819A-C73B893E6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02507-9B3A-4501-81D2-F3CEFB65EC82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F25E81-C3C8-601C-F2EB-96BEA1D7A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8BAFB7-60B4-67F6-B7B0-1AA2F8981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818B0-665A-4282-9E57-FB0816FDD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391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ADC02-6E57-BBD5-6826-FA7B948A9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FCBE1-53FF-B64A-A1F0-9350D49F3D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F6A682-1A35-C40F-194B-A725EE8608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4964E1-BAAC-DE60-3406-73D16FA4E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02507-9B3A-4501-81D2-F3CEFB65EC82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31BED9-BB7D-E448-3550-EB1FD6FF5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3A2D27-3F70-06A4-1BA2-BC6DE0551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818B0-665A-4282-9E57-FB0816FDD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267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5BDA7-9D53-A165-4BB4-63692C4FB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388C2E-0967-E3CF-E6EA-EBFF09C52D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A2E97C-946D-0D2D-1431-7138698638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C19BCD-09E1-0AED-A79D-3EF83FFFE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02507-9B3A-4501-81D2-F3CEFB65EC82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6E350E-B581-6645-86DE-BED670DDF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868B55-71E6-79B3-DE4A-72DB212ED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818B0-665A-4282-9E57-FB0816FDD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27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CD97F-4799-8EBE-B271-E065BC1C5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5F1F75-D48F-97EE-2BA3-E9295E4999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1D94FC-CE32-6963-A642-672BF8D23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02507-9B3A-4501-81D2-F3CEFB65EC82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A16521-8440-04C2-5C50-1EFAA726B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CB4C65-DA42-0787-C258-656EE8313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818B0-665A-4282-9E57-FB0816FDD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532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D37BFB-9247-87EE-543F-DE7ECB5206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75E721-9EE2-0249-AAC4-A2171D9FBF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E373C3-A7E2-8447-ABF0-AFB233798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02507-9B3A-4501-81D2-F3CEFB65EC82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6E74E3-1FC6-1BC2-F07A-CE3A4C59B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A03FCD-ABC6-1589-F731-E93A8855A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818B0-665A-4282-9E57-FB0816FDD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1427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 Conten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DE43D273-A15E-4B64-AFD2-1388D749B6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066" y="720185"/>
            <a:ext cx="11735396" cy="432111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15" name="Chapter_titleonly">
            <a:extLst>
              <a:ext uri="{FF2B5EF4-FFF2-40B4-BE49-F238E27FC236}">
                <a16:creationId xmlns:a16="http://schemas.microsoft.com/office/drawing/2014/main" id="{5B281E01-A653-4813-BC65-8900B31D115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8066" y="288074"/>
            <a:ext cx="11735396" cy="432111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3112" kern="0" baseline="0">
                <a:solidFill>
                  <a:schemeClr val="tx1"/>
                </a:solidFill>
              </a:defRPr>
            </a:lvl1pPr>
            <a:lvl2pPr marL="260049" indent="0">
              <a:buNone/>
              <a:defRPr sz="3112"/>
            </a:lvl2pPr>
            <a:lvl3pPr marL="584110" indent="0">
              <a:buNone/>
              <a:defRPr sz="3112"/>
            </a:lvl3pPr>
            <a:lvl4pPr marL="832155" indent="0">
              <a:buNone/>
              <a:defRPr sz="3112"/>
            </a:lvl4pPr>
            <a:lvl5pPr marL="832155" indent="0">
              <a:buNone/>
              <a:defRPr sz="3112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0" name="AttachmentRemark">
            <a:extLst>
              <a:ext uri="{FF2B5EF4-FFF2-40B4-BE49-F238E27FC236}">
                <a16:creationId xmlns:a16="http://schemas.microsoft.com/office/drawing/2014/main" id="{8883D326-CEAD-4903-8269-B2D194C3C224}"/>
              </a:ext>
            </a:extLst>
          </p:cNvPr>
          <p:cNvSpPr>
            <a:spLocks/>
          </p:cNvSpPr>
          <p:nvPr userDrawn="1"/>
        </p:nvSpPr>
        <p:spPr>
          <a:xfrm>
            <a:off x="10251866" y="287941"/>
            <a:ext cx="1880144" cy="863822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9760" rIns="0" bIns="0" rtlCol="0" anchor="t">
            <a:normAutofit/>
          </a:bodyPr>
          <a:lstStyle/>
          <a:p>
            <a:pPr rtl="0">
              <a:lnSpc>
                <a:spcPts val="1000"/>
              </a:lnSpc>
            </a:pPr>
            <a:r>
              <a:rPr lang="en-US" sz="611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4D46C5CB-CB38-4AD2-99D2-34C738DF30C0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228066" y="1440370"/>
            <a:ext cx="11735396" cy="471321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3261F3-E57F-4170-BD7E-F44931BED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42093763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>
          <p15:clr>
            <a:srgbClr val="FBAE40"/>
          </p15:clr>
        </p15:guide>
        <p15:guide id="2" pos="6784">
          <p15:clr>
            <a:srgbClr val="FBAE40"/>
          </p15:clr>
        </p15:guide>
        <p15:guide id="3" orient="horz" pos="162">
          <p15:clr>
            <a:srgbClr val="FBAE40"/>
          </p15:clr>
        </p15:guide>
        <p15:guide id="4" orient="horz" pos="408">
          <p15:clr>
            <a:srgbClr val="FBAE40"/>
          </p15:clr>
        </p15:guide>
        <p15:guide id="5" orient="horz" pos="654">
          <p15:clr>
            <a:srgbClr val="FBAE40"/>
          </p15:clr>
        </p15:guide>
        <p15:guide id="6" orient="horz" pos="816">
          <p15:clr>
            <a:srgbClr val="FBAE40"/>
          </p15:clr>
        </p15:guide>
        <p15:guide id="7" orient="horz" pos="348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4E4871-934B-5B8B-5305-5B74D168E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085CD9-6045-5A31-D9A6-9E5BD8FDB3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CA31C6-5353-4BA6-45A4-6FA4711389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B02507-9B3A-4501-81D2-F3CEFB65EC82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3D0F10-A683-2B4F-A4BF-25F98F7A43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9A16CB-A24B-C0B0-413A-772C6E1AE9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C818B0-665A-4282-9E57-FB0816FDD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841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beckn/DEG/tree/main/devkits/p2p-enrollment" TargetMode="External"/><Relationship Id="rId3" Type="http://schemas.openxmlformats.org/officeDocument/2006/relationships/hyperlink" Target="https://github.com/beckn/DEG/blob/main/devkits/data-exchange/uc2-regulatory-data" TargetMode="External"/><Relationship Id="rId7" Type="http://schemas.openxmlformats.org/officeDocument/2006/relationships/hyperlink" Target="https://github.com/beckn/DEG/tree/main/devkits/ev-charging" TargetMode="External"/><Relationship Id="rId2" Type="http://schemas.openxmlformats.org/officeDocument/2006/relationships/hyperlink" Target="https://github.com/beckn/DEG/blob/main/devkits/data-exchange/uc1-meter-data" TargetMode="Externa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github.com/beckn/DEG/tree/main/devkits/demand-flex" TargetMode="External"/><Relationship Id="rId5" Type="http://schemas.openxmlformats.org/officeDocument/2006/relationships/hyperlink" Target="https://github.com/beckn/DEG/blob/main/devkits/data-exchange/uc4-streaming" TargetMode="External"/><Relationship Id="rId4" Type="http://schemas.openxmlformats.org/officeDocument/2006/relationships/hyperlink" Target="https://github.com/beckn/DEG/blob/main/devkits/data-exchange/uc3-tariff-policy" TargetMode="External"/><Relationship Id="rId9" Type="http://schemas.openxmlformats.org/officeDocument/2006/relationships/hyperlink" Target="https://github.com/beckn/DEG/tree/main/devkits/p2p-trading-ies-wave2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slide" Target="slide14.xml"/><Relationship Id="rId3" Type="http://schemas.openxmlformats.org/officeDocument/2006/relationships/slide" Target="slide3.xml"/><Relationship Id="rId7" Type="http://schemas.openxmlformats.org/officeDocument/2006/relationships/slide" Target="slide11.xml"/><Relationship Id="rId2" Type="http://schemas.openxmlformats.org/officeDocument/2006/relationships/slide" Target="slide13.xml"/><Relationship Id="rId1" Type="http://schemas.openxmlformats.org/officeDocument/2006/relationships/slideLayout" Target="../slideLayouts/slideLayout12.xml"/><Relationship Id="rId6" Type="http://schemas.openxmlformats.org/officeDocument/2006/relationships/slide" Target="slide10.xml"/><Relationship Id="rId5" Type="http://schemas.openxmlformats.org/officeDocument/2006/relationships/slide" Target="slide5.xml"/><Relationship Id="rId4" Type="http://schemas.openxmlformats.org/officeDocument/2006/relationships/slide" Target="slide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B89E0-89D9-4425-AE04-BF03119740B1}"/>
              </a:ext>
            </a:extLst>
          </p:cNvPr>
          <p:cNvSpPr txBox="1">
            <a:spLocks/>
          </p:cNvSpPr>
          <p:nvPr/>
        </p:nvSpPr>
        <p:spPr>
          <a:xfrm>
            <a:off x="530400" y="3714120"/>
            <a:ext cx="10301466" cy="167548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Digital Energy Grid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39839-FCEA-4EC2-AD64-E9A6C386964E}"/>
              </a:ext>
            </a:extLst>
          </p:cNvPr>
          <p:cNvSpPr txBox="1">
            <a:spLocks/>
          </p:cNvSpPr>
          <p:nvPr/>
        </p:nvSpPr>
        <p:spPr>
          <a:xfrm>
            <a:off x="5279798" y="4845776"/>
            <a:ext cx="6835984" cy="139410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23" dirty="0">
                <a:latin typeface="+mj-lt"/>
              </a:rPr>
              <a:t>Name1 (will fill myself)</a:t>
            </a:r>
          </a:p>
          <a:p>
            <a:r>
              <a:rPr lang="en-US" sz="2223" dirty="0">
                <a:latin typeface="+mj-lt"/>
              </a:rPr>
              <a:t>Name2 (will fill myself)</a:t>
            </a:r>
          </a:p>
        </p:txBody>
      </p:sp>
    </p:spTree>
    <p:extLst>
      <p:ext uri="{BB962C8B-B14F-4D97-AF65-F5344CB8AC3E}">
        <p14:creationId xmlns:p14="http://schemas.microsoft.com/office/powerpoint/2010/main" val="912732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A1C5634-085D-EDAC-508E-3BFAD5CAAEEA}"/>
              </a:ext>
            </a:extLst>
          </p:cNvPr>
          <p:cNvSpPr txBox="1">
            <a:spLocks/>
          </p:cNvSpPr>
          <p:nvPr/>
        </p:nvSpPr>
        <p:spPr>
          <a:xfrm>
            <a:off x="3655986" y="2753690"/>
            <a:ext cx="7927662" cy="22721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Study Summary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98050B2-E570-6C5B-2EF2-2CDC160891DA}"/>
              </a:ext>
            </a:extLst>
          </p:cNvPr>
          <p:cNvSpPr txBox="1">
            <a:spLocks/>
          </p:cNvSpPr>
          <p:nvPr/>
        </p:nvSpPr>
        <p:spPr>
          <a:xfrm>
            <a:off x="3656241" y="3697831"/>
            <a:ext cx="7927407" cy="227210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99" indent="-381099"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</a:rPr>
              <a:t>IES &amp; DEG: Indian Energy Stack / Digital Energy Grid</a:t>
            </a:r>
          </a:p>
          <a:p>
            <a:pPr marL="381099" indent="-381099">
              <a:buFont typeface="Wingdings" panose="05000000000000000000" pitchFamily="2" charset="2"/>
              <a:buChar char="Ø"/>
            </a:pPr>
            <a:r>
              <a:rPr lang="en-US" dirty="0" err="1">
                <a:latin typeface="+mj-lt"/>
              </a:rPr>
              <a:t>Beckn</a:t>
            </a:r>
            <a:r>
              <a:rPr lang="en-US" dirty="0">
                <a:latin typeface="+mj-lt"/>
              </a:rPr>
              <a:t> Protocol</a:t>
            </a:r>
          </a:p>
          <a:p>
            <a:pPr marL="381099" indent="-381099">
              <a:buFont typeface="Wingdings" panose="05000000000000000000" pitchFamily="2" charset="2"/>
              <a:buChar char="Ø"/>
            </a:pP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34064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9400C38-EF2C-E5A2-FD38-C4CE92C3F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491" y="720186"/>
            <a:ext cx="11735018" cy="432111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IES – Indian Energy Stack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F41D597-7476-6367-840E-755DC71A28F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Digital Energy Grid - Study Summary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5B7B7D-FCA3-1526-28BF-510336FBE6D3}"/>
              </a:ext>
            </a:extLst>
          </p:cNvPr>
          <p:cNvSpPr txBox="1"/>
          <p:nvPr/>
        </p:nvSpPr>
        <p:spPr>
          <a:xfrm>
            <a:off x="731692" y="1600258"/>
            <a:ext cx="822934" cy="3384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99" b="1">
                <a:solidFill>
                  <a:srgbClr val="C87C1C"/>
                </a:solidFill>
              </a:rPr>
              <a:t>01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3F16FC-8424-B3D5-A304-0FC6A6A826CF}"/>
              </a:ext>
            </a:extLst>
          </p:cNvPr>
          <p:cNvSpPr txBox="1"/>
          <p:nvPr/>
        </p:nvSpPr>
        <p:spPr>
          <a:xfrm>
            <a:off x="1463189" y="1600260"/>
            <a:ext cx="4206105" cy="261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99" b="1">
                <a:solidFill>
                  <a:srgbClr val="121B27"/>
                </a:solidFill>
              </a:rPr>
              <a:t>The Opportunity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DA8F40-ED53-7507-CC27-54E4EFF80CDD}"/>
              </a:ext>
            </a:extLst>
          </p:cNvPr>
          <p:cNvSpPr txBox="1"/>
          <p:nvPr/>
        </p:nvSpPr>
        <p:spPr>
          <a:xfrm>
            <a:off x="5760730" y="1618547"/>
            <a:ext cx="5669098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dirty="0"/>
              <a:t>Why India's power sector is a live, urgent coordination problem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92DD52-2B37-BADA-EC6E-1A18F545D6B7}"/>
              </a:ext>
            </a:extLst>
          </p:cNvPr>
          <p:cNvSpPr txBox="1"/>
          <p:nvPr/>
        </p:nvSpPr>
        <p:spPr>
          <a:xfrm>
            <a:off x="731692" y="2350042"/>
            <a:ext cx="822934" cy="3384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99" b="1">
                <a:solidFill>
                  <a:srgbClr val="C87C1C"/>
                </a:solidFill>
              </a:rPr>
              <a:t>02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D0AD28-4DAD-BC3D-58E1-FFA6392DE744}"/>
              </a:ext>
            </a:extLst>
          </p:cNvPr>
          <p:cNvSpPr txBox="1"/>
          <p:nvPr/>
        </p:nvSpPr>
        <p:spPr>
          <a:xfrm>
            <a:off x="1463189" y="2350043"/>
            <a:ext cx="4206105" cy="261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99" b="1">
                <a:solidFill>
                  <a:srgbClr val="121B27"/>
                </a:solidFill>
              </a:rPr>
              <a:t>The Global Idea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4BAC8B-499B-5036-5630-BC84300CF414}"/>
              </a:ext>
            </a:extLst>
          </p:cNvPr>
          <p:cNvSpPr txBox="1"/>
          <p:nvPr/>
        </p:nvSpPr>
        <p:spPr>
          <a:xfrm>
            <a:off x="5760730" y="2368331"/>
            <a:ext cx="5669098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/>
              <a:t>Digital Energy Grid (DEG) — the shared-language proposal behind this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803D79B-9A9A-3966-70B9-F9EEAEC3F306}"/>
              </a:ext>
            </a:extLst>
          </p:cNvPr>
          <p:cNvSpPr txBox="1"/>
          <p:nvPr/>
        </p:nvSpPr>
        <p:spPr>
          <a:xfrm>
            <a:off x="731692" y="3099826"/>
            <a:ext cx="822934" cy="3384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99" b="1">
                <a:solidFill>
                  <a:srgbClr val="C87C1C"/>
                </a:solidFill>
              </a:rPr>
              <a:t>03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098CD2-AC27-F8CD-7FCF-299ECE05E722}"/>
              </a:ext>
            </a:extLst>
          </p:cNvPr>
          <p:cNvSpPr txBox="1"/>
          <p:nvPr/>
        </p:nvSpPr>
        <p:spPr>
          <a:xfrm>
            <a:off x="1463189" y="3099827"/>
            <a:ext cx="4206105" cy="261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99" b="1">
                <a:solidFill>
                  <a:srgbClr val="121B27"/>
                </a:solidFill>
              </a:rPr>
              <a:t>India's Real Program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4839017-561E-2885-5364-AC6108720A00}"/>
              </a:ext>
            </a:extLst>
          </p:cNvPr>
          <p:cNvSpPr txBox="1"/>
          <p:nvPr/>
        </p:nvSpPr>
        <p:spPr>
          <a:xfrm>
            <a:off x="5760730" y="3118115"/>
            <a:ext cx="5669098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/>
              <a:t>India Energy Stack (IES) — a funded, government-run national build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896303D-B495-E1AC-5124-EDB100BBCDD6}"/>
              </a:ext>
            </a:extLst>
          </p:cNvPr>
          <p:cNvSpPr txBox="1"/>
          <p:nvPr/>
        </p:nvSpPr>
        <p:spPr>
          <a:xfrm>
            <a:off x="731692" y="3849610"/>
            <a:ext cx="822934" cy="3384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99" b="1">
                <a:solidFill>
                  <a:srgbClr val="C87C1C"/>
                </a:solidFill>
              </a:rPr>
              <a:t>04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D7DF00B-D1C5-5EB8-0D42-65224AA762DC}"/>
              </a:ext>
            </a:extLst>
          </p:cNvPr>
          <p:cNvSpPr txBox="1"/>
          <p:nvPr/>
        </p:nvSpPr>
        <p:spPr>
          <a:xfrm>
            <a:off x="1463189" y="3849611"/>
            <a:ext cx="4206105" cy="261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99" b="1">
                <a:solidFill>
                  <a:srgbClr val="121B27"/>
                </a:solidFill>
              </a:rPr>
              <a:t>The Market Opening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80431C4-5565-60CA-C0FE-6119560ED077}"/>
              </a:ext>
            </a:extLst>
          </p:cNvPr>
          <p:cNvSpPr txBox="1"/>
          <p:nvPr/>
        </p:nvSpPr>
        <p:spPr>
          <a:xfrm>
            <a:off x="5760730" y="3867898"/>
            <a:ext cx="5669098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/>
              <a:t>How outside companies plug in, and why economics favors early movers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3906BC8-5D4A-9823-BC13-AABE32DE12E7}"/>
              </a:ext>
            </a:extLst>
          </p:cNvPr>
          <p:cNvSpPr txBox="1"/>
          <p:nvPr/>
        </p:nvSpPr>
        <p:spPr>
          <a:xfrm>
            <a:off x="731692" y="4599394"/>
            <a:ext cx="822934" cy="3384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99" b="1">
                <a:solidFill>
                  <a:srgbClr val="C87C1C"/>
                </a:solidFill>
              </a:rPr>
              <a:t>05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786158D-387A-4E3A-EA54-53A434A57777}"/>
              </a:ext>
            </a:extLst>
          </p:cNvPr>
          <p:cNvSpPr txBox="1"/>
          <p:nvPr/>
        </p:nvSpPr>
        <p:spPr>
          <a:xfrm>
            <a:off x="1463189" y="4599395"/>
            <a:ext cx="4206105" cy="261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99" b="1">
                <a:solidFill>
                  <a:srgbClr val="121B27"/>
                </a:solidFill>
              </a:rPr>
              <a:t>Current Package Status - IES</a:t>
            </a:r>
            <a:endParaRPr sz="1699" b="1">
              <a:solidFill>
                <a:srgbClr val="121B27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F49A1C5-42C1-3C72-16CF-679D3183ADC0}"/>
              </a:ext>
            </a:extLst>
          </p:cNvPr>
          <p:cNvSpPr txBox="1"/>
          <p:nvPr/>
        </p:nvSpPr>
        <p:spPr>
          <a:xfrm>
            <a:off x="5760730" y="4617683"/>
            <a:ext cx="5669098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300"/>
              <a:t>India Energy Stack (IES) — various use-cases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7DA4C32-075A-0299-9690-6D088664CAB3}"/>
              </a:ext>
            </a:extLst>
          </p:cNvPr>
          <p:cNvSpPr txBox="1"/>
          <p:nvPr/>
        </p:nvSpPr>
        <p:spPr>
          <a:xfrm>
            <a:off x="731692" y="5349178"/>
            <a:ext cx="822934" cy="3384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99" b="1">
                <a:solidFill>
                  <a:srgbClr val="C87C1C"/>
                </a:solidFill>
              </a:rPr>
              <a:t>06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85C95DC-91FA-ABA8-5D6D-414DBC98E809}"/>
              </a:ext>
            </a:extLst>
          </p:cNvPr>
          <p:cNvSpPr txBox="1"/>
          <p:nvPr/>
        </p:nvSpPr>
        <p:spPr>
          <a:xfrm>
            <a:off x="1463189" y="5349178"/>
            <a:ext cx="4206105" cy="261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99" b="1">
                <a:solidFill>
                  <a:srgbClr val="121B27"/>
                </a:solidFill>
              </a:rPr>
              <a:t>References</a:t>
            </a:r>
            <a:endParaRPr sz="1699" b="1">
              <a:solidFill>
                <a:srgbClr val="121B2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9366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61AE7-56B6-AF5F-CC23-D454638F8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EC3FF5-56ED-EDCC-7A9F-F60D6845596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Digital Energy Grid - Study Summary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BA3C55-04DF-63D6-84D7-BE1D4E34250F}"/>
              </a:ext>
            </a:extLst>
          </p:cNvPr>
          <p:cNvSpPr txBox="1"/>
          <p:nvPr/>
        </p:nvSpPr>
        <p:spPr>
          <a:xfrm>
            <a:off x="5968280" y="800856"/>
            <a:ext cx="2997594" cy="307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1" b="1" dirty="0">
                <a:solidFill>
                  <a:srgbClr val="C87C1C"/>
                </a:solidFill>
              </a:rPr>
              <a:t>01 · THE</a:t>
            </a:r>
            <a:r>
              <a:rPr lang="en-US" sz="2001" b="1" dirty="0">
                <a:solidFill>
                  <a:srgbClr val="C87C1C"/>
                </a:solidFill>
              </a:rPr>
              <a:t> </a:t>
            </a:r>
            <a:r>
              <a:rPr sz="2001" b="1" dirty="0">
                <a:solidFill>
                  <a:srgbClr val="C87C1C"/>
                </a:solidFill>
              </a:rPr>
              <a:t>OPPORTUNITY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8BF201-8438-EF34-4404-38511353D898}"/>
              </a:ext>
            </a:extLst>
          </p:cNvPr>
          <p:cNvSpPr txBox="1"/>
          <p:nvPr/>
        </p:nvSpPr>
        <p:spPr>
          <a:xfrm>
            <a:off x="226032" y="1587059"/>
            <a:ext cx="1088101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21B27"/>
                </a:solidFill>
              </a:rPr>
              <a:t>India's power sector is mid-transformation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CB3422-7DF5-1B97-EA00-F5404136C03C}"/>
              </a:ext>
            </a:extLst>
          </p:cNvPr>
          <p:cNvSpPr txBox="1"/>
          <p:nvPr/>
        </p:nvSpPr>
        <p:spPr>
          <a:xfrm>
            <a:off x="226033" y="2199687"/>
            <a:ext cx="10515262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>
                <a:solidFill>
                  <a:srgbClr val="48576A"/>
                </a:solidFill>
              </a:rPr>
              <a:t>Millions of households are becoming producers, not just consumers — and the coordination layer hasn't caught up.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19621DE-F2F9-C7C5-E2CA-AED73A5FD4C7}"/>
              </a:ext>
            </a:extLst>
          </p:cNvPr>
          <p:cNvSpPr/>
          <p:nvPr/>
        </p:nvSpPr>
        <p:spPr>
          <a:xfrm>
            <a:off x="226033" y="2856491"/>
            <a:ext cx="2605956" cy="155443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1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1C84889-F520-B975-A002-8D1850886116}"/>
              </a:ext>
            </a:extLst>
          </p:cNvPr>
          <p:cNvSpPr txBox="1"/>
          <p:nvPr/>
        </p:nvSpPr>
        <p:spPr>
          <a:xfrm>
            <a:off x="390620" y="2984502"/>
            <a:ext cx="2276782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C87C1C"/>
                </a:solidFill>
              </a:rPr>
              <a:t>429%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FAA0952-B85F-E0A5-3F05-F944D5A6A4AB}"/>
              </a:ext>
            </a:extLst>
          </p:cNvPr>
          <p:cNvSpPr txBox="1"/>
          <p:nvPr/>
        </p:nvSpPr>
        <p:spPr>
          <a:xfrm>
            <a:off x="390620" y="3844011"/>
            <a:ext cx="2276782" cy="3660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>
                <a:solidFill>
                  <a:srgbClr val="48576A"/>
                </a:solidFill>
              </a:rPr>
              <a:t>Projected growth in India's</a:t>
            </a:r>
          </a:p>
          <a:p>
            <a:pPr algn="l">
              <a:lnSpc>
                <a:spcPct val="105000"/>
              </a:lnSpc>
            </a:pPr>
            <a:r>
              <a:rPr sz="1150">
                <a:solidFill>
                  <a:srgbClr val="48576A"/>
                </a:solidFill>
              </a:rPr>
              <a:t>rooftop solar capacity by 2035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74CABDA-BC7E-F7AB-8E76-5ED52FBC65FB}"/>
              </a:ext>
            </a:extLst>
          </p:cNvPr>
          <p:cNvSpPr/>
          <p:nvPr/>
        </p:nvSpPr>
        <p:spPr>
          <a:xfrm>
            <a:off x="3014864" y="2856491"/>
            <a:ext cx="2605956" cy="155443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1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68A01A7-3C0F-B88D-855D-06D4E9F90C82}"/>
              </a:ext>
            </a:extLst>
          </p:cNvPr>
          <p:cNvSpPr txBox="1"/>
          <p:nvPr/>
        </p:nvSpPr>
        <p:spPr>
          <a:xfrm>
            <a:off x="3179451" y="2984502"/>
            <a:ext cx="2276782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C87C1C"/>
                </a:solidFill>
              </a:rPr>
              <a:t>$100B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64EBB5E-F5DF-AE13-613D-6764FBB8FD4E}"/>
              </a:ext>
            </a:extLst>
          </p:cNvPr>
          <p:cNvSpPr txBox="1"/>
          <p:nvPr/>
        </p:nvSpPr>
        <p:spPr>
          <a:xfrm>
            <a:off x="3179451" y="3844011"/>
            <a:ext cx="2276782" cy="3660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>
                <a:solidFill>
                  <a:srgbClr val="48576A"/>
                </a:solidFill>
              </a:rPr>
              <a:t>Lost worldwide every year</a:t>
            </a:r>
          </a:p>
          <a:p>
            <a:pPr algn="l">
              <a:lnSpc>
                <a:spcPct val="105000"/>
              </a:lnSpc>
            </a:pPr>
            <a:r>
              <a:rPr sz="1150">
                <a:solidFill>
                  <a:srgbClr val="48576A"/>
                </a:solidFill>
              </a:rPr>
              <a:t>to blackouts and outages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17BBBEB-35AA-F1F8-4872-2695C2A2752B}"/>
              </a:ext>
            </a:extLst>
          </p:cNvPr>
          <p:cNvSpPr/>
          <p:nvPr/>
        </p:nvSpPr>
        <p:spPr>
          <a:xfrm>
            <a:off x="5803693" y="2856491"/>
            <a:ext cx="2605956" cy="155443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1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46C2E74-0058-D086-E2BC-A448919ED009}"/>
              </a:ext>
            </a:extLst>
          </p:cNvPr>
          <p:cNvSpPr txBox="1"/>
          <p:nvPr/>
        </p:nvSpPr>
        <p:spPr>
          <a:xfrm>
            <a:off x="5968280" y="2984502"/>
            <a:ext cx="2276782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C87C1C"/>
                </a:solidFill>
              </a:rPr>
              <a:t>748.5M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33EF25C-E18D-CFCE-480E-3513F9FF9C0D}"/>
              </a:ext>
            </a:extLst>
          </p:cNvPr>
          <p:cNvSpPr txBox="1"/>
          <p:nvPr/>
        </p:nvSpPr>
        <p:spPr>
          <a:xfrm>
            <a:off x="5968280" y="3844011"/>
            <a:ext cx="2276782" cy="3660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>
                <a:solidFill>
                  <a:srgbClr val="48576A"/>
                </a:solidFill>
              </a:rPr>
              <a:t>People still without any</a:t>
            </a:r>
          </a:p>
          <a:p>
            <a:pPr algn="l">
              <a:lnSpc>
                <a:spcPct val="105000"/>
              </a:lnSpc>
            </a:pPr>
            <a:r>
              <a:rPr sz="1150">
                <a:solidFill>
                  <a:srgbClr val="48576A"/>
                </a:solidFill>
              </a:rPr>
              <a:t>electricity access globally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50846F0-3958-B48A-C46B-4C08AF855E56}"/>
              </a:ext>
            </a:extLst>
          </p:cNvPr>
          <p:cNvSpPr/>
          <p:nvPr/>
        </p:nvSpPr>
        <p:spPr>
          <a:xfrm>
            <a:off x="8592524" y="2856491"/>
            <a:ext cx="2605956" cy="155443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1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F923C23-9E48-5E28-35FB-D1DCA6638F1A}"/>
              </a:ext>
            </a:extLst>
          </p:cNvPr>
          <p:cNvSpPr txBox="1"/>
          <p:nvPr/>
        </p:nvSpPr>
        <p:spPr>
          <a:xfrm>
            <a:off x="8757111" y="2984502"/>
            <a:ext cx="2276782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C87C1C"/>
                </a:solidFill>
              </a:rPr>
              <a:t>250M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1C39A35-9557-200D-78AC-09E23691D632}"/>
              </a:ext>
            </a:extLst>
          </p:cNvPr>
          <p:cNvSpPr txBox="1"/>
          <p:nvPr/>
        </p:nvSpPr>
        <p:spPr>
          <a:xfrm>
            <a:off x="8757111" y="3844011"/>
            <a:ext cx="2276782" cy="3660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>
                <a:solidFill>
                  <a:srgbClr val="48576A"/>
                </a:solidFill>
              </a:rPr>
              <a:t>Smart meters being deployed</a:t>
            </a:r>
          </a:p>
          <a:p>
            <a:pPr algn="l">
              <a:lnSpc>
                <a:spcPct val="105000"/>
              </a:lnSpc>
            </a:pPr>
            <a:r>
              <a:rPr sz="1150">
                <a:solidFill>
                  <a:srgbClr val="48576A"/>
                </a:solidFill>
              </a:rPr>
              <a:t>across India (RDSS programme)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3FAD10F-1D3B-A7C8-2C67-35F28A41D794}"/>
              </a:ext>
            </a:extLst>
          </p:cNvPr>
          <p:cNvSpPr txBox="1"/>
          <p:nvPr/>
        </p:nvSpPr>
        <p:spPr>
          <a:xfrm>
            <a:off x="226032" y="4705186"/>
            <a:ext cx="10881010" cy="1140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>
                <a:solidFill>
                  <a:srgbClr val="48576A"/>
                </a:solidFill>
              </a:rPr>
              <a:t>The pattern behind every one of these numbers is the same: </a:t>
            </a:r>
            <a:endParaRPr lang="en-US" sz="1400">
              <a:solidFill>
                <a:srgbClr val="48576A"/>
              </a:solidFill>
            </a:endParaRPr>
          </a:p>
          <a:p>
            <a:pPr marL="317583" indent="-317583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sz="1400">
                <a:solidFill>
                  <a:srgbClr val="48576A"/>
                </a:solidFill>
              </a:rPr>
              <a:t>physical infrastructure is being added faster than the digital coordination needed to manage it. </a:t>
            </a:r>
            <a:endParaRPr lang="en-US" sz="1400">
              <a:solidFill>
                <a:srgbClr val="48576A"/>
              </a:solidFill>
            </a:endParaRPr>
          </a:p>
          <a:p>
            <a:pPr marL="317583" indent="-317583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sz="1400">
                <a:solidFill>
                  <a:srgbClr val="48576A"/>
                </a:solidFill>
              </a:rPr>
              <a:t>Rooftop solar, EVs, and batteries turn a one-way grid into a two-way, real-time balancing problem — and </a:t>
            </a:r>
            <a:endParaRPr lang="en-US" sz="1400">
              <a:solidFill>
                <a:srgbClr val="48576A"/>
              </a:solidFill>
            </a:endParaRPr>
          </a:p>
          <a:p>
            <a:pPr marL="317583" indent="-317583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sz="1400">
                <a:solidFill>
                  <a:srgbClr val="48576A"/>
                </a:solidFill>
              </a:rPr>
              <a:t>today's utility software, subsidy portals, and regulatory filings were never built to talk to each other.</a:t>
            </a:r>
          </a:p>
        </p:txBody>
      </p:sp>
      <p:sp>
        <p:nvSpPr>
          <p:cNvPr id="55" name="Title 54">
            <a:extLst>
              <a:ext uri="{FF2B5EF4-FFF2-40B4-BE49-F238E27FC236}">
                <a16:creationId xmlns:a16="http://schemas.microsoft.com/office/drawing/2014/main" id="{F2D69F4D-2827-5E60-AFFD-9E0F07DEA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479" y="742768"/>
            <a:ext cx="11735018" cy="432111"/>
          </a:xfrm>
        </p:spPr>
        <p:txBody>
          <a:bodyPr>
            <a:normAutofit fontScale="90000"/>
          </a:bodyPr>
          <a:lstStyle/>
          <a:p>
            <a:r>
              <a:rPr lang="en-US">
                <a:latin typeface="+mn-lt"/>
              </a:rPr>
              <a:t>IES – Indian Energy Stack</a:t>
            </a:r>
          </a:p>
        </p:txBody>
      </p:sp>
    </p:spTree>
    <p:extLst>
      <p:ext uri="{BB962C8B-B14F-4D97-AF65-F5344CB8AC3E}">
        <p14:creationId xmlns:p14="http://schemas.microsoft.com/office/powerpoint/2010/main" val="3142563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BD75A-774A-920E-B999-46E1E9BEB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F773D9D-CDFA-0EB6-CF5E-6CAD44C62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latin typeface="+mn-lt"/>
              </a:rPr>
              <a:t>IES – Indian Energy Stack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131E386-8BA7-3947-0F34-DEE4A1264B5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Digital Energy Grid - Study Summary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3FB230-74F7-6EA8-3B80-4B45AAEE355B}"/>
              </a:ext>
            </a:extLst>
          </p:cNvPr>
          <p:cNvSpPr txBox="1"/>
          <p:nvPr/>
        </p:nvSpPr>
        <p:spPr>
          <a:xfrm>
            <a:off x="6087131" y="781480"/>
            <a:ext cx="3112297" cy="307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1" b="1" dirty="0">
                <a:solidFill>
                  <a:srgbClr val="E8A33D"/>
                </a:solidFill>
              </a:rPr>
              <a:t>02 · THE GLOBAL IDEA</a:t>
            </a:r>
            <a:endParaRPr sz="2001" b="1" dirty="0">
              <a:solidFill>
                <a:srgbClr val="E8A33D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646A4B-D404-B9FA-4DFB-99F494F6092D}"/>
              </a:ext>
            </a:extLst>
          </p:cNvPr>
          <p:cNvSpPr txBox="1"/>
          <p:nvPr/>
        </p:nvSpPr>
        <p:spPr>
          <a:xfrm>
            <a:off x="226032" y="1587059"/>
            <a:ext cx="1088101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</a:rPr>
              <a:t>Digital Energy Grid (DEG)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390209-15BF-D656-6952-F0E38D8AB48C}"/>
              </a:ext>
            </a:extLst>
          </p:cNvPr>
          <p:cNvSpPr txBox="1"/>
          <p:nvPr/>
        </p:nvSpPr>
        <p:spPr>
          <a:xfrm>
            <a:off x="226032" y="1665135"/>
            <a:ext cx="10881010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/>
              <a:t>A February 2025 proposal: give the power sector a shared digital language, the way UPI gave banks one for payments.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D55B701-D32A-4343-96BC-7B027CA14776}"/>
              </a:ext>
            </a:extLst>
          </p:cNvPr>
          <p:cNvSpPr/>
          <p:nvPr/>
        </p:nvSpPr>
        <p:spPr>
          <a:xfrm>
            <a:off x="170018" y="2281844"/>
            <a:ext cx="3428890" cy="1574966"/>
          </a:xfrm>
          <a:prstGeom prst="rect">
            <a:avLst/>
          </a:prstGeom>
          <a:solidFill>
            <a:srgbClr val="121B27"/>
          </a:solidFill>
          <a:ln w="9525">
            <a:solidFill>
              <a:srgbClr val="2633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1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D6FCC2-5F95-6CC4-C51E-EBA06025EF4C}"/>
              </a:ext>
            </a:extLst>
          </p:cNvPr>
          <p:cNvSpPr txBox="1"/>
          <p:nvPr/>
        </p:nvSpPr>
        <p:spPr>
          <a:xfrm>
            <a:off x="371180" y="2428143"/>
            <a:ext cx="3026566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FFFFF"/>
                </a:solidFill>
              </a:rPr>
              <a:t>1.  Universal Identity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58CECD1-0769-D8EE-EB07-CF1DC866DE30}"/>
              </a:ext>
            </a:extLst>
          </p:cNvPr>
          <p:cNvSpPr txBox="1"/>
          <p:nvPr/>
        </p:nvSpPr>
        <p:spPr>
          <a:xfrm>
            <a:off x="371180" y="2848754"/>
            <a:ext cx="3026566" cy="6527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C87C1C"/>
                </a:solidFill>
              </a:rPr>
              <a:t>—  </a:t>
            </a:r>
            <a:r>
              <a:rPr sz="1250">
                <a:solidFill>
                  <a:srgbClr val="AEBBCB"/>
                </a:solidFill>
              </a:rPr>
              <a:t>Every asset and actor gets a globally unique ID — a solar panel, a meter, a utility, a consumer.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CEFFA4-EBB0-27C3-B0B9-B6D3A925D8B8}"/>
              </a:ext>
            </a:extLst>
          </p:cNvPr>
          <p:cNvSpPr/>
          <p:nvPr/>
        </p:nvSpPr>
        <p:spPr>
          <a:xfrm>
            <a:off x="3827500" y="2281845"/>
            <a:ext cx="3428890" cy="1576504"/>
          </a:xfrm>
          <a:prstGeom prst="rect">
            <a:avLst/>
          </a:prstGeom>
          <a:solidFill>
            <a:srgbClr val="121B27"/>
          </a:solidFill>
          <a:ln w="9525">
            <a:solidFill>
              <a:srgbClr val="2633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1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DCEEF08-BB27-51DA-9ECC-A3E2D48B7442}"/>
              </a:ext>
            </a:extLst>
          </p:cNvPr>
          <p:cNvSpPr txBox="1"/>
          <p:nvPr/>
        </p:nvSpPr>
        <p:spPr>
          <a:xfrm>
            <a:off x="4028662" y="2428143"/>
            <a:ext cx="3026566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FFFFF"/>
                </a:solidFill>
              </a:rPr>
              <a:t>2.  Machine-Readable Data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B1E7CAB-0E64-3BA8-207D-116135143C00}"/>
              </a:ext>
            </a:extLst>
          </p:cNvPr>
          <p:cNvSpPr txBox="1"/>
          <p:nvPr/>
        </p:nvSpPr>
        <p:spPr>
          <a:xfrm>
            <a:off x="4028662" y="2848753"/>
            <a:ext cx="3026566" cy="6527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C87C1C"/>
                </a:solidFill>
              </a:rPr>
              <a:t>—  </a:t>
            </a:r>
            <a:r>
              <a:rPr sz="1250">
                <a:solidFill>
                  <a:srgbClr val="AEBBCB"/>
                </a:solidFill>
              </a:rPr>
              <a:t>Certificates, tariffs, and readings exist as structured data, not PDFs a human must open.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FDFF26E-6ADC-947D-717C-BCC55FCF2F3E}"/>
              </a:ext>
            </a:extLst>
          </p:cNvPr>
          <p:cNvSpPr/>
          <p:nvPr/>
        </p:nvSpPr>
        <p:spPr>
          <a:xfrm>
            <a:off x="7484983" y="2281845"/>
            <a:ext cx="3428890" cy="1576504"/>
          </a:xfrm>
          <a:prstGeom prst="rect">
            <a:avLst/>
          </a:prstGeom>
          <a:solidFill>
            <a:srgbClr val="121B27"/>
          </a:solidFill>
          <a:ln w="9525">
            <a:solidFill>
              <a:srgbClr val="2633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1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CE34806-8D06-F0E6-8892-6DB94BB6D960}"/>
              </a:ext>
            </a:extLst>
          </p:cNvPr>
          <p:cNvSpPr txBox="1"/>
          <p:nvPr/>
        </p:nvSpPr>
        <p:spPr>
          <a:xfrm>
            <a:off x="7686145" y="2428143"/>
            <a:ext cx="3026566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FFFFF"/>
                </a:solidFill>
              </a:rPr>
              <a:t>3.  Verifiability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C9A20DB-A694-10A7-04FD-A182211D9C9C}"/>
              </a:ext>
            </a:extLst>
          </p:cNvPr>
          <p:cNvSpPr txBox="1"/>
          <p:nvPr/>
        </p:nvSpPr>
        <p:spPr>
          <a:xfrm>
            <a:off x="7686145" y="2848754"/>
            <a:ext cx="3026566" cy="6527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C87C1C"/>
                </a:solidFill>
              </a:rPr>
              <a:t>—  </a:t>
            </a:r>
            <a:r>
              <a:rPr sz="1250">
                <a:solidFill>
                  <a:srgbClr val="AEBBCB"/>
                </a:solidFill>
              </a:rPr>
              <a:t>Every record is digitally signed — anyone can confirm it's genuine without phoning the source.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9E7053B-26C1-14A8-1B2B-241FCF844AB5}"/>
              </a:ext>
            </a:extLst>
          </p:cNvPr>
          <p:cNvSpPr txBox="1"/>
          <p:nvPr/>
        </p:nvSpPr>
        <p:spPr>
          <a:xfrm>
            <a:off x="170018" y="4089955"/>
            <a:ext cx="10881010" cy="520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i="1"/>
              <a:t>Credibility behind it: co-authored by FIDE (Nandan Nilekani's nonprofit — the same lineage as Aadhaar, UPI, and ONDC) with the International Energy Agency co-authoring and endorsing part of the paper.</a:t>
            </a:r>
          </a:p>
        </p:txBody>
      </p:sp>
    </p:spTree>
    <p:extLst>
      <p:ext uri="{BB962C8B-B14F-4D97-AF65-F5344CB8AC3E}">
        <p14:creationId xmlns:p14="http://schemas.microsoft.com/office/powerpoint/2010/main" val="3530688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3AA4D-F85B-F7B5-10B7-BE723B87B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E499969-118E-66FC-E09A-4B4CFCA78C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8255" y="144037"/>
            <a:ext cx="11735018" cy="432111"/>
          </a:xfrm>
        </p:spPr>
        <p:txBody>
          <a:bodyPr>
            <a:normAutofit fontScale="92500" lnSpcReduction="20000"/>
          </a:bodyPr>
          <a:lstStyle/>
          <a:p>
            <a:r>
              <a:rPr lang="en-US"/>
              <a:t>Digital Energy Grid - Study Summary</a:t>
            </a:r>
          </a:p>
        </p:txBody>
      </p:sp>
      <p:sp>
        <p:nvSpPr>
          <p:cNvPr id="55" name="Title 54">
            <a:extLst>
              <a:ext uri="{FF2B5EF4-FFF2-40B4-BE49-F238E27FC236}">
                <a16:creationId xmlns:a16="http://schemas.microsoft.com/office/drawing/2014/main" id="{0597AB9E-D833-9926-AF38-789C56237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255" y="576149"/>
            <a:ext cx="11735018" cy="432111"/>
          </a:xfrm>
        </p:spPr>
        <p:txBody>
          <a:bodyPr>
            <a:normAutofit fontScale="90000"/>
          </a:bodyPr>
          <a:lstStyle/>
          <a:p>
            <a:r>
              <a:rPr lang="en-US">
                <a:latin typeface="+mn-lt"/>
              </a:rPr>
              <a:t>IES – Indian Energy Stack</a:t>
            </a: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7F57BFA8-29B1-AF00-B39E-19CF8DE5DDC3}"/>
              </a:ext>
            </a:extLst>
          </p:cNvPr>
          <p:cNvSpPr txBox="1"/>
          <p:nvPr/>
        </p:nvSpPr>
        <p:spPr>
          <a:xfrm>
            <a:off x="6016188" y="634819"/>
            <a:ext cx="3671173" cy="307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1" b="1" dirty="0">
                <a:solidFill>
                  <a:srgbClr val="C87C1C"/>
                </a:solidFill>
              </a:rPr>
              <a:t>03 · INDIA'S REAL PROGRAM</a:t>
            </a:r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5BE52FAF-926B-E7E5-FFF9-E709B4BCBC5E}"/>
              </a:ext>
            </a:extLst>
          </p:cNvPr>
          <p:cNvSpPr txBox="1"/>
          <p:nvPr/>
        </p:nvSpPr>
        <p:spPr>
          <a:xfrm>
            <a:off x="228256" y="1355721"/>
            <a:ext cx="1088101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21B27"/>
                </a:solidFill>
              </a:rPr>
              <a:t>India Energy Stack (IES)</a:t>
            </a:r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9F7E97DD-97FA-905B-5F6E-1B0541B23994}"/>
              </a:ext>
            </a:extLst>
          </p:cNvPr>
          <p:cNvSpPr txBox="1"/>
          <p:nvPr/>
        </p:nvSpPr>
        <p:spPr>
          <a:xfrm>
            <a:off x="228256" y="1968349"/>
            <a:ext cx="10881010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>
                <a:solidFill>
                  <a:srgbClr val="48576A"/>
                </a:solidFill>
              </a:rPr>
              <a:t>India's government took the DEG idea and is building it, for real, as national digital public infrastructure (DPI).</a:t>
            </a:r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2A995CCF-285A-4463-AD85-DD3421EFD163}"/>
              </a:ext>
            </a:extLst>
          </p:cNvPr>
          <p:cNvSpPr/>
          <p:nvPr/>
        </p:nvSpPr>
        <p:spPr>
          <a:xfrm>
            <a:off x="228257" y="2366754"/>
            <a:ext cx="2103052" cy="502904"/>
          </a:xfrm>
          <a:prstGeom prst="rect">
            <a:avLst/>
          </a:prstGeom>
          <a:solidFill>
            <a:srgbClr val="121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1"/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5E6040B9-D76B-D076-3F37-CDE86C010B04}"/>
              </a:ext>
            </a:extLst>
          </p:cNvPr>
          <p:cNvSpPr txBox="1"/>
          <p:nvPr/>
        </p:nvSpPr>
        <p:spPr>
          <a:xfrm>
            <a:off x="228257" y="2476479"/>
            <a:ext cx="2103052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E8A33D"/>
                </a:solidFill>
              </a:rPr>
              <a:t>OWNER</a:t>
            </a: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4D17FD87-584D-B377-B4F1-54E4A33AD105}"/>
              </a:ext>
            </a:extLst>
          </p:cNvPr>
          <p:cNvSpPr txBox="1"/>
          <p:nvPr/>
        </p:nvSpPr>
        <p:spPr>
          <a:xfrm>
            <a:off x="2468467" y="2449047"/>
            <a:ext cx="8412209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>
                <a:solidFill>
                  <a:srgbClr val="121B27"/>
                </a:solidFill>
              </a:rPr>
              <a:t>Ministry of Power, Government of India</a:t>
            </a:r>
          </a:p>
        </p:txBody>
      </p:sp>
      <p:sp>
        <p:nvSpPr>
          <p:cNvPr id="255" name="Rectangle 254">
            <a:extLst>
              <a:ext uri="{FF2B5EF4-FFF2-40B4-BE49-F238E27FC236}">
                <a16:creationId xmlns:a16="http://schemas.microsoft.com/office/drawing/2014/main" id="{9E5AC454-898B-B3A9-BC19-F2E02BCAD46F}"/>
              </a:ext>
            </a:extLst>
          </p:cNvPr>
          <p:cNvSpPr/>
          <p:nvPr/>
        </p:nvSpPr>
        <p:spPr>
          <a:xfrm>
            <a:off x="228257" y="2988526"/>
            <a:ext cx="2103052" cy="502904"/>
          </a:xfrm>
          <a:prstGeom prst="rect">
            <a:avLst/>
          </a:prstGeom>
          <a:solidFill>
            <a:srgbClr val="121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1"/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71A16109-B804-CCDC-F60D-ABE02DDE53B0}"/>
              </a:ext>
            </a:extLst>
          </p:cNvPr>
          <p:cNvSpPr txBox="1"/>
          <p:nvPr/>
        </p:nvSpPr>
        <p:spPr>
          <a:xfrm>
            <a:off x="228257" y="3098251"/>
            <a:ext cx="2103052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E8A33D"/>
                </a:solidFill>
              </a:rPr>
              <a:t>BUILDER</a:t>
            </a: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A188BAAD-C959-B04A-6E63-62B49F9D9843}"/>
              </a:ext>
            </a:extLst>
          </p:cNvPr>
          <p:cNvSpPr txBox="1"/>
          <p:nvPr/>
        </p:nvSpPr>
        <p:spPr>
          <a:xfrm>
            <a:off x="2468467" y="3070819"/>
            <a:ext cx="8412209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>
                <a:solidFill>
                  <a:srgbClr val="121B27"/>
                </a:solidFill>
              </a:rPr>
              <a:t>REC Limited (nodal agency) + FSR Global (knowledge partner)</a:t>
            </a:r>
          </a:p>
        </p:txBody>
      </p:sp>
      <p:sp>
        <p:nvSpPr>
          <p:cNvPr id="261" name="Rectangle 260">
            <a:extLst>
              <a:ext uri="{FF2B5EF4-FFF2-40B4-BE49-F238E27FC236}">
                <a16:creationId xmlns:a16="http://schemas.microsoft.com/office/drawing/2014/main" id="{49E695F4-3698-D462-95D9-CF076BBFAF87}"/>
              </a:ext>
            </a:extLst>
          </p:cNvPr>
          <p:cNvSpPr/>
          <p:nvPr/>
        </p:nvSpPr>
        <p:spPr>
          <a:xfrm>
            <a:off x="228257" y="3610297"/>
            <a:ext cx="2103052" cy="502904"/>
          </a:xfrm>
          <a:prstGeom prst="rect">
            <a:avLst/>
          </a:prstGeom>
          <a:solidFill>
            <a:srgbClr val="121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1"/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53495A17-9423-261B-AC39-A67CC573EBDB}"/>
              </a:ext>
            </a:extLst>
          </p:cNvPr>
          <p:cNvSpPr txBox="1"/>
          <p:nvPr/>
        </p:nvSpPr>
        <p:spPr>
          <a:xfrm>
            <a:off x="228257" y="3720023"/>
            <a:ext cx="2103052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E8A33D"/>
                </a:solidFill>
              </a:rPr>
              <a:t>CATEGORY</a:t>
            </a: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CA6F4C6E-6E76-31A8-AE07-C41B9351C6FF}"/>
              </a:ext>
            </a:extLst>
          </p:cNvPr>
          <p:cNvSpPr txBox="1"/>
          <p:nvPr/>
        </p:nvSpPr>
        <p:spPr>
          <a:xfrm>
            <a:off x="2468467" y="3692591"/>
            <a:ext cx="8412209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>
                <a:solidFill>
                  <a:srgbClr val="121B27"/>
                </a:solidFill>
              </a:rPr>
              <a:t>Digital Public Infrastructure — same class as Aadhaar, UPI, DigiLocker</a:t>
            </a:r>
          </a:p>
        </p:txBody>
      </p:sp>
      <p:sp>
        <p:nvSpPr>
          <p:cNvPr id="267" name="Rectangle 266">
            <a:extLst>
              <a:ext uri="{FF2B5EF4-FFF2-40B4-BE49-F238E27FC236}">
                <a16:creationId xmlns:a16="http://schemas.microsoft.com/office/drawing/2014/main" id="{E167DA4D-B5ED-110E-D799-5669018CABD2}"/>
              </a:ext>
            </a:extLst>
          </p:cNvPr>
          <p:cNvSpPr/>
          <p:nvPr/>
        </p:nvSpPr>
        <p:spPr>
          <a:xfrm>
            <a:off x="228257" y="4232069"/>
            <a:ext cx="2103052" cy="502904"/>
          </a:xfrm>
          <a:prstGeom prst="rect">
            <a:avLst/>
          </a:prstGeom>
          <a:solidFill>
            <a:srgbClr val="121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1"/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7309F341-7864-A2A3-2C0E-70D56DC316E6}"/>
              </a:ext>
            </a:extLst>
          </p:cNvPr>
          <p:cNvSpPr txBox="1"/>
          <p:nvPr/>
        </p:nvSpPr>
        <p:spPr>
          <a:xfrm>
            <a:off x="228257" y="4341795"/>
            <a:ext cx="2103052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E8A33D"/>
                </a:solidFill>
              </a:rPr>
              <a:t>STATUS</a:t>
            </a:r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EAB9759E-A709-B5AA-9DAF-558E11D9CAFB}"/>
              </a:ext>
            </a:extLst>
          </p:cNvPr>
          <p:cNvSpPr txBox="1"/>
          <p:nvPr/>
        </p:nvSpPr>
        <p:spPr>
          <a:xfrm>
            <a:off x="2468467" y="4314362"/>
            <a:ext cx="8412209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>
                <a:solidFill>
                  <a:srgbClr val="121B27"/>
                </a:solidFill>
              </a:rPr>
              <a:t>Strategy/Architecture at v0.4 (March 2026); actively evolving</a:t>
            </a:r>
          </a:p>
        </p:txBody>
      </p:sp>
      <p:sp>
        <p:nvSpPr>
          <p:cNvPr id="273" name="Rectangle 272">
            <a:extLst>
              <a:ext uri="{FF2B5EF4-FFF2-40B4-BE49-F238E27FC236}">
                <a16:creationId xmlns:a16="http://schemas.microsoft.com/office/drawing/2014/main" id="{C6A1D6DD-531D-ABA5-94A0-26BCC00D722A}"/>
              </a:ext>
            </a:extLst>
          </p:cNvPr>
          <p:cNvSpPr/>
          <p:nvPr/>
        </p:nvSpPr>
        <p:spPr>
          <a:xfrm>
            <a:off x="228256" y="4793644"/>
            <a:ext cx="10881010" cy="14172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1"/>
          </a:p>
        </p:txBody>
      </p:sp>
      <p:sp>
        <p:nvSpPr>
          <p:cNvPr id="275" name="TextBox 274">
            <a:extLst>
              <a:ext uri="{FF2B5EF4-FFF2-40B4-BE49-F238E27FC236}">
                <a16:creationId xmlns:a16="http://schemas.microsoft.com/office/drawing/2014/main" id="{0D5870F4-1D01-5895-2748-CECBE506539B}"/>
              </a:ext>
            </a:extLst>
          </p:cNvPr>
          <p:cNvSpPr txBox="1"/>
          <p:nvPr/>
        </p:nvSpPr>
        <p:spPr>
          <a:xfrm>
            <a:off x="429419" y="5119009"/>
            <a:ext cx="10478687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21B27"/>
                </a:solidFill>
              </a:rPr>
              <a:t>Already proven, not theoretical</a:t>
            </a:r>
          </a:p>
        </p:txBody>
      </p:sp>
      <p:sp>
        <p:nvSpPr>
          <p:cNvPr id="277" name="TextBox 276">
            <a:extLst>
              <a:ext uri="{FF2B5EF4-FFF2-40B4-BE49-F238E27FC236}">
                <a16:creationId xmlns:a16="http://schemas.microsoft.com/office/drawing/2014/main" id="{AA0E2D0C-664E-2C05-BA30-C05FA9990CD4}"/>
              </a:ext>
            </a:extLst>
          </p:cNvPr>
          <p:cNvSpPr txBox="1"/>
          <p:nvPr/>
        </p:nvSpPr>
        <p:spPr>
          <a:xfrm>
            <a:off x="429419" y="5539620"/>
            <a:ext cx="10478687" cy="50847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C87C1C"/>
                </a:solidFill>
              </a:rPr>
              <a:t>—  </a:t>
            </a:r>
            <a:r>
              <a:rPr sz="1250">
                <a:solidFill>
                  <a:srgbClr val="48576A"/>
                </a:solidFill>
              </a:rPr>
              <a:t>4 real DISCOMs (Uttar Pradesh, Andhra Pradesh, Gujarat, Maharashtra) built adapters and demonstrated live use cases in a 30-day pilot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C87C1C"/>
                </a:solidFill>
              </a:rPr>
              <a:t>—  </a:t>
            </a:r>
            <a:r>
              <a:rPr sz="1250">
                <a:solidFill>
                  <a:srgbClr val="48576A"/>
                </a:solidFill>
              </a:rPr>
              <a:t>A real inter-state peer-to-peer energy trade (Meerut farmer -&gt; Delhi shop) was demonstrated publicly at the India AI Impact Summit 2026</a:t>
            </a:r>
          </a:p>
        </p:txBody>
      </p:sp>
    </p:spTree>
    <p:extLst>
      <p:ext uri="{BB962C8B-B14F-4D97-AF65-F5344CB8AC3E}">
        <p14:creationId xmlns:p14="http://schemas.microsoft.com/office/powerpoint/2010/main" val="457223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B2177-ED14-122B-5835-D8D469BA0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DD56C01-5AA4-0F06-41A9-8E42A2090F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Digital Energy Grid - Study Summary</a:t>
            </a:r>
          </a:p>
        </p:txBody>
      </p:sp>
      <p:sp>
        <p:nvSpPr>
          <p:cNvPr id="55" name="Title 54">
            <a:extLst>
              <a:ext uri="{FF2B5EF4-FFF2-40B4-BE49-F238E27FC236}">
                <a16:creationId xmlns:a16="http://schemas.microsoft.com/office/drawing/2014/main" id="{DF76780D-141D-5DE3-A0B1-EA62AEEEE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latin typeface="+mn-lt"/>
              </a:rPr>
              <a:t>IES – Indian Energy Stack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4E3796-C8F6-ABF8-8073-E2BA85764D38}"/>
              </a:ext>
            </a:extLst>
          </p:cNvPr>
          <p:cNvSpPr txBox="1"/>
          <p:nvPr/>
        </p:nvSpPr>
        <p:spPr>
          <a:xfrm>
            <a:off x="228255" y="1298371"/>
            <a:ext cx="1088101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21B27"/>
                </a:solidFill>
              </a:rPr>
              <a:t>How IES </a:t>
            </a:r>
            <a:r>
              <a:rPr lang="en-US" sz="3000" b="1">
                <a:solidFill>
                  <a:srgbClr val="121B27"/>
                </a:solidFill>
              </a:rPr>
              <a:t>works</a:t>
            </a:r>
            <a:endParaRPr sz="3000" b="1">
              <a:solidFill>
                <a:srgbClr val="121B27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762978-36C0-3134-51D7-A7BE92F606B2}"/>
              </a:ext>
            </a:extLst>
          </p:cNvPr>
          <p:cNvSpPr txBox="1"/>
          <p:nvPr/>
        </p:nvSpPr>
        <p:spPr>
          <a:xfrm>
            <a:off x="377850" y="1956690"/>
            <a:ext cx="1088101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48576A"/>
                </a:solidFill>
              </a:rPr>
              <a:t>IES holds no data of its own — exactly like UPI holds no money. It only </a:t>
            </a:r>
            <a:r>
              <a:rPr sz="1400" err="1">
                <a:solidFill>
                  <a:srgbClr val="48576A"/>
                </a:solidFill>
              </a:rPr>
              <a:t>standardises</a:t>
            </a:r>
            <a:r>
              <a:rPr sz="1400">
                <a:solidFill>
                  <a:srgbClr val="48576A"/>
                </a:solidFill>
              </a:rPr>
              <a:t> how systems find and trust each other.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41E6A73-2CDF-710C-AAC8-ACEE3D2F1982}"/>
              </a:ext>
            </a:extLst>
          </p:cNvPr>
          <p:cNvSpPr/>
          <p:nvPr/>
        </p:nvSpPr>
        <p:spPr>
          <a:xfrm>
            <a:off x="377850" y="2444577"/>
            <a:ext cx="3108860" cy="237736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1"/>
          </a:p>
        </p:txBody>
      </p:sp>
      <p:sp>
        <p:nvSpPr>
          <p:cNvPr id="12" name="Rounded Rectangle 5">
            <a:extLst>
              <a:ext uri="{FF2B5EF4-FFF2-40B4-BE49-F238E27FC236}">
                <a16:creationId xmlns:a16="http://schemas.microsoft.com/office/drawing/2014/main" id="{054ADAB5-9D24-AB80-B49A-14B0DF8F672D}"/>
              </a:ext>
            </a:extLst>
          </p:cNvPr>
          <p:cNvSpPr/>
          <p:nvPr/>
        </p:nvSpPr>
        <p:spPr>
          <a:xfrm>
            <a:off x="606443" y="2927623"/>
            <a:ext cx="502904" cy="502904"/>
          </a:xfrm>
          <a:prstGeom prst="roundRect">
            <a:avLst>
              <a:gd name="adj" fmla="val 50000"/>
            </a:avLst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B29514-A0D4-78D6-6949-C88993F56636}"/>
              </a:ext>
            </a:extLst>
          </p:cNvPr>
          <p:cNvSpPr txBox="1"/>
          <p:nvPr/>
        </p:nvSpPr>
        <p:spPr>
          <a:xfrm>
            <a:off x="606443" y="3613401"/>
            <a:ext cx="2651674" cy="261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99" b="1">
                <a:solidFill>
                  <a:srgbClr val="121B27"/>
                </a:solidFill>
              </a:rPr>
              <a:t>REGISTER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C513EB3-69AC-26FF-8D88-F14716B1F9F4}"/>
              </a:ext>
            </a:extLst>
          </p:cNvPr>
          <p:cNvSpPr txBox="1"/>
          <p:nvPr/>
        </p:nvSpPr>
        <p:spPr>
          <a:xfrm>
            <a:off x="606443" y="4024867"/>
            <a:ext cx="2651674" cy="7056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>
                <a:solidFill>
                  <a:srgbClr val="48576A"/>
                </a:solidFill>
              </a:rPr>
              <a:t>Get a verifiable digital identity</a:t>
            </a:r>
          </a:p>
          <a:p>
            <a:pPr algn="l">
              <a:lnSpc>
                <a:spcPct val="125000"/>
              </a:lnSpc>
            </a:pPr>
            <a:r>
              <a:rPr sz="1250">
                <a:solidFill>
                  <a:srgbClr val="48576A"/>
                </a:solidFill>
              </a:rPr>
              <a:t>(a did:web) and list it in a shared</a:t>
            </a:r>
          </a:p>
          <a:p>
            <a:pPr algn="l">
              <a:lnSpc>
                <a:spcPct val="125000"/>
              </a:lnSpc>
            </a:pPr>
            <a:r>
              <a:rPr sz="1250">
                <a:solidFill>
                  <a:srgbClr val="48576A"/>
                </a:solidFill>
              </a:rPr>
              <a:t>directory. Done once.</a:t>
            </a:r>
          </a:p>
        </p:txBody>
      </p:sp>
      <p:sp>
        <p:nvSpPr>
          <p:cNvPr id="18" name="Right Arrow 8">
            <a:extLst>
              <a:ext uri="{FF2B5EF4-FFF2-40B4-BE49-F238E27FC236}">
                <a16:creationId xmlns:a16="http://schemas.microsoft.com/office/drawing/2014/main" id="{62EDEC9B-FD5F-A925-FFAC-73F29D83BDDB}"/>
              </a:ext>
            </a:extLst>
          </p:cNvPr>
          <p:cNvSpPr/>
          <p:nvPr/>
        </p:nvSpPr>
        <p:spPr>
          <a:xfrm>
            <a:off x="3541572" y="3750557"/>
            <a:ext cx="365749" cy="320030"/>
          </a:xfrm>
          <a:prstGeom prst="rightArrow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1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4EF8D12-D22D-68D9-A2E5-4A6BB8A4AB91}"/>
              </a:ext>
            </a:extLst>
          </p:cNvPr>
          <p:cNvSpPr/>
          <p:nvPr/>
        </p:nvSpPr>
        <p:spPr>
          <a:xfrm>
            <a:off x="3907320" y="2479493"/>
            <a:ext cx="3108860" cy="237736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1"/>
          </a:p>
        </p:txBody>
      </p:sp>
      <p:sp>
        <p:nvSpPr>
          <p:cNvPr id="22" name="Rounded Rectangle 10">
            <a:extLst>
              <a:ext uri="{FF2B5EF4-FFF2-40B4-BE49-F238E27FC236}">
                <a16:creationId xmlns:a16="http://schemas.microsoft.com/office/drawing/2014/main" id="{7474919F-44A1-EC67-5C77-C6319A8C8A6F}"/>
              </a:ext>
            </a:extLst>
          </p:cNvPr>
          <p:cNvSpPr/>
          <p:nvPr/>
        </p:nvSpPr>
        <p:spPr>
          <a:xfrm>
            <a:off x="4172488" y="2927623"/>
            <a:ext cx="502904" cy="502904"/>
          </a:xfrm>
          <a:prstGeom prst="roundRect">
            <a:avLst>
              <a:gd name="adj" fmla="val 50000"/>
            </a:avLst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D171B05-4680-D9E1-B068-78D6379F83B2}"/>
              </a:ext>
            </a:extLst>
          </p:cNvPr>
          <p:cNvSpPr txBox="1"/>
          <p:nvPr/>
        </p:nvSpPr>
        <p:spPr>
          <a:xfrm>
            <a:off x="4172488" y="3613401"/>
            <a:ext cx="2651674" cy="261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99" b="1">
                <a:solidFill>
                  <a:srgbClr val="121B27"/>
                </a:solidFill>
              </a:rPr>
              <a:t>DISCOVER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74D0DB-B7F3-A74B-AEE1-EE9011511826}"/>
              </a:ext>
            </a:extLst>
          </p:cNvPr>
          <p:cNvSpPr txBox="1"/>
          <p:nvPr/>
        </p:nvSpPr>
        <p:spPr>
          <a:xfrm>
            <a:off x="4172488" y="4024867"/>
            <a:ext cx="2651674" cy="7056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>
                <a:solidFill>
                  <a:srgbClr val="48576A"/>
                </a:solidFill>
              </a:rPr>
              <a:t>Two systems look each other up</a:t>
            </a:r>
          </a:p>
          <a:p>
            <a:pPr algn="l">
              <a:lnSpc>
                <a:spcPct val="125000"/>
              </a:lnSpc>
            </a:pPr>
            <a:r>
              <a:rPr sz="1250">
                <a:solidFill>
                  <a:srgbClr val="48576A"/>
                </a:solidFill>
              </a:rPr>
              <a:t>and agree terms, over the open</a:t>
            </a:r>
          </a:p>
          <a:p>
            <a:pPr algn="l">
              <a:lnSpc>
                <a:spcPct val="125000"/>
              </a:lnSpc>
            </a:pPr>
            <a:r>
              <a:rPr sz="1250">
                <a:solidFill>
                  <a:srgbClr val="48576A"/>
                </a:solidFill>
              </a:rPr>
              <a:t>Beckn protocol.</a:t>
            </a:r>
          </a:p>
        </p:txBody>
      </p:sp>
      <p:sp>
        <p:nvSpPr>
          <p:cNvPr id="28" name="Right Arrow 13">
            <a:extLst>
              <a:ext uri="{FF2B5EF4-FFF2-40B4-BE49-F238E27FC236}">
                <a16:creationId xmlns:a16="http://schemas.microsoft.com/office/drawing/2014/main" id="{85BDF272-202D-3805-2881-779C0D77025E}"/>
              </a:ext>
            </a:extLst>
          </p:cNvPr>
          <p:cNvSpPr/>
          <p:nvPr/>
        </p:nvSpPr>
        <p:spPr>
          <a:xfrm>
            <a:off x="7107617" y="3750557"/>
            <a:ext cx="365749" cy="320030"/>
          </a:xfrm>
          <a:prstGeom prst="rightArrow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1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9CA11B9-CA3C-40E6-BD76-865F3CBF8245}"/>
              </a:ext>
            </a:extLst>
          </p:cNvPr>
          <p:cNvSpPr/>
          <p:nvPr/>
        </p:nvSpPr>
        <p:spPr>
          <a:xfrm>
            <a:off x="7473365" y="2487668"/>
            <a:ext cx="3108860" cy="237736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1"/>
          </a:p>
        </p:txBody>
      </p:sp>
      <p:sp>
        <p:nvSpPr>
          <p:cNvPr id="32" name="Rounded Rectangle 15">
            <a:extLst>
              <a:ext uri="{FF2B5EF4-FFF2-40B4-BE49-F238E27FC236}">
                <a16:creationId xmlns:a16="http://schemas.microsoft.com/office/drawing/2014/main" id="{B385D801-B05F-A2C6-3769-F84489165EE7}"/>
              </a:ext>
            </a:extLst>
          </p:cNvPr>
          <p:cNvSpPr/>
          <p:nvPr/>
        </p:nvSpPr>
        <p:spPr>
          <a:xfrm>
            <a:off x="7738533" y="2927623"/>
            <a:ext cx="502904" cy="502904"/>
          </a:xfrm>
          <a:prstGeom prst="roundRect">
            <a:avLst>
              <a:gd name="adj" fmla="val 50000"/>
            </a:avLst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247A166-EA88-D7BA-259E-6B72315399C5}"/>
              </a:ext>
            </a:extLst>
          </p:cNvPr>
          <p:cNvSpPr txBox="1"/>
          <p:nvPr/>
        </p:nvSpPr>
        <p:spPr>
          <a:xfrm>
            <a:off x="7738533" y="3613401"/>
            <a:ext cx="2651674" cy="261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99" b="1">
                <a:solidFill>
                  <a:srgbClr val="121B27"/>
                </a:solidFill>
              </a:rPr>
              <a:t>EXCHANGE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7837EB5-E06A-022C-279A-4C86B97108E1}"/>
              </a:ext>
            </a:extLst>
          </p:cNvPr>
          <p:cNvSpPr txBox="1"/>
          <p:nvPr/>
        </p:nvSpPr>
        <p:spPr>
          <a:xfrm>
            <a:off x="7738533" y="4024867"/>
            <a:ext cx="2651674" cy="7056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>
                <a:solidFill>
                  <a:srgbClr val="48576A"/>
                </a:solidFill>
              </a:rPr>
              <a:t>Data moves over a signed channel,</a:t>
            </a:r>
          </a:p>
          <a:p>
            <a:pPr algn="l">
              <a:lnSpc>
                <a:spcPct val="125000"/>
              </a:lnSpc>
            </a:pPr>
            <a:r>
              <a:rPr sz="1250">
                <a:solidFill>
                  <a:srgbClr val="48576A"/>
                </a:solidFill>
              </a:rPr>
              <a:t>shaped by a published schema —</a:t>
            </a:r>
          </a:p>
          <a:p>
            <a:pPr algn="l">
              <a:lnSpc>
                <a:spcPct val="125000"/>
              </a:lnSpc>
            </a:pPr>
            <a:r>
              <a:rPr sz="1250">
                <a:solidFill>
                  <a:srgbClr val="48576A"/>
                </a:solidFill>
              </a:rPr>
              <a:t>no bespoke integration per pair.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40B2F05-23FD-FEB4-6A8E-929A38D5EB69}"/>
              </a:ext>
            </a:extLst>
          </p:cNvPr>
          <p:cNvSpPr txBox="1"/>
          <p:nvPr/>
        </p:nvSpPr>
        <p:spPr>
          <a:xfrm>
            <a:off x="377850" y="5047906"/>
            <a:ext cx="10881010" cy="10607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>
                <a:solidFill>
                  <a:srgbClr val="48576A"/>
                </a:solidFill>
              </a:rPr>
              <a:t>Critically for us as an outside company: </a:t>
            </a:r>
            <a:endParaRPr lang="en-US" sz="1350">
              <a:solidFill>
                <a:srgbClr val="48576A"/>
              </a:solidFill>
            </a:endParaRPr>
          </a:p>
          <a:p>
            <a:pPr marL="317583" indent="-317583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sz="1350">
                <a:solidFill>
                  <a:srgbClr val="48576A"/>
                </a:solidFill>
              </a:rPr>
              <a:t>the protocol layer above — identity, discovery, signed exchange — is already built and running. </a:t>
            </a:r>
            <a:endParaRPr lang="en-US" sz="1350">
              <a:solidFill>
                <a:srgbClr val="48576A"/>
              </a:solidFill>
            </a:endParaRPr>
          </a:p>
          <a:p>
            <a:pPr marL="317583" indent="-317583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sz="1350">
                <a:solidFill>
                  <a:srgbClr val="48576A"/>
                </a:solidFill>
              </a:rPr>
              <a:t>Our own work would sit entirely on top of it: a small mapping between a specific data source and IES's published schema, </a:t>
            </a:r>
            <a:endParaRPr lang="en-US" sz="1350">
              <a:solidFill>
                <a:srgbClr val="48576A"/>
              </a:solidFill>
            </a:endParaRPr>
          </a:p>
          <a:p>
            <a:pPr marL="317583" indent="-317583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350">
                <a:solidFill>
                  <a:srgbClr val="48576A"/>
                </a:solidFill>
              </a:rPr>
              <a:t>typically,</a:t>
            </a:r>
            <a:r>
              <a:rPr sz="1350">
                <a:solidFill>
                  <a:srgbClr val="48576A"/>
                </a:solidFill>
              </a:rPr>
              <a:t> 200-1,000 lines of code per use case.</a:t>
            </a:r>
          </a:p>
        </p:txBody>
      </p:sp>
    </p:spTree>
    <p:extLst>
      <p:ext uri="{BB962C8B-B14F-4D97-AF65-F5344CB8AC3E}">
        <p14:creationId xmlns:p14="http://schemas.microsoft.com/office/powerpoint/2010/main" val="35151120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B8DAD-8955-99E6-A034-82F464BD4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348666D-CEDB-2C8F-B7AE-40A1D894654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8255" y="177108"/>
            <a:ext cx="11735018" cy="43211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Digital Energy Grid - Study Summary</a:t>
            </a:r>
          </a:p>
        </p:txBody>
      </p:sp>
      <p:sp>
        <p:nvSpPr>
          <p:cNvPr id="55" name="Title 54">
            <a:extLst>
              <a:ext uri="{FF2B5EF4-FFF2-40B4-BE49-F238E27FC236}">
                <a16:creationId xmlns:a16="http://schemas.microsoft.com/office/drawing/2014/main" id="{DE2CF093-FAE9-13B5-2931-F7BF2D555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IES – Indian Energy Stack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4130C987-CCDD-7810-AC25-243D66493947}"/>
              </a:ext>
            </a:extLst>
          </p:cNvPr>
          <p:cNvSpPr txBox="1"/>
          <p:nvPr/>
        </p:nvSpPr>
        <p:spPr>
          <a:xfrm>
            <a:off x="6002390" y="777325"/>
            <a:ext cx="8137292" cy="307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1" b="1" dirty="0">
                <a:solidFill>
                  <a:srgbClr val="E8A33D"/>
                </a:solidFill>
              </a:rPr>
              <a:t>04 · THE MARKET OPENING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B13336D0-7558-050C-8F6C-33E2AE65CA47}"/>
              </a:ext>
            </a:extLst>
          </p:cNvPr>
          <p:cNvSpPr txBox="1"/>
          <p:nvPr/>
        </p:nvSpPr>
        <p:spPr>
          <a:xfrm>
            <a:off x="640254" y="1211808"/>
            <a:ext cx="1088101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dirty="0"/>
              <a:t>Where the money actually is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55A14784-306A-18EA-3AF4-8B0E45056AB7}"/>
              </a:ext>
            </a:extLst>
          </p:cNvPr>
          <p:cNvSpPr txBox="1"/>
          <p:nvPr/>
        </p:nvSpPr>
        <p:spPr>
          <a:xfrm>
            <a:off x="640254" y="1749471"/>
            <a:ext cx="10881010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dirty="0"/>
              <a:t>The infrastructure is free and public. Value accrues to whoever builds on top of it — the same pattern as UPI and ONDC.</a:t>
            </a: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C7FEFAC9-20C8-CB8B-D729-2593A8BE772B}"/>
              </a:ext>
            </a:extLst>
          </p:cNvPr>
          <p:cNvSpPr/>
          <p:nvPr/>
        </p:nvSpPr>
        <p:spPr>
          <a:xfrm>
            <a:off x="640256" y="2194601"/>
            <a:ext cx="5257631" cy="1874459"/>
          </a:xfrm>
          <a:prstGeom prst="rect">
            <a:avLst/>
          </a:prstGeom>
          <a:solidFill>
            <a:srgbClr val="121B27"/>
          </a:solidFill>
          <a:ln w="9525">
            <a:solidFill>
              <a:srgbClr val="2633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1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18A024D7-8FCC-BCE5-EC4B-408D09CEBB10}"/>
              </a:ext>
            </a:extLst>
          </p:cNvPr>
          <p:cNvSpPr txBox="1"/>
          <p:nvPr/>
        </p:nvSpPr>
        <p:spPr>
          <a:xfrm>
            <a:off x="841418" y="2340900"/>
            <a:ext cx="4855308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FFFFF"/>
                </a:solidFill>
              </a:rPr>
              <a:t>What happened with UPI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55AC6E56-BD1F-CD8A-0749-AABBD2387952}"/>
              </a:ext>
            </a:extLst>
          </p:cNvPr>
          <p:cNvSpPr txBox="1"/>
          <p:nvPr/>
        </p:nvSpPr>
        <p:spPr>
          <a:xfrm>
            <a:off x="841418" y="2761510"/>
            <a:ext cx="4855308" cy="7296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C87C1C"/>
                </a:solidFill>
              </a:rPr>
              <a:t>—  </a:t>
            </a:r>
            <a:r>
              <a:rPr sz="1250">
                <a:solidFill>
                  <a:srgbClr val="AEBBCB"/>
                </a:solidFill>
              </a:rPr>
              <a:t>UPI itself made no company money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C87C1C"/>
                </a:solidFill>
              </a:rPr>
              <a:t>—  </a:t>
            </a:r>
            <a:r>
              <a:rPr sz="1250">
                <a:solidFill>
                  <a:srgbClr val="AEBBCB"/>
                </a:solidFill>
              </a:rPr>
              <a:t>PhonePe, Google Pay, Paytm built billion-dollar businesses ON TOP of it</a:t>
            </a: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CF259CBB-A2FC-1E44-12BD-39B48B44177D}"/>
              </a:ext>
            </a:extLst>
          </p:cNvPr>
          <p:cNvSpPr/>
          <p:nvPr/>
        </p:nvSpPr>
        <p:spPr>
          <a:xfrm>
            <a:off x="6263635" y="2194601"/>
            <a:ext cx="5257631" cy="1874459"/>
          </a:xfrm>
          <a:prstGeom prst="rect">
            <a:avLst/>
          </a:prstGeom>
          <a:solidFill>
            <a:srgbClr val="121B27"/>
          </a:solidFill>
          <a:ln w="9525">
            <a:solidFill>
              <a:srgbClr val="2633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1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5A1AB0D0-7920-4BA2-C81D-CA0D0F50E36A}"/>
              </a:ext>
            </a:extLst>
          </p:cNvPr>
          <p:cNvSpPr txBox="1"/>
          <p:nvPr/>
        </p:nvSpPr>
        <p:spPr>
          <a:xfrm>
            <a:off x="6464796" y="2340900"/>
            <a:ext cx="4855308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FFFFF"/>
                </a:solidFill>
              </a:rPr>
              <a:t>What happened with ONDC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52D2E6EE-FA31-0C21-C46B-CDD477BB8409}"/>
              </a:ext>
            </a:extLst>
          </p:cNvPr>
          <p:cNvSpPr txBox="1"/>
          <p:nvPr/>
        </p:nvSpPr>
        <p:spPr>
          <a:xfrm>
            <a:off x="6464796" y="2761510"/>
            <a:ext cx="4855308" cy="7296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C87C1C"/>
                </a:solidFill>
              </a:rPr>
              <a:t>—  </a:t>
            </a:r>
            <a:r>
              <a:rPr sz="1250">
                <a:solidFill>
                  <a:srgbClr val="AEBBCB"/>
                </a:solidFill>
              </a:rPr>
              <a:t>ONDC itself is a free, open network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C87C1C"/>
                </a:solidFill>
              </a:rPr>
              <a:t>—  </a:t>
            </a:r>
            <a:r>
              <a:rPr sz="1250">
                <a:solidFill>
                  <a:srgbClr val="AEBBCB"/>
                </a:solidFill>
              </a:rPr>
              <a:t>Seller apps and ride-hailing platforms (e.g. Namma Yatri) built real revenue on top</a:t>
            </a: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FC57141B-9E10-7D6B-72A6-76EDEDF63A41}"/>
              </a:ext>
            </a:extLst>
          </p:cNvPr>
          <p:cNvSpPr/>
          <p:nvPr/>
        </p:nvSpPr>
        <p:spPr>
          <a:xfrm>
            <a:off x="640256" y="4206216"/>
            <a:ext cx="10881010" cy="1874459"/>
          </a:xfrm>
          <a:prstGeom prst="rect">
            <a:avLst/>
          </a:prstGeom>
          <a:solidFill>
            <a:srgbClr val="121B27"/>
          </a:solidFill>
          <a:ln w="9525">
            <a:solidFill>
              <a:srgbClr val="2633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1"/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21FD0D32-2572-270C-3256-3943E5403685}"/>
              </a:ext>
            </a:extLst>
          </p:cNvPr>
          <p:cNvSpPr txBox="1"/>
          <p:nvPr/>
        </p:nvSpPr>
        <p:spPr>
          <a:xfrm>
            <a:off x="841417" y="4352515"/>
            <a:ext cx="10478687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FFFFF"/>
                </a:solidFill>
              </a:rPr>
              <a:t>How outside companies get in today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539ABDCD-E629-8CEC-78D9-AD86527CE676}"/>
              </a:ext>
            </a:extLst>
          </p:cNvPr>
          <p:cNvSpPr txBox="1"/>
          <p:nvPr/>
        </p:nvSpPr>
        <p:spPr>
          <a:xfrm>
            <a:off x="841417" y="4773125"/>
            <a:ext cx="10478687" cy="8066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C87C1C"/>
                </a:solidFill>
              </a:rPr>
              <a:t>—  </a:t>
            </a:r>
            <a:r>
              <a:rPr sz="1250">
                <a:solidFill>
                  <a:srgbClr val="AEBBCB"/>
                </a:solidFill>
              </a:rPr>
              <a:t>REC Limited periodically issues open EOIs (Expression of Interest): here's a problem, submit a working prototype in weeks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C87C1C"/>
                </a:solidFill>
              </a:rPr>
              <a:t>—  </a:t>
            </a:r>
            <a:r>
              <a:rPr sz="1250">
                <a:solidFill>
                  <a:srgbClr val="AEBBCB"/>
                </a:solidFill>
              </a:rPr>
              <a:t>No procurement contract, no licence fee — participation is via a public sandbox and a public GitHub-based feedback channel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C87C1C"/>
                </a:solidFill>
              </a:rPr>
              <a:t>—  </a:t>
            </a:r>
            <a:r>
              <a:rPr sz="1250">
                <a:solidFill>
                  <a:srgbClr val="AEBBCB"/>
                </a:solidFill>
              </a:rPr>
              <a:t>This is a low-cost, low-commitment way to establish real technical credibility before any formal contract exists</a:t>
            </a:r>
          </a:p>
        </p:txBody>
      </p:sp>
    </p:spTree>
    <p:extLst>
      <p:ext uri="{BB962C8B-B14F-4D97-AF65-F5344CB8AC3E}">
        <p14:creationId xmlns:p14="http://schemas.microsoft.com/office/powerpoint/2010/main" val="12597390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0A700-D90D-0FE4-479D-7C0F976B4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BDD8066-6FBA-CFA3-275E-FEFAD99E0E0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8255" y="131601"/>
            <a:ext cx="11735018" cy="432111"/>
          </a:xfrm>
        </p:spPr>
        <p:txBody>
          <a:bodyPr>
            <a:normAutofit fontScale="92500" lnSpcReduction="20000"/>
          </a:bodyPr>
          <a:lstStyle/>
          <a:p>
            <a:r>
              <a:rPr lang="en-US"/>
              <a:t>Digital Energy Grid - Study Summary</a:t>
            </a:r>
          </a:p>
        </p:txBody>
      </p:sp>
      <p:sp>
        <p:nvSpPr>
          <p:cNvPr id="55" name="Title 54">
            <a:extLst>
              <a:ext uri="{FF2B5EF4-FFF2-40B4-BE49-F238E27FC236}">
                <a16:creationId xmlns:a16="http://schemas.microsoft.com/office/drawing/2014/main" id="{15CE8B79-BAE8-F576-F0CC-4C04E7EC5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255" y="594656"/>
            <a:ext cx="11735018" cy="432111"/>
          </a:xfrm>
        </p:spPr>
        <p:txBody>
          <a:bodyPr>
            <a:normAutofit fontScale="90000"/>
          </a:bodyPr>
          <a:lstStyle/>
          <a:p>
            <a:r>
              <a:rPr lang="en-US">
                <a:latin typeface="+mn-lt"/>
              </a:rPr>
              <a:t>IES – Indian Energy Stack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9E6F5C-7CE9-9E85-A7DB-E8C391FED668}"/>
              </a:ext>
            </a:extLst>
          </p:cNvPr>
          <p:cNvSpPr/>
          <p:nvPr/>
        </p:nvSpPr>
        <p:spPr>
          <a:xfrm>
            <a:off x="552233" y="1308770"/>
            <a:ext cx="10881010" cy="56691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77B07E-0374-74EE-2CAC-4C2D6BA2998A}"/>
              </a:ext>
            </a:extLst>
          </p:cNvPr>
          <p:cNvSpPr txBox="1"/>
          <p:nvPr/>
        </p:nvSpPr>
        <p:spPr>
          <a:xfrm>
            <a:off x="780825" y="1418495"/>
            <a:ext cx="6674906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21B27"/>
                </a:solidFill>
              </a:rPr>
              <a:t>P2P Energy Exchange</a:t>
            </a:r>
          </a:p>
        </p:txBody>
      </p:sp>
      <p:sp>
        <p:nvSpPr>
          <p:cNvPr id="16" name="Rounded Rectangle 5">
            <a:extLst>
              <a:ext uri="{FF2B5EF4-FFF2-40B4-BE49-F238E27FC236}">
                <a16:creationId xmlns:a16="http://schemas.microsoft.com/office/drawing/2014/main" id="{88FC6A99-8C9D-71AD-7507-D4DD8728ED04}"/>
              </a:ext>
            </a:extLst>
          </p:cNvPr>
          <p:cNvSpPr/>
          <p:nvPr/>
        </p:nvSpPr>
        <p:spPr>
          <a:xfrm>
            <a:off x="9695940" y="1400208"/>
            <a:ext cx="1554430" cy="384035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</a:rPr>
              <a:t>DONE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1A541FE-8EF7-EC47-2531-87E1E7FFD559}"/>
              </a:ext>
            </a:extLst>
          </p:cNvPr>
          <p:cNvSpPr/>
          <p:nvPr/>
        </p:nvSpPr>
        <p:spPr>
          <a:xfrm>
            <a:off x="552233" y="1930542"/>
            <a:ext cx="10881010" cy="566910"/>
          </a:xfrm>
          <a:prstGeom prst="rect">
            <a:avLst/>
          </a:prstGeom>
          <a:solidFill>
            <a:srgbClr val="EEF1F5"/>
          </a:solidFill>
          <a:ln w="635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1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E67724A-0C04-8DC1-A091-B5B9CD6F6D19}"/>
              </a:ext>
            </a:extLst>
          </p:cNvPr>
          <p:cNvSpPr txBox="1"/>
          <p:nvPr/>
        </p:nvSpPr>
        <p:spPr>
          <a:xfrm>
            <a:off x="780825" y="2040267"/>
            <a:ext cx="6674906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21B27"/>
                </a:solidFill>
              </a:rPr>
              <a:t>DER Visibility</a:t>
            </a:r>
          </a:p>
        </p:txBody>
      </p:sp>
      <p:sp>
        <p:nvSpPr>
          <p:cNvPr id="24" name="Rounded Rectangle 8">
            <a:extLst>
              <a:ext uri="{FF2B5EF4-FFF2-40B4-BE49-F238E27FC236}">
                <a16:creationId xmlns:a16="http://schemas.microsoft.com/office/drawing/2014/main" id="{C7635892-F534-BEBB-0832-73ED45DB161C}"/>
              </a:ext>
            </a:extLst>
          </p:cNvPr>
          <p:cNvSpPr/>
          <p:nvPr/>
        </p:nvSpPr>
        <p:spPr>
          <a:xfrm>
            <a:off x="9695940" y="2021980"/>
            <a:ext cx="1554430" cy="384035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</a:rPr>
              <a:t>DONE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ED486FA-2D65-56B9-8B4B-D68D65DEF01C}"/>
              </a:ext>
            </a:extLst>
          </p:cNvPr>
          <p:cNvSpPr/>
          <p:nvPr/>
        </p:nvSpPr>
        <p:spPr>
          <a:xfrm>
            <a:off x="552233" y="2552315"/>
            <a:ext cx="10881010" cy="56691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1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F5A9B8D-0E09-29A8-8D58-BC59805B56C1}"/>
              </a:ext>
            </a:extLst>
          </p:cNvPr>
          <p:cNvSpPr txBox="1"/>
          <p:nvPr/>
        </p:nvSpPr>
        <p:spPr>
          <a:xfrm>
            <a:off x="780825" y="2662039"/>
            <a:ext cx="6674906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21B27"/>
                </a:solidFill>
              </a:rPr>
              <a:t>Demand Side Flexibility</a:t>
            </a:r>
          </a:p>
        </p:txBody>
      </p:sp>
      <p:sp>
        <p:nvSpPr>
          <p:cNvPr id="32" name="Rounded Rectangle 11">
            <a:extLst>
              <a:ext uri="{FF2B5EF4-FFF2-40B4-BE49-F238E27FC236}">
                <a16:creationId xmlns:a16="http://schemas.microsoft.com/office/drawing/2014/main" id="{EA589468-4402-B502-B08F-1E0BDD42CE75}"/>
              </a:ext>
            </a:extLst>
          </p:cNvPr>
          <p:cNvSpPr/>
          <p:nvPr/>
        </p:nvSpPr>
        <p:spPr>
          <a:xfrm>
            <a:off x="9695940" y="2643752"/>
            <a:ext cx="1554430" cy="384035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</a:rPr>
              <a:t>DONE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D25DCE5-A5B2-11D1-5C41-414B67FB5432}"/>
              </a:ext>
            </a:extLst>
          </p:cNvPr>
          <p:cNvSpPr/>
          <p:nvPr/>
        </p:nvSpPr>
        <p:spPr>
          <a:xfrm>
            <a:off x="552233" y="3231851"/>
            <a:ext cx="10881010" cy="566910"/>
          </a:xfrm>
          <a:prstGeom prst="rect">
            <a:avLst/>
          </a:prstGeom>
          <a:solidFill>
            <a:srgbClr val="EEF1F5"/>
          </a:solidFill>
          <a:ln w="635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1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2BA9D83-B7E9-4EE8-30B1-A540B900A8FA}"/>
              </a:ext>
            </a:extLst>
          </p:cNvPr>
          <p:cNvSpPr txBox="1"/>
          <p:nvPr/>
        </p:nvSpPr>
        <p:spPr>
          <a:xfrm>
            <a:off x="780825" y="3283811"/>
            <a:ext cx="6674906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21B27"/>
                </a:solidFill>
              </a:rPr>
              <a:t>Consumer Energy Passport</a:t>
            </a:r>
          </a:p>
        </p:txBody>
      </p:sp>
      <p:sp>
        <p:nvSpPr>
          <p:cNvPr id="40" name="Rounded Rectangle 14">
            <a:extLst>
              <a:ext uri="{FF2B5EF4-FFF2-40B4-BE49-F238E27FC236}">
                <a16:creationId xmlns:a16="http://schemas.microsoft.com/office/drawing/2014/main" id="{3A9E6DEF-D76F-DE0B-0EF4-0AC4D29EB72E}"/>
              </a:ext>
            </a:extLst>
          </p:cNvPr>
          <p:cNvSpPr/>
          <p:nvPr/>
        </p:nvSpPr>
        <p:spPr>
          <a:xfrm>
            <a:off x="9695940" y="3265524"/>
            <a:ext cx="1554430" cy="384035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</a:rPr>
              <a:t>DONE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2465E42-4203-56C8-1E15-6F1B1337B384}"/>
              </a:ext>
            </a:extLst>
          </p:cNvPr>
          <p:cNvSpPr/>
          <p:nvPr/>
        </p:nvSpPr>
        <p:spPr>
          <a:xfrm>
            <a:off x="552233" y="3795858"/>
            <a:ext cx="10881010" cy="56691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1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1ECB982-B0CC-4790-F675-3DED41AF5DB9}"/>
              </a:ext>
            </a:extLst>
          </p:cNvPr>
          <p:cNvSpPr txBox="1"/>
          <p:nvPr/>
        </p:nvSpPr>
        <p:spPr>
          <a:xfrm>
            <a:off x="780825" y="3905582"/>
            <a:ext cx="6674906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21B27"/>
                </a:solidFill>
              </a:rPr>
              <a:t>My Energy Digest</a:t>
            </a:r>
          </a:p>
        </p:txBody>
      </p:sp>
      <p:sp>
        <p:nvSpPr>
          <p:cNvPr id="50" name="Rounded Rectangle 17">
            <a:extLst>
              <a:ext uri="{FF2B5EF4-FFF2-40B4-BE49-F238E27FC236}">
                <a16:creationId xmlns:a16="http://schemas.microsoft.com/office/drawing/2014/main" id="{429D744E-321A-A3D7-FBB0-FD585CA8EAFF}"/>
              </a:ext>
            </a:extLst>
          </p:cNvPr>
          <p:cNvSpPr/>
          <p:nvPr/>
        </p:nvSpPr>
        <p:spPr>
          <a:xfrm>
            <a:off x="9695940" y="3887296"/>
            <a:ext cx="1554430" cy="384035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</a:rPr>
              <a:t>DONE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15D53C5-2BB9-D871-0043-C82B76FE9B8D}"/>
              </a:ext>
            </a:extLst>
          </p:cNvPr>
          <p:cNvSpPr/>
          <p:nvPr/>
        </p:nvSpPr>
        <p:spPr>
          <a:xfrm>
            <a:off x="552233" y="4417630"/>
            <a:ext cx="10881010" cy="566910"/>
          </a:xfrm>
          <a:prstGeom prst="rect">
            <a:avLst/>
          </a:prstGeom>
          <a:solidFill>
            <a:srgbClr val="EEF1F5"/>
          </a:solidFill>
          <a:ln w="635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1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C74F85A-EA90-122E-0F90-FFFBF15233A7}"/>
              </a:ext>
            </a:extLst>
          </p:cNvPr>
          <p:cNvSpPr txBox="1"/>
          <p:nvPr/>
        </p:nvSpPr>
        <p:spPr>
          <a:xfrm>
            <a:off x="780825" y="4527355"/>
            <a:ext cx="6674906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21B27"/>
                </a:solidFill>
              </a:rPr>
              <a:t>DISCOM-Regulator Data Exchange</a:t>
            </a:r>
          </a:p>
        </p:txBody>
      </p:sp>
      <p:sp>
        <p:nvSpPr>
          <p:cNvPr id="59" name="Rounded Rectangle 20">
            <a:extLst>
              <a:ext uri="{FF2B5EF4-FFF2-40B4-BE49-F238E27FC236}">
                <a16:creationId xmlns:a16="http://schemas.microsoft.com/office/drawing/2014/main" id="{93D5CFBB-4124-1AF2-91E3-C3FD0F08DE5F}"/>
              </a:ext>
            </a:extLst>
          </p:cNvPr>
          <p:cNvSpPr/>
          <p:nvPr/>
        </p:nvSpPr>
        <p:spPr>
          <a:xfrm>
            <a:off x="9695940" y="4509069"/>
            <a:ext cx="1554430" cy="384035"/>
          </a:xfrm>
          <a:prstGeom prst="roundRect">
            <a:avLst>
              <a:gd name="adj" fmla="val 50000"/>
            </a:avLst>
          </a:prstGeom>
          <a:solidFill>
            <a:srgbClr val="8391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</a:rPr>
              <a:t>OPEN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62AA4AC-6552-806B-011B-B32CCBAD39AF}"/>
              </a:ext>
            </a:extLst>
          </p:cNvPr>
          <p:cNvSpPr/>
          <p:nvPr/>
        </p:nvSpPr>
        <p:spPr>
          <a:xfrm>
            <a:off x="552233" y="5039402"/>
            <a:ext cx="10881010" cy="5669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1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6A0EA83-0C16-E253-C506-99202D01823F}"/>
              </a:ext>
            </a:extLst>
          </p:cNvPr>
          <p:cNvSpPr txBox="1"/>
          <p:nvPr/>
        </p:nvSpPr>
        <p:spPr>
          <a:xfrm>
            <a:off x="780825" y="5149127"/>
            <a:ext cx="6674906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21B27"/>
                </a:solidFill>
              </a:rPr>
              <a:t>Policy as Code / Tariff Intelligence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8715266C-DCD7-CFB3-7148-2E96C2C52A20}"/>
              </a:ext>
            </a:extLst>
          </p:cNvPr>
          <p:cNvSpPr/>
          <p:nvPr/>
        </p:nvSpPr>
        <p:spPr>
          <a:xfrm>
            <a:off x="552233" y="5661174"/>
            <a:ext cx="10881010" cy="566910"/>
          </a:xfrm>
          <a:prstGeom prst="rect">
            <a:avLst/>
          </a:prstGeom>
          <a:solidFill>
            <a:srgbClr val="EEF1F5"/>
          </a:solidFill>
          <a:ln w="635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1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0FB4CDE-ED5C-4489-7E6B-A556ECB658B6}"/>
              </a:ext>
            </a:extLst>
          </p:cNvPr>
          <p:cNvSpPr txBox="1"/>
          <p:nvPr/>
        </p:nvSpPr>
        <p:spPr>
          <a:xfrm>
            <a:off x="780825" y="5770899"/>
            <a:ext cx="6674906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21B27"/>
                </a:solidFill>
              </a:rPr>
              <a:t>Open Access Validation</a:t>
            </a:r>
          </a:p>
        </p:txBody>
      </p:sp>
      <p:sp>
        <p:nvSpPr>
          <p:cNvPr id="71" name="Rounded Rectangle 26">
            <a:extLst>
              <a:ext uri="{FF2B5EF4-FFF2-40B4-BE49-F238E27FC236}">
                <a16:creationId xmlns:a16="http://schemas.microsoft.com/office/drawing/2014/main" id="{C04F3BE2-BDDD-DAFC-F0DE-CBB407EA4409}"/>
              </a:ext>
            </a:extLst>
          </p:cNvPr>
          <p:cNvSpPr/>
          <p:nvPr/>
        </p:nvSpPr>
        <p:spPr>
          <a:xfrm>
            <a:off x="9695940" y="5752612"/>
            <a:ext cx="1554430" cy="384035"/>
          </a:xfrm>
          <a:prstGeom prst="roundRect">
            <a:avLst>
              <a:gd name="adj" fmla="val 50000"/>
            </a:avLst>
          </a:prstGeom>
          <a:solidFill>
            <a:srgbClr val="8391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</a:rPr>
              <a:t>OPEN</a:t>
            </a:r>
          </a:p>
        </p:txBody>
      </p:sp>
      <p:sp>
        <p:nvSpPr>
          <p:cNvPr id="73" name="Rounded Rectangle 20">
            <a:extLst>
              <a:ext uri="{FF2B5EF4-FFF2-40B4-BE49-F238E27FC236}">
                <a16:creationId xmlns:a16="http://schemas.microsoft.com/office/drawing/2014/main" id="{0CDB65D1-CBE2-00BC-473F-44FA2D80F185}"/>
              </a:ext>
            </a:extLst>
          </p:cNvPr>
          <p:cNvSpPr/>
          <p:nvPr/>
        </p:nvSpPr>
        <p:spPr>
          <a:xfrm>
            <a:off x="9695940" y="5176486"/>
            <a:ext cx="1554430" cy="384035"/>
          </a:xfrm>
          <a:prstGeom prst="roundRect">
            <a:avLst>
              <a:gd name="adj" fmla="val 50000"/>
            </a:avLst>
          </a:prstGeom>
          <a:solidFill>
            <a:srgbClr val="8391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</a:rPr>
              <a:t>OPEN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E11C505-6414-E02E-DC8E-D550BE382CF7}"/>
              </a:ext>
            </a:extLst>
          </p:cNvPr>
          <p:cNvSpPr txBox="1"/>
          <p:nvPr/>
        </p:nvSpPr>
        <p:spPr>
          <a:xfrm>
            <a:off x="5992738" y="615517"/>
            <a:ext cx="6101569" cy="400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1" b="1">
                <a:solidFill>
                  <a:srgbClr val="E8A33D"/>
                </a:solidFill>
              </a:rPr>
              <a:t>05 · Current Package Status - IES 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8B9DCE2-93A5-702E-1098-99AAA88D83B1}"/>
              </a:ext>
            </a:extLst>
          </p:cNvPr>
          <p:cNvSpPr/>
          <p:nvPr/>
        </p:nvSpPr>
        <p:spPr>
          <a:xfrm>
            <a:off x="758758" y="1398343"/>
            <a:ext cx="1711916" cy="322165"/>
          </a:xfrm>
          <a:prstGeom prst="roundRect">
            <a:avLst/>
          </a:prstGeom>
          <a:noFill/>
          <a:ln w="9525" cap="flat" cmpd="sng" algn="ctr">
            <a:solidFill>
              <a:srgbClr val="C00000"/>
            </a:solidFill>
            <a:prstDash val="solid"/>
          </a:ln>
          <a:effectLst/>
        </p:spPr>
        <p:txBody>
          <a:bodyPr rtlCol="0" anchor="ctr"/>
          <a:lstStyle/>
          <a:p>
            <a:pPr algn="ctr" defTabSz="1016264"/>
            <a:endParaRPr lang="en-US" sz="2001" kern="0">
              <a:solidFill>
                <a:srgbClr val="000000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49E7511-D991-9675-728C-8CBAC0C1AB84}"/>
              </a:ext>
            </a:extLst>
          </p:cNvPr>
          <p:cNvSpPr/>
          <p:nvPr/>
        </p:nvSpPr>
        <p:spPr>
          <a:xfrm>
            <a:off x="758758" y="5097322"/>
            <a:ext cx="2798353" cy="322165"/>
          </a:xfrm>
          <a:prstGeom prst="roundRect">
            <a:avLst/>
          </a:prstGeom>
          <a:noFill/>
          <a:ln w="9525" cap="flat" cmpd="sng" algn="ctr">
            <a:solidFill>
              <a:srgbClr val="C00000"/>
            </a:solidFill>
            <a:prstDash val="solid"/>
          </a:ln>
          <a:effectLst/>
        </p:spPr>
        <p:txBody>
          <a:bodyPr rtlCol="0" anchor="ctr"/>
          <a:lstStyle/>
          <a:p>
            <a:pPr algn="ctr" defTabSz="1016264"/>
            <a:endParaRPr lang="en-US" sz="2001" ker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2467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99EEE6-BD4D-E83A-7C2A-530235CA6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5BF3853-D581-6653-3462-DA5E86F70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latin typeface="+mn-lt"/>
              </a:rPr>
              <a:t>Beckn Protocol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F3D9DBE-AC2C-5724-09DA-4441FF075C9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>
                <a:solidFill>
                  <a:schemeClr val="bg1"/>
                </a:solidFill>
              </a:rPr>
              <a:t>Digital Energy Grid - Study Summary</a:t>
            </a:r>
          </a:p>
        </p:txBody>
      </p:sp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0A772E35-67D0-811D-F66B-A076744CAC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095" y="3906464"/>
            <a:ext cx="1809692" cy="219067"/>
          </a:xfrm>
          <a:prstGeom prst="rect">
            <a:avLst/>
          </a:prstGeom>
        </p:spPr>
      </p:pic>
      <p:pic>
        <p:nvPicPr>
          <p:cNvPr id="7" name="Picture 6" descr="image.png">
            <a:extLst>
              <a:ext uri="{FF2B5EF4-FFF2-40B4-BE49-F238E27FC236}">
                <a16:creationId xmlns:a16="http://schemas.microsoft.com/office/drawing/2014/main" id="{FCA2DF0F-889B-52F1-BF60-A11408D42E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6762" y="3906464"/>
            <a:ext cx="1809692" cy="219067"/>
          </a:xfrm>
          <a:prstGeom prst="rect">
            <a:avLst/>
          </a:prstGeom>
        </p:spPr>
      </p:pic>
      <p:pic>
        <p:nvPicPr>
          <p:cNvPr id="9" name="Picture 8" descr="image.png">
            <a:extLst>
              <a:ext uri="{FF2B5EF4-FFF2-40B4-BE49-F238E27FC236}">
                <a16:creationId xmlns:a16="http://schemas.microsoft.com/office/drawing/2014/main" id="{B863691B-3A32-7091-079D-7B45C284A8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274" y="3363556"/>
            <a:ext cx="2057334" cy="885797"/>
          </a:xfrm>
          <a:prstGeom prst="rect">
            <a:avLst/>
          </a:prstGeom>
        </p:spPr>
      </p:pic>
      <p:pic>
        <p:nvPicPr>
          <p:cNvPr id="11" name="Picture 10" descr="image.png">
            <a:extLst>
              <a:ext uri="{FF2B5EF4-FFF2-40B4-BE49-F238E27FC236}">
                <a16:creationId xmlns:a16="http://schemas.microsoft.com/office/drawing/2014/main" id="{F697DA65-1F30-E00D-D7B2-F9DE185663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42941" y="3363556"/>
            <a:ext cx="2057334" cy="885797"/>
          </a:xfrm>
          <a:prstGeom prst="rect">
            <a:avLst/>
          </a:prstGeom>
        </p:spPr>
      </p:pic>
      <p:sp>
        <p:nvSpPr>
          <p:cNvPr id="13" name="Rounded Rectangle 8">
            <a:extLst>
              <a:ext uri="{FF2B5EF4-FFF2-40B4-BE49-F238E27FC236}">
                <a16:creationId xmlns:a16="http://schemas.microsoft.com/office/drawing/2014/main" id="{6785FE48-0E36-5EA5-1AAE-DB923A699671}"/>
              </a:ext>
            </a:extLst>
          </p:cNvPr>
          <p:cNvSpPr/>
          <p:nvPr/>
        </p:nvSpPr>
        <p:spPr>
          <a:xfrm>
            <a:off x="228257" y="2137254"/>
            <a:ext cx="6572038" cy="4600427"/>
          </a:xfrm>
          <a:prstGeom prst="roundRect">
            <a:avLst>
              <a:gd name="adj" fmla="val 3312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1"/>
          </a:p>
        </p:txBody>
      </p:sp>
      <p:sp>
        <p:nvSpPr>
          <p:cNvPr id="15" name="Rounded Rectangle 9">
            <a:extLst>
              <a:ext uri="{FF2B5EF4-FFF2-40B4-BE49-F238E27FC236}">
                <a16:creationId xmlns:a16="http://schemas.microsoft.com/office/drawing/2014/main" id="{84CAC46A-29F6-FF4F-0761-933295533776}"/>
              </a:ext>
            </a:extLst>
          </p:cNvPr>
          <p:cNvSpPr/>
          <p:nvPr/>
        </p:nvSpPr>
        <p:spPr>
          <a:xfrm>
            <a:off x="428275" y="4401747"/>
            <a:ext cx="6172002" cy="1109627"/>
          </a:xfrm>
          <a:prstGeom prst="roundRect">
            <a:avLst>
              <a:gd name="adj" fmla="val 10300"/>
            </a:avLst>
          </a:prstGeom>
          <a:solidFill>
            <a:srgbClr val="0F172A">
              <a:alpha val="50000"/>
            </a:srgbClr>
          </a:solidFill>
          <a:ln w="9525">
            <a:solidFill>
              <a:srgbClr val="FFFFFF">
                <a:alpha val="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1"/>
          </a:p>
        </p:txBody>
      </p:sp>
      <p:sp>
        <p:nvSpPr>
          <p:cNvPr id="17" name="Rounded Rectangle 10">
            <a:extLst>
              <a:ext uri="{FF2B5EF4-FFF2-40B4-BE49-F238E27FC236}">
                <a16:creationId xmlns:a16="http://schemas.microsoft.com/office/drawing/2014/main" id="{AA6C1E69-CB06-24D1-F23D-A17F2EB45517}"/>
              </a:ext>
            </a:extLst>
          </p:cNvPr>
          <p:cNvSpPr/>
          <p:nvPr/>
        </p:nvSpPr>
        <p:spPr>
          <a:xfrm>
            <a:off x="7028887" y="3344506"/>
            <a:ext cx="4629001" cy="1109627"/>
          </a:xfrm>
          <a:prstGeom prst="roundRect">
            <a:avLst>
              <a:gd name="adj" fmla="val 10300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1"/>
          </a:p>
        </p:txBody>
      </p:sp>
      <p:sp>
        <p:nvSpPr>
          <p:cNvPr id="19" name="Rounded Rectangle 11">
            <a:extLst>
              <a:ext uri="{FF2B5EF4-FFF2-40B4-BE49-F238E27FC236}">
                <a16:creationId xmlns:a16="http://schemas.microsoft.com/office/drawing/2014/main" id="{855F6BBF-5FA4-3A43-7186-C47C287ACB2D}"/>
              </a:ext>
            </a:extLst>
          </p:cNvPr>
          <p:cNvSpPr/>
          <p:nvPr/>
        </p:nvSpPr>
        <p:spPr>
          <a:xfrm>
            <a:off x="7028887" y="4606530"/>
            <a:ext cx="4629001" cy="923895"/>
          </a:xfrm>
          <a:prstGeom prst="roundRect">
            <a:avLst>
              <a:gd name="adj" fmla="val 12371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1"/>
          </a:p>
        </p:txBody>
      </p:sp>
      <p:sp>
        <p:nvSpPr>
          <p:cNvPr id="21" name="Rounded Rectangle 12">
            <a:extLst>
              <a:ext uri="{FF2B5EF4-FFF2-40B4-BE49-F238E27FC236}">
                <a16:creationId xmlns:a16="http://schemas.microsoft.com/office/drawing/2014/main" id="{3A33C785-D248-C4DF-BA17-CE2F18D8B693}"/>
              </a:ext>
            </a:extLst>
          </p:cNvPr>
          <p:cNvSpPr/>
          <p:nvPr/>
        </p:nvSpPr>
        <p:spPr>
          <a:xfrm>
            <a:off x="2638003" y="3796930"/>
            <a:ext cx="1752544" cy="19049"/>
          </a:xfrm>
          <a:prstGeom prst="roundRect">
            <a:avLst/>
          </a:prstGeom>
          <a:noFill/>
          <a:ln w="190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1"/>
          </a:p>
        </p:txBody>
      </p:sp>
      <p:sp>
        <p:nvSpPr>
          <p:cNvPr id="23" name="Rounded Rectangle 13">
            <a:extLst>
              <a:ext uri="{FF2B5EF4-FFF2-40B4-BE49-F238E27FC236}">
                <a16:creationId xmlns:a16="http://schemas.microsoft.com/office/drawing/2014/main" id="{ADB6D97A-F166-ECA7-7533-F50E3938BC8A}"/>
              </a:ext>
            </a:extLst>
          </p:cNvPr>
          <p:cNvSpPr/>
          <p:nvPr/>
        </p:nvSpPr>
        <p:spPr>
          <a:xfrm>
            <a:off x="2952169" y="3701684"/>
            <a:ext cx="1124211" cy="142870"/>
          </a:xfrm>
          <a:prstGeom prst="roundRect">
            <a:avLst/>
          </a:prstGeom>
          <a:solidFill>
            <a:srgbClr val="020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1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2941458-CEEB-9DCD-E25F-5EC1A76E8618}"/>
              </a:ext>
            </a:extLst>
          </p:cNvPr>
          <p:cNvSpPr txBox="1"/>
          <p:nvPr/>
        </p:nvSpPr>
        <p:spPr>
          <a:xfrm>
            <a:off x="228255" y="1413376"/>
            <a:ext cx="11810620" cy="339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700"/>
              </a:lnSpc>
            </a:pPr>
            <a:r>
              <a:rPr sz="2249" b="1">
                <a:solidFill>
                  <a:srgbClr val="F1F5F9"/>
                </a:solidFill>
              </a:rPr>
              <a:t>The Beckn Protocol Communication Layer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44185A1-0463-8930-CE7A-1DFAC85533EA}"/>
              </a:ext>
            </a:extLst>
          </p:cNvPr>
          <p:cNvSpPr txBox="1"/>
          <p:nvPr/>
        </p:nvSpPr>
        <p:spPr>
          <a:xfrm>
            <a:off x="228257" y="1794363"/>
            <a:ext cx="11429632" cy="1815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500"/>
              </a:lnSpc>
            </a:pPr>
            <a:r>
              <a:rPr sz="1050">
                <a:solidFill>
                  <a:srgbClr val="94A3B8"/>
                </a:solidFill>
              </a:rPr>
              <a:t>Understanding the decoupled roles, asymmetric routing, and ready-made ONIX adapters.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7C1E1AD-D250-F8B8-6CB3-934A3960595D}"/>
              </a:ext>
            </a:extLst>
          </p:cNvPr>
          <p:cNvSpPr txBox="1"/>
          <p:nvPr/>
        </p:nvSpPr>
        <p:spPr>
          <a:xfrm>
            <a:off x="590194" y="4563667"/>
            <a:ext cx="5848162" cy="147348"/>
          </a:xfrm>
          <a:prstGeom prst="rect">
            <a:avLst/>
          </a:prstGeom>
          <a:noFill/>
        </p:spPr>
        <p:txBody>
          <a:bodyPr wrap="square" lIns="177248" tIns="0" rIns="0" bIns="0" anchor="t">
            <a:spAutoFit/>
          </a:bodyPr>
          <a:lstStyle/>
          <a:p>
            <a:pPr>
              <a:lnSpc>
                <a:spcPts val="1200"/>
              </a:lnSpc>
            </a:pPr>
            <a:r>
              <a:rPr sz="900" b="1">
                <a:solidFill>
                  <a:srgbClr val="FBBF24"/>
                </a:solidFill>
              </a:rPr>
              <a:t>CORE TOPOLOGY RULES: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227C478-F137-4F2D-0C28-AAAF258FF1A0}"/>
              </a:ext>
            </a:extLst>
          </p:cNvPr>
          <p:cNvSpPr txBox="1"/>
          <p:nvPr/>
        </p:nvSpPr>
        <p:spPr>
          <a:xfrm>
            <a:off x="7190806" y="3735019"/>
            <a:ext cx="4305162" cy="3685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461"/>
              </a:lnSpc>
            </a:pPr>
            <a:r>
              <a:rPr sz="900">
                <a:solidFill>
                  <a:srgbClr val="94A3B8"/>
                </a:solidFill>
              </a:rPr>
              <a:t>Ready-made software gateways that sign and verify messages, run schema validations, and route messages asynchronously. No need to write protocol code.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183F057-173C-1BA4-08F3-4F1C27DB4702}"/>
              </a:ext>
            </a:extLst>
          </p:cNvPr>
          <p:cNvSpPr txBox="1"/>
          <p:nvPr/>
        </p:nvSpPr>
        <p:spPr>
          <a:xfrm>
            <a:off x="7190806" y="4997041"/>
            <a:ext cx="4305162" cy="3685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461"/>
              </a:lnSpc>
            </a:pPr>
            <a:r>
              <a:rPr sz="900">
                <a:solidFill>
                  <a:srgbClr val="94A3B8"/>
                </a:solidFill>
              </a:rPr>
              <a:t>Replaced the generic BPP mock responder with custom code that dynamically generates and signs fresh `IES_Policy` objects.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6A9D66B-9565-60F7-533B-BC7B4983E759}"/>
              </a:ext>
            </a:extLst>
          </p:cNvPr>
          <p:cNvSpPr txBox="1"/>
          <p:nvPr/>
        </p:nvSpPr>
        <p:spPr>
          <a:xfrm>
            <a:off x="552095" y="3487377"/>
            <a:ext cx="1809692" cy="1473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900" b="1">
                <a:solidFill>
                  <a:srgbClr val="94A3B8"/>
                </a:solidFill>
              </a:rPr>
              <a:t>MERASHEHAR DISCOM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C6F4B02-754F-9BE8-4D85-AF271CA1606B}"/>
              </a:ext>
            </a:extLst>
          </p:cNvPr>
          <p:cNvSpPr txBox="1"/>
          <p:nvPr/>
        </p:nvSpPr>
        <p:spPr>
          <a:xfrm>
            <a:off x="552095" y="3677871"/>
            <a:ext cx="1809692" cy="1815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00"/>
              </a:lnSpc>
            </a:pPr>
            <a:r>
              <a:rPr sz="1050" b="1">
                <a:solidFill>
                  <a:srgbClr val="60A5FA"/>
                </a:solidFill>
              </a:rPr>
              <a:t>BAP (Consumer)</a:t>
            </a:r>
          </a:p>
        </p:txBody>
      </p:sp>
      <p:sp>
        <p:nvSpPr>
          <p:cNvPr id="41" name="Rounded Rectangle 25">
            <a:extLst>
              <a:ext uri="{FF2B5EF4-FFF2-40B4-BE49-F238E27FC236}">
                <a16:creationId xmlns:a16="http://schemas.microsoft.com/office/drawing/2014/main" id="{1581D22E-5C5C-56AE-C996-05090C9510FE}"/>
              </a:ext>
            </a:extLst>
          </p:cNvPr>
          <p:cNvSpPr/>
          <p:nvPr/>
        </p:nvSpPr>
        <p:spPr>
          <a:xfrm>
            <a:off x="2952169" y="3701684"/>
            <a:ext cx="1124211" cy="142870"/>
          </a:xfrm>
          <a:prstGeom prst="roundRect">
            <a:avLst/>
          </a:prstGeom>
          <a:solidFill>
            <a:srgbClr val="020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1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F24EE4A-26CD-EAC9-8084-2BEFC43AD3E8}"/>
              </a:ext>
            </a:extLst>
          </p:cNvPr>
          <p:cNvSpPr txBox="1"/>
          <p:nvPr/>
        </p:nvSpPr>
        <p:spPr>
          <a:xfrm>
            <a:off x="3028368" y="3701682"/>
            <a:ext cx="971816" cy="132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125"/>
              </a:lnSpc>
            </a:pPr>
            <a:r>
              <a:rPr sz="750">
                <a:solidFill>
                  <a:srgbClr val="FBBF24"/>
                </a:solidFill>
              </a:rPr>
              <a:t>Caddy Bridge:9000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FF60EC3-51B9-726A-0515-F6AB7F07B1F8}"/>
              </a:ext>
            </a:extLst>
          </p:cNvPr>
          <p:cNvSpPr txBox="1"/>
          <p:nvPr/>
        </p:nvSpPr>
        <p:spPr>
          <a:xfrm>
            <a:off x="4666762" y="3487377"/>
            <a:ext cx="1809692" cy="1473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900" b="1">
                <a:solidFill>
                  <a:srgbClr val="94A3B8"/>
                </a:solidFill>
              </a:rPr>
              <a:t>MERC REGULATOR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FE01C59-0CC4-CE4A-407B-1028E95745F4}"/>
              </a:ext>
            </a:extLst>
          </p:cNvPr>
          <p:cNvSpPr txBox="1"/>
          <p:nvPr/>
        </p:nvSpPr>
        <p:spPr>
          <a:xfrm>
            <a:off x="4666762" y="3677871"/>
            <a:ext cx="1809692" cy="1815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00"/>
              </a:lnSpc>
            </a:pPr>
            <a:r>
              <a:rPr sz="1050" b="1">
                <a:solidFill>
                  <a:srgbClr val="C084FC"/>
                </a:solidFill>
              </a:rPr>
              <a:t>BPP (Provider)</a:t>
            </a:r>
          </a:p>
        </p:txBody>
      </p:sp>
      <p:pic>
        <p:nvPicPr>
          <p:cNvPr id="49" name="Picture 48" descr="image.png">
            <a:extLst>
              <a:ext uri="{FF2B5EF4-FFF2-40B4-BE49-F238E27FC236}">
                <a16:creationId xmlns:a16="http://schemas.microsoft.com/office/drawing/2014/main" id="{03206FA6-A540-6164-3413-CB1A4C5B1E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0194" y="4582717"/>
            <a:ext cx="139149" cy="114296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8880D1A5-9B3B-D145-787F-2D0B2738F110}"/>
              </a:ext>
            </a:extLst>
          </p:cNvPr>
          <p:cNvSpPr txBox="1"/>
          <p:nvPr/>
        </p:nvSpPr>
        <p:spPr>
          <a:xfrm>
            <a:off x="590194" y="4792260"/>
            <a:ext cx="2847884" cy="3685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461"/>
              </a:lnSpc>
            </a:pPr>
            <a:r>
              <a:rPr sz="900" b="1">
                <a:solidFill>
                  <a:srgbClr val="93C5FD"/>
                </a:solidFill>
              </a:rPr>
              <a:t>Asymmetric Communication:</a:t>
            </a:r>
            <a:r>
              <a:rPr sz="900">
                <a:solidFill>
                  <a:srgbClr val="CBD5E1"/>
                </a:solidFill>
              </a:rPr>
              <a:t> BAPs and BPPs do not connect directly. They leverage decentralized endpoints.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11712DA-3130-D56F-2F08-CC229D9D55BA}"/>
              </a:ext>
            </a:extLst>
          </p:cNvPr>
          <p:cNvSpPr txBox="1"/>
          <p:nvPr/>
        </p:nvSpPr>
        <p:spPr>
          <a:xfrm>
            <a:off x="3590473" y="4792260"/>
            <a:ext cx="2847884" cy="3685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461"/>
              </a:lnSpc>
            </a:pPr>
            <a:r>
              <a:rPr sz="900" b="1">
                <a:solidFill>
                  <a:srgbClr val="D8B4FE"/>
                </a:solidFill>
              </a:rPr>
              <a:t>Caddy Router Bridge:</a:t>
            </a:r>
            <a:r>
              <a:rPr sz="900">
                <a:solidFill>
                  <a:srgbClr val="CBD5E1"/>
                </a:solidFill>
              </a:rPr>
              <a:t> Simulates the public internet locally. Restricts direct container-to-container bypassing.</a:t>
            </a:r>
          </a:p>
        </p:txBody>
      </p:sp>
      <p:pic>
        <p:nvPicPr>
          <p:cNvPr id="55" name="Picture 54" descr="image.png">
            <a:extLst>
              <a:ext uri="{FF2B5EF4-FFF2-40B4-BE49-F238E27FC236}">
                <a16:creationId xmlns:a16="http://schemas.microsoft.com/office/drawing/2014/main" id="{2313AC40-C64C-669A-CFF3-4F4141CEC76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90807" y="3525476"/>
            <a:ext cx="114296" cy="152395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768133E8-85DF-B58F-A510-DB8C40F0573B}"/>
              </a:ext>
            </a:extLst>
          </p:cNvPr>
          <p:cNvSpPr txBox="1"/>
          <p:nvPr/>
        </p:nvSpPr>
        <p:spPr>
          <a:xfrm>
            <a:off x="7381301" y="3506427"/>
            <a:ext cx="2422569" cy="1815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500"/>
              </a:lnSpc>
            </a:pPr>
            <a:r>
              <a:rPr sz="1050" b="1">
                <a:solidFill>
                  <a:srgbClr val="E2E8F0"/>
                </a:solidFill>
              </a:rPr>
              <a:t>ONIX Adapters (The Plumbing)</a:t>
            </a:r>
          </a:p>
        </p:txBody>
      </p:sp>
      <p:pic>
        <p:nvPicPr>
          <p:cNvPr id="59" name="Picture 58" descr="image.png">
            <a:extLst>
              <a:ext uri="{FF2B5EF4-FFF2-40B4-BE49-F238E27FC236}">
                <a16:creationId xmlns:a16="http://schemas.microsoft.com/office/drawing/2014/main" id="{04E5C4BB-1BA4-1D26-F159-B69C345CF90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90807" y="4787498"/>
            <a:ext cx="171444" cy="152395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7AE8A797-0DED-200A-C032-CC0CD72C34A1}"/>
              </a:ext>
            </a:extLst>
          </p:cNvPr>
          <p:cNvSpPr txBox="1"/>
          <p:nvPr/>
        </p:nvSpPr>
        <p:spPr>
          <a:xfrm>
            <a:off x="7438448" y="4768449"/>
            <a:ext cx="2574458" cy="1815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500"/>
              </a:lnSpc>
            </a:pPr>
            <a:r>
              <a:rPr sz="1050" b="1">
                <a:solidFill>
                  <a:srgbClr val="E2E8F0"/>
                </a:solidFill>
              </a:rPr>
              <a:t>Our Webhook Server (The Actor)</a:t>
            </a:r>
          </a:p>
        </p:txBody>
      </p:sp>
    </p:spTree>
    <p:extLst>
      <p:ext uri="{BB962C8B-B14F-4D97-AF65-F5344CB8AC3E}">
        <p14:creationId xmlns:p14="http://schemas.microsoft.com/office/powerpoint/2010/main" val="28317444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5565D-63CF-E1C5-BFD7-B192CE46C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DAD7E49-E449-CAAE-43FC-C0CDA2009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err="1">
                <a:latin typeface="+mn-lt"/>
              </a:rPr>
              <a:t>Beckn</a:t>
            </a:r>
            <a:r>
              <a:rPr lang="en-US">
                <a:latin typeface="+mn-lt"/>
              </a:rPr>
              <a:t> Protocol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D84643A-86B7-9B6A-EA91-5E5317211F8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Digital Energy Grid - Study Summary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B253AF-D17C-DB54-2920-44773FE6575C}"/>
              </a:ext>
            </a:extLst>
          </p:cNvPr>
          <p:cNvSpPr txBox="1"/>
          <p:nvPr/>
        </p:nvSpPr>
        <p:spPr>
          <a:xfrm>
            <a:off x="228255" y="1384373"/>
            <a:ext cx="1088101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21B27"/>
                </a:solidFill>
              </a:rPr>
              <a:t>Message flow — the </a:t>
            </a:r>
            <a:r>
              <a:rPr sz="2600" b="1" err="1">
                <a:solidFill>
                  <a:srgbClr val="121B27"/>
                </a:solidFill>
              </a:rPr>
              <a:t>Beckn</a:t>
            </a:r>
            <a:r>
              <a:rPr sz="2600" b="1">
                <a:solidFill>
                  <a:srgbClr val="121B27"/>
                </a:solidFill>
              </a:rPr>
              <a:t> protocol actions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0C87C1-3E0D-8151-04E6-3D4F8B22561A}"/>
              </a:ext>
            </a:extLst>
          </p:cNvPr>
          <p:cNvSpPr/>
          <p:nvPr/>
        </p:nvSpPr>
        <p:spPr>
          <a:xfrm>
            <a:off x="365411" y="2499905"/>
            <a:ext cx="3383171" cy="210305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875280-0394-803D-6B5E-78CD50617A16}"/>
              </a:ext>
            </a:extLst>
          </p:cNvPr>
          <p:cNvSpPr txBox="1"/>
          <p:nvPr/>
        </p:nvSpPr>
        <p:spPr>
          <a:xfrm>
            <a:off x="548285" y="2682780"/>
            <a:ext cx="3017423" cy="261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99" b="1">
                <a:solidFill>
                  <a:srgbClr val="C87C1C"/>
                </a:solidFill>
              </a:rPr>
              <a:t>discover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142248-54EC-E18C-8278-AA2E3CCBCD3D}"/>
              </a:ext>
            </a:extLst>
          </p:cNvPr>
          <p:cNvSpPr txBox="1"/>
          <p:nvPr/>
        </p:nvSpPr>
        <p:spPr>
          <a:xfrm>
            <a:off x="548285" y="3185683"/>
            <a:ext cx="3017423" cy="4819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48576A"/>
                </a:solidFill>
              </a:rPr>
              <a:t>Consumer side (BAP) looks up who publishes matching data on the network</a:t>
            </a:r>
          </a:p>
        </p:txBody>
      </p:sp>
      <p:sp>
        <p:nvSpPr>
          <p:cNvPr id="13" name="Right Arrow 6">
            <a:extLst>
              <a:ext uri="{FF2B5EF4-FFF2-40B4-BE49-F238E27FC236}">
                <a16:creationId xmlns:a16="http://schemas.microsoft.com/office/drawing/2014/main" id="{1EFD64E0-9D41-DCA5-2D4C-C0DDC908A5B5}"/>
              </a:ext>
            </a:extLst>
          </p:cNvPr>
          <p:cNvSpPr/>
          <p:nvPr/>
        </p:nvSpPr>
        <p:spPr>
          <a:xfrm>
            <a:off x="3766869" y="3441708"/>
            <a:ext cx="283455" cy="219449"/>
          </a:xfrm>
          <a:prstGeom prst="rightArrow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19E16CF-8835-A317-12E1-91D13A52C91B}"/>
              </a:ext>
            </a:extLst>
          </p:cNvPr>
          <p:cNvSpPr/>
          <p:nvPr/>
        </p:nvSpPr>
        <p:spPr>
          <a:xfrm>
            <a:off x="4068613" y="2499905"/>
            <a:ext cx="3383171" cy="210305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1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FB2CB7C-2A3E-7CF5-6A9A-960789629AF4}"/>
              </a:ext>
            </a:extLst>
          </p:cNvPr>
          <p:cNvSpPr txBox="1"/>
          <p:nvPr/>
        </p:nvSpPr>
        <p:spPr>
          <a:xfrm>
            <a:off x="4251485" y="2682780"/>
            <a:ext cx="3017423" cy="261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99" b="1">
                <a:solidFill>
                  <a:srgbClr val="C87C1C"/>
                </a:solidFill>
              </a:rPr>
              <a:t>confirm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FADE7F8-3C6B-D7B4-E8FC-2420B2A799F0}"/>
              </a:ext>
            </a:extLst>
          </p:cNvPr>
          <p:cNvSpPr txBox="1"/>
          <p:nvPr/>
        </p:nvSpPr>
        <p:spPr>
          <a:xfrm>
            <a:off x="4251485" y="3185684"/>
            <a:ext cx="3017423" cy="4819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48576A"/>
                </a:solidFill>
              </a:rPr>
              <a:t>Buyer and publisher (BPP) agree the terms of the exchange</a:t>
            </a:r>
          </a:p>
        </p:txBody>
      </p:sp>
      <p:sp>
        <p:nvSpPr>
          <p:cNvPr id="21" name="Right Arrow 10">
            <a:extLst>
              <a:ext uri="{FF2B5EF4-FFF2-40B4-BE49-F238E27FC236}">
                <a16:creationId xmlns:a16="http://schemas.microsoft.com/office/drawing/2014/main" id="{AD7507BB-8093-E247-DC96-1C7630A267A2}"/>
              </a:ext>
            </a:extLst>
          </p:cNvPr>
          <p:cNvSpPr/>
          <p:nvPr/>
        </p:nvSpPr>
        <p:spPr>
          <a:xfrm>
            <a:off x="7470070" y="3441708"/>
            <a:ext cx="283455" cy="219449"/>
          </a:xfrm>
          <a:prstGeom prst="rightArrow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1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EA1F12A-6D48-91A1-E375-D4422FF36424}"/>
              </a:ext>
            </a:extLst>
          </p:cNvPr>
          <p:cNvSpPr/>
          <p:nvPr/>
        </p:nvSpPr>
        <p:spPr>
          <a:xfrm>
            <a:off x="7771813" y="2499905"/>
            <a:ext cx="3383171" cy="210305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1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53A46D4-93D6-C28A-2B72-759BF276FFA3}"/>
              </a:ext>
            </a:extLst>
          </p:cNvPr>
          <p:cNvSpPr txBox="1"/>
          <p:nvPr/>
        </p:nvSpPr>
        <p:spPr>
          <a:xfrm>
            <a:off x="7954687" y="2682780"/>
            <a:ext cx="3017423" cy="261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99" b="1">
                <a:solidFill>
                  <a:srgbClr val="C87C1C"/>
                </a:solidFill>
              </a:rPr>
              <a:t>status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3A36990-DB37-41FD-63CD-CECC18F048E2}"/>
              </a:ext>
            </a:extLst>
          </p:cNvPr>
          <p:cNvSpPr txBox="1"/>
          <p:nvPr/>
        </p:nvSpPr>
        <p:spPr>
          <a:xfrm>
            <a:off x="7954687" y="3185683"/>
            <a:ext cx="3017423" cy="4819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48576A"/>
                </a:solidFill>
              </a:rPr>
              <a:t>Publisher delivers the signed policy object; consumer receives and verifies it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ED0FFFB-BF6E-044D-6E34-246A4B9D0C3E}"/>
              </a:ext>
            </a:extLst>
          </p:cNvPr>
          <p:cNvSpPr txBox="1"/>
          <p:nvPr/>
        </p:nvSpPr>
        <p:spPr>
          <a:xfrm>
            <a:off x="228255" y="4968707"/>
            <a:ext cx="10881010" cy="4819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i="1">
                <a:solidFill>
                  <a:srgbClr val="48576A"/>
                </a:solidFill>
              </a:rPr>
              <a:t>BAP = Beckn App Platform (consumer side — the requester). BPP = Beckn Provider Platform (the publisher / regulator side). Every step is cryptographically signed; onix (the reference adapter) validates schema conformance at each hop.</a:t>
            </a:r>
          </a:p>
        </p:txBody>
      </p:sp>
    </p:spTree>
    <p:extLst>
      <p:ext uri="{BB962C8B-B14F-4D97-AF65-F5344CB8AC3E}">
        <p14:creationId xmlns:p14="http://schemas.microsoft.com/office/powerpoint/2010/main" val="21650860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40256" y="976152"/>
            <a:ext cx="1088101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i="1">
                <a:solidFill>
                  <a:srgbClr val="48576A"/>
                </a:solidFill>
              </a:rPr>
              <a:t>Primary public sources behind this proposal — all independently verifiable.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256" y="1323612"/>
            <a:ext cx="1088101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C87C1C"/>
                </a:solidFill>
              </a:rPr>
              <a:t>IES — OFFICIAL PROGRAM &amp; SPECIFICATION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3129" y="1616211"/>
            <a:ext cx="6674906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21B27"/>
                </a:solidFill>
              </a:rPr>
              <a:t>India Energy Stack — technical documentation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472" y="1616212"/>
            <a:ext cx="3931793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48576A"/>
                </a:solidFill>
              </a:rPr>
              <a:t>ies.recindia.org.in/docs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3129" y="1922525"/>
            <a:ext cx="6674906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21B27"/>
                </a:solidFill>
              </a:rPr>
              <a:t>IES Strategy Document, v0.4 (Mar 2026)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472" y="1922525"/>
            <a:ext cx="3931793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48576A"/>
                </a:solidFill>
              </a:rPr>
              <a:t>recindia.nic.in (Strategy Doc v0.4)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3129" y="2228839"/>
            <a:ext cx="6674906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21B27"/>
                </a:solidFill>
              </a:rPr>
              <a:t>IES Architecture Document, v0.4 (Mar 2026)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472" y="2228840"/>
            <a:ext cx="3931793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48576A"/>
                </a:solidFill>
              </a:rPr>
              <a:t>recindia.nic.in (Architecture Doc v0.4)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3129" y="2535154"/>
            <a:ext cx="6674906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21B27"/>
                </a:solidFill>
              </a:rPr>
              <a:t>Official specification repository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472" y="2535154"/>
            <a:ext cx="3931793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48576A"/>
                </a:solidFill>
              </a:rPr>
              <a:t>github.com/India-Energy-Stack/ies-accelerator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256" y="2914617"/>
            <a:ext cx="1088101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C87C1C"/>
                </a:solidFill>
              </a:rPr>
              <a:t>UNDERLYING PROTOCOL &amp; GLOBAL PROPOSAL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3129" y="3207215"/>
            <a:ext cx="6674906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21B27"/>
                </a:solidFill>
              </a:rPr>
              <a:t>Beckn Protocol + IES devkits / sandbox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472" y="3207217"/>
            <a:ext cx="3931793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48576A"/>
                </a:solidFill>
              </a:rPr>
              <a:t>github.com/beckn/DEG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129" y="3513530"/>
            <a:ext cx="6674906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21B27"/>
                </a:solidFill>
              </a:rPr>
              <a:t>Digital Energy Grid vision paper (FIDE / IEA, 2025)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472" y="3513530"/>
            <a:ext cx="3931793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48576A"/>
                </a:solidFill>
              </a:rPr>
              <a:t>energy.becknprotocol.io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256" y="3892993"/>
            <a:ext cx="1088101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C87C1C"/>
                </a:solidFill>
              </a:rPr>
              <a:t>MARKET PRECEDENT &amp; PROGRAMME 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129" y="4185592"/>
            <a:ext cx="6674906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21B27"/>
                </a:solidFill>
              </a:rPr>
              <a:t>IES Expression of Interest (EOI) hub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472" y="4185593"/>
            <a:ext cx="3931793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48576A"/>
                </a:solidFill>
              </a:rPr>
              <a:t>recindia.nic.in/ies-expression-of-interest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129" y="4491907"/>
            <a:ext cx="6674906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21B27"/>
                </a:solidFill>
              </a:rPr>
              <a:t>Ministry of Power — India Energy Stack announcement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472" y="4491907"/>
            <a:ext cx="3931793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48576A"/>
                </a:solidFill>
              </a:rPr>
              <a:t>pib.gov.in (PRID 2140416)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256" y="4871370"/>
            <a:ext cx="1088101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C87C1C"/>
                </a:solidFill>
              </a:rPr>
              <a:t>PROBLEM-STATEMENT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3129" y="5163969"/>
            <a:ext cx="6674906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21B27"/>
                </a:solidFill>
              </a:rPr>
              <a:t>Electricity Act 2003 — tariff regulation (120-day order mandate)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472" y="5163969"/>
            <a:ext cx="3931793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48576A"/>
                </a:solidFill>
              </a:rPr>
              <a:t>lawyersclubindia.com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3129" y="5470283"/>
            <a:ext cx="6674906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21B27"/>
                </a:solidFill>
              </a:rPr>
              <a:t>Jaipur Discom Tariff 2026 with FPPAS — live example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472" y="5470283"/>
            <a:ext cx="3931793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48576A"/>
                </a:solidFill>
              </a:rPr>
              <a:t>solarquarter.com, Apr 2026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23F6BFD-1AC1-AE78-BB12-44F67CD65276}"/>
              </a:ext>
            </a:extLst>
          </p:cNvPr>
          <p:cNvSpPr txBox="1"/>
          <p:nvPr/>
        </p:nvSpPr>
        <p:spPr>
          <a:xfrm>
            <a:off x="640256" y="478869"/>
            <a:ext cx="2997594" cy="307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1" b="1">
                <a:solidFill>
                  <a:srgbClr val="C87C1C"/>
                </a:solidFill>
              </a:rPr>
              <a:t>0</a:t>
            </a:r>
            <a:r>
              <a:rPr lang="en-US" sz="2001" b="1">
                <a:solidFill>
                  <a:srgbClr val="C87C1C"/>
                </a:solidFill>
              </a:rPr>
              <a:t>6</a:t>
            </a:r>
            <a:r>
              <a:rPr sz="2001" b="1">
                <a:solidFill>
                  <a:srgbClr val="C87C1C"/>
                </a:solidFill>
              </a:rPr>
              <a:t> · </a:t>
            </a:r>
            <a:r>
              <a:rPr lang="en-US" sz="2001" b="1">
                <a:solidFill>
                  <a:srgbClr val="C87C1C"/>
                </a:solidFill>
              </a:rPr>
              <a:t>References</a:t>
            </a:r>
            <a:endParaRPr sz="2001" b="1">
              <a:solidFill>
                <a:srgbClr val="C87C1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48411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11FB5CB6-7ACA-AF6C-947C-74A650ECDBE2}"/>
              </a:ext>
            </a:extLst>
          </p:cNvPr>
          <p:cNvSpPr txBox="1">
            <a:spLocks/>
          </p:cNvSpPr>
          <p:nvPr/>
        </p:nvSpPr>
        <p:spPr>
          <a:xfrm>
            <a:off x="3622119" y="2561780"/>
            <a:ext cx="7927662" cy="22721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+mn-lt"/>
              </a:rPr>
              <a:t>Investigations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77AE2740-6C38-3B75-FC06-278605665FBB}"/>
              </a:ext>
            </a:extLst>
          </p:cNvPr>
          <p:cNvSpPr txBox="1">
            <a:spLocks/>
          </p:cNvSpPr>
          <p:nvPr/>
        </p:nvSpPr>
        <p:spPr>
          <a:xfrm>
            <a:off x="3656241" y="3697831"/>
            <a:ext cx="7927407" cy="227210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99" indent="-381099">
              <a:buFont typeface="Wingdings" panose="05000000000000000000" pitchFamily="2" charset="2"/>
              <a:buChar char="Ø"/>
            </a:pPr>
            <a:r>
              <a:rPr lang="en-US"/>
              <a:t>Established BAP – BPP on local machine</a:t>
            </a:r>
          </a:p>
          <a:p>
            <a:pPr marL="381099" indent="-381099">
              <a:buFont typeface="Wingdings" panose="05000000000000000000" pitchFamily="2" charset="2"/>
              <a:buChar char="Ø"/>
            </a:pPr>
            <a:r>
              <a:rPr lang="en-US"/>
              <a:t>Policy as code – Tarif intelligence</a:t>
            </a:r>
          </a:p>
          <a:p>
            <a:pPr marL="381099" indent="-381099">
              <a:buFont typeface="Wingdings" panose="05000000000000000000" pitchFamily="2" charset="2"/>
              <a:buChar char="Ø"/>
            </a:pPr>
            <a:r>
              <a:rPr lang="en-US"/>
              <a:t>P2P – Energy Trading</a:t>
            </a:r>
          </a:p>
          <a:p>
            <a:pPr marL="381099" indent="-381099">
              <a:buFont typeface="Wingdings" panose="05000000000000000000" pitchFamily="2" charset="2"/>
              <a:buChar char="Ø"/>
            </a:pPr>
            <a:endParaRPr lang="en-US"/>
          </a:p>
          <a:p>
            <a:pPr marL="381099" indent="-381099"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6664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9AB94-C899-30E4-0886-6C8279AC2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E2AD338-6CAE-2D40-724C-ADF48C201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255" y="644166"/>
            <a:ext cx="11735018" cy="432111"/>
          </a:xfrm>
        </p:spPr>
        <p:txBody>
          <a:bodyPr>
            <a:normAutofit fontScale="90000"/>
          </a:bodyPr>
          <a:lstStyle/>
          <a:p>
            <a:r>
              <a:rPr lang="en-US">
                <a:latin typeface="+mn-lt"/>
              </a:rPr>
              <a:t>Establish BAP – BPP on local machine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B5E2DD4-2962-A58D-F76E-A577B64D6B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8255" y="136035"/>
            <a:ext cx="11735018" cy="432111"/>
          </a:xfrm>
        </p:spPr>
        <p:txBody>
          <a:bodyPr>
            <a:normAutofit fontScale="92500" lnSpcReduction="20000"/>
          </a:bodyPr>
          <a:lstStyle/>
          <a:p>
            <a:r>
              <a:rPr lang="en-US"/>
              <a:t>Digital Energy Grid - Investigations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961BC96-C926-A8EC-D3E2-162DD81648FE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28255" y="1232435"/>
            <a:ext cx="7589952" cy="4713212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Git cloned – Dev kit (link)</a:t>
            </a:r>
          </a:p>
          <a:p>
            <a:pPr lvl="1"/>
            <a:r>
              <a:rPr lang="en-US" b="1" dirty="0"/>
              <a:t>Data-exchange</a:t>
            </a:r>
          </a:p>
          <a:p>
            <a:pPr lvl="2"/>
            <a:r>
              <a:rPr lang="en-US" u="sng" dirty="0">
                <a:hlinkClick r:id="rId2"/>
              </a:rPr>
              <a:t>uc1-meter-data</a:t>
            </a:r>
            <a:endParaRPr lang="en-US" u="sng" dirty="0"/>
          </a:p>
          <a:p>
            <a:pPr lvl="2"/>
            <a:r>
              <a:rPr lang="en-US" u="sng" dirty="0">
                <a:hlinkClick r:id="rId3"/>
              </a:rPr>
              <a:t>uc2-regulatory-data</a:t>
            </a:r>
            <a:endParaRPr lang="en-US" u="sng" dirty="0"/>
          </a:p>
          <a:p>
            <a:pPr lvl="2"/>
            <a:r>
              <a:rPr lang="en-US" b="1" u="sng" dirty="0">
                <a:highlight>
                  <a:srgbClr val="FFFF00"/>
                </a:highlight>
                <a:hlinkClick r:id="rId4"/>
              </a:rPr>
              <a:t>uc3-tariff-policy</a:t>
            </a:r>
            <a:endParaRPr lang="en-US" b="1" u="sng" dirty="0">
              <a:highlight>
                <a:srgbClr val="FFFF00"/>
              </a:highlight>
            </a:endParaRPr>
          </a:p>
          <a:p>
            <a:pPr lvl="2"/>
            <a:r>
              <a:rPr lang="en-US" u="sng" dirty="0">
                <a:hlinkClick r:id="rId5"/>
              </a:rPr>
              <a:t>uc4-streaming</a:t>
            </a:r>
            <a:endParaRPr lang="en-US" b="1" dirty="0"/>
          </a:p>
          <a:p>
            <a:pPr lvl="1"/>
            <a:r>
              <a:rPr lang="en-US" dirty="0">
                <a:hlinkClick r:id="rId6" tooltip="demand-flex"/>
              </a:rPr>
              <a:t>demand-flex</a:t>
            </a:r>
            <a:endParaRPr lang="en-US" dirty="0"/>
          </a:p>
          <a:p>
            <a:pPr lvl="1"/>
            <a:r>
              <a:rPr lang="en-US" dirty="0" err="1">
                <a:hlinkClick r:id="rId7" tooltip="ev-charging"/>
              </a:rPr>
              <a:t>ev</a:t>
            </a:r>
            <a:r>
              <a:rPr lang="en-US" dirty="0">
                <a:hlinkClick r:id="rId7" tooltip="ev-charging"/>
              </a:rPr>
              <a:t>-charging</a:t>
            </a:r>
            <a:endParaRPr lang="en-US" dirty="0"/>
          </a:p>
          <a:p>
            <a:pPr lvl="1"/>
            <a:r>
              <a:rPr lang="en-US" dirty="0">
                <a:hlinkClick r:id="rId8" tooltip="p2p-enrollment"/>
              </a:rPr>
              <a:t>p2p-enrollment</a:t>
            </a:r>
            <a:endParaRPr lang="en-US" dirty="0"/>
          </a:p>
          <a:p>
            <a:pPr lvl="1"/>
            <a:r>
              <a:rPr lang="en-US" b="1" dirty="0">
                <a:highlight>
                  <a:srgbClr val="FFFF00"/>
                </a:highlight>
                <a:hlinkClick r:id="rId9" tooltip="p2p-trading-ies-wave2"/>
              </a:rPr>
              <a:t>p2p-trading-ies-wave2</a:t>
            </a:r>
            <a:endParaRPr lang="en-US" b="1" dirty="0">
              <a:highlight>
                <a:srgbClr val="FFFF00"/>
              </a:highlight>
            </a:endParaRPr>
          </a:p>
          <a:p>
            <a:pPr lvl="1"/>
            <a:r>
              <a:rPr lang="en-US" dirty="0"/>
              <a:t>Set up docker orchestration on local machine</a:t>
            </a:r>
          </a:p>
          <a:p>
            <a:r>
              <a:rPr lang="en-US" dirty="0"/>
              <a:t>Established communication across containers</a:t>
            </a:r>
          </a:p>
          <a:p>
            <a:r>
              <a:rPr lang="en-US" dirty="0"/>
              <a:t>Established visualization using node </a:t>
            </a:r>
            <a:r>
              <a:rPr lang="en-US" dirty="0" err="1"/>
              <a:t>js</a:t>
            </a:r>
            <a:r>
              <a:rPr lang="en-US" dirty="0"/>
              <a:t> for better understanding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6AFDF9-FDF7-ED10-3305-E371473BB04A}"/>
              </a:ext>
            </a:extLst>
          </p:cNvPr>
          <p:cNvSpPr txBox="1"/>
          <p:nvPr/>
        </p:nvSpPr>
        <p:spPr>
          <a:xfrm>
            <a:off x="7818207" y="1076277"/>
            <a:ext cx="3808980" cy="471321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56067" indent="-256067" defTabSz="1016190">
              <a:lnSpc>
                <a:spcPct val="107000"/>
              </a:lnSpc>
              <a:spcBef>
                <a:spcPts val="556"/>
              </a:spcBef>
              <a:buFont typeface="Wingdings" panose="05000000000000000000" pitchFamily="2" charset="2"/>
              <a:buChar char="§"/>
              <a:defRPr/>
            </a:pPr>
            <a:r>
              <a:rPr lang="en-US" sz="2001" dirty="0">
                <a:solidFill>
                  <a:prstClr val="black"/>
                </a:solidFill>
              </a:rPr>
              <a:t>Limitations</a:t>
            </a:r>
          </a:p>
          <a:p>
            <a:pPr defTabSz="1016264">
              <a:spcBef>
                <a:spcPts val="556"/>
              </a:spcBef>
            </a:pPr>
            <a:endParaRPr lang="en-US" sz="2001" b="1" kern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34331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A9DDA-0294-D0ED-6F47-096547309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82C3DE1-6C2C-4DA5-E9E6-3E8B3512E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latin typeface="+mn-lt"/>
              </a:rPr>
              <a:t>Policy as code – Tariff intelligence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EF1E4D3-0B96-1AF1-3217-9077851C021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Digital Energy Grid - Investigations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AA008D-89CF-E330-5CC6-43A3B2FAA323}"/>
              </a:ext>
            </a:extLst>
          </p:cNvPr>
          <p:cNvSpPr txBox="1"/>
          <p:nvPr/>
        </p:nvSpPr>
        <p:spPr>
          <a:xfrm>
            <a:off x="228256" y="1391998"/>
            <a:ext cx="10947759" cy="192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>
                <a:solidFill>
                  <a:srgbClr val="48576A"/>
                </a:solidFill>
              </a:rPr>
              <a:t>Publish an electricity tariff once, as signed data, so every billing system reads the same number</a:t>
            </a:r>
          </a:p>
        </p:txBody>
      </p:sp>
      <p:sp>
        <p:nvSpPr>
          <p:cNvPr id="9" name="Rounded Rectangle 4">
            <a:extLst>
              <a:ext uri="{FF2B5EF4-FFF2-40B4-BE49-F238E27FC236}">
                <a16:creationId xmlns:a16="http://schemas.microsoft.com/office/drawing/2014/main" id="{D655AF84-4707-B8F0-5125-320400A29ABF}"/>
              </a:ext>
            </a:extLst>
          </p:cNvPr>
          <p:cNvSpPr/>
          <p:nvPr/>
        </p:nvSpPr>
        <p:spPr>
          <a:xfrm>
            <a:off x="228256" y="1712029"/>
            <a:ext cx="1481280" cy="292599"/>
          </a:xfrm>
          <a:prstGeom prst="round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D666DD-CF92-0093-6467-735687896B25}"/>
              </a:ext>
            </a:extLst>
          </p:cNvPr>
          <p:cNvSpPr txBox="1"/>
          <p:nvPr/>
        </p:nvSpPr>
        <p:spPr>
          <a:xfrm>
            <a:off x="228256" y="1753175"/>
            <a:ext cx="1481280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BUILT &amp; PROVEN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D5F4B4E-C714-D26D-B3A2-902C50292EB0}"/>
              </a:ext>
            </a:extLst>
          </p:cNvPr>
          <p:cNvSpPr/>
          <p:nvPr/>
        </p:nvSpPr>
        <p:spPr>
          <a:xfrm>
            <a:off x="228255" y="2169214"/>
            <a:ext cx="3466378" cy="347460"/>
          </a:xfrm>
          <a:prstGeom prst="rect">
            <a:avLst/>
          </a:prstGeom>
          <a:solidFill>
            <a:srgbClr val="2C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E350676-EF26-8D8C-CAA6-DC9EED132BEA}"/>
              </a:ext>
            </a:extLst>
          </p:cNvPr>
          <p:cNvSpPr txBox="1"/>
          <p:nvPr/>
        </p:nvSpPr>
        <p:spPr>
          <a:xfrm>
            <a:off x="356267" y="2258306"/>
            <a:ext cx="3210355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57CCC4C-5475-92E9-E49C-CD2B14499ADD}"/>
              </a:ext>
            </a:extLst>
          </p:cNvPr>
          <p:cNvSpPr txBox="1"/>
          <p:nvPr/>
        </p:nvSpPr>
        <p:spPr>
          <a:xfrm>
            <a:off x="301404" y="2626400"/>
            <a:ext cx="182874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48576A"/>
                </a:solidFill>
              </a:rPr>
              <a:t>•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2FEC866-4CB9-2EA5-8FC2-87D06032E424}"/>
              </a:ext>
            </a:extLst>
          </p:cNvPr>
          <p:cNvSpPr txBox="1"/>
          <p:nvPr/>
        </p:nvSpPr>
        <p:spPr>
          <a:xfrm>
            <a:off x="484278" y="2626400"/>
            <a:ext cx="3118918" cy="5078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48576A"/>
                </a:solidFill>
              </a:rPr>
              <a:t>A regulator issues a tariff as a legal PDF, re-extracted by hand by every billing system that needs it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90C37A-3468-2638-DE41-FBEB5F8E75D0}"/>
              </a:ext>
            </a:extLst>
          </p:cNvPr>
          <p:cNvSpPr txBox="1"/>
          <p:nvPr/>
        </p:nvSpPr>
        <p:spPr>
          <a:xfrm>
            <a:off x="301404" y="3248172"/>
            <a:ext cx="182874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48576A"/>
                </a:solidFill>
              </a:rPr>
              <a:t>•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7187017-25D5-BE4D-A198-F4106BBF4465}"/>
              </a:ext>
            </a:extLst>
          </p:cNvPr>
          <p:cNvSpPr txBox="1"/>
          <p:nvPr/>
        </p:nvSpPr>
        <p:spPr>
          <a:xfrm>
            <a:off x="484278" y="3248172"/>
            <a:ext cx="3118918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48576A"/>
                </a:solidFill>
              </a:rPr>
              <a:t>No authoritative, machine-readable source exists — a recognised, ongoing source of billing disputes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5F36869-F78A-9FDC-A4ED-930DCC67CF71}"/>
              </a:ext>
            </a:extLst>
          </p:cNvPr>
          <p:cNvSpPr/>
          <p:nvPr/>
        </p:nvSpPr>
        <p:spPr>
          <a:xfrm>
            <a:off x="3968944" y="2169214"/>
            <a:ext cx="3466378" cy="34746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1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1DBEE6F-D4BD-6EB4-174C-0FFAD49CF11D}"/>
              </a:ext>
            </a:extLst>
          </p:cNvPr>
          <p:cNvSpPr txBox="1"/>
          <p:nvPr/>
        </p:nvSpPr>
        <p:spPr>
          <a:xfrm>
            <a:off x="4096956" y="2258306"/>
            <a:ext cx="3210355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WHAT I BUILT &amp; PROVED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6BF19D7-D611-A2D0-FD6E-695FAA5171C8}"/>
              </a:ext>
            </a:extLst>
          </p:cNvPr>
          <p:cNvSpPr txBox="1"/>
          <p:nvPr/>
        </p:nvSpPr>
        <p:spPr>
          <a:xfrm>
            <a:off x="4042094" y="2626400"/>
            <a:ext cx="182874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48576A"/>
                </a:solidFill>
              </a:rPr>
              <a:t>•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B541945-16FE-4D06-C4B5-29DB707866F2}"/>
              </a:ext>
            </a:extLst>
          </p:cNvPr>
          <p:cNvSpPr txBox="1"/>
          <p:nvPr/>
        </p:nvSpPr>
        <p:spPr>
          <a:xfrm>
            <a:off x="4224968" y="2626399"/>
            <a:ext cx="3118918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48576A"/>
                </a:solidFill>
              </a:rPr>
              <a:t>A real signed policy object, over IES's own unmodified schema fields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459A959-C55A-566D-2DEC-88A1A16FF093}"/>
              </a:ext>
            </a:extLst>
          </p:cNvPr>
          <p:cNvSpPr txBox="1"/>
          <p:nvPr/>
        </p:nvSpPr>
        <p:spPr>
          <a:xfrm>
            <a:off x="4042094" y="3248172"/>
            <a:ext cx="182874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48576A"/>
                </a:solidFill>
              </a:rPr>
              <a:t>•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7C9336E-40C7-C1E5-D76C-0F24D144ACEA}"/>
              </a:ext>
            </a:extLst>
          </p:cNvPr>
          <p:cNvSpPr txBox="1"/>
          <p:nvPr/>
        </p:nvSpPr>
        <p:spPr>
          <a:xfrm>
            <a:off x="4224968" y="3080823"/>
            <a:ext cx="3118918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48576A"/>
                </a:solidFill>
              </a:rPr>
              <a:t>Two independent evaluators (Node + Python) computed identical bills across 4 real scenarios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B41D8BF-AEB8-DA15-FDAC-7DFA8F07FFD6}"/>
              </a:ext>
            </a:extLst>
          </p:cNvPr>
          <p:cNvSpPr txBox="1"/>
          <p:nvPr/>
        </p:nvSpPr>
        <p:spPr>
          <a:xfrm>
            <a:off x="4042094" y="3869944"/>
            <a:ext cx="182874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48576A"/>
                </a:solidFill>
              </a:rPr>
              <a:t>•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36DA430-B50A-18D0-CE46-F7037A2BCDA6}"/>
              </a:ext>
            </a:extLst>
          </p:cNvPr>
          <p:cNvSpPr txBox="1"/>
          <p:nvPr/>
        </p:nvSpPr>
        <p:spPr>
          <a:xfrm>
            <a:off x="4224968" y="3723644"/>
            <a:ext cx="3118918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48576A"/>
                </a:solidFill>
              </a:rPr>
              <a:t>Full protocol round-trip run live against the real, unmodified IES sandbox network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F063519-6643-6D32-4937-AFFB8C1B7D42}"/>
              </a:ext>
            </a:extLst>
          </p:cNvPr>
          <p:cNvSpPr/>
          <p:nvPr/>
        </p:nvSpPr>
        <p:spPr>
          <a:xfrm>
            <a:off x="7709634" y="2169214"/>
            <a:ext cx="3466378" cy="347460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1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02A3D79-6B35-AA14-8C7F-E29C25345D11}"/>
              </a:ext>
            </a:extLst>
          </p:cNvPr>
          <p:cNvSpPr txBox="1"/>
          <p:nvPr/>
        </p:nvSpPr>
        <p:spPr>
          <a:xfrm>
            <a:off x="7837646" y="2258306"/>
            <a:ext cx="3210355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WHAT I FOUND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D4A665B-BDFC-72C9-0CD5-111A1E7B3EAE}"/>
              </a:ext>
            </a:extLst>
          </p:cNvPr>
          <p:cNvSpPr txBox="1"/>
          <p:nvPr/>
        </p:nvSpPr>
        <p:spPr>
          <a:xfrm>
            <a:off x="7782784" y="2626400"/>
            <a:ext cx="182874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48576A"/>
                </a:solidFill>
              </a:rPr>
              <a:t>•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11A3611-9C66-27A1-4286-7D39254980C1}"/>
              </a:ext>
            </a:extLst>
          </p:cNvPr>
          <p:cNvSpPr txBox="1"/>
          <p:nvPr/>
        </p:nvSpPr>
        <p:spPr>
          <a:xfrm>
            <a:off x="7965657" y="2626399"/>
            <a:ext cx="3118918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48576A"/>
                </a:solidFill>
              </a:rPr>
              <a:t>3 schema gaps already flagged open by IES itself, shown to be closable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31210FA-978C-AB3D-F373-C445412F0D25}"/>
              </a:ext>
            </a:extLst>
          </p:cNvPr>
          <p:cNvSpPr txBox="1"/>
          <p:nvPr/>
        </p:nvSpPr>
        <p:spPr>
          <a:xfrm>
            <a:off x="7782784" y="3248172"/>
            <a:ext cx="182874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48576A"/>
                </a:solidFill>
              </a:rPr>
              <a:t>•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BBDBE76-39FB-319E-C095-723FC557494B}"/>
              </a:ext>
            </a:extLst>
          </p:cNvPr>
          <p:cNvSpPr txBox="1"/>
          <p:nvPr/>
        </p:nvSpPr>
        <p:spPr>
          <a:xfrm>
            <a:off x="7965657" y="3164279"/>
            <a:ext cx="3118918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48576A"/>
                </a:solidFill>
              </a:rPr>
              <a:t>1 further real ambiguity found while building: surcharge vs. slab interaction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61518F3-56E0-00F2-4EAB-A0C214EFA8DA}"/>
              </a:ext>
            </a:extLst>
          </p:cNvPr>
          <p:cNvSpPr txBox="1"/>
          <p:nvPr/>
        </p:nvSpPr>
        <p:spPr>
          <a:xfrm>
            <a:off x="7782784" y="3869944"/>
            <a:ext cx="182874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48576A"/>
                </a:solidFill>
              </a:rPr>
              <a:t>•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BA9A203-222E-7857-897F-690287E812DD}"/>
              </a:ext>
            </a:extLst>
          </p:cNvPr>
          <p:cNvSpPr txBox="1"/>
          <p:nvPr/>
        </p:nvSpPr>
        <p:spPr>
          <a:xfrm>
            <a:off x="7965657" y="3723644"/>
            <a:ext cx="3118918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48576A"/>
                </a:solidFill>
              </a:rPr>
              <a:t>No clear commercial angle for us specifically — paused by choice after proving it worked</a:t>
            </a:r>
          </a:p>
        </p:txBody>
      </p:sp>
    </p:spTree>
    <p:extLst>
      <p:ext uri="{BB962C8B-B14F-4D97-AF65-F5344CB8AC3E}">
        <p14:creationId xmlns:p14="http://schemas.microsoft.com/office/powerpoint/2010/main" val="42029610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09160-5754-E79E-DC48-F3E864138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14FB20A-FC0F-6E40-5FD3-D573961BA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latin typeface="+mn-lt"/>
              </a:rPr>
              <a:t>Policy as code – Tariff intelligence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59CC7AD-4AB8-603E-1DBC-E7AE7D84A8E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Digital Energy Grid - Investigations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613493A-3BFE-8371-738C-8DE696858075}"/>
              </a:ext>
            </a:extLst>
          </p:cNvPr>
          <p:cNvSpPr txBox="1"/>
          <p:nvPr/>
        </p:nvSpPr>
        <p:spPr>
          <a:xfrm>
            <a:off x="640256" y="1371666"/>
            <a:ext cx="1088101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48576A"/>
                </a:solidFill>
              </a:rPr>
              <a:t>The same tariff order gets manually re-extracted, from scratch, by every organisation that needs it.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8F03036-AD75-5F8F-4A80-2EB7D3BF9B57}"/>
              </a:ext>
            </a:extLst>
          </p:cNvPr>
          <p:cNvSpPr/>
          <p:nvPr/>
        </p:nvSpPr>
        <p:spPr>
          <a:xfrm>
            <a:off x="640256" y="1966008"/>
            <a:ext cx="5257631" cy="411467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1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E2F6981-859D-83B7-C70E-C8235816B91B}"/>
              </a:ext>
            </a:extLst>
          </p:cNvPr>
          <p:cNvSpPr txBox="1"/>
          <p:nvPr/>
        </p:nvSpPr>
        <p:spPr>
          <a:xfrm>
            <a:off x="640256" y="2039157"/>
            <a:ext cx="5257631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</a:rPr>
              <a:t>TODAY — ONE PDF, RE-READ BY EVERYONE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BD4432D-A36B-20E3-8CE5-5EDD65908E91}"/>
              </a:ext>
            </a:extLst>
          </p:cNvPr>
          <p:cNvSpPr/>
          <p:nvPr/>
        </p:nvSpPr>
        <p:spPr>
          <a:xfrm>
            <a:off x="1646064" y="2514630"/>
            <a:ext cx="3246016" cy="50290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1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7FCEB22-5724-7532-C7BF-C2B420246750}"/>
              </a:ext>
            </a:extLst>
          </p:cNvPr>
          <p:cNvSpPr txBox="1"/>
          <p:nvPr/>
        </p:nvSpPr>
        <p:spPr>
          <a:xfrm>
            <a:off x="1737500" y="2660283"/>
            <a:ext cx="3063141" cy="2115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50" b="1">
                <a:solidFill>
                  <a:srgbClr val="121B27"/>
                </a:solidFill>
              </a:rPr>
              <a:t>SERC Tariff Order (PDF)</a:t>
            </a:r>
          </a:p>
        </p:txBody>
      </p:sp>
      <p:cxnSp>
        <p:nvCxnSpPr>
          <p:cNvPr id="39" name="Connector 8">
            <a:extLst>
              <a:ext uri="{FF2B5EF4-FFF2-40B4-BE49-F238E27FC236}">
                <a16:creationId xmlns:a16="http://schemas.microsoft.com/office/drawing/2014/main" id="{843A34D7-EFB4-874A-DAA7-A348BE2F767E}"/>
              </a:ext>
            </a:extLst>
          </p:cNvPr>
          <p:cNvCxnSpPr/>
          <p:nvPr/>
        </p:nvCxnSpPr>
        <p:spPr>
          <a:xfrm>
            <a:off x="3264500" y="3017533"/>
            <a:ext cx="0" cy="365749"/>
          </a:xfrm>
          <a:prstGeom prst="line">
            <a:avLst/>
          </a:prstGeom>
          <a:ln w="19050">
            <a:solidFill>
              <a:srgbClr val="B03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51EA3FC0-304A-7D58-7AEF-F64BCAE790AC}"/>
              </a:ext>
            </a:extLst>
          </p:cNvPr>
          <p:cNvSpPr/>
          <p:nvPr/>
        </p:nvSpPr>
        <p:spPr>
          <a:xfrm>
            <a:off x="914566" y="3383282"/>
            <a:ext cx="4709009" cy="502904"/>
          </a:xfrm>
          <a:prstGeom prst="rect">
            <a:avLst/>
          </a:prstGeom>
          <a:solidFill>
            <a:srgbClr val="FBEFED"/>
          </a:solidFill>
          <a:ln w="12700">
            <a:solidFill>
              <a:srgbClr val="B0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1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2B2233A-447D-D9E3-0E63-A57EB3EBB1AA}"/>
              </a:ext>
            </a:extLst>
          </p:cNvPr>
          <p:cNvSpPr txBox="1"/>
          <p:nvPr/>
        </p:nvSpPr>
        <p:spPr>
          <a:xfrm>
            <a:off x="1006005" y="3536790"/>
            <a:ext cx="4526134" cy="195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B03A2E"/>
                </a:solidFill>
              </a:rPr>
              <a:t>Tariff-comparison app:  re-extracted quarterly</a:t>
            </a:r>
          </a:p>
        </p:txBody>
      </p:sp>
      <p:cxnSp>
        <p:nvCxnSpPr>
          <p:cNvPr id="42" name="Connector 11">
            <a:extLst>
              <a:ext uri="{FF2B5EF4-FFF2-40B4-BE49-F238E27FC236}">
                <a16:creationId xmlns:a16="http://schemas.microsoft.com/office/drawing/2014/main" id="{CC799F0A-FC2B-F53D-F824-E93C687AC2CC}"/>
              </a:ext>
            </a:extLst>
          </p:cNvPr>
          <p:cNvCxnSpPr/>
          <p:nvPr/>
        </p:nvCxnSpPr>
        <p:spPr>
          <a:xfrm>
            <a:off x="3264500" y="3017533"/>
            <a:ext cx="0" cy="1024096"/>
          </a:xfrm>
          <a:prstGeom prst="line">
            <a:avLst/>
          </a:prstGeom>
          <a:ln w="19050">
            <a:solidFill>
              <a:srgbClr val="B03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F47C6B62-0DB8-87D1-F7B6-BAFBB0BC41BB}"/>
              </a:ext>
            </a:extLst>
          </p:cNvPr>
          <p:cNvSpPr/>
          <p:nvPr/>
        </p:nvSpPr>
        <p:spPr>
          <a:xfrm>
            <a:off x="914566" y="4041629"/>
            <a:ext cx="4709009" cy="502904"/>
          </a:xfrm>
          <a:prstGeom prst="rect">
            <a:avLst/>
          </a:prstGeom>
          <a:solidFill>
            <a:srgbClr val="FBEFED"/>
          </a:solidFill>
          <a:ln w="12700">
            <a:solidFill>
              <a:srgbClr val="B0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1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25FCD32-16C9-F41B-F144-8948DF6C6D88}"/>
              </a:ext>
            </a:extLst>
          </p:cNvPr>
          <p:cNvSpPr txBox="1"/>
          <p:nvPr/>
        </p:nvSpPr>
        <p:spPr>
          <a:xfrm>
            <a:off x="1006005" y="4195137"/>
            <a:ext cx="4526134" cy="195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B03A2E"/>
                </a:solidFill>
              </a:rPr>
              <a:t>Cross-state regulator study:  re-extracted by hand</a:t>
            </a:r>
          </a:p>
        </p:txBody>
      </p:sp>
      <p:cxnSp>
        <p:nvCxnSpPr>
          <p:cNvPr id="45" name="Connector 14">
            <a:extLst>
              <a:ext uri="{FF2B5EF4-FFF2-40B4-BE49-F238E27FC236}">
                <a16:creationId xmlns:a16="http://schemas.microsoft.com/office/drawing/2014/main" id="{BBCB7C79-D4F6-D50C-7EA1-288D6B5C5DE4}"/>
              </a:ext>
            </a:extLst>
          </p:cNvPr>
          <p:cNvCxnSpPr/>
          <p:nvPr/>
        </p:nvCxnSpPr>
        <p:spPr>
          <a:xfrm>
            <a:off x="3264500" y="3017533"/>
            <a:ext cx="0" cy="1682442"/>
          </a:xfrm>
          <a:prstGeom prst="line">
            <a:avLst/>
          </a:prstGeom>
          <a:ln w="19050">
            <a:solidFill>
              <a:srgbClr val="B03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4A54710F-AD03-8984-E49F-128CC9A44446}"/>
              </a:ext>
            </a:extLst>
          </p:cNvPr>
          <p:cNvSpPr/>
          <p:nvPr/>
        </p:nvSpPr>
        <p:spPr>
          <a:xfrm>
            <a:off x="914566" y="4699975"/>
            <a:ext cx="4709009" cy="502904"/>
          </a:xfrm>
          <a:prstGeom prst="rect">
            <a:avLst/>
          </a:prstGeom>
          <a:solidFill>
            <a:srgbClr val="FBEFED"/>
          </a:solidFill>
          <a:ln w="12700">
            <a:solidFill>
              <a:srgbClr val="B0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1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1ACC282-C7A3-D21C-AD50-CD00BDC8631D}"/>
              </a:ext>
            </a:extLst>
          </p:cNvPr>
          <p:cNvSpPr txBox="1"/>
          <p:nvPr/>
        </p:nvSpPr>
        <p:spPr>
          <a:xfrm>
            <a:off x="1006005" y="4853484"/>
            <a:ext cx="4526134" cy="195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B03A2E"/>
                </a:solidFill>
              </a:rPr>
              <a:t>EV / solar calculator app:  re-extracted independently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DBB4268-8F20-6EC3-59DE-A8F13BB77263}"/>
              </a:ext>
            </a:extLst>
          </p:cNvPr>
          <p:cNvSpPr txBox="1"/>
          <p:nvPr/>
        </p:nvSpPr>
        <p:spPr>
          <a:xfrm>
            <a:off x="640256" y="5413184"/>
            <a:ext cx="5257631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i="1">
                <a:solidFill>
                  <a:srgbClr val="B03A2E"/>
                </a:solidFill>
              </a:rPr>
              <a:t>Same document. Re-read from scratch, indefinitely.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AF57438-197B-C58B-42F3-D383CC99A0E4}"/>
              </a:ext>
            </a:extLst>
          </p:cNvPr>
          <p:cNvSpPr/>
          <p:nvPr/>
        </p:nvSpPr>
        <p:spPr>
          <a:xfrm>
            <a:off x="6263635" y="1966008"/>
            <a:ext cx="5257631" cy="411467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1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038D858-1C8D-25EB-6E76-A59D8902DAC1}"/>
              </a:ext>
            </a:extLst>
          </p:cNvPr>
          <p:cNvSpPr txBox="1"/>
          <p:nvPr/>
        </p:nvSpPr>
        <p:spPr>
          <a:xfrm>
            <a:off x="6263635" y="2039157"/>
            <a:ext cx="5257631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</a:rPr>
              <a:t>PROPOSED — PUBLISHED ONCE, READ BY ALL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9927B01-718D-02C0-0C55-1BCA446314EA}"/>
              </a:ext>
            </a:extLst>
          </p:cNvPr>
          <p:cNvSpPr/>
          <p:nvPr/>
        </p:nvSpPr>
        <p:spPr>
          <a:xfrm>
            <a:off x="7269442" y="2514630"/>
            <a:ext cx="3246016" cy="50290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1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BCCD2CF-8F78-1507-5111-77C61CE788D7}"/>
              </a:ext>
            </a:extLst>
          </p:cNvPr>
          <p:cNvSpPr txBox="1"/>
          <p:nvPr/>
        </p:nvSpPr>
        <p:spPr>
          <a:xfrm>
            <a:off x="7360880" y="2660283"/>
            <a:ext cx="3063141" cy="2115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50" b="1">
                <a:solidFill>
                  <a:srgbClr val="121B27"/>
                </a:solidFill>
              </a:rPr>
              <a:t>SERC Tariff — signed data</a:t>
            </a:r>
          </a:p>
        </p:txBody>
      </p:sp>
      <p:cxnSp>
        <p:nvCxnSpPr>
          <p:cNvPr id="53" name="Connector 22">
            <a:extLst>
              <a:ext uri="{FF2B5EF4-FFF2-40B4-BE49-F238E27FC236}">
                <a16:creationId xmlns:a16="http://schemas.microsoft.com/office/drawing/2014/main" id="{85CD0BDC-162D-26D5-264B-0BA512D477D7}"/>
              </a:ext>
            </a:extLst>
          </p:cNvPr>
          <p:cNvCxnSpPr/>
          <p:nvPr/>
        </p:nvCxnSpPr>
        <p:spPr>
          <a:xfrm>
            <a:off x="8887878" y="3017533"/>
            <a:ext cx="0" cy="365749"/>
          </a:xfrm>
          <a:prstGeom prst="line">
            <a:avLst/>
          </a:prstGeom>
          <a:ln w="19050">
            <a:solidFill>
              <a:srgbClr val="2E7D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E9F8169B-9622-880F-E8A1-12975DC0FD14}"/>
              </a:ext>
            </a:extLst>
          </p:cNvPr>
          <p:cNvSpPr/>
          <p:nvPr/>
        </p:nvSpPr>
        <p:spPr>
          <a:xfrm>
            <a:off x="6537946" y="3383282"/>
            <a:ext cx="4709009" cy="502904"/>
          </a:xfrm>
          <a:prstGeom prst="rect">
            <a:avLst/>
          </a:prstGeom>
          <a:solidFill>
            <a:srgbClr val="ECF5EE"/>
          </a:solidFill>
          <a:ln w="1270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1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3E44E5D-19F3-F4E8-0D00-C085D14E00E7}"/>
              </a:ext>
            </a:extLst>
          </p:cNvPr>
          <p:cNvSpPr txBox="1"/>
          <p:nvPr/>
        </p:nvSpPr>
        <p:spPr>
          <a:xfrm>
            <a:off x="6629383" y="3536790"/>
            <a:ext cx="4526134" cy="195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2E7D4F"/>
                </a:solidFill>
              </a:rPr>
              <a:t>Tariff-comparison app:  reads it directly</a:t>
            </a:r>
          </a:p>
        </p:txBody>
      </p:sp>
      <p:cxnSp>
        <p:nvCxnSpPr>
          <p:cNvPr id="56" name="Connector 25">
            <a:extLst>
              <a:ext uri="{FF2B5EF4-FFF2-40B4-BE49-F238E27FC236}">
                <a16:creationId xmlns:a16="http://schemas.microsoft.com/office/drawing/2014/main" id="{4EF9E56C-F4CB-71A4-F3DB-0CC98CFBCA9A}"/>
              </a:ext>
            </a:extLst>
          </p:cNvPr>
          <p:cNvCxnSpPr/>
          <p:nvPr/>
        </p:nvCxnSpPr>
        <p:spPr>
          <a:xfrm>
            <a:off x="8887878" y="3017533"/>
            <a:ext cx="0" cy="1024096"/>
          </a:xfrm>
          <a:prstGeom prst="line">
            <a:avLst/>
          </a:prstGeom>
          <a:ln w="19050">
            <a:solidFill>
              <a:srgbClr val="2E7D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F66F8F98-8616-9E18-36DB-E758D833E27F}"/>
              </a:ext>
            </a:extLst>
          </p:cNvPr>
          <p:cNvSpPr/>
          <p:nvPr/>
        </p:nvSpPr>
        <p:spPr>
          <a:xfrm>
            <a:off x="6537946" y="4041629"/>
            <a:ext cx="4709009" cy="502904"/>
          </a:xfrm>
          <a:prstGeom prst="rect">
            <a:avLst/>
          </a:prstGeom>
          <a:solidFill>
            <a:srgbClr val="ECF5EE"/>
          </a:solidFill>
          <a:ln w="1270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1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C59E311-1A1D-798D-5CEB-1278BAA0F356}"/>
              </a:ext>
            </a:extLst>
          </p:cNvPr>
          <p:cNvSpPr txBox="1"/>
          <p:nvPr/>
        </p:nvSpPr>
        <p:spPr>
          <a:xfrm>
            <a:off x="6629383" y="4195137"/>
            <a:ext cx="4526134" cy="195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2E7D4F"/>
                </a:solidFill>
              </a:rPr>
              <a:t>Cross-state regulator study:  reads it directly</a:t>
            </a:r>
          </a:p>
        </p:txBody>
      </p:sp>
      <p:cxnSp>
        <p:nvCxnSpPr>
          <p:cNvPr id="59" name="Connector 28">
            <a:extLst>
              <a:ext uri="{FF2B5EF4-FFF2-40B4-BE49-F238E27FC236}">
                <a16:creationId xmlns:a16="http://schemas.microsoft.com/office/drawing/2014/main" id="{FBBD5283-B351-5446-CCBE-7D8D71B53716}"/>
              </a:ext>
            </a:extLst>
          </p:cNvPr>
          <p:cNvCxnSpPr/>
          <p:nvPr/>
        </p:nvCxnSpPr>
        <p:spPr>
          <a:xfrm>
            <a:off x="8887878" y="3017533"/>
            <a:ext cx="0" cy="1682442"/>
          </a:xfrm>
          <a:prstGeom prst="line">
            <a:avLst/>
          </a:prstGeom>
          <a:ln w="19050">
            <a:solidFill>
              <a:srgbClr val="2E7D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id="{3D52D766-34E1-9A06-4C1B-3A678C65B0E9}"/>
              </a:ext>
            </a:extLst>
          </p:cNvPr>
          <p:cNvSpPr/>
          <p:nvPr/>
        </p:nvSpPr>
        <p:spPr>
          <a:xfrm>
            <a:off x="6537946" y="4699975"/>
            <a:ext cx="4709009" cy="502904"/>
          </a:xfrm>
          <a:prstGeom prst="rect">
            <a:avLst/>
          </a:prstGeom>
          <a:solidFill>
            <a:srgbClr val="ECF5EE"/>
          </a:solidFill>
          <a:ln w="1270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1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6B135C9-63C5-9E7D-5977-BFBCA54062BF}"/>
              </a:ext>
            </a:extLst>
          </p:cNvPr>
          <p:cNvSpPr txBox="1"/>
          <p:nvPr/>
        </p:nvSpPr>
        <p:spPr>
          <a:xfrm>
            <a:off x="6629383" y="4853484"/>
            <a:ext cx="4526134" cy="195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2E7D4F"/>
                </a:solidFill>
              </a:rPr>
              <a:t>EV / solar calculator app:  reads it directly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10B58BB-1E4B-F91F-5985-26018228D0FE}"/>
              </a:ext>
            </a:extLst>
          </p:cNvPr>
          <p:cNvSpPr txBox="1"/>
          <p:nvPr/>
        </p:nvSpPr>
        <p:spPr>
          <a:xfrm>
            <a:off x="6263635" y="5413184"/>
            <a:ext cx="5257631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i="1">
                <a:solidFill>
                  <a:srgbClr val="2E7D4F"/>
                </a:solidFill>
              </a:rPr>
              <a:t>Same document. Read once, verified, by everyone.</a:t>
            </a:r>
          </a:p>
        </p:txBody>
      </p:sp>
    </p:spTree>
    <p:extLst>
      <p:ext uri="{BB962C8B-B14F-4D97-AF65-F5344CB8AC3E}">
        <p14:creationId xmlns:p14="http://schemas.microsoft.com/office/powerpoint/2010/main" val="15519773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52D8D-6435-115A-2C9B-934DAEDEA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1A49DA2-A654-48EC-CD80-8ACBCA6CD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latin typeface="+mn-lt"/>
              </a:rPr>
              <a:t>Policy as code – Tariff intelligence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4FA1778-8034-6493-8649-F6004E3B94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Digital Energy Grid - Investigations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B449B37-59F2-345E-4E21-FAC80A5FF00D}"/>
              </a:ext>
            </a:extLst>
          </p:cNvPr>
          <p:cNvSpPr/>
          <p:nvPr/>
        </p:nvSpPr>
        <p:spPr>
          <a:xfrm>
            <a:off x="777411" y="1737414"/>
            <a:ext cx="3063141" cy="8686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D11ACC-2BE6-8D37-D138-6C276682461E}"/>
              </a:ext>
            </a:extLst>
          </p:cNvPr>
          <p:cNvSpPr txBox="1"/>
          <p:nvPr/>
        </p:nvSpPr>
        <p:spPr>
          <a:xfrm>
            <a:off x="868848" y="2076726"/>
            <a:ext cx="2880267" cy="211596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lnSpc>
                <a:spcPct val="105000"/>
              </a:lnSpc>
            </a:pPr>
            <a:r>
              <a:rPr sz="1350" b="1">
                <a:solidFill>
                  <a:srgbClr val="121B27"/>
                </a:solidFill>
              </a:rPr>
              <a:t>SERC / Regulator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BC912E-5797-FE8B-2391-D1E2860F7AB3}"/>
              </a:ext>
            </a:extLst>
          </p:cNvPr>
          <p:cNvSpPr txBox="1"/>
          <p:nvPr/>
        </p:nvSpPr>
        <p:spPr>
          <a:xfrm>
            <a:off x="868848" y="2285990"/>
            <a:ext cx="2880267" cy="1645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>
                <a:solidFill>
                  <a:srgbClr val="48576A"/>
                </a:solidFill>
              </a:rPr>
              <a:t>authors the tariff</a:t>
            </a:r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EFA8F53D-58AF-6B87-DFA7-6F5A2283CCA2}"/>
              </a:ext>
            </a:extLst>
          </p:cNvPr>
          <p:cNvSpPr/>
          <p:nvPr/>
        </p:nvSpPr>
        <p:spPr>
          <a:xfrm>
            <a:off x="3858840" y="2062017"/>
            <a:ext cx="283455" cy="219449"/>
          </a:xfrm>
          <a:prstGeom prst="rightArrow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1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B628726-CB61-89B1-BFF4-725998217E8A}"/>
              </a:ext>
            </a:extLst>
          </p:cNvPr>
          <p:cNvSpPr/>
          <p:nvPr/>
        </p:nvSpPr>
        <p:spPr>
          <a:xfrm>
            <a:off x="4160582" y="1737414"/>
            <a:ext cx="3063141" cy="868652"/>
          </a:xfrm>
          <a:prstGeom prst="rect">
            <a:avLst/>
          </a:prstGeom>
          <a:solidFill>
            <a:srgbClr val="FBF0DD"/>
          </a:solidFill>
          <a:ln w="12700">
            <a:solidFill>
              <a:srgbClr val="C87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4CFDEA-44F7-EF74-EAB5-5D3031250FCA}"/>
              </a:ext>
            </a:extLst>
          </p:cNvPr>
          <p:cNvSpPr txBox="1"/>
          <p:nvPr/>
        </p:nvSpPr>
        <p:spPr>
          <a:xfrm>
            <a:off x="4252019" y="2076726"/>
            <a:ext cx="2880267" cy="211596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lnSpc>
                <a:spcPct val="105000"/>
              </a:lnSpc>
            </a:pPr>
            <a:r>
              <a:rPr sz="1350" b="1">
                <a:solidFill>
                  <a:srgbClr val="C87C1C"/>
                </a:solidFill>
              </a:rPr>
              <a:t>Signed Policy Object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60B889-5AF3-2E24-6556-5222C633C2C4}"/>
              </a:ext>
            </a:extLst>
          </p:cNvPr>
          <p:cNvSpPr txBox="1"/>
          <p:nvPr/>
        </p:nvSpPr>
        <p:spPr>
          <a:xfrm>
            <a:off x="4252019" y="2288307"/>
            <a:ext cx="2880267" cy="1645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err="1">
                <a:solidFill>
                  <a:srgbClr val="48576A"/>
                </a:solidFill>
              </a:rPr>
              <a:t>IES_Policy</a:t>
            </a:r>
            <a:r>
              <a:rPr sz="1050">
                <a:solidFill>
                  <a:srgbClr val="48576A"/>
                </a:solidFill>
              </a:rPr>
              <a:t> + signature</a:t>
            </a: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FEF89C2F-2F10-3DD7-6322-33F7AD91B9AE}"/>
              </a:ext>
            </a:extLst>
          </p:cNvPr>
          <p:cNvSpPr/>
          <p:nvPr/>
        </p:nvSpPr>
        <p:spPr>
          <a:xfrm>
            <a:off x="7242011" y="2062017"/>
            <a:ext cx="283455" cy="219449"/>
          </a:xfrm>
          <a:prstGeom prst="rightArrow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1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B93F0E-58AD-F646-40DB-00F6BDC79D6C}"/>
              </a:ext>
            </a:extLst>
          </p:cNvPr>
          <p:cNvSpPr/>
          <p:nvPr/>
        </p:nvSpPr>
        <p:spPr>
          <a:xfrm>
            <a:off x="7543754" y="1737414"/>
            <a:ext cx="3063141" cy="868652"/>
          </a:xfrm>
          <a:prstGeom prst="rect">
            <a:avLst/>
          </a:prstGeom>
          <a:solidFill>
            <a:srgbClr val="121B27"/>
          </a:solidFill>
          <a:ln w="12700">
            <a:solidFill>
              <a:srgbClr val="2633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412AB3-6FF9-17E1-3C70-DD605119276A}"/>
              </a:ext>
            </a:extLst>
          </p:cNvPr>
          <p:cNvSpPr txBox="1"/>
          <p:nvPr/>
        </p:nvSpPr>
        <p:spPr>
          <a:xfrm>
            <a:off x="7635191" y="2076726"/>
            <a:ext cx="2880267" cy="211596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lnSpc>
                <a:spcPct val="105000"/>
              </a:lnSpc>
            </a:pPr>
            <a:r>
              <a:rPr sz="1350" b="1">
                <a:solidFill>
                  <a:srgbClr val="FFFFFF"/>
                </a:solidFill>
              </a:rPr>
              <a:t>Beckn / ONIX Network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C0AC3E-2F44-9347-1AC0-7A8DEE23EB83}"/>
              </a:ext>
            </a:extLst>
          </p:cNvPr>
          <p:cNvSpPr txBox="1"/>
          <p:nvPr/>
        </p:nvSpPr>
        <p:spPr>
          <a:xfrm>
            <a:off x="7635191" y="2301270"/>
            <a:ext cx="2880267" cy="1645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>
                <a:solidFill>
                  <a:srgbClr val="AEBBCB"/>
                </a:solidFill>
              </a:rPr>
              <a:t>already built &amp; live — we don't build this</a:t>
            </a:r>
          </a:p>
        </p:txBody>
      </p:sp>
      <p:cxnSp>
        <p:nvCxnSpPr>
          <p:cNvPr id="15" name="Connector 14">
            <a:extLst>
              <a:ext uri="{FF2B5EF4-FFF2-40B4-BE49-F238E27FC236}">
                <a16:creationId xmlns:a16="http://schemas.microsoft.com/office/drawing/2014/main" id="{6FCB195B-00B4-368A-F4A2-4E62DEBCEC07}"/>
              </a:ext>
            </a:extLst>
          </p:cNvPr>
          <p:cNvCxnSpPr/>
          <p:nvPr/>
        </p:nvCxnSpPr>
        <p:spPr>
          <a:xfrm flipH="1">
            <a:off x="2331841" y="2606067"/>
            <a:ext cx="6743483" cy="1508711"/>
          </a:xfrm>
          <a:prstGeom prst="line">
            <a:avLst/>
          </a:prstGeom>
          <a:ln w="15875">
            <a:solidFill>
              <a:srgbClr val="8391A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85E88066-21F0-C5AB-98E9-696DCDAAC09C}"/>
              </a:ext>
            </a:extLst>
          </p:cNvPr>
          <p:cNvSpPr/>
          <p:nvPr/>
        </p:nvSpPr>
        <p:spPr>
          <a:xfrm>
            <a:off x="914566" y="4114778"/>
            <a:ext cx="2834549" cy="8686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1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FCB18F-0B59-DC57-B937-ED3DB0A538CC}"/>
              </a:ext>
            </a:extLst>
          </p:cNvPr>
          <p:cNvSpPr txBox="1"/>
          <p:nvPr/>
        </p:nvSpPr>
        <p:spPr>
          <a:xfrm>
            <a:off x="1006005" y="4454090"/>
            <a:ext cx="2651674" cy="211596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lnSpc>
                <a:spcPct val="105000"/>
              </a:lnSpc>
            </a:pPr>
            <a:r>
              <a:rPr sz="1350" b="1">
                <a:solidFill>
                  <a:srgbClr val="121B27"/>
                </a:solidFill>
              </a:rPr>
              <a:t>DISCOM Billing System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6D290E-1172-731F-111A-57769CD9B416}"/>
              </a:ext>
            </a:extLst>
          </p:cNvPr>
          <p:cNvSpPr txBox="1"/>
          <p:nvPr/>
        </p:nvSpPr>
        <p:spPr>
          <a:xfrm>
            <a:off x="1006005" y="4657662"/>
            <a:ext cx="2651674" cy="1645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>
                <a:solidFill>
                  <a:srgbClr val="48576A"/>
                </a:solidFill>
              </a:rPr>
              <a:t>computes the bill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643D0A4C-FC47-FF48-353D-2F4FFB578601}"/>
              </a:ext>
            </a:extLst>
          </p:cNvPr>
          <p:cNvSpPr/>
          <p:nvPr/>
        </p:nvSpPr>
        <p:spPr>
          <a:xfrm>
            <a:off x="1828937" y="5074867"/>
            <a:ext cx="1005808" cy="292599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50" b="1">
                <a:solidFill>
                  <a:srgbClr val="FFFFFF"/>
                </a:solidFill>
              </a:rPr>
              <a:t>SAME RESULT</a:t>
            </a:r>
          </a:p>
        </p:txBody>
      </p:sp>
      <p:cxnSp>
        <p:nvCxnSpPr>
          <p:cNvPr id="20" name="Connector 19">
            <a:extLst>
              <a:ext uri="{FF2B5EF4-FFF2-40B4-BE49-F238E27FC236}">
                <a16:creationId xmlns:a16="http://schemas.microsoft.com/office/drawing/2014/main" id="{D48AE328-0C72-0D81-0A9D-715EC7898A3A}"/>
              </a:ext>
            </a:extLst>
          </p:cNvPr>
          <p:cNvCxnSpPr/>
          <p:nvPr/>
        </p:nvCxnSpPr>
        <p:spPr>
          <a:xfrm flipH="1">
            <a:off x="5532139" y="2606067"/>
            <a:ext cx="3543186" cy="1508711"/>
          </a:xfrm>
          <a:prstGeom prst="line">
            <a:avLst/>
          </a:prstGeom>
          <a:ln w="15875">
            <a:solidFill>
              <a:srgbClr val="8391A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47A79590-06D6-5216-9365-D12B2E1505ED}"/>
              </a:ext>
            </a:extLst>
          </p:cNvPr>
          <p:cNvSpPr/>
          <p:nvPr/>
        </p:nvSpPr>
        <p:spPr>
          <a:xfrm>
            <a:off x="4114864" y="4114778"/>
            <a:ext cx="2834549" cy="8686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1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F9483E7-AD36-550F-1747-193B2066280E}"/>
              </a:ext>
            </a:extLst>
          </p:cNvPr>
          <p:cNvSpPr txBox="1"/>
          <p:nvPr/>
        </p:nvSpPr>
        <p:spPr>
          <a:xfrm>
            <a:off x="4206301" y="4454090"/>
            <a:ext cx="2651674" cy="211596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lnSpc>
                <a:spcPct val="105000"/>
              </a:lnSpc>
            </a:pPr>
            <a:r>
              <a:rPr sz="1350" b="1">
                <a:solidFill>
                  <a:srgbClr val="121B27"/>
                </a:solidFill>
              </a:rPr>
              <a:t>Consumer App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D562C22-7A8B-0E18-2F17-57051EEC0D6B}"/>
              </a:ext>
            </a:extLst>
          </p:cNvPr>
          <p:cNvSpPr txBox="1"/>
          <p:nvPr/>
        </p:nvSpPr>
        <p:spPr>
          <a:xfrm>
            <a:off x="4223599" y="4665019"/>
            <a:ext cx="2651674" cy="1645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>
                <a:solidFill>
                  <a:srgbClr val="48576A"/>
                </a:solidFill>
              </a:rPr>
              <a:t>estimates the bill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CFD2F163-5D51-74DB-236B-055BDDE82E11}"/>
              </a:ext>
            </a:extLst>
          </p:cNvPr>
          <p:cNvSpPr/>
          <p:nvPr/>
        </p:nvSpPr>
        <p:spPr>
          <a:xfrm>
            <a:off x="5029234" y="5074867"/>
            <a:ext cx="1005808" cy="292599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50" b="1">
                <a:solidFill>
                  <a:srgbClr val="FFFFFF"/>
                </a:solidFill>
              </a:rPr>
              <a:t>SAME RESULT</a:t>
            </a:r>
          </a:p>
        </p:txBody>
      </p:sp>
      <p:cxnSp>
        <p:nvCxnSpPr>
          <p:cNvPr id="25" name="Connector 24">
            <a:extLst>
              <a:ext uri="{FF2B5EF4-FFF2-40B4-BE49-F238E27FC236}">
                <a16:creationId xmlns:a16="http://schemas.microsoft.com/office/drawing/2014/main" id="{B0FB49A1-086C-0FDB-56E4-44AFA208B8ED}"/>
              </a:ext>
            </a:extLst>
          </p:cNvPr>
          <p:cNvCxnSpPr/>
          <p:nvPr/>
        </p:nvCxnSpPr>
        <p:spPr>
          <a:xfrm flipH="1">
            <a:off x="8732435" y="2606067"/>
            <a:ext cx="342889" cy="1508711"/>
          </a:xfrm>
          <a:prstGeom prst="line">
            <a:avLst/>
          </a:prstGeom>
          <a:ln w="15875">
            <a:solidFill>
              <a:srgbClr val="8391A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C1825CFC-E519-B815-E14F-18E960EF9C1E}"/>
              </a:ext>
            </a:extLst>
          </p:cNvPr>
          <p:cNvSpPr/>
          <p:nvPr/>
        </p:nvSpPr>
        <p:spPr>
          <a:xfrm>
            <a:off x="7315160" y="4114778"/>
            <a:ext cx="2834549" cy="8686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1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6841639-71D8-9EEE-9D50-99235FB5DE97}"/>
              </a:ext>
            </a:extLst>
          </p:cNvPr>
          <p:cNvSpPr txBox="1"/>
          <p:nvPr/>
        </p:nvSpPr>
        <p:spPr>
          <a:xfrm>
            <a:off x="7406599" y="4454090"/>
            <a:ext cx="2651674" cy="211596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lnSpc>
                <a:spcPct val="105000"/>
              </a:lnSpc>
            </a:pPr>
            <a:r>
              <a:rPr sz="1350" b="1">
                <a:solidFill>
                  <a:srgbClr val="121B27"/>
                </a:solidFill>
              </a:rPr>
              <a:t>Smart Meter Firmware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9B19709-32AB-C2C3-037A-3FCD3C65CD63}"/>
              </a:ext>
            </a:extLst>
          </p:cNvPr>
          <p:cNvSpPr txBox="1"/>
          <p:nvPr/>
        </p:nvSpPr>
        <p:spPr>
          <a:xfrm>
            <a:off x="7406599" y="4665019"/>
            <a:ext cx="2651674" cy="1645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>
                <a:solidFill>
                  <a:srgbClr val="48576A"/>
                </a:solidFill>
              </a:rPr>
              <a:t>applies time-of-day logic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F1FDC2FC-4132-613E-F84C-364C5AE9576F}"/>
              </a:ext>
            </a:extLst>
          </p:cNvPr>
          <p:cNvSpPr/>
          <p:nvPr/>
        </p:nvSpPr>
        <p:spPr>
          <a:xfrm>
            <a:off x="8229531" y="5074867"/>
            <a:ext cx="1005808" cy="292599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50" b="1">
                <a:solidFill>
                  <a:srgbClr val="FFFFFF"/>
                </a:solidFill>
              </a:rPr>
              <a:t>SAME RESULT</a:t>
            </a:r>
          </a:p>
        </p:txBody>
      </p:sp>
    </p:spTree>
    <p:extLst>
      <p:ext uri="{BB962C8B-B14F-4D97-AF65-F5344CB8AC3E}">
        <p14:creationId xmlns:p14="http://schemas.microsoft.com/office/powerpoint/2010/main" val="42880743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D1387-8B2C-6F96-FA0A-CAC3060AE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D989782-0107-4FD1-3387-543268177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latin typeface="+mn-lt"/>
              </a:rPr>
              <a:t>P2P Energy Trading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1127920-DA02-5DDC-0CE8-B03129A0405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Digital Energy Grid - Investigations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BE2D2E-3A10-8C69-4401-37E2736EB211}"/>
              </a:ext>
            </a:extLst>
          </p:cNvPr>
          <p:cNvSpPr txBox="1"/>
          <p:nvPr/>
        </p:nvSpPr>
        <p:spPr>
          <a:xfrm>
            <a:off x="228256" y="1399766"/>
            <a:ext cx="10947759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121B27"/>
                </a:solidFill>
              </a:rPr>
              <a:t>P2P Energy Trading — live, running, provable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A239A9-1B7A-2243-E276-C5EA2164D3E7}"/>
              </a:ext>
            </a:extLst>
          </p:cNvPr>
          <p:cNvSpPr txBox="1"/>
          <p:nvPr/>
        </p:nvSpPr>
        <p:spPr>
          <a:xfrm>
            <a:off x="228256" y="1856950"/>
            <a:ext cx="10947759" cy="192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>
                <a:solidFill>
                  <a:srgbClr val="48576A"/>
                </a:solidFill>
              </a:rPr>
              <a:t>Two real platforms trade solar energy across two utilities over the real IES sandbox network, right now</a:t>
            </a:r>
          </a:p>
        </p:txBody>
      </p:sp>
      <p:sp>
        <p:nvSpPr>
          <p:cNvPr id="10" name="Rounded Rectangle 4">
            <a:extLst>
              <a:ext uri="{FF2B5EF4-FFF2-40B4-BE49-F238E27FC236}">
                <a16:creationId xmlns:a16="http://schemas.microsoft.com/office/drawing/2014/main" id="{269DC438-12E9-39E1-E4B4-56ED30DCE6BB}"/>
              </a:ext>
            </a:extLst>
          </p:cNvPr>
          <p:cNvSpPr/>
          <p:nvPr/>
        </p:nvSpPr>
        <p:spPr>
          <a:xfrm>
            <a:off x="228255" y="2176981"/>
            <a:ext cx="1961324" cy="292599"/>
          </a:xfrm>
          <a:prstGeom prst="round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920DE8-8F88-FB7E-F9BC-668D6F601AC0}"/>
              </a:ext>
            </a:extLst>
          </p:cNvPr>
          <p:cNvSpPr txBox="1"/>
          <p:nvPr/>
        </p:nvSpPr>
        <p:spPr>
          <a:xfrm>
            <a:off x="228255" y="2218127"/>
            <a:ext cx="1961324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LIVE &amp; DEMONSTRABLE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958D8E8-6068-ACBA-1E7C-BE8011C119EF}"/>
              </a:ext>
            </a:extLst>
          </p:cNvPr>
          <p:cNvSpPr/>
          <p:nvPr/>
        </p:nvSpPr>
        <p:spPr>
          <a:xfrm>
            <a:off x="228255" y="2634166"/>
            <a:ext cx="3466378" cy="34746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1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874BE8-9020-1100-4FB8-5DDE7CB3BFB5}"/>
              </a:ext>
            </a:extLst>
          </p:cNvPr>
          <p:cNvSpPr txBox="1"/>
          <p:nvPr/>
        </p:nvSpPr>
        <p:spPr>
          <a:xfrm>
            <a:off x="356267" y="2723258"/>
            <a:ext cx="3210355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WHAT I BUILT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5B08F2-E1BB-E29F-661E-7D2208FD35A1}"/>
              </a:ext>
            </a:extLst>
          </p:cNvPr>
          <p:cNvSpPr txBox="1"/>
          <p:nvPr/>
        </p:nvSpPr>
        <p:spPr>
          <a:xfrm>
            <a:off x="301404" y="3091351"/>
            <a:ext cx="182874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48576A"/>
                </a:solidFill>
              </a:rPr>
              <a:t>•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9AC526-C04F-DECF-B79F-0C1D75FB8B19}"/>
              </a:ext>
            </a:extLst>
          </p:cNvPr>
          <p:cNvSpPr txBox="1"/>
          <p:nvPr/>
        </p:nvSpPr>
        <p:spPr>
          <a:xfrm>
            <a:off x="484278" y="3091351"/>
            <a:ext cx="3118918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48576A"/>
                </a:solidFill>
              </a:rPr>
              <a:t>An interactive walkthrough of all 31 real protocol hops, with real payloads,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6A48BB1-CD3A-3E9E-A934-EC0DF809AD9E}"/>
              </a:ext>
            </a:extLst>
          </p:cNvPr>
          <p:cNvSpPr txBox="1"/>
          <p:nvPr/>
        </p:nvSpPr>
        <p:spPr>
          <a:xfrm>
            <a:off x="301404" y="3713124"/>
            <a:ext cx="182874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48576A"/>
                </a:solidFill>
              </a:rPr>
              <a:t>•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60FF169-4A14-A67E-14CB-2764902C9ABE}"/>
              </a:ext>
            </a:extLst>
          </p:cNvPr>
          <p:cNvSpPr txBox="1"/>
          <p:nvPr/>
        </p:nvSpPr>
        <p:spPr>
          <a:xfrm>
            <a:off x="484278" y="3713123"/>
            <a:ext cx="3118918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48576A"/>
                </a:solidFill>
              </a:rPr>
              <a:t>A live demo app: two real trading platforms an audience clicks through in real time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1767A86-F0D7-A0DD-0484-9A76F59D3D9E}"/>
              </a:ext>
            </a:extLst>
          </p:cNvPr>
          <p:cNvSpPr txBox="1"/>
          <p:nvPr/>
        </p:nvSpPr>
        <p:spPr>
          <a:xfrm>
            <a:off x="301404" y="4334896"/>
            <a:ext cx="182874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48576A"/>
                </a:solidFill>
              </a:rPr>
              <a:t>•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1CE8D07-D178-0D73-C7BB-F44833B2A932}"/>
              </a:ext>
            </a:extLst>
          </p:cNvPr>
          <p:cNvSpPr txBox="1"/>
          <p:nvPr/>
        </p:nvSpPr>
        <p:spPr>
          <a:xfrm>
            <a:off x="484278" y="4278308"/>
            <a:ext cx="3118918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48576A"/>
                </a:solidFill>
              </a:rPr>
              <a:t>A live network view: every real offer on the shared network, plus our own ledger-verified trades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7C20FC6-0E6C-C564-DCC1-9FB1A5DB393F}"/>
              </a:ext>
            </a:extLst>
          </p:cNvPr>
          <p:cNvSpPr/>
          <p:nvPr/>
        </p:nvSpPr>
        <p:spPr>
          <a:xfrm>
            <a:off x="3968944" y="2634166"/>
            <a:ext cx="3466378" cy="347460"/>
          </a:xfrm>
          <a:prstGeom prst="rect">
            <a:avLst/>
          </a:prstGeom>
          <a:solidFill>
            <a:srgbClr val="2C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1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35EC7F7-1C35-C056-CB94-0258DA13AAD4}"/>
              </a:ext>
            </a:extLst>
          </p:cNvPr>
          <p:cNvSpPr txBox="1"/>
          <p:nvPr/>
        </p:nvSpPr>
        <p:spPr>
          <a:xfrm>
            <a:off x="4096956" y="2723258"/>
            <a:ext cx="3210355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WHAT IT PROVES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0408E6E-ED93-106D-C21C-4B310A2DB81E}"/>
              </a:ext>
            </a:extLst>
          </p:cNvPr>
          <p:cNvSpPr txBox="1"/>
          <p:nvPr/>
        </p:nvSpPr>
        <p:spPr>
          <a:xfrm>
            <a:off x="4042094" y="3091351"/>
            <a:ext cx="182874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48576A"/>
                </a:solidFill>
              </a:rPr>
              <a:t>•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9A50DB3-9CAE-CD70-8210-3DC6E59FD016}"/>
              </a:ext>
            </a:extLst>
          </p:cNvPr>
          <p:cNvSpPr txBox="1"/>
          <p:nvPr/>
        </p:nvSpPr>
        <p:spPr>
          <a:xfrm>
            <a:off x="4224968" y="3091351"/>
            <a:ext cx="3118918" cy="5078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48576A"/>
                </a:solidFill>
              </a:rPr>
              <a:t>A full signed trade lifecycle — publish → discover → </a:t>
            </a:r>
            <a:r>
              <a:rPr sz="1100" err="1">
                <a:solidFill>
                  <a:srgbClr val="48576A"/>
                </a:solidFill>
              </a:rPr>
              <a:t>init</a:t>
            </a:r>
            <a:r>
              <a:rPr sz="1100">
                <a:solidFill>
                  <a:srgbClr val="48576A"/>
                </a:solidFill>
              </a:rPr>
              <a:t> → confirm → settle — for real, e.g. 32.7 kWh, ₹437.15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D5EA3CF-526B-0B9E-5E29-9B838BB7FA43}"/>
              </a:ext>
            </a:extLst>
          </p:cNvPr>
          <p:cNvSpPr txBox="1"/>
          <p:nvPr/>
        </p:nvSpPr>
        <p:spPr>
          <a:xfrm>
            <a:off x="4042094" y="3713124"/>
            <a:ext cx="182874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48576A"/>
                </a:solidFill>
              </a:rPr>
              <a:t>•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EAF6AA3-81C4-8CAB-98DD-C85D22A276DA}"/>
              </a:ext>
            </a:extLst>
          </p:cNvPr>
          <p:cNvSpPr txBox="1"/>
          <p:nvPr/>
        </p:nvSpPr>
        <p:spPr>
          <a:xfrm>
            <a:off x="4224968" y="3713123"/>
            <a:ext cx="3118918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48576A"/>
                </a:solidFill>
              </a:rPr>
              <a:t>Policy actually enforces rules: an unapproved utility gets a real, live HTTP 400 rejection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DD7E07E-CC54-D41F-877A-4BFF07D319EC}"/>
              </a:ext>
            </a:extLst>
          </p:cNvPr>
          <p:cNvSpPr txBox="1"/>
          <p:nvPr/>
        </p:nvSpPr>
        <p:spPr>
          <a:xfrm>
            <a:off x="4042094" y="4334896"/>
            <a:ext cx="182874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48576A"/>
                </a:solidFill>
              </a:rPr>
              <a:t>•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102B024-3C78-41C7-64FE-A16188CE53E2}"/>
              </a:ext>
            </a:extLst>
          </p:cNvPr>
          <p:cNvSpPr txBox="1"/>
          <p:nvPr/>
        </p:nvSpPr>
        <p:spPr>
          <a:xfrm>
            <a:off x="4224968" y="4334896"/>
            <a:ext cx="3118918" cy="5078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48576A"/>
                </a:solidFill>
              </a:rPr>
              <a:t>Settlement independently re-checked on a real, hosted, external ledger — different credentials than the ones that wrote it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A306550-F08B-3958-1A73-5B744ABA8BD4}"/>
              </a:ext>
            </a:extLst>
          </p:cNvPr>
          <p:cNvSpPr/>
          <p:nvPr/>
        </p:nvSpPr>
        <p:spPr>
          <a:xfrm>
            <a:off x="7709634" y="2634166"/>
            <a:ext cx="3466378" cy="347460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1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16B1A0C-5B20-12B7-C66E-17619CB22513}"/>
              </a:ext>
            </a:extLst>
          </p:cNvPr>
          <p:cNvSpPr txBox="1"/>
          <p:nvPr/>
        </p:nvSpPr>
        <p:spPr>
          <a:xfrm>
            <a:off x="7837646" y="2723258"/>
            <a:ext cx="3210355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ARCHITECTURE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F484C45-6552-8B1A-84D6-BA98BA77D892}"/>
              </a:ext>
            </a:extLst>
          </p:cNvPr>
          <p:cNvSpPr txBox="1"/>
          <p:nvPr/>
        </p:nvSpPr>
        <p:spPr>
          <a:xfrm>
            <a:off x="7782784" y="3091351"/>
            <a:ext cx="182874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48576A"/>
                </a:solidFill>
              </a:rPr>
              <a:t>•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4CA4198-C122-730A-E860-39446FA06CA1}"/>
              </a:ext>
            </a:extLst>
          </p:cNvPr>
          <p:cNvSpPr txBox="1"/>
          <p:nvPr/>
        </p:nvSpPr>
        <p:spPr>
          <a:xfrm>
            <a:off x="7965657" y="3091351"/>
            <a:ext cx="3118918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48576A"/>
                </a:solidFill>
              </a:rPr>
              <a:t>Only the two trading platforms ever talk directly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0A3D052-474B-B63F-A4FC-CD2F7D12F909}"/>
              </a:ext>
            </a:extLst>
          </p:cNvPr>
          <p:cNvSpPr txBox="1"/>
          <p:nvPr/>
        </p:nvSpPr>
        <p:spPr>
          <a:xfrm>
            <a:off x="7782784" y="3713124"/>
            <a:ext cx="182874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48576A"/>
                </a:solidFill>
              </a:rPr>
              <a:t>•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0D87C72-5D25-8F19-29FC-E8E0F3956D0B}"/>
              </a:ext>
            </a:extLst>
          </p:cNvPr>
          <p:cNvSpPr txBox="1"/>
          <p:nvPr/>
        </p:nvSpPr>
        <p:spPr>
          <a:xfrm>
            <a:off x="7965657" y="3713124"/>
            <a:ext cx="3118918" cy="5078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48576A"/>
                </a:solidFill>
              </a:rPr>
              <a:t>Both utilities are named in the contract data itself — an automatic policy pays each correctly without either being bypassed</a:t>
            </a:r>
          </a:p>
        </p:txBody>
      </p:sp>
    </p:spTree>
    <p:extLst>
      <p:ext uri="{BB962C8B-B14F-4D97-AF65-F5344CB8AC3E}">
        <p14:creationId xmlns:p14="http://schemas.microsoft.com/office/powerpoint/2010/main" val="37110319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11B53-03F0-BBF9-FC5C-3AF23BBEC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12A7EEA-9525-B773-E690-95E344CC7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latin typeface="+mn-lt"/>
              </a:rPr>
              <a:t>P2P Energy Trading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8B9AB00-5AF3-F39D-B154-D1A3E4D6734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Digital Energy Grid - Investigations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9F4BCB-E448-56F4-9786-7332777B2938}"/>
              </a:ext>
            </a:extLst>
          </p:cNvPr>
          <p:cNvSpPr txBox="1"/>
          <p:nvPr/>
        </p:nvSpPr>
        <p:spPr>
          <a:xfrm>
            <a:off x="165853" y="1342596"/>
            <a:ext cx="10947759" cy="3538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99" b="1">
                <a:solidFill>
                  <a:srgbClr val="121B27"/>
                </a:solidFill>
              </a:rPr>
              <a:t>The trade, </a:t>
            </a:r>
            <a:r>
              <a:rPr lang="en-US" sz="2299" b="1">
                <a:solidFill>
                  <a:srgbClr val="121B27"/>
                </a:solidFill>
              </a:rPr>
              <a:t>briefly</a:t>
            </a:r>
            <a:endParaRPr sz="2299" b="1">
              <a:solidFill>
                <a:srgbClr val="121B27"/>
              </a:solidFill>
            </a:endParaRPr>
          </a:p>
        </p:txBody>
      </p:sp>
      <p:sp>
        <p:nvSpPr>
          <p:cNvPr id="9" name="Rounded 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C3FF8558-9118-D6AF-028A-3A9F5AC48D20}"/>
              </a:ext>
            </a:extLst>
          </p:cNvPr>
          <p:cNvSpPr/>
          <p:nvPr/>
        </p:nvSpPr>
        <p:spPr>
          <a:xfrm>
            <a:off x="165853" y="1951654"/>
            <a:ext cx="2531205" cy="16001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857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B7B8AE-9C02-AF7B-524E-A5C2FA947930}"/>
              </a:ext>
            </a:extLst>
          </p:cNvPr>
          <p:cNvSpPr txBox="1"/>
          <p:nvPr/>
        </p:nvSpPr>
        <p:spPr>
          <a:xfrm>
            <a:off x="348726" y="2088809"/>
            <a:ext cx="2165457" cy="3076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99" b="1">
                <a:solidFill>
                  <a:srgbClr val="48576A"/>
                </a:solidFill>
              </a:rPr>
              <a:t>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E815D0-4E35-01A8-15FD-26643E0B1EDB}"/>
              </a:ext>
            </a:extLst>
          </p:cNvPr>
          <p:cNvSpPr txBox="1"/>
          <p:nvPr/>
        </p:nvSpPr>
        <p:spPr>
          <a:xfrm>
            <a:off x="348726" y="2545994"/>
            <a:ext cx="2165457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121B27"/>
                </a:solidFill>
              </a:rPr>
              <a:t>The Network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2F9D391-ADD3-D92D-F045-8A3E95E7B771}"/>
              </a:ext>
            </a:extLst>
          </p:cNvPr>
          <p:cNvSpPr txBox="1"/>
          <p:nvPr/>
        </p:nvSpPr>
        <p:spPr>
          <a:xfrm>
            <a:off x="348726" y="2911742"/>
            <a:ext cx="2165457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>
                <a:solidFill>
                  <a:srgbClr val="48576A"/>
                </a:solidFill>
              </a:rPr>
              <a:t>What's real, at a glance</a:t>
            </a:r>
          </a:p>
        </p:txBody>
      </p:sp>
      <p:sp>
        <p:nvSpPr>
          <p:cNvPr id="25" name="Rounded Rectangle 8">
            <a:hlinkClick r:id="rId3" action="ppaction://hlinksldjump"/>
            <a:extLst>
              <a:ext uri="{FF2B5EF4-FFF2-40B4-BE49-F238E27FC236}">
                <a16:creationId xmlns:a16="http://schemas.microsoft.com/office/drawing/2014/main" id="{DBBB2202-CE3D-0F25-F60C-32D9D238EC5E}"/>
              </a:ext>
            </a:extLst>
          </p:cNvPr>
          <p:cNvSpPr/>
          <p:nvPr/>
        </p:nvSpPr>
        <p:spPr>
          <a:xfrm>
            <a:off x="2971370" y="1951654"/>
            <a:ext cx="2531205" cy="16001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1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646306D-E036-61AC-2A8E-E6E077DD9FC2}"/>
              </a:ext>
            </a:extLst>
          </p:cNvPr>
          <p:cNvSpPr txBox="1"/>
          <p:nvPr/>
        </p:nvSpPr>
        <p:spPr>
          <a:xfrm>
            <a:off x="3154243" y="2088809"/>
            <a:ext cx="2165457" cy="3076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99" b="1">
                <a:solidFill>
                  <a:srgbClr val="2C5F8A"/>
                </a:solidFill>
              </a:rPr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DD62943-3D16-E155-4A19-9B88CE80E077}"/>
              </a:ext>
            </a:extLst>
          </p:cNvPr>
          <p:cNvSpPr txBox="1"/>
          <p:nvPr/>
        </p:nvSpPr>
        <p:spPr>
          <a:xfrm>
            <a:off x="3154243" y="2545994"/>
            <a:ext cx="2165457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121B27"/>
                </a:solidFill>
              </a:rPr>
              <a:t>Publish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F993DDC-26BF-6127-5ABE-7A97F959C0F0}"/>
              </a:ext>
            </a:extLst>
          </p:cNvPr>
          <p:cNvSpPr txBox="1"/>
          <p:nvPr/>
        </p:nvSpPr>
        <p:spPr>
          <a:xfrm>
            <a:off x="3154243" y="2911742"/>
            <a:ext cx="2165457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>
                <a:solidFill>
                  <a:srgbClr val="48576A"/>
                </a:solidFill>
              </a:rPr>
              <a:t>Leaves our machines entirely</a:t>
            </a:r>
          </a:p>
        </p:txBody>
      </p:sp>
      <p:sp>
        <p:nvSpPr>
          <p:cNvPr id="41" name="Rounded Rectangle 12">
            <a:hlinkClick r:id="rId4" action="ppaction://hlinksldjump"/>
            <a:extLst>
              <a:ext uri="{FF2B5EF4-FFF2-40B4-BE49-F238E27FC236}">
                <a16:creationId xmlns:a16="http://schemas.microsoft.com/office/drawing/2014/main" id="{B5F2E8DF-EA4D-6252-46D3-6B6547A5A72E}"/>
              </a:ext>
            </a:extLst>
          </p:cNvPr>
          <p:cNvSpPr/>
          <p:nvPr/>
        </p:nvSpPr>
        <p:spPr>
          <a:xfrm>
            <a:off x="5776888" y="1951654"/>
            <a:ext cx="2531205" cy="16001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1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EA9419E-3F35-50BA-36CD-CD4D14CD5E9C}"/>
              </a:ext>
            </a:extLst>
          </p:cNvPr>
          <p:cNvSpPr txBox="1"/>
          <p:nvPr/>
        </p:nvSpPr>
        <p:spPr>
          <a:xfrm>
            <a:off x="5959762" y="2088809"/>
            <a:ext cx="2165457" cy="3076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99" b="1">
                <a:solidFill>
                  <a:srgbClr val="2A9D8F"/>
                </a:solidFill>
              </a:rPr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D9EA1B2-0AE5-1E78-3D80-C4DCAE869F32}"/>
              </a:ext>
            </a:extLst>
          </p:cNvPr>
          <p:cNvSpPr txBox="1"/>
          <p:nvPr/>
        </p:nvSpPr>
        <p:spPr>
          <a:xfrm>
            <a:off x="5959762" y="2545994"/>
            <a:ext cx="2165457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121B27"/>
                </a:solidFill>
              </a:rPr>
              <a:t>Discover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273B61D-ECAD-59E9-8C8B-FD388B4027FA}"/>
              </a:ext>
            </a:extLst>
          </p:cNvPr>
          <p:cNvSpPr txBox="1"/>
          <p:nvPr/>
        </p:nvSpPr>
        <p:spPr>
          <a:xfrm>
            <a:off x="5959762" y="2911742"/>
            <a:ext cx="2165457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>
                <a:solidFill>
                  <a:srgbClr val="48576A"/>
                </a:solidFill>
              </a:rPr>
              <a:t>A different real address</a:t>
            </a:r>
          </a:p>
        </p:txBody>
      </p:sp>
      <p:sp>
        <p:nvSpPr>
          <p:cNvPr id="57" name="Rounded Rectangle 16">
            <a:hlinkClick r:id="rId5" action="ppaction://hlinksldjump"/>
            <a:extLst>
              <a:ext uri="{FF2B5EF4-FFF2-40B4-BE49-F238E27FC236}">
                <a16:creationId xmlns:a16="http://schemas.microsoft.com/office/drawing/2014/main" id="{503098B5-E577-F763-84C1-B67CF4276C17}"/>
              </a:ext>
            </a:extLst>
          </p:cNvPr>
          <p:cNvSpPr/>
          <p:nvPr/>
        </p:nvSpPr>
        <p:spPr>
          <a:xfrm>
            <a:off x="8582406" y="1951654"/>
            <a:ext cx="2531205" cy="16001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7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1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58BC0AD-77C6-A8D4-2D13-87743FD0ECFD}"/>
              </a:ext>
            </a:extLst>
          </p:cNvPr>
          <p:cNvSpPr txBox="1"/>
          <p:nvPr/>
        </p:nvSpPr>
        <p:spPr>
          <a:xfrm>
            <a:off x="8765279" y="2088809"/>
            <a:ext cx="2165457" cy="3076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99" b="1">
                <a:solidFill>
                  <a:srgbClr val="C87C1C"/>
                </a:solidFill>
              </a:rPr>
              <a:t>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2EAA344-30CB-F208-C835-BDE1B8D1F654}"/>
              </a:ext>
            </a:extLst>
          </p:cNvPr>
          <p:cNvSpPr txBox="1"/>
          <p:nvPr/>
        </p:nvSpPr>
        <p:spPr>
          <a:xfrm>
            <a:off x="8765279" y="2545994"/>
            <a:ext cx="2165457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121B27"/>
                </a:solidFill>
              </a:rPr>
              <a:t>Init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E7F29BE-82ED-4B34-5EA1-6B41023C3543}"/>
              </a:ext>
            </a:extLst>
          </p:cNvPr>
          <p:cNvSpPr txBox="1"/>
          <p:nvPr/>
        </p:nvSpPr>
        <p:spPr>
          <a:xfrm>
            <a:off x="8765279" y="2911742"/>
            <a:ext cx="2165457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>
                <a:solidFill>
                  <a:srgbClr val="48576A"/>
                </a:solidFill>
              </a:rPr>
              <a:t>Nothing committed yet</a:t>
            </a:r>
          </a:p>
        </p:txBody>
      </p:sp>
      <p:sp>
        <p:nvSpPr>
          <p:cNvPr id="65" name="Rounded Rectangle 20">
            <a:hlinkClick r:id="rId6" action="ppaction://hlinksldjump"/>
            <a:extLst>
              <a:ext uri="{FF2B5EF4-FFF2-40B4-BE49-F238E27FC236}">
                <a16:creationId xmlns:a16="http://schemas.microsoft.com/office/drawing/2014/main" id="{AC1446A1-CB4E-D0F6-CCBD-87CE0F4BCE47}"/>
              </a:ext>
            </a:extLst>
          </p:cNvPr>
          <p:cNvSpPr/>
          <p:nvPr/>
        </p:nvSpPr>
        <p:spPr>
          <a:xfrm>
            <a:off x="165853" y="3826114"/>
            <a:ext cx="2531205" cy="16001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7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1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AD48476-5808-F94E-0393-F4B890FD1AE3}"/>
              </a:ext>
            </a:extLst>
          </p:cNvPr>
          <p:cNvSpPr txBox="1"/>
          <p:nvPr/>
        </p:nvSpPr>
        <p:spPr>
          <a:xfrm>
            <a:off x="348726" y="3963269"/>
            <a:ext cx="2165457" cy="3076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99" b="1">
                <a:solidFill>
                  <a:srgbClr val="C87C1C"/>
                </a:solidFill>
              </a:rPr>
              <a:t>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34AA263-DD83-0816-AF43-B2642BA80A46}"/>
              </a:ext>
            </a:extLst>
          </p:cNvPr>
          <p:cNvSpPr txBox="1"/>
          <p:nvPr/>
        </p:nvSpPr>
        <p:spPr>
          <a:xfrm>
            <a:off x="348726" y="4420454"/>
            <a:ext cx="2165457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121B27"/>
                </a:solidFill>
              </a:rPr>
              <a:t>Confirm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99C52EA-A36E-EA24-B3CD-E96BDF4B91DF}"/>
              </a:ext>
            </a:extLst>
          </p:cNvPr>
          <p:cNvSpPr txBox="1"/>
          <p:nvPr/>
        </p:nvSpPr>
        <p:spPr>
          <a:xfrm>
            <a:off x="348726" y="4786202"/>
            <a:ext cx="2165457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>
                <a:solidFill>
                  <a:srgbClr val="48576A"/>
                </a:solidFill>
              </a:rPr>
              <a:t>Lands on a real ledger</a:t>
            </a:r>
          </a:p>
        </p:txBody>
      </p:sp>
      <p:sp>
        <p:nvSpPr>
          <p:cNvPr id="73" name="Rounded Rectangle 24">
            <a:hlinkClick r:id="rId7" action="ppaction://hlinksldjump"/>
            <a:extLst>
              <a:ext uri="{FF2B5EF4-FFF2-40B4-BE49-F238E27FC236}">
                <a16:creationId xmlns:a16="http://schemas.microsoft.com/office/drawing/2014/main" id="{012E9F48-A3CE-878D-9F3D-1A0BE819F93E}"/>
              </a:ext>
            </a:extLst>
          </p:cNvPr>
          <p:cNvSpPr/>
          <p:nvPr/>
        </p:nvSpPr>
        <p:spPr>
          <a:xfrm>
            <a:off x="2971370" y="3826114"/>
            <a:ext cx="2531205" cy="16001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1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7D9153C-120A-A5EB-8A76-0280D57F1615}"/>
              </a:ext>
            </a:extLst>
          </p:cNvPr>
          <p:cNvSpPr txBox="1"/>
          <p:nvPr/>
        </p:nvSpPr>
        <p:spPr>
          <a:xfrm>
            <a:off x="3154243" y="3963269"/>
            <a:ext cx="2165457" cy="3076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99" b="1">
                <a:solidFill>
                  <a:srgbClr val="2E7D4F"/>
                </a:solidFill>
              </a:rPr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3B7761A-E222-3CDB-DE8F-CE1D76099663}"/>
              </a:ext>
            </a:extLst>
          </p:cNvPr>
          <p:cNvSpPr txBox="1"/>
          <p:nvPr/>
        </p:nvSpPr>
        <p:spPr>
          <a:xfrm>
            <a:off x="3154243" y="4420454"/>
            <a:ext cx="2165457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121B27"/>
                </a:solidFill>
              </a:rPr>
              <a:t>Settle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38CA6D0-2A65-3311-B0B1-5A758A559370}"/>
              </a:ext>
            </a:extLst>
          </p:cNvPr>
          <p:cNvSpPr txBox="1"/>
          <p:nvPr/>
        </p:nvSpPr>
        <p:spPr>
          <a:xfrm>
            <a:off x="3154243" y="4786202"/>
            <a:ext cx="2165457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>
                <a:solidFill>
                  <a:srgbClr val="48576A"/>
                </a:solidFill>
              </a:rPr>
              <a:t>The real payoff — ₹437.15</a:t>
            </a:r>
          </a:p>
        </p:txBody>
      </p:sp>
      <p:sp>
        <p:nvSpPr>
          <p:cNvPr id="81" name="Rounded Rectangle 28">
            <a:hlinkClick r:id="rId8" action="ppaction://hlinksldjump"/>
            <a:extLst>
              <a:ext uri="{FF2B5EF4-FFF2-40B4-BE49-F238E27FC236}">
                <a16:creationId xmlns:a16="http://schemas.microsoft.com/office/drawing/2014/main" id="{53BFEBBC-668C-1BE1-BB20-FF256648EABE}"/>
              </a:ext>
            </a:extLst>
          </p:cNvPr>
          <p:cNvSpPr/>
          <p:nvPr/>
        </p:nvSpPr>
        <p:spPr>
          <a:xfrm>
            <a:off x="5776888" y="3826114"/>
            <a:ext cx="2531205" cy="16001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648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1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E730C6C-D92E-8469-2577-D3F6AF81D012}"/>
              </a:ext>
            </a:extLst>
          </p:cNvPr>
          <p:cNvSpPr txBox="1"/>
          <p:nvPr/>
        </p:nvSpPr>
        <p:spPr>
          <a:xfrm>
            <a:off x="5959762" y="3963269"/>
            <a:ext cx="2165457" cy="3076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99" b="1">
                <a:solidFill>
                  <a:srgbClr val="A6483B"/>
                </a:solidFill>
              </a:rPr>
              <a:t>6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7D0CE06-0905-B419-BAEC-1AB17AB219A8}"/>
              </a:ext>
            </a:extLst>
          </p:cNvPr>
          <p:cNvSpPr txBox="1"/>
          <p:nvPr/>
        </p:nvSpPr>
        <p:spPr>
          <a:xfrm>
            <a:off x="5959762" y="4420454"/>
            <a:ext cx="2165457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121B27"/>
                </a:solidFill>
              </a:rPr>
              <a:t>Rejected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BA3BBA3-7DD2-C261-94A5-BBC507468BC4}"/>
              </a:ext>
            </a:extLst>
          </p:cNvPr>
          <p:cNvSpPr txBox="1"/>
          <p:nvPr/>
        </p:nvSpPr>
        <p:spPr>
          <a:xfrm>
            <a:off x="5959762" y="4786202"/>
            <a:ext cx="2165457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>
                <a:solidFill>
                  <a:srgbClr val="48576A"/>
                </a:solidFill>
              </a:rPr>
              <a:t>Proof the rules are real</a:t>
            </a:r>
          </a:p>
        </p:txBody>
      </p:sp>
    </p:spTree>
    <p:extLst>
      <p:ext uri="{BB962C8B-B14F-4D97-AF65-F5344CB8AC3E}">
        <p14:creationId xmlns:p14="http://schemas.microsoft.com/office/powerpoint/2010/main" val="32914443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8818130-87F7-D48E-F6B4-2561D7664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Timeline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9A768A2-5A06-8C8E-4A25-F39AC6C35B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Digital Energy Grid - Investigations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98EBF6F-860C-9B77-F111-CDA4A10905E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823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2048</Words>
  <PresentationFormat>Widescreen</PresentationFormat>
  <Paragraphs>311</Paragraphs>
  <Slides>20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IES – Indian Energy Stack</vt:lpstr>
      <vt:lpstr>IES – Indian Energy Stack</vt:lpstr>
      <vt:lpstr>IES – Indian Energy Stack</vt:lpstr>
      <vt:lpstr>IES – Indian Energy Stack</vt:lpstr>
      <vt:lpstr>IES – Indian Energy Stack</vt:lpstr>
      <vt:lpstr>IES – Indian Energy Stack</vt:lpstr>
      <vt:lpstr>IES – Indian Energy Stack</vt:lpstr>
      <vt:lpstr>Beckn Protocol</vt:lpstr>
      <vt:lpstr>Beckn Protocol</vt:lpstr>
      <vt:lpstr>PowerPoint Presentation</vt:lpstr>
      <vt:lpstr>PowerPoint Presentation</vt:lpstr>
      <vt:lpstr>Establish BAP – BPP on local machine</vt:lpstr>
      <vt:lpstr>Policy as code – Tariff intelligence</vt:lpstr>
      <vt:lpstr>Policy as code – Tariff intelligence</vt:lpstr>
      <vt:lpstr>Policy as code – Tariff intelligence</vt:lpstr>
      <vt:lpstr>P2P Energy Trading</vt:lpstr>
      <vt:lpstr>P2P Energy Trading</vt:lpstr>
      <vt:lpstr>Timeline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terms:created xsi:type="dcterms:W3CDTF">2026-09-16T17:04:59Z</dcterms:created>
  <dcterms:modified xsi:type="dcterms:W3CDTF">2026-09-16T17:27:27Z</dcterms:modified>
</cp:coreProperties>
</file>